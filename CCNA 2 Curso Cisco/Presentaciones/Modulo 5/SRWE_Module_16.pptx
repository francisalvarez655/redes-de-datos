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notesSlides/notesSlide21.xml" ContentType="application/vnd.openxmlformats-officedocument.presentationml.notesSlide+xml"/>
  <Override PartName="/ppt/tags/tag17.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6"/>
  </p:notesMasterIdLst>
  <p:sldIdLst>
    <p:sldId id="513" r:id="rId2"/>
    <p:sldId id="730" r:id="rId3"/>
    <p:sldId id="1272" r:id="rId4"/>
    <p:sldId id="1071" r:id="rId5"/>
    <p:sldId id="1273" r:id="rId6"/>
    <p:sldId id="763" r:id="rId7"/>
    <p:sldId id="1052" r:id="rId8"/>
    <p:sldId id="876" r:id="rId9"/>
    <p:sldId id="1096" r:id="rId10"/>
    <p:sldId id="759" r:id="rId11"/>
    <p:sldId id="1054" r:id="rId12"/>
    <p:sldId id="1159" r:id="rId13"/>
    <p:sldId id="1160" r:id="rId14"/>
    <p:sldId id="1056" r:id="rId15"/>
    <p:sldId id="1103" r:id="rId16"/>
    <p:sldId id="1104" r:id="rId17"/>
    <p:sldId id="1106" r:id="rId18"/>
    <p:sldId id="957" r:id="rId19"/>
    <p:sldId id="1155" r:id="rId20"/>
    <p:sldId id="1156" r:id="rId21"/>
    <p:sldId id="958" r:id="rId22"/>
    <p:sldId id="1157" r:id="rId23"/>
    <p:sldId id="1158" r:id="rId24"/>
    <p:sldId id="291" r:id="rId25"/>
  </p:sldIdLst>
  <p:sldSz cx="9144000" cy="5143500" type="screen16x9"/>
  <p:notesSz cx="6858000" cy="9144000"/>
  <p:custDataLst>
    <p:tags r:id="rId2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7285" autoAdjust="0"/>
  </p:normalViewPr>
  <p:slideViewPr>
    <p:cSldViewPr snapToGrid="0" showGuides="1">
      <p:cViewPr varScale="1">
        <p:scale>
          <a:sx n="74" d="100"/>
          <a:sy n="74" d="100"/>
        </p:scale>
        <p:origin x="1428" y="6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oriana Carrillo Campos" userId="c9490811-8b3c-4908-821e-39b65b913e1a" providerId="ADAL" clId="{AFECAB15-FE12-4206-A070-874551682BD6}"/>
    <pc:docChg chg="custSel modSld">
      <pc:chgData name="Gloriana Carrillo Campos" userId="c9490811-8b3c-4908-821e-39b65b913e1a" providerId="ADAL" clId="{AFECAB15-FE12-4206-A070-874551682BD6}" dt="2020-05-14T22:01:14.418" v="46" actId="1076"/>
      <pc:docMkLst>
        <pc:docMk/>
      </pc:docMkLst>
      <pc:sldChg chg="modSp">
        <pc:chgData name="Gloriana Carrillo Campos" userId="c9490811-8b3c-4908-821e-39b65b913e1a" providerId="ADAL" clId="{AFECAB15-FE12-4206-A070-874551682BD6}" dt="2020-05-14T21:43:29.336" v="29" actId="1076"/>
        <pc:sldMkLst>
          <pc:docMk/>
          <pc:sldMk cId="1989389863" sldId="876"/>
        </pc:sldMkLst>
        <pc:spChg chg="mod">
          <ac:chgData name="Gloriana Carrillo Campos" userId="c9490811-8b3c-4908-821e-39b65b913e1a" providerId="ADAL" clId="{AFECAB15-FE12-4206-A070-874551682BD6}" dt="2020-05-14T21:43:29.336" v="29" actId="1076"/>
          <ac:spMkLst>
            <pc:docMk/>
            <pc:sldMk cId="1989389863" sldId="876"/>
            <ac:spMk id="6" creationId="{00000000-0000-0000-0000-000000000000}"/>
          </ac:spMkLst>
        </pc:spChg>
      </pc:sldChg>
      <pc:sldChg chg="modSp">
        <pc:chgData name="Gloriana Carrillo Campos" userId="c9490811-8b3c-4908-821e-39b65b913e1a" providerId="ADAL" clId="{AFECAB15-FE12-4206-A070-874551682BD6}" dt="2020-05-14T21:43:40.691" v="31" actId="14100"/>
        <pc:sldMkLst>
          <pc:docMk/>
          <pc:sldMk cId="945709179" sldId="1096"/>
        </pc:sldMkLst>
        <pc:spChg chg="mod">
          <ac:chgData name="Gloriana Carrillo Campos" userId="c9490811-8b3c-4908-821e-39b65b913e1a" providerId="ADAL" clId="{AFECAB15-FE12-4206-A070-874551682BD6}" dt="2020-05-14T21:36:05.038" v="13" actId="313"/>
          <ac:spMkLst>
            <pc:docMk/>
            <pc:sldMk cId="945709179" sldId="1096"/>
            <ac:spMk id="3" creationId="{B5758CB9-E7D6-4639-ACDC-3F86DC2D2F72}"/>
          </ac:spMkLst>
        </pc:spChg>
        <pc:graphicFrameChg chg="modGraphic">
          <ac:chgData name="Gloriana Carrillo Campos" userId="c9490811-8b3c-4908-821e-39b65b913e1a" providerId="ADAL" clId="{AFECAB15-FE12-4206-A070-874551682BD6}" dt="2020-05-14T21:43:40.691" v="31" actId="14100"/>
          <ac:graphicFrameMkLst>
            <pc:docMk/>
            <pc:sldMk cId="945709179" sldId="1096"/>
            <ac:graphicFrameMk id="2" creationId="{E974E1EB-2DBE-496F-B0B0-6C44227DA401}"/>
          </ac:graphicFrameMkLst>
        </pc:graphicFrameChg>
      </pc:sldChg>
      <pc:sldChg chg="modSp">
        <pc:chgData name="Gloriana Carrillo Campos" userId="c9490811-8b3c-4908-821e-39b65b913e1a" providerId="ADAL" clId="{AFECAB15-FE12-4206-A070-874551682BD6}" dt="2020-05-14T22:01:14.418" v="46" actId="1076"/>
        <pc:sldMkLst>
          <pc:docMk/>
          <pc:sldMk cId="1166139759" sldId="1104"/>
        </pc:sldMkLst>
        <pc:graphicFrameChg chg="mod">
          <ac:chgData name="Gloriana Carrillo Campos" userId="c9490811-8b3c-4908-821e-39b65b913e1a" providerId="ADAL" clId="{AFECAB15-FE12-4206-A070-874551682BD6}" dt="2020-05-14T22:01:14.418" v="46" actId="1076"/>
          <ac:graphicFrameMkLst>
            <pc:docMk/>
            <pc:sldMk cId="1166139759" sldId="1104"/>
            <ac:graphicFrameMk id="2" creationId="{B73E4837-7A3B-4797-BFB6-6F7F910E2136}"/>
          </ac:graphicFrameMkLst>
        </pc:graphicFrameChg>
      </pc:sldChg>
      <pc:sldChg chg="modSp">
        <pc:chgData name="Gloriana Carrillo Campos" userId="c9490811-8b3c-4908-821e-39b65b913e1a" providerId="ADAL" clId="{AFECAB15-FE12-4206-A070-874551682BD6}" dt="2020-05-14T21:44:59.363" v="40" actId="404"/>
        <pc:sldMkLst>
          <pc:docMk/>
          <pc:sldMk cId="2085583176" sldId="1106"/>
        </pc:sldMkLst>
        <pc:spChg chg="mod">
          <ac:chgData name="Gloriana Carrillo Campos" userId="c9490811-8b3c-4908-821e-39b65b913e1a" providerId="ADAL" clId="{AFECAB15-FE12-4206-A070-874551682BD6}" dt="2020-05-14T21:44:38.505" v="33" actId="255"/>
          <ac:spMkLst>
            <pc:docMk/>
            <pc:sldMk cId="2085583176" sldId="1106"/>
            <ac:spMk id="4" creationId="{50693879-5816-3444-9D50-A12F1F37F5DE}"/>
          </ac:spMkLst>
        </pc:spChg>
        <pc:spChg chg="mod">
          <ac:chgData name="Gloriana Carrillo Campos" userId="c9490811-8b3c-4908-821e-39b65b913e1a" providerId="ADAL" clId="{AFECAB15-FE12-4206-A070-874551682BD6}" dt="2020-05-14T21:44:59.363" v="40" actId="404"/>
          <ac:spMkLst>
            <pc:docMk/>
            <pc:sldMk cId="2085583176" sldId="1106"/>
            <ac:spMk id="10" creationId="{2283DF60-4C91-485F-BDD1-7A4CB657C5F3}"/>
          </ac:spMkLst>
        </pc:spChg>
      </pc:sldChg>
      <pc:sldChg chg="modSp">
        <pc:chgData name="Gloriana Carrillo Campos" userId="c9490811-8b3c-4908-821e-39b65b913e1a" providerId="ADAL" clId="{AFECAB15-FE12-4206-A070-874551682BD6}" dt="2020-05-14T21:41:57.890" v="28" actId="20577"/>
        <pc:sldMkLst>
          <pc:docMk/>
          <pc:sldMk cId="1575232868" sldId="1156"/>
        </pc:sldMkLst>
        <pc:spChg chg="mod">
          <ac:chgData name="Gloriana Carrillo Campos" userId="c9490811-8b3c-4908-821e-39b65b913e1a" providerId="ADAL" clId="{AFECAB15-FE12-4206-A070-874551682BD6}" dt="2020-05-14T21:40:32.809" v="19" actId="1036"/>
          <ac:spMkLst>
            <pc:docMk/>
            <pc:sldMk cId="1575232868" sldId="1156"/>
            <ac:spMk id="3" creationId="{C02AA8F8-1E43-384B-8982-C0BB94049B5C}"/>
          </ac:spMkLst>
        </pc:spChg>
        <pc:spChg chg="mod">
          <ac:chgData name="Gloriana Carrillo Campos" userId="c9490811-8b3c-4908-821e-39b65b913e1a" providerId="ADAL" clId="{AFECAB15-FE12-4206-A070-874551682BD6}" dt="2020-05-14T21:41:57.890" v="28" actId="20577"/>
          <ac:spMkLst>
            <pc:docMk/>
            <pc:sldMk cId="1575232868" sldId="1156"/>
            <ac:spMk id="4" creationId="{50693879-5816-3444-9D50-A12F1F37F5DE}"/>
          </ac:spMkLst>
        </pc:spChg>
      </pc:sldChg>
      <pc:sldChg chg="modSp">
        <pc:chgData name="Gloriana Carrillo Campos" userId="c9490811-8b3c-4908-821e-39b65b913e1a" providerId="ADAL" clId="{AFECAB15-FE12-4206-A070-874551682BD6}" dt="2020-05-14T22:00:43.023" v="45" actId="1076"/>
        <pc:sldMkLst>
          <pc:docMk/>
          <pc:sldMk cId="1804562631" sldId="1159"/>
        </pc:sldMkLst>
        <pc:picChg chg="mod">
          <ac:chgData name="Gloriana Carrillo Campos" userId="c9490811-8b3c-4908-821e-39b65b913e1a" providerId="ADAL" clId="{AFECAB15-FE12-4206-A070-874551682BD6}" dt="2020-05-14T22:00:43.023" v="45" actId="1076"/>
          <ac:picMkLst>
            <pc:docMk/>
            <pc:sldMk cId="1804562631" sldId="1159"/>
            <ac:picMk id="6" creationId="{C4C5A040-7E14-4570-B49B-A4A0DA33D3F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5/14/2020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lvl="0" defTabSz="457200" rtl="0" fontAlgn="auto">
              <a:lnSpc>
                <a:spcPct val="100000"/>
              </a:lnSpc>
              <a:spcBef>
                <a:spcPts val="0"/>
              </a:spcBef>
              <a:spcAft>
                <a:spcPts val="0"/>
              </a:spcAft>
              <a:buClrTx/>
              <a:buSzTx/>
              <a:defRPr/>
            </a:pPr>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Module 16: Solución de Problemas de Rutas Estáticas y Predeterminadas</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lvl="0" defTabSz="457200" rtl="0" fontAlgn="auto">
              <a:lnSpc>
                <a:spcPct val="100000"/>
              </a:lnSpc>
              <a:spcBef>
                <a:spcPts val="0"/>
              </a:spcBef>
              <a:spcAft>
                <a:spcPts val="0"/>
              </a:spcAft>
              <a:buClrTx/>
              <a:buSzTx/>
              <a:defRPr/>
            </a:pPr>
            <a:r>
              <a:rPr lang="es-419">
                <a:solidFill>
                  <a:schemeClr val="accent5">
                    <a:lumMod val="40000"/>
                    <a:lumOff val="60000"/>
                  </a:schemeClr>
                </a:solidFill>
              </a:rPr>
              <a:t>Switching, Routing y Wireless Essentials (SRWE)</a:t>
            </a:r>
          </a:p>
          <a:p>
            <a:pPr rtl="0"/>
            <a:r>
              <a:rPr lang="es-419">
                <a:solidFill>
                  <a:schemeClr val="accent5">
                    <a:lumMod val="40000"/>
                    <a:lumOff val="60000"/>
                  </a:schemeClr>
                </a:solidFill>
              </a:rPr>
              <a:t>Module 16: Solución de Problemas de Rutas Estáticas y Predeterminadas</a:t>
            </a:r>
          </a:p>
        </p:txBody>
      </p:sp>
      <p:sp>
        <p:nvSpPr>
          <p:cNvPr id="4" name="Slide Number Placeholder 3"/>
          <p:cNvSpPr>
            <a:spLocks noGrp="1"/>
          </p:cNvSpPr>
          <p:nvPr>
            <p:ph type="sldNum" sz="quarter" idx="10"/>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508118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9</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16</a:t>
            </a:r>
            <a:r>
              <a:rPr lang="es-419" sz="1200" baseline="0">
                <a:solidFill>
                  <a:schemeClr val="accent5">
                    <a:lumMod val="40000"/>
                    <a:lumOff val="60000"/>
                  </a:schemeClr>
                </a:solidFill>
              </a:rPr>
              <a:t> – </a:t>
            </a:r>
            <a:r>
              <a:rPr lang="es-419" sz="1200">
                <a:solidFill>
                  <a:schemeClr val="accent5">
                    <a:lumMod val="40000"/>
                    <a:lumOff val="60000"/>
                  </a:schemeClr>
                </a:solidFill>
              </a:rPr>
              <a:t>Solución de Problemas de Rutas Estáticas y Predeterminadas</a:t>
            </a:r>
          </a:p>
          <a:p>
            <a:pPr rtl="0">
              <a:buFontTx/>
              <a:buNone/>
            </a:pPr>
            <a:r>
              <a:rPr lang="es-419" sz="1200" b="0"/>
              <a:t>16.0 – Introducción</a:t>
            </a:r>
          </a:p>
          <a:p>
            <a:pPr rtl="0">
              <a:lnSpc>
                <a:spcPct val="80000"/>
              </a:lnSpc>
              <a:buFontTx/>
              <a:buNone/>
            </a:pPr>
            <a:r>
              <a:rPr lang="es-419" sz="1200" kern="1200">
                <a:solidFill>
                  <a:schemeClr val="tx1"/>
                </a:solidFill>
                <a:latin typeface="Arial" charset="0"/>
                <a:ea typeface="ＭＳ Ｐゴシック" charset="0"/>
                <a:cs typeface="ＭＳ Ｐゴシック" charset="0"/>
              </a:rPr>
              <a:t>16.0.2 – </a:t>
            </a:r>
            <a:r>
              <a:rPr lang="es-419" sz="1200" kern="1200">
                <a:solidFill>
                  <a:schemeClr val="tx1"/>
                </a:solidFill>
                <a:latin typeface="+mn-lt"/>
                <a:ea typeface="+mn-ea"/>
                <a:cs typeface="+mn-cs"/>
              </a:rPr>
              <a:t>¿Qué</a:t>
            </a:r>
            <a:r>
              <a:rPr lang="es-419" sz="1200" kern="1200" baseline="0">
                <a:solidFill>
                  <a:schemeClr val="tx1"/>
                </a:solidFill>
                <a:latin typeface="+mn-lt"/>
                <a:ea typeface="+mn-ea"/>
                <a:cs typeface="+mn-cs"/>
              </a:rPr>
              <a:t> aprenderé en este módulo?</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16</a:t>
            </a:r>
            <a:r>
              <a:rPr lang="es-419" sz="1200" baseline="0">
                <a:solidFill>
                  <a:schemeClr val="accent5">
                    <a:lumMod val="40000"/>
                    <a:lumOff val="60000"/>
                  </a:schemeClr>
                </a:solidFill>
              </a:rPr>
              <a:t> – </a:t>
            </a:r>
            <a:r>
              <a:rPr lang="es-419" sz="1200">
                <a:solidFill>
                  <a:schemeClr val="accent5">
                    <a:lumMod val="40000"/>
                    <a:lumOff val="60000"/>
                  </a:schemeClr>
                </a:solidFill>
              </a:rPr>
              <a:t>Solución de Problemas de Rutas Estáticas y Predeterminadas</a:t>
            </a:r>
          </a:p>
          <a:p>
            <a:pPr rtl="0">
              <a:buFontTx/>
              <a:buNone/>
            </a:pPr>
            <a:r>
              <a:rPr lang="es-419" sz="1200" b="0"/>
              <a:t>16.1 – </a:t>
            </a:r>
            <a:r>
              <a:rPr lang="es-419"/>
              <a:t>Procesamiento de paquetes con rutas estáticas</a:t>
            </a:r>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62552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16</a:t>
            </a:r>
            <a:r>
              <a:rPr lang="es-419" sz="1200" baseline="0">
                <a:solidFill>
                  <a:schemeClr val="accent5">
                    <a:lumMod val="40000"/>
                    <a:lumOff val="60000"/>
                  </a:schemeClr>
                </a:solidFill>
              </a:rPr>
              <a:t> – </a:t>
            </a:r>
            <a:r>
              <a:rPr lang="es-419" sz="1200">
                <a:solidFill>
                  <a:schemeClr val="accent5">
                    <a:lumMod val="40000"/>
                    <a:lumOff val="60000"/>
                  </a:schemeClr>
                </a:solidFill>
              </a:rPr>
              <a:t>Solución de Problemas de Rutas Estáticas y Predeterminadas</a:t>
            </a:r>
          </a:p>
          <a:p>
            <a:pPr rtl="0"/>
            <a:r>
              <a:rPr lang="es-419"/>
              <a:t>16.1 – Procesamiento de paquetes con rutas estáticas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16.1.1 – </a:t>
            </a:r>
            <a:r>
              <a:rPr lang="es-419" sz="1200" b="0" i="0" kern="1200">
                <a:solidFill>
                  <a:schemeClr val="tx1"/>
                </a:solidFill>
                <a:effectLst/>
                <a:latin typeface="+mn-lt"/>
                <a:ea typeface="+mn-ea"/>
                <a:cs typeface="+mn-cs"/>
              </a:rPr>
              <a:t>Rutas estáticas y Reenvío de Paquetes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16</a:t>
            </a:r>
            <a:r>
              <a:rPr lang="es-419" sz="1200" baseline="0">
                <a:solidFill>
                  <a:schemeClr val="accent5">
                    <a:lumMod val="40000"/>
                    <a:lumOff val="60000"/>
                  </a:schemeClr>
                </a:solidFill>
              </a:rPr>
              <a:t> – </a:t>
            </a:r>
            <a:r>
              <a:rPr lang="es-419" sz="1200">
                <a:solidFill>
                  <a:schemeClr val="accent5">
                    <a:lumMod val="40000"/>
                    <a:lumOff val="60000"/>
                  </a:schemeClr>
                </a:solidFill>
              </a:rPr>
              <a:t>Solución de Problemas de Rutas Estáticas y Predeterminadas</a:t>
            </a:r>
          </a:p>
          <a:p>
            <a:pPr rtl="0"/>
            <a:r>
              <a:rPr lang="es-419"/>
              <a:t>16.1 – Procesamiento de paquetes con rutas estáticas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16.1.1 – </a:t>
            </a:r>
            <a:r>
              <a:rPr lang="es-419" sz="1200" b="0" i="0" kern="1200">
                <a:solidFill>
                  <a:schemeClr val="tx1"/>
                </a:solidFill>
                <a:effectLst/>
                <a:latin typeface="+mn-lt"/>
                <a:ea typeface="+mn-ea"/>
                <a:cs typeface="+mn-cs"/>
              </a:rPr>
              <a:t>Rutas estáticas y Reenvío de Paquetes (Cont.)</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50075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16</a:t>
            </a:r>
            <a:r>
              <a:rPr lang="es-419" sz="1200" baseline="0">
                <a:solidFill>
                  <a:schemeClr val="accent5">
                    <a:lumMod val="40000"/>
                    <a:lumOff val="60000"/>
                  </a:schemeClr>
                </a:solidFill>
              </a:rPr>
              <a:t> – </a:t>
            </a:r>
            <a:r>
              <a:rPr lang="es-419" sz="1200">
                <a:solidFill>
                  <a:schemeClr val="accent5">
                    <a:lumMod val="40000"/>
                    <a:lumOff val="60000"/>
                  </a:schemeClr>
                </a:solidFill>
              </a:rPr>
              <a:t>Solución de Problemas de Rutas Estáticas y Predeterminadas</a:t>
            </a:r>
          </a:p>
          <a:p>
            <a:pPr rtl="0"/>
            <a:r>
              <a:rPr lang="es-419"/>
              <a:t>16.1 – Procesamiento de paquetes con rutas estáticas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16.1.1 – </a:t>
            </a:r>
            <a:r>
              <a:rPr lang="es-419" sz="1200" b="0" i="0" kern="1200">
                <a:solidFill>
                  <a:schemeClr val="tx1"/>
                </a:solidFill>
                <a:effectLst/>
                <a:latin typeface="+mn-lt"/>
                <a:ea typeface="+mn-ea"/>
                <a:cs typeface="+mn-cs"/>
              </a:rPr>
              <a:t>Rutas estáticas y Reenvío de Paquetes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b="0" i="0" kern="1200">
                <a:solidFill>
                  <a:schemeClr val="tx1"/>
                </a:solidFill>
                <a:effectLst/>
                <a:latin typeface="+mn-lt"/>
                <a:ea typeface="+mn-ea"/>
                <a:cs typeface="+mn-cs"/>
              </a:rPr>
              <a:t>16.1.2</a:t>
            </a:r>
            <a:r>
              <a:rPr lang="es-419"/>
              <a:t> — </a:t>
            </a:r>
            <a:r>
              <a:rPr lang="es-419" sz="1200" b="0" i="0" kern="1200">
                <a:solidFill>
                  <a:schemeClr val="tx1"/>
                </a:solidFill>
                <a:effectLst/>
                <a:latin typeface="+mn-lt"/>
                <a:ea typeface="+mn-ea"/>
                <a:cs typeface="+mn-cs"/>
              </a:rPr>
              <a:t>Compruebe su comprensión - Procesamiento de paquetes con rutas estáticas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3021554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16 – Solución de problemas de rutas estáticas y predeterminadas</a:t>
            </a:r>
          </a:p>
          <a:p>
            <a:pPr rtl="0"/>
            <a:r>
              <a:rPr lang="es-419"/>
              <a:t>16.2 – Solución de Problemas de Configuración de Rutas Estáticas y Predeterminadas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16 – Solución de problemas de rutas estáticas y predeterminadas</a:t>
            </a:r>
          </a:p>
          <a:p>
            <a:pPr rtl="0"/>
            <a:r>
              <a:rPr lang="es-419" dirty="0"/>
              <a:t>16.2 – Solución de Problemas de Configuración de Rutas Estáticas y Predeterminadas IPv4</a:t>
            </a:r>
          </a:p>
          <a:p>
            <a:pPr rtl="0"/>
            <a:r>
              <a:rPr lang="es-419" dirty="0"/>
              <a:t>16.2.1 — Cambios en la red</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449157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16 – Solución de problemas de rutas estáticas y predeterminadas</a:t>
            </a:r>
          </a:p>
          <a:p>
            <a:pPr rtl="0"/>
            <a:r>
              <a:rPr lang="es-419" dirty="0"/>
              <a:t>16.2 – Solución de Problemas de Configuración de Rutas Estáticas y Predeterminadas IPv4</a:t>
            </a:r>
          </a:p>
          <a:p>
            <a:pPr rtl="0"/>
            <a:r>
              <a:rPr lang="es-419" dirty="0"/>
              <a:t>16.2.2 - Comandos Comunes para Solución de Problemas</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019084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16 – Solución de problemas de rutas estáticas y predeterminadas</a:t>
            </a:r>
          </a:p>
          <a:p>
            <a:pPr rtl="0"/>
            <a:r>
              <a:rPr lang="es-419"/>
              <a:t>16.2 – Solución de Problemas de Configuración de Rutas Estáticas y Predeterminadas IPv4</a:t>
            </a:r>
          </a:p>
          <a:p>
            <a:pPr rtl="0"/>
            <a:r>
              <a:rPr lang="es-419"/>
              <a:t>16.2.3 –</a:t>
            </a:r>
            <a:r>
              <a:rPr lang="es-419" sz="1200" b="0" i="0" kern="1200">
                <a:solidFill>
                  <a:schemeClr val="tx1"/>
                </a:solidFill>
                <a:effectLst/>
                <a:latin typeface="+mn-lt"/>
                <a:ea typeface="+mn-ea"/>
                <a:cs typeface="+mn-cs"/>
              </a:rPr>
              <a:t>Resolución de un problema de conectividad</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16.2.4 — </a:t>
            </a:r>
            <a:r>
              <a:rPr lang="es-419" sz="1200" b="0" i="0" kern="1200">
                <a:solidFill>
                  <a:schemeClr val="tx1"/>
                </a:solidFill>
                <a:effectLst/>
                <a:latin typeface="+mn-lt"/>
                <a:ea typeface="+mn-ea"/>
                <a:cs typeface="+mn-cs"/>
              </a:rPr>
              <a:t>Comprobador de sintaxis - Solucionar problemas de rutas estáticas y predeterminadas IPv4</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2938994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16 – Solución de Problemas de Rutas Estáticas y Predeterminadas</a:t>
            </a:r>
          </a:p>
          <a:p>
            <a:pPr rtl="0"/>
            <a:r>
              <a:rPr lang="es-419"/>
              <a:t>16.3 Módulo de Práctica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16 – Solución de Problemas de Rutas Estáticas y Predeterminadas</a:t>
            </a:r>
          </a:p>
          <a:p>
            <a:pPr rtl="0"/>
            <a:r>
              <a:rPr lang="es-419"/>
              <a:t>16.3 Módulo de Práctica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16.3.1 — Packet Tracer — </a:t>
            </a:r>
            <a:r>
              <a:rPr lang="es-419" sz="1200" b="0" i="0" kern="1200">
                <a:solidFill>
                  <a:schemeClr val="tx1"/>
                </a:solidFill>
                <a:effectLst/>
                <a:latin typeface="+mn-lt"/>
                <a:ea typeface="+mn-ea"/>
                <a:cs typeface="+mn-cs"/>
              </a:rPr>
              <a:t>Solucionar problemas de rutas estáticas y predeterminadas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99477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16 – Solución de Problemas de Rutas Estáticas y Predeterminadas</a:t>
            </a:r>
          </a:p>
          <a:p>
            <a:pPr rtl="0"/>
            <a:r>
              <a:rPr lang="es-419"/>
              <a:t>16.3 Módulo de Práctica y Cuestionario</a:t>
            </a:r>
          </a:p>
          <a:p>
            <a:pPr rtl="0"/>
            <a:r>
              <a:rPr lang="es-419"/>
              <a:t>16.3.2 – Lab - </a:t>
            </a:r>
            <a:r>
              <a:rPr lang="es-419" sz="1200" b="0" i="0" kern="1200">
                <a:solidFill>
                  <a:schemeClr val="tx1"/>
                </a:solidFill>
                <a:effectLst/>
                <a:latin typeface="+mn-lt"/>
                <a:ea typeface="+mn-ea"/>
                <a:cs typeface="+mn-cs"/>
              </a:rPr>
              <a:t>Solución de Problemas de Rutas Estáticas y Predeterminadas</a:t>
            </a:r>
          </a:p>
          <a:p>
            <a:br>
              <a:rPr lang="en-CA" sz="1200" b="0" i="0" kern="1200" dirty="0">
                <a:solidFill>
                  <a:schemeClr val="tx1"/>
                </a:solidFill>
                <a:effectLst/>
                <a:latin typeface="+mn-lt"/>
                <a:ea typeface="+mn-ea"/>
                <a:cs typeface="+mn-cs"/>
              </a:rPr>
            </a:br>
            <a:endParaRPr lang="en-CA"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700420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21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16 – Solución de Problemas de Rutas Estáticas y Predeterminadas</a:t>
            </a:r>
          </a:p>
          <a:p>
            <a:pPr rtl="0"/>
            <a:r>
              <a:rPr lang="es-419"/>
              <a:t>16.3 Módulo de Práctica y Cuestionario</a:t>
            </a:r>
          </a:p>
          <a:p>
            <a:pPr rtl="0"/>
            <a:r>
              <a:rPr lang="es-419"/>
              <a:t>16.3.3 – ¿Qué aprendí en este módulo?</a:t>
            </a:r>
          </a:p>
        </p:txBody>
      </p:sp>
    </p:spTree>
    <p:extLst>
      <p:ext uri="{BB962C8B-B14F-4D97-AF65-F5344CB8AC3E}">
        <p14:creationId xmlns:p14="http://schemas.microsoft.com/office/powerpoint/2010/main" val="1476824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22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16 – Solución de Problemas de Rutas Estáticas y Predeterminadas</a:t>
            </a:r>
          </a:p>
          <a:p>
            <a:pPr rtl="0"/>
            <a:r>
              <a:rPr lang="es-419"/>
              <a:t>16.3 Módulo de Práctica y Cuestionario</a:t>
            </a:r>
          </a:p>
          <a:p>
            <a:pPr rtl="0"/>
            <a:r>
              <a:rPr lang="es-419"/>
              <a:t>16.3.3 – ¿Qué aprendí en este módulo? (continuación)</a:t>
            </a:r>
          </a:p>
        </p:txBody>
      </p:sp>
    </p:spTree>
    <p:extLst>
      <p:ext uri="{BB962C8B-B14F-4D97-AF65-F5344CB8AC3E}">
        <p14:creationId xmlns:p14="http://schemas.microsoft.com/office/powerpoint/2010/main" val="2711525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23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16 – Solución de Problemas de Rutas Estáticas y Predeterminadas</a:t>
            </a:r>
          </a:p>
          <a:p>
            <a:pPr rtl="0"/>
            <a:r>
              <a:rPr lang="es-419"/>
              <a:t>16.3 Módulo de Práctica y Cuestionario</a:t>
            </a:r>
          </a:p>
          <a:p>
            <a:pPr rtl="0"/>
            <a:r>
              <a:rPr lang="es-419"/>
              <a:t>16.3.3 – ¿Qué aprendí en este módulo? (continuación)</a:t>
            </a:r>
          </a:p>
          <a:p>
            <a:pPr rtl="0"/>
            <a:r>
              <a:rPr lang="es-419"/>
              <a:t>16.3.4 – Cuestionario de módulo– Solución de problemas de rutas estáticas y predeterminadas</a:t>
            </a:r>
          </a:p>
        </p:txBody>
      </p:sp>
    </p:spTree>
    <p:extLst>
      <p:ext uri="{BB962C8B-B14F-4D97-AF65-F5344CB8AC3E}">
        <p14:creationId xmlns:p14="http://schemas.microsoft.com/office/powerpoint/2010/main" val="998845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16: Solución de Problemas de Rutas Estáticas y Predeterminadas</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6" y="3809526"/>
            <a:ext cx="3448079" cy="902174"/>
          </a:xfrm>
        </p:spPr>
        <p:txBody>
          <a:bodyPr/>
          <a:lstStyle/>
          <a:p>
            <a:pPr lvl="0" defTabSz="457200" rtl="0" fontAlgn="auto">
              <a:lnSpc>
                <a:spcPct val="100000"/>
              </a:lnSpc>
              <a:spcBef>
                <a:spcPts val="0"/>
              </a:spcBef>
              <a:spcAft>
                <a:spcPts val="0"/>
              </a:spcAft>
              <a:buClrTx/>
              <a:buSzTx/>
              <a:defRPr/>
            </a:pPr>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es-419"/>
              <a:t>Instructor Materials – Module 16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rtl="0">
              <a:buNone/>
            </a:pPr>
            <a:r>
              <a:rPr lang="es-419"/>
              <a:t>This PowerPoint deck is divided in two parts:</a:t>
            </a:r>
          </a:p>
          <a:p>
            <a:pPr rtl="0">
              <a:buFont typeface="Arial" panose="020B0604020202020204" pitchFamily="34" charset="0"/>
              <a:buChar char="•"/>
            </a:pPr>
            <a:r>
              <a:rPr lang="es-419"/>
              <a:t>Instructor Planning Guide</a:t>
            </a:r>
          </a:p>
          <a:p>
            <a:pPr lvl="1" rtl="0">
              <a:buFont typeface="Arial" panose="020B0604020202020204" pitchFamily="34" charset="0"/>
              <a:buChar char="•"/>
            </a:pPr>
            <a:r>
              <a:rPr lang="es-419"/>
              <a:t>Information to help you become familiar with the module</a:t>
            </a:r>
          </a:p>
          <a:p>
            <a:pPr lvl="1" rtl="0">
              <a:buFont typeface="Arial" panose="020B0604020202020204" pitchFamily="34" charset="0"/>
              <a:buChar char="•"/>
            </a:pPr>
            <a:r>
              <a:rPr lang="es-419"/>
              <a:t>Teaching aids</a:t>
            </a:r>
          </a:p>
          <a:p>
            <a:pPr rtl="0">
              <a:buFont typeface="Arial" panose="020B0604020202020204" pitchFamily="34" charset="0"/>
              <a:buChar char="•"/>
            </a:pPr>
            <a:r>
              <a:rPr lang="es-419"/>
              <a:t>Instructor Class Presentation</a:t>
            </a:r>
          </a:p>
          <a:p>
            <a:pPr lvl="1" rtl="0"/>
            <a:r>
              <a:rPr lang="es-419"/>
              <a:t>Optional slides that you can use in the classroom</a:t>
            </a:r>
          </a:p>
          <a:p>
            <a:pPr lvl="1" rtl="0"/>
            <a:r>
              <a:rPr lang="es-419"/>
              <a:t>Begins on slide # 8</a:t>
            </a:r>
          </a:p>
          <a:p>
            <a:pPr marL="142875" lvl="1" indent="0" algn="ctr" rtl="0">
              <a:buNone/>
            </a:pPr>
            <a:r>
              <a:rPr lang="es-419" sz="1600" b="1"/>
              <a:t>Note</a:t>
            </a:r>
            <a:r>
              <a:rPr lang="es-419" sz="1600"/>
              <a:t>: Remove the Planning Guide from this presentation before sharing with anyone.</a:t>
            </a:r>
          </a:p>
          <a:p>
            <a:pPr marL="0" indent="0" rtl="0">
              <a:buNone/>
            </a:pPr>
            <a:r>
              <a:rPr lang="es-419"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es-419"/>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es-419"/>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Feature</a:t>
                      </a:r>
                    </a:p>
                  </a:txBody>
                  <a:tcPr/>
                </a:tc>
                <a:tc>
                  <a:txBody>
                    <a:bodyPr/>
                    <a:lstStyle/>
                    <a:p>
                      <a:pPr rtl="0"/>
                      <a:r>
                        <a:rPr lang="es-419"/>
                        <a:t>Description</a:t>
                      </a:r>
                    </a:p>
                  </a:txBody>
                  <a:tcPr/>
                </a:tc>
                <a:extLst>
                  <a:ext uri="{0D108BD9-81ED-4DB2-BD59-A6C34878D82A}">
                    <a16:rowId xmlns:a16="http://schemas.microsoft.com/office/drawing/2014/main" val="367710602"/>
                  </a:ext>
                </a:extLst>
              </a:tr>
              <a:tr h="331556">
                <a:tc>
                  <a:txBody>
                    <a:bodyPr/>
                    <a:lstStyle/>
                    <a:p>
                      <a:pPr algn="l" rtl="0" fontAlgn="b"/>
                      <a:r>
                        <a:rPr lang="es-419"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Interactive Activities</a:t>
                      </a:r>
                    </a:p>
                  </a:txBody>
                  <a:tcPr marL="9525" marR="9525" marT="9525" marB="0" anchor="b"/>
                </a:tc>
                <a:tc>
                  <a:txBody>
                    <a:bodyPr/>
                    <a:lstStyle/>
                    <a:p>
                      <a:pPr rtl="0"/>
                      <a:r>
                        <a:rPr lang="es-419"/>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rtl="0" fontAlgn="b"/>
                      <a:r>
                        <a:rPr lang="es-419" sz="1400" b="0" i="0" u="none" strike="noStrike">
                          <a:solidFill>
                            <a:srgbClr val="000000"/>
                          </a:solidFill>
                          <a:effectLst/>
                          <a:latin typeface="+mn-lt"/>
                        </a:rPr>
                        <a:t>Syntax Checker</a:t>
                      </a:r>
                    </a:p>
                  </a:txBody>
                  <a:tcPr marL="9525" marR="9525" marT="9525" marB="0" anchor="b"/>
                </a:tc>
                <a:tc>
                  <a:txBody>
                    <a:bodyPr/>
                    <a:lstStyle/>
                    <a:p>
                      <a:pPr rtl="0"/>
                      <a:r>
                        <a:rPr lang="es-419"/>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rtl="0" fontAlgn="b"/>
                      <a:r>
                        <a:rPr lang="es-419" sz="1400" b="0" i="0" u="none" strike="noStrike">
                          <a:solidFill>
                            <a:srgbClr val="000000"/>
                          </a:solidFill>
                          <a:effectLst/>
                          <a:latin typeface="+mn-lt"/>
                        </a:rPr>
                        <a:t>PT Activity</a:t>
                      </a:r>
                    </a:p>
                  </a:txBody>
                  <a:tcPr marL="9525" marR="9525" marT="9525" marB="0" anchor="b"/>
                </a:tc>
                <a:tc>
                  <a:txBody>
                    <a:bodyPr/>
                    <a:lstStyle/>
                    <a:p>
                      <a:pPr rtl="0"/>
                      <a:r>
                        <a:rPr lang="es-419"/>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es-419"/>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es-419"/>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es-419" sz="1400" b="1" i="0" u="none" strike="noStrike">
                          <a:solidFill>
                            <a:schemeClr val="bg1"/>
                          </a:solidFill>
                          <a:effectLst/>
                          <a:latin typeface="+mn-lt"/>
                        </a:rPr>
                        <a:t>Feature</a:t>
                      </a:r>
                    </a:p>
                  </a:txBody>
                  <a:tcPr marL="9525" marR="9525" marT="9525" marB="0" anchor="b"/>
                </a:tc>
                <a:tc>
                  <a:txBody>
                    <a:bodyPr/>
                    <a:lstStyle/>
                    <a:p>
                      <a:pPr rtl="0"/>
                      <a:r>
                        <a:rPr lang="es-419"/>
                        <a:t>Description</a:t>
                      </a:r>
                    </a:p>
                  </a:txBody>
                  <a:tcPr/>
                </a:tc>
                <a:extLst>
                  <a:ext uri="{0D108BD9-81ED-4DB2-BD59-A6C34878D82A}">
                    <a16:rowId xmlns:a16="http://schemas.microsoft.com/office/drawing/2014/main" val="3768427975"/>
                  </a:ext>
                </a:extLst>
              </a:tr>
              <a:tr h="265091">
                <a:tc>
                  <a:txBody>
                    <a:bodyPr/>
                    <a:lstStyle/>
                    <a:p>
                      <a:pPr algn="l" rtl="0" fontAlgn="b"/>
                      <a:r>
                        <a:rPr lang="es-419" sz="1400" b="0" i="0" u="none" strike="noStrike">
                          <a:solidFill>
                            <a:srgbClr val="000000"/>
                          </a:solidFill>
                          <a:effectLst/>
                          <a:latin typeface="+mn-lt"/>
                        </a:rPr>
                        <a:t>Hands-On Labs</a:t>
                      </a:r>
                    </a:p>
                  </a:txBody>
                  <a:tcPr marL="9525" marR="9525" marT="9525" marB="0" anchor="b"/>
                </a:tc>
                <a:tc>
                  <a:txBody>
                    <a:bodyPr/>
                    <a:lstStyle/>
                    <a:p>
                      <a:pPr rtl="0"/>
                      <a:r>
                        <a:rPr lang="es-419"/>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rtl="0" fontAlgn="b"/>
                      <a:r>
                        <a:rPr lang="es-419" sz="1400" b="0" i="0" u="none" strike="noStrike">
                          <a:solidFill>
                            <a:srgbClr val="000000"/>
                          </a:solidFill>
                          <a:effectLst/>
                          <a:latin typeface="+mn-lt"/>
                        </a:rPr>
                        <a:t>Module Quizzes</a:t>
                      </a:r>
                    </a:p>
                  </a:txBody>
                  <a:tcPr marL="9525" marR="9525" marT="9525" marB="0" anchor="b"/>
                </a:tc>
                <a:tc>
                  <a:txBody>
                    <a:bodyPr/>
                    <a:lstStyle/>
                    <a:p>
                      <a:pPr rtl="0"/>
                      <a:r>
                        <a:rPr lang="es-419"/>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rtl="0" fontAlgn="b"/>
                      <a:r>
                        <a:rPr lang="es-419" sz="1400" b="0" i="0" u="none" strike="noStrike">
                          <a:solidFill>
                            <a:srgbClr val="000000"/>
                          </a:solidFill>
                          <a:effectLst/>
                          <a:latin typeface="+mn-lt"/>
                        </a:rPr>
                        <a:t>Module Summary</a:t>
                      </a:r>
                    </a:p>
                  </a:txBody>
                  <a:tcPr marL="9525" marR="9525" marT="9525" marB="0" anchor="b"/>
                </a:tc>
                <a:tc>
                  <a:txBody>
                    <a:bodyPr/>
                    <a:lstStyle/>
                    <a:p>
                      <a:pPr rtl="0"/>
                      <a:r>
                        <a:rPr lang="es-419"/>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es-419"/>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es-419"/>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es-419"/>
              <a:t>Check Your Understanding activities </a:t>
            </a:r>
            <a:r>
              <a:rPr lang="es-419" b="1" i="1"/>
              <a:t>do not </a:t>
            </a:r>
            <a:r>
              <a:rPr lang="es-419"/>
              <a:t>affect student grades.</a:t>
            </a:r>
          </a:p>
          <a:p>
            <a:pPr rtl="0">
              <a:spcBef>
                <a:spcPct val="30000"/>
              </a:spcBef>
              <a:buFont typeface="Arial" panose="020B0604020202020204" pitchFamily="34" charset="0"/>
              <a:buChar char="•"/>
            </a:pPr>
            <a:r>
              <a:rPr lang="es-419"/>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05438309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a:r>
              <a:rPr lang="es-419"/>
              <a:t>Module 16: Activities</a:t>
            </a:r>
          </a:p>
        </p:txBody>
      </p:sp>
      <p:sp>
        <p:nvSpPr>
          <p:cNvPr id="6147" name="Rectangle 34"/>
          <p:cNvSpPr>
            <a:spLocks noGrp="1" noChangeArrowheads="1"/>
          </p:cNvSpPr>
          <p:nvPr>
            <p:ph idx="1"/>
          </p:nvPr>
        </p:nvSpPr>
        <p:spPr>
          <a:xfrm>
            <a:off x="144065" y="798945"/>
            <a:ext cx="8853286" cy="322846"/>
          </a:xfrm>
        </p:spPr>
        <p:txBody>
          <a:bodyPr/>
          <a:lstStyle/>
          <a:p>
            <a:pPr rtl="0"/>
            <a:r>
              <a:rPr lang="es-419"/>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566180646"/>
              </p:ext>
            </p:extLst>
          </p:nvPr>
        </p:nvGraphicFramePr>
        <p:xfrm>
          <a:off x="455999" y="1240256"/>
          <a:ext cx="8229418" cy="170457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s-419"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200"/>
                        <a:t>Activity Type</a:t>
                      </a:r>
                    </a:p>
                  </a:txBody>
                  <a:tcPr marL="68580" marR="68580" marT="34290" marB="34290" anchor="ctr"/>
                </a:tc>
                <a:tc>
                  <a:txBody>
                    <a:bodyPr/>
                    <a:lstStyle/>
                    <a:p>
                      <a:pPr rtl="0"/>
                      <a:r>
                        <a:rPr lang="es-419" sz="1200"/>
                        <a:t>Activity Name</a:t>
                      </a:r>
                    </a:p>
                  </a:txBody>
                  <a:tcPr marL="68580" marR="68580" marT="34290" marB="34290" anchor="ctr"/>
                </a:tc>
                <a:tc>
                  <a:txBody>
                    <a:bodyPr/>
                    <a:lstStyle/>
                    <a:p>
                      <a:pPr rtl="0"/>
                      <a:r>
                        <a:rPr lang="es-419"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es-419" sz="1100"/>
                        <a:t>16.1.2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100"/>
                        <a:t>Check Your Understanding</a:t>
                      </a:r>
                    </a:p>
                  </a:txBody>
                  <a:tcPr marL="68580" marR="68580" marT="34290" marB="34290" anchor="ctr"/>
                </a:tc>
                <a:tc>
                  <a:txBody>
                    <a:bodyPr/>
                    <a:lstStyle/>
                    <a:p>
                      <a:pPr rtl="0"/>
                      <a:r>
                        <a:rPr lang="es-419" sz="1100"/>
                        <a:t>Packet Processing with Static Routes</a:t>
                      </a:r>
                    </a:p>
                  </a:txBody>
                  <a:tcPr marL="68580" marR="68580" marT="34290" marB="34290" anchor="ctr"/>
                </a:tc>
                <a:tc>
                  <a:txBody>
                    <a:bodyPr/>
                    <a:lstStyle/>
                    <a:p>
                      <a:pPr rtl="0"/>
                      <a:r>
                        <a:rPr lang="es-419" sz="1100"/>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es-419" sz="1100"/>
                        <a:t>16.2.4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t>Troubleshoot IPv4 Static and Default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es-419" sz="1100"/>
                        <a:t>16.3.1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b="0" i="0" u="none" strike="noStrike" kern="1200" cap="none" spc="0" normalizeH="0" baseline="0">
                          <a:ln>
                            <a:noFill/>
                          </a:ln>
                          <a:solidFill>
                            <a:srgbClr val="58585B"/>
                          </a:solidFill>
                          <a:effectLst/>
                          <a:uLnTx/>
                          <a:uFillTx/>
                          <a:latin typeface="Arial"/>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t>Troubleshoot Static and Default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es-419" sz="1100"/>
                        <a:t>16.3.2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s-419" sz="1100" b="0" i="0" u="none" strike="noStrike" kern="1200" cap="none" spc="0" normalizeH="0" baseline="0">
                          <a:ln>
                            <a:noFill/>
                          </a:ln>
                          <a:solidFill>
                            <a:srgbClr val="58585B"/>
                          </a:solidFill>
                          <a:effectLst/>
                          <a:uLnTx/>
                          <a:uFillTx/>
                          <a:latin typeface="Arial"/>
                          <a:ea typeface="+mn-ea"/>
                          <a:cs typeface="+mn-cs"/>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t>Troubleshoot Static and Default Routes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16: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es-419" sz="1400"/>
              <a:t>Prior to teaching Module 16, the instructor should:</a:t>
            </a:r>
          </a:p>
          <a:p>
            <a:pPr rtl="0" eaLnBrk="1" hangingPunct="1">
              <a:lnSpc>
                <a:spcPct val="85000"/>
              </a:lnSpc>
              <a:spcBef>
                <a:spcPct val="30000"/>
              </a:spcBef>
              <a:buFont typeface="Arial" panose="020B0604020202020204" pitchFamily="34" charset="0"/>
              <a:buChar char="•"/>
            </a:pPr>
            <a:r>
              <a:rPr lang="es-419" sz="1400"/>
              <a:t>Review the activities and assessments for this module.</a:t>
            </a:r>
          </a:p>
          <a:p>
            <a:pPr rtl="0" eaLnBrk="1" hangingPunct="1">
              <a:lnSpc>
                <a:spcPct val="85000"/>
              </a:lnSpc>
              <a:spcBef>
                <a:spcPct val="30000"/>
              </a:spcBef>
              <a:buFont typeface="Arial" panose="020B0604020202020204" pitchFamily="34" charset="0"/>
              <a:buChar char="•"/>
            </a:pPr>
            <a:r>
              <a:rPr lang="es-419" sz="1400"/>
              <a:t>Try to include as many questions as possible to keep students engaged during classroom presentation.</a:t>
            </a:r>
          </a:p>
          <a:p>
            <a:pPr rtl="0">
              <a:lnSpc>
                <a:spcPct val="85000"/>
              </a:lnSpc>
              <a:spcBef>
                <a:spcPct val="30000"/>
              </a:spcBef>
              <a:buFont typeface="Arial" panose="020B0604020202020204" pitchFamily="34" charset="0"/>
              <a:buChar char="•"/>
            </a:pPr>
            <a:r>
              <a:rPr lang="es-419" sz="1400"/>
              <a:t>After this Module, the Routing Concepts and Configuration Exam is available, covering Modules 14-16</a:t>
            </a:r>
          </a:p>
          <a:p>
            <a:pPr marL="0" indent="0" rtl="0" eaLnBrk="1" hangingPunct="1">
              <a:lnSpc>
                <a:spcPct val="85000"/>
              </a:lnSpc>
              <a:spcBef>
                <a:spcPct val="30000"/>
              </a:spcBef>
              <a:buNone/>
            </a:pPr>
            <a:r>
              <a:rPr lang="es-419" sz="1400"/>
              <a:t>Topic 16.1</a:t>
            </a:r>
          </a:p>
          <a:p>
            <a:pPr lvl="1" rtl="0">
              <a:lnSpc>
                <a:spcPct val="85000"/>
              </a:lnSpc>
              <a:spcBef>
                <a:spcPct val="30000"/>
              </a:spcBef>
            </a:pPr>
            <a:r>
              <a:rPr lang="es-419"/>
              <a:t>Ask the students or have a class discussion</a:t>
            </a:r>
          </a:p>
          <a:p>
            <a:pPr lvl="2" rtl="0">
              <a:lnSpc>
                <a:spcPct val="85000"/>
              </a:lnSpc>
              <a:spcBef>
                <a:spcPct val="30000"/>
              </a:spcBef>
            </a:pPr>
            <a:r>
              <a:rPr lang="es-419" sz="1400"/>
              <a:t>What kinds of problems do you think an incorrectly configured static route create?</a:t>
            </a:r>
          </a:p>
          <a:p>
            <a:pPr lvl="2" rtl="0">
              <a:lnSpc>
                <a:spcPct val="85000"/>
              </a:lnSpc>
              <a:spcBef>
                <a:spcPct val="30000"/>
              </a:spcBef>
            </a:pPr>
            <a:r>
              <a:rPr lang="es-419" sz="1400"/>
              <a:t>What kind of configuration errors can be caused by configuring a static route?</a:t>
            </a:r>
          </a:p>
          <a:p>
            <a:pPr marL="0" indent="0" rtl="0">
              <a:lnSpc>
                <a:spcPct val="85000"/>
              </a:lnSpc>
              <a:spcBef>
                <a:spcPct val="30000"/>
              </a:spcBef>
              <a:buNone/>
            </a:pPr>
            <a:r>
              <a:rPr lang="es-419" sz="1400"/>
              <a:t>Topic 16.2</a:t>
            </a:r>
          </a:p>
          <a:p>
            <a:pPr lvl="1" rtl="0">
              <a:lnSpc>
                <a:spcPct val="85000"/>
              </a:lnSpc>
              <a:spcBef>
                <a:spcPct val="30000"/>
              </a:spcBef>
            </a:pPr>
            <a:r>
              <a:rPr lang="es-419"/>
              <a:t>Ask the students or have a class discussion</a:t>
            </a:r>
          </a:p>
          <a:p>
            <a:pPr lvl="2" rtl="0">
              <a:lnSpc>
                <a:spcPct val="85000"/>
              </a:lnSpc>
              <a:spcBef>
                <a:spcPct val="30000"/>
              </a:spcBef>
            </a:pPr>
            <a:r>
              <a:rPr lang="es-419" sz="1400"/>
              <a:t>Given a topology, can you explain how a packet travels from source to destination?</a:t>
            </a:r>
          </a:p>
          <a:p>
            <a:pPr lvl="2" rtl="0">
              <a:lnSpc>
                <a:spcPct val="85000"/>
              </a:lnSpc>
              <a:spcBef>
                <a:spcPct val="30000"/>
              </a:spcBef>
            </a:pPr>
            <a:r>
              <a:rPr lang="es-419" sz="1400"/>
              <a:t>Which commands would help you solve a static route problem?</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729383"/>
            <a:ext cx="6658416" cy="1080143"/>
          </a:xfrm>
        </p:spPr>
        <p:txBody>
          <a:bodyPr/>
          <a:lstStyle/>
          <a:p>
            <a:pPr rtl="0"/>
            <a:r>
              <a:rPr lang="es-419" sz="4400" dirty="0">
                <a:solidFill>
                  <a:schemeClr val="accent5">
                    <a:lumMod val="40000"/>
                    <a:lumOff val="60000"/>
                  </a:schemeClr>
                </a:solidFill>
              </a:rPr>
              <a:t>Módulo 16: Solución de Problemas de Rutas Estáticas y Predeterminadas</a:t>
            </a:r>
          </a:p>
        </p:txBody>
      </p:sp>
      <p:sp>
        <p:nvSpPr>
          <p:cNvPr id="7" name="Subtitle 6"/>
          <p:cNvSpPr>
            <a:spLocks noGrp="1"/>
          </p:cNvSpPr>
          <p:nvPr>
            <p:ph type="subTitle" idx="1"/>
          </p:nvPr>
        </p:nvSpPr>
        <p:spPr>
          <a:xfrm>
            <a:off x="469497" y="3809526"/>
            <a:ext cx="2368954" cy="902174"/>
          </a:xfrm>
        </p:spPr>
        <p:txBody>
          <a:bodyPr/>
          <a:lstStyle/>
          <a:p>
            <a:pPr lvl="0" defTabSz="457200" rtl="0" fontAlgn="auto">
              <a:lnSpc>
                <a:spcPct val="100000"/>
              </a:lnSpc>
              <a:spcBef>
                <a:spcPts val="0"/>
              </a:spcBef>
              <a:spcAft>
                <a:spcPts val="0"/>
              </a:spcAft>
              <a:buClrTx/>
              <a:buSzTx/>
              <a:defRPr/>
            </a:pPr>
            <a:r>
              <a:rPr lang="es-419">
                <a:solidFill>
                  <a:schemeClr val="accent5">
                    <a:lumMod val="40000"/>
                    <a:lumOff val="60000"/>
                  </a:schemeClr>
                </a:solidFill>
              </a:rPr>
              <a:t>Switching, Routing y Wireless Essentials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419"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Titulo de Módulo: </a:t>
            </a:r>
            <a:r>
              <a:rPr kumimoji="0" lang="es-419"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Solución de Problemas de Rutas Estáticas y Predeterminadas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es-419"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Objetivos de Módulo</a:t>
            </a:r>
            <a:r>
              <a:rPr kumimoji="0" lang="es-419"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s-419" sz="1600" dirty="0">
                <a:latin typeface="+mn-lt"/>
                <a:ea typeface="Calibri" panose="020F0502020204030204" pitchFamily="34" charset="0"/>
                <a:cs typeface="Calibri" panose="020F0502020204030204" pitchFamily="34" charset="0"/>
              </a:rPr>
              <a:t>Solucionar Problemas de Configuración de Rutas Estáticas y Predeterminadas.</a:t>
            </a: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615606947"/>
              </p:ext>
            </p:extLst>
          </p:nvPr>
        </p:nvGraphicFramePr>
        <p:xfrm>
          <a:off x="407549" y="1736541"/>
          <a:ext cx="8328900" cy="1792269"/>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90445">
                <a:tc>
                  <a:txBody>
                    <a:bodyPr/>
                    <a:lstStyle/>
                    <a:p>
                      <a:pPr marL="0" marR="0" rtl="0">
                        <a:lnSpc>
                          <a:spcPct val="107000"/>
                        </a:lnSpc>
                        <a:spcBef>
                          <a:spcPts val="0"/>
                        </a:spcBef>
                        <a:spcAft>
                          <a:spcPts val="0"/>
                        </a:spcAft>
                      </a:pPr>
                      <a:r>
                        <a:rPr lang="es-419" sz="1400">
                          <a:effectLst/>
                        </a:rPr>
                        <a:t>Título del tema</a:t>
                      </a:r>
                    </a:p>
                  </a:txBody>
                  <a:tcPr marL="68580" marR="68580" marT="0" marB="0"/>
                </a:tc>
                <a:tc>
                  <a:txBody>
                    <a:bodyPr/>
                    <a:lstStyle/>
                    <a:p>
                      <a:pPr marL="0" marR="0" rtl="0">
                        <a:lnSpc>
                          <a:spcPct val="107000"/>
                        </a:lnSpc>
                        <a:spcBef>
                          <a:spcPts val="0"/>
                        </a:spcBef>
                        <a:spcAft>
                          <a:spcPts val="0"/>
                        </a:spcAft>
                      </a:pPr>
                      <a:r>
                        <a:rPr lang="es-419" sz="1400">
                          <a:effectLst/>
                        </a:rPr>
                        <a:t>Objetivo del tema</a:t>
                      </a:r>
                    </a:p>
                  </a:txBody>
                  <a:tcPr marL="68580" marR="68580" marT="0" marB="0"/>
                </a:tc>
                <a:extLst>
                  <a:ext uri="{0D108BD9-81ED-4DB2-BD59-A6C34878D82A}">
                    <a16:rowId xmlns:a16="http://schemas.microsoft.com/office/drawing/2014/main" val="1874061904"/>
                  </a:ext>
                </a:extLst>
              </a:tr>
              <a:tr h="750912">
                <a:tc>
                  <a:txBody>
                    <a:bodyPr/>
                    <a:lstStyle/>
                    <a:p>
                      <a:pPr marL="0" marR="0" rtl="0">
                        <a:lnSpc>
                          <a:spcPct val="107000"/>
                        </a:lnSpc>
                        <a:spcBef>
                          <a:spcPts val="0"/>
                        </a:spcBef>
                        <a:spcAft>
                          <a:spcPts val="0"/>
                        </a:spcAft>
                      </a:pPr>
                      <a:r>
                        <a:rPr lang="es-419" sz="1400">
                          <a:effectLst/>
                          <a:latin typeface="+mn-lt"/>
                          <a:ea typeface="Calibri" panose="020F0502020204030204" pitchFamily="34" charset="0"/>
                          <a:cs typeface="Times New Roman" panose="02020603050405020304" pitchFamily="18" charset="0"/>
                        </a:rPr>
                        <a:t>Procesamiento de paquetes con rutas estáticas </a:t>
                      </a:r>
                    </a:p>
                  </a:txBody>
                  <a:tcPr marL="68580" marR="68580" marT="0" marB="0"/>
                </a:tc>
                <a:tc>
                  <a:txBody>
                    <a:bodyPr/>
                    <a:lstStyle/>
                    <a:p>
                      <a:pPr marL="0" marR="0" rtl="0">
                        <a:lnSpc>
                          <a:spcPct val="107000"/>
                        </a:lnSpc>
                        <a:spcBef>
                          <a:spcPts val="0"/>
                        </a:spcBef>
                        <a:spcAft>
                          <a:spcPts val="0"/>
                        </a:spcAft>
                      </a:pPr>
                      <a:r>
                        <a:rPr lang="es-419" sz="1400" kern="1200">
                          <a:solidFill>
                            <a:srgbClr val="000000"/>
                          </a:solidFill>
                          <a:effectLst/>
                          <a:latin typeface="+mn-lt"/>
                          <a:ea typeface="+mn-ea"/>
                          <a:cs typeface="+mn-cs"/>
                        </a:rPr>
                        <a:t>Explicar la forma en que un router procesa paquetes cuando se configura una ruta estática.</a:t>
                      </a:r>
                    </a:p>
                  </a:txBody>
                  <a:tcPr marL="68580" marR="68580" marT="0" marB="0"/>
                </a:tc>
                <a:extLst>
                  <a:ext uri="{0D108BD9-81ED-4DB2-BD59-A6C34878D82A}">
                    <a16:rowId xmlns:a16="http://schemas.microsoft.com/office/drawing/2014/main" val="1646858405"/>
                  </a:ext>
                </a:extLst>
              </a:tr>
              <a:tr h="750912">
                <a:tc>
                  <a:txBody>
                    <a:bodyPr/>
                    <a:lstStyle/>
                    <a:p>
                      <a:pPr marL="0" marR="0" rtl="0">
                        <a:lnSpc>
                          <a:spcPct val="107000"/>
                        </a:lnSpc>
                        <a:spcBef>
                          <a:spcPts val="0"/>
                        </a:spcBef>
                        <a:spcAft>
                          <a:spcPts val="0"/>
                        </a:spcAft>
                      </a:pPr>
                      <a:r>
                        <a:rPr lang="es-419" sz="1400">
                          <a:effectLst/>
                          <a:latin typeface="+mn-lt"/>
                          <a:ea typeface="Calibri" panose="020F0502020204030204" pitchFamily="34" charset="0"/>
                          <a:cs typeface="Times New Roman" panose="02020603050405020304" pitchFamily="18" charset="0"/>
                        </a:rPr>
                        <a:t>Resuelva problemas de configuración de rutas IPv4 estáticas y predeterminadas</a:t>
                      </a:r>
                    </a:p>
                  </a:txBody>
                  <a:tcPr marL="68580" marR="68580" marT="0" marB="0"/>
                </a:tc>
                <a:tc>
                  <a:txBody>
                    <a:bodyPr/>
                    <a:lstStyle/>
                    <a:p>
                      <a:pPr marL="0" marR="0" rtl="0">
                        <a:lnSpc>
                          <a:spcPct val="107000"/>
                        </a:lnSpc>
                        <a:spcBef>
                          <a:spcPts val="0"/>
                        </a:spcBef>
                        <a:spcAft>
                          <a:spcPts val="0"/>
                        </a:spcAft>
                      </a:pPr>
                      <a:r>
                        <a:rPr lang="es-419" sz="1400" kern="1200" dirty="0">
                          <a:solidFill>
                            <a:srgbClr val="000000"/>
                          </a:solidFill>
                          <a:effectLst/>
                          <a:latin typeface="+mn-lt"/>
                          <a:ea typeface="+mn-ea"/>
                          <a:cs typeface="+mn-cs"/>
                        </a:rPr>
                        <a:t>Resolver problemas comunes de configuración de rutas estáticas y predeterminadas.</a:t>
                      </a:r>
                    </a:p>
                  </a:txBody>
                  <a:tcPr marL="68580" marR="68580" marT="0" marB="0"/>
                </a:tc>
                <a:extLst>
                  <a:ext uri="{0D108BD9-81ED-4DB2-BD59-A6C34878D82A}">
                    <a16:rowId xmlns:a16="http://schemas.microsoft.com/office/drawing/2014/main" val="1435904258"/>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16.1 Procesamiento de paquetes con rutas estáticas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Procesamiento de paquetes con rutas estáticas</a:t>
            </a:r>
            <a:br>
              <a:rPr lang="en-US" dirty="0"/>
            </a:br>
            <a:r>
              <a:rPr lang="es-419" sz="2400"/>
              <a:t>Rutas estáticas y Reenvío de Paquetes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5464332" cy="153043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PC1 dirige un paquete a PC3 y lo envía a la dirección de puerta de enlace predeterminada.</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Cuando el paquete llega a la interfaz R1 G0/0/0, R1 des-encapsulará el paquete y busca en la tabla de enrutamiento una entrada de red de destino que coincida.</a:t>
            </a:r>
          </a:p>
        </p:txBody>
      </p:sp>
      <p:sp>
        <p:nvSpPr>
          <p:cNvPr id="8" name="Content Placeholder 3">
            <a:extLst>
              <a:ext uri="{FF2B5EF4-FFF2-40B4-BE49-F238E27FC236}">
                <a16:creationId xmlns:a16="http://schemas.microsoft.com/office/drawing/2014/main" id="{04E33590-2B40-4C86-B3A2-E0B0D4C7E807}"/>
              </a:ext>
            </a:extLst>
          </p:cNvPr>
          <p:cNvSpPr txBox="1">
            <a:spLocks/>
          </p:cNvSpPr>
          <p:nvPr/>
        </p:nvSpPr>
        <p:spPr>
          <a:xfrm>
            <a:off x="431971" y="2680138"/>
            <a:ext cx="8470291" cy="189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5875" indent="0" algn="l" defTabSz="684213" rtl="0" fontAlgn="base">
              <a:spcBef>
                <a:spcPts val="300"/>
              </a:spcBef>
              <a:spcAft>
                <a:spcPts val="300"/>
              </a:spcAft>
              <a:buClr>
                <a:schemeClr val="tx2"/>
              </a:buClr>
              <a:buSzPct val="90000"/>
            </a:pPr>
            <a:r>
              <a:rPr lang="es-419" sz="1600">
                <a:solidFill>
                  <a:srgbClr val="000000"/>
                </a:solidFill>
              </a:rPr>
              <a:t>Si la dirección IP de destino:</a:t>
            </a:r>
          </a:p>
          <a:p>
            <a:pPr marL="371475" lvl="1" indent="-166688" rtl="0">
              <a:lnSpc>
                <a:spcPct val="100000"/>
              </a:lnSpc>
              <a:spcBef>
                <a:spcPts val="300"/>
              </a:spcBef>
              <a:spcAft>
                <a:spcPts val="300"/>
              </a:spcAft>
              <a:buFont typeface="Arial" panose="020B0604020202020204" pitchFamily="34" charset="0"/>
              <a:buChar char="•"/>
            </a:pPr>
            <a:r>
              <a:rPr lang="es-419">
                <a:solidFill>
                  <a:srgbClr val="000000"/>
                </a:solidFill>
              </a:rPr>
              <a:t>Coincide con una entrada de ruta estática, R1 utilizará la ruta estática para identificar la dirección IP de salto siguiente o la interfaz de salida.</a:t>
            </a:r>
          </a:p>
          <a:p>
            <a:pPr marL="371475" lvl="1" indent="-166688" rtl="0">
              <a:lnSpc>
                <a:spcPct val="100000"/>
              </a:lnSpc>
              <a:spcBef>
                <a:spcPts val="300"/>
              </a:spcBef>
              <a:spcAft>
                <a:spcPts val="300"/>
              </a:spcAft>
              <a:buFont typeface="Arial" panose="020B0604020202020204" pitchFamily="34" charset="0"/>
              <a:buChar char="•"/>
            </a:pPr>
            <a:r>
              <a:rPr lang="es-419">
                <a:solidFill>
                  <a:srgbClr val="000000"/>
                </a:solidFill>
              </a:rPr>
              <a:t>No coincide con una ruta específica a la red de destino, entonces R1 utilizará la ruta estática predeterminada (si está configurada).</a:t>
            </a:r>
          </a:p>
          <a:p>
            <a:pPr marL="371475" lvl="1" indent="-166688" rtl="0">
              <a:lnSpc>
                <a:spcPct val="100000"/>
              </a:lnSpc>
              <a:spcBef>
                <a:spcPts val="300"/>
              </a:spcBef>
              <a:spcAft>
                <a:spcPts val="300"/>
              </a:spcAft>
              <a:buFont typeface="Arial" panose="020B0604020202020204" pitchFamily="34" charset="0"/>
              <a:buChar char="•"/>
            </a:pPr>
            <a:r>
              <a:rPr lang="es-419">
                <a:solidFill>
                  <a:srgbClr val="000000"/>
                </a:solidFill>
              </a:rPr>
              <a:t>No coincide con una entrada de la tabla de rutas, entonces R1 soltará el paquete y enviará un mensaje ICMP de vuelta a la fuente (es decir, PC1).</a:t>
            </a:r>
          </a:p>
        </p:txBody>
      </p:sp>
      <p:pic>
        <p:nvPicPr>
          <p:cNvPr id="5" name="Picture 4">
            <a:extLst>
              <a:ext uri="{FF2B5EF4-FFF2-40B4-BE49-F238E27FC236}">
                <a16:creationId xmlns:a16="http://schemas.microsoft.com/office/drawing/2014/main" id="{63866CAD-0BAB-49EB-BE6F-BB98C953FC0F}"/>
              </a:ext>
            </a:extLst>
          </p:cNvPr>
          <p:cNvPicPr>
            <a:picLocks noChangeAspect="1"/>
          </p:cNvPicPr>
          <p:nvPr/>
        </p:nvPicPr>
        <p:blipFill>
          <a:blip r:embed="rId3"/>
          <a:stretch>
            <a:fillRect/>
          </a:stretch>
        </p:blipFill>
        <p:spPr>
          <a:xfrm>
            <a:off x="5618375" y="715781"/>
            <a:ext cx="3377424" cy="1964357"/>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Procesamiento de Paquetes con Rutas Estáticas</a:t>
            </a:r>
            <a:br>
              <a:rPr lang="en-US" dirty="0"/>
            </a:br>
            <a:r>
              <a:rPr lang="es-419" sz="2400"/>
              <a:t>Rutas Estáticas y Reenvío de Paquetes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5054429" cy="372709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5875" indent="0" algn="l" defTabSz="684213" rtl="0" fontAlgn="base">
              <a:spcBef>
                <a:spcPts val="300"/>
              </a:spcBef>
              <a:spcAft>
                <a:spcPts val="300"/>
              </a:spcAft>
              <a:buClr>
                <a:schemeClr val="tx2"/>
              </a:buClr>
              <a:buSzPct val="90000"/>
            </a:pPr>
            <a:r>
              <a:rPr lang="es-419" sz="1600">
                <a:solidFill>
                  <a:srgbClr val="000000"/>
                </a:solidFill>
              </a:rPr>
              <a:t>Suponiendo que R1 coincidió con una entrada de tabla de enrutamiento, encapsula el paquete en una nueva trama y lo reenvía fuera de la interfaz S0/1/0 a R2. </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R2 recibe el paquete en su interfaz S0/1/0.</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Des-encapsula y procesa el paquete de la misma manera que lo hizo R1.</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Cuando R2 encuentra una coincidencia en la tabla de enrutamiento, utiliza la dirección IP de salto siguiente identificado o la interfaz de salida y envía el paquete fuera de su interfaz S0/1/1 hacia R3.</a:t>
            </a:r>
          </a:p>
          <a:p>
            <a:pPr marL="15875" indent="0" algn="l" defTabSz="684213" fontAlgn="base">
              <a:spcBef>
                <a:spcPts val="300"/>
              </a:spcBef>
              <a:spcAft>
                <a:spcPts val="300"/>
              </a:spcAft>
              <a:buClr>
                <a:schemeClr val="tx2"/>
              </a:buClr>
              <a:buSzPct val="90000"/>
            </a:pPr>
            <a:endParaRPr lang="en-US" sz="1600" dirty="0">
              <a:solidFill>
                <a:srgbClr val="000000"/>
              </a:solidFill>
            </a:endParaRPr>
          </a:p>
        </p:txBody>
      </p:sp>
      <p:sp>
        <p:nvSpPr>
          <p:cNvPr id="8" name="Content Placeholder 3">
            <a:extLst>
              <a:ext uri="{FF2B5EF4-FFF2-40B4-BE49-F238E27FC236}">
                <a16:creationId xmlns:a16="http://schemas.microsoft.com/office/drawing/2014/main" id="{E56E7CDA-6F13-4DF1-BCD1-299A7BB9DD65}"/>
              </a:ext>
            </a:extLst>
          </p:cNvPr>
          <p:cNvSpPr txBox="1">
            <a:spLocks/>
          </p:cNvSpPr>
          <p:nvPr/>
        </p:nvSpPr>
        <p:spPr>
          <a:xfrm>
            <a:off x="431971" y="3018448"/>
            <a:ext cx="8470291" cy="95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600" dirty="0">
              <a:solidFill>
                <a:srgbClr val="000000"/>
              </a:solidFill>
            </a:endParaRPr>
          </a:p>
        </p:txBody>
      </p:sp>
      <p:pic>
        <p:nvPicPr>
          <p:cNvPr id="6" name="Picture 5">
            <a:extLst>
              <a:ext uri="{FF2B5EF4-FFF2-40B4-BE49-F238E27FC236}">
                <a16:creationId xmlns:a16="http://schemas.microsoft.com/office/drawing/2014/main" id="{C4C5A040-7E14-4570-B49B-A4A0DA33D3F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224468" y="954755"/>
            <a:ext cx="3677794" cy="1964357"/>
          </a:xfrm>
          <a:prstGeom prst="rect">
            <a:avLst/>
          </a:prstGeom>
        </p:spPr>
      </p:pic>
    </p:spTree>
    <p:extLst>
      <p:ext uri="{BB962C8B-B14F-4D97-AF65-F5344CB8AC3E}">
        <p14:creationId xmlns:p14="http://schemas.microsoft.com/office/powerpoint/2010/main" val="1804562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Procesamiento de Paquetes con Rutas Estáticas</a:t>
            </a:r>
            <a:br>
              <a:rPr lang="en-US" dirty="0"/>
            </a:br>
            <a:r>
              <a:rPr lang="es-419" sz="2400"/>
              <a:t>Rutas Estáticas y Reenvío de Paquetes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21535" y="793627"/>
            <a:ext cx="4982061" cy="229170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R3 recibe el paquete, lo des-encapsula y busca una coincidencia en la tabla de enrutamiento.</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La dirección IP de destino de PC3 coincide con la interfaz G0/0/0 conectada directamente. Por lo tanto, R3 busca en la tabla ARP la dirección MAC de Capa 2 de PC3. </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Si no existe ninguna entrada ARP, R3 envía una solicitud ARP fuera de la interfaz G0/0/0.</a:t>
            </a:r>
          </a:p>
        </p:txBody>
      </p:sp>
      <p:sp>
        <p:nvSpPr>
          <p:cNvPr id="8" name="Content Placeholder 3">
            <a:extLst>
              <a:ext uri="{FF2B5EF4-FFF2-40B4-BE49-F238E27FC236}">
                <a16:creationId xmlns:a16="http://schemas.microsoft.com/office/drawing/2014/main" id="{6A2FD246-52EE-4FB7-B7A8-5CEB80981715}"/>
              </a:ext>
            </a:extLst>
          </p:cNvPr>
          <p:cNvSpPr txBox="1">
            <a:spLocks/>
          </p:cNvSpPr>
          <p:nvPr/>
        </p:nvSpPr>
        <p:spPr>
          <a:xfrm>
            <a:off x="431970" y="3147127"/>
            <a:ext cx="8345488" cy="167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PC3 responde con una respuesta ARP que contiene su dirección MAC.</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R3 encapsula el paquete en una nueva trama y utiliza la dirección MAC PC3 como dirección MAC de destino y la dirección MAC G0/0/0 como dirección MAC de origen.</a:t>
            </a:r>
          </a:p>
          <a:p>
            <a:pPr marL="182563" indent="-166688" algn="l" defTabSz="684213" rtl="0" fontAlgn="base">
              <a:spcBef>
                <a:spcPts val="300"/>
              </a:spcBef>
              <a:spcAft>
                <a:spcPts val="300"/>
              </a:spcAft>
              <a:buClr>
                <a:schemeClr val="tx2"/>
              </a:buClr>
              <a:buSzPct val="90000"/>
              <a:buFont typeface="Arial" panose="020B0604020202020204" pitchFamily="34" charset="0"/>
              <a:buChar char="•"/>
            </a:pPr>
            <a:r>
              <a:rPr lang="es-419" sz="1600">
                <a:solidFill>
                  <a:srgbClr val="000000"/>
                </a:solidFill>
              </a:rPr>
              <a:t>La trama se reenvía fuera de la interfaz G0/0/0 y PC3 lo recibe y procesa en consecuencia.</a:t>
            </a:r>
          </a:p>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600" dirty="0">
              <a:solidFill>
                <a:srgbClr val="000000"/>
              </a:solidFill>
            </a:endParaRPr>
          </a:p>
        </p:txBody>
      </p:sp>
      <p:pic>
        <p:nvPicPr>
          <p:cNvPr id="7" name="Picture 6">
            <a:extLst>
              <a:ext uri="{FF2B5EF4-FFF2-40B4-BE49-F238E27FC236}">
                <a16:creationId xmlns:a16="http://schemas.microsoft.com/office/drawing/2014/main" id="{F361A382-C7FF-4DA1-A15B-FF1323ED9EAF}"/>
              </a:ext>
            </a:extLst>
          </p:cNvPr>
          <p:cNvPicPr>
            <a:picLocks noChangeAspect="1"/>
          </p:cNvPicPr>
          <p:nvPr/>
        </p:nvPicPr>
        <p:blipFill>
          <a:blip r:embed="rId3"/>
          <a:stretch>
            <a:fillRect/>
          </a:stretch>
        </p:blipFill>
        <p:spPr>
          <a:xfrm>
            <a:off x="5318005" y="928988"/>
            <a:ext cx="3677794" cy="1964357"/>
          </a:xfrm>
          <a:prstGeom prst="rect">
            <a:avLst/>
          </a:prstGeom>
        </p:spPr>
      </p:pic>
    </p:spTree>
    <p:extLst>
      <p:ext uri="{BB962C8B-B14F-4D97-AF65-F5344CB8AC3E}">
        <p14:creationId xmlns:p14="http://schemas.microsoft.com/office/powerpoint/2010/main" val="240392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16.2 Solución de Problemas de Configuración de Rutas Estáticas y Predeterminadas IPv4</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Solución de Problemas de Configuración de Rutas Estáticas y Predeterminadas IPv4</a:t>
            </a:r>
            <a:br>
              <a:rPr lang="en-US" dirty="0"/>
            </a:br>
            <a:r>
              <a:rPr lang="es-419" sz="2400" dirty="0"/>
              <a:t> Cambios en la Red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es-419" sz="1600" dirty="0">
                <a:solidFill>
                  <a:srgbClr val="000000"/>
                </a:solidFill>
              </a:rPr>
              <a:t>Las redes fallan por varias razones:</a:t>
            </a:r>
          </a:p>
          <a:p>
            <a:pPr marL="342900" indent="-342900" algn="l" rtl="0">
              <a:buFont typeface="Arial" panose="020B0604020202020204" pitchFamily="34" charset="0"/>
              <a:buChar char="•"/>
            </a:pPr>
            <a:r>
              <a:rPr lang="es-419" sz="1600" dirty="0">
                <a:solidFill>
                  <a:srgbClr val="000000"/>
                </a:solidFill>
              </a:rPr>
              <a:t>Una interfaz puede fallar</a:t>
            </a:r>
          </a:p>
          <a:p>
            <a:pPr marL="342900" indent="-342900" algn="l" rtl="0">
              <a:buFont typeface="Arial" panose="020B0604020202020204" pitchFamily="34" charset="0"/>
              <a:buChar char="•"/>
            </a:pPr>
            <a:r>
              <a:rPr lang="es-419" sz="1600" dirty="0">
                <a:solidFill>
                  <a:srgbClr val="000000"/>
                </a:solidFill>
              </a:rPr>
              <a:t>Un proveedor de servicios desactiva una conexión</a:t>
            </a:r>
          </a:p>
          <a:p>
            <a:pPr marL="342900" indent="-342900" algn="l" rtl="0">
              <a:buFont typeface="Arial" panose="020B0604020202020204" pitchFamily="34" charset="0"/>
              <a:buChar char="•"/>
            </a:pPr>
            <a:r>
              <a:rPr lang="es-419" sz="1600" dirty="0">
                <a:solidFill>
                  <a:srgbClr val="000000"/>
                </a:solidFill>
              </a:rPr>
              <a:t>Los enlaces se sobre saturan</a:t>
            </a:r>
          </a:p>
          <a:p>
            <a:pPr marL="342900" indent="-342900" algn="l" rtl="0">
              <a:buFont typeface="Arial" panose="020B0604020202020204" pitchFamily="34" charset="0"/>
              <a:buChar char="•"/>
            </a:pPr>
            <a:r>
              <a:rPr lang="es-419" sz="1600" dirty="0">
                <a:solidFill>
                  <a:srgbClr val="000000"/>
                </a:solidFill>
              </a:rPr>
              <a:t>Un administrador ingresa una configuración incorrecta.</a:t>
            </a:r>
          </a:p>
          <a:p>
            <a:pPr marL="342900" indent="-342900" algn="l">
              <a:buFont typeface="Arial" panose="020B0604020202020204" pitchFamily="34" charset="0"/>
              <a:buChar char="•"/>
            </a:pPr>
            <a:endParaRPr lang="en-CA" sz="1600" dirty="0">
              <a:solidFill>
                <a:srgbClr val="000000"/>
              </a:solidFill>
            </a:endParaRPr>
          </a:p>
          <a:p>
            <a:pPr marL="0" indent="0" algn="l" rtl="0"/>
            <a:r>
              <a:rPr lang="es-419" sz="1600" dirty="0">
                <a:solidFill>
                  <a:srgbClr val="000000"/>
                </a:solidFill>
              </a:rPr>
              <a:t>Los administradores de red son responsables de identificar y solucionar el problema. </a:t>
            </a:r>
          </a:p>
          <a:p>
            <a:pPr marL="0" indent="0" algn="l"/>
            <a:endParaRPr lang="en-CA" sz="1600" dirty="0">
              <a:solidFill>
                <a:srgbClr val="000000"/>
              </a:solidFill>
            </a:endParaRPr>
          </a:p>
          <a:p>
            <a:pPr marL="0" indent="0" algn="l" rtl="0"/>
            <a:r>
              <a:rPr lang="es-419" sz="1600" dirty="0">
                <a:solidFill>
                  <a:srgbClr val="000000"/>
                </a:solidFill>
              </a:rPr>
              <a:t>Para encontrar y resolver estos problemas, un administrador de red debe conocer las herramientas que lo ayudarán a aislar los problemas de enrutamiento de manera rápida.</a:t>
            </a:r>
          </a:p>
        </p:txBody>
      </p:sp>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Solución de Problemas de Configuración de Rutas Estáticas y Predeterminadas IPv4</a:t>
            </a:r>
            <a:br>
              <a:rPr lang="en-US" dirty="0"/>
            </a:br>
            <a:r>
              <a:rPr lang="es-419" sz="2400" dirty="0"/>
              <a:t>Comandos Comunes para Solución de Problemas</a:t>
            </a:r>
          </a:p>
        </p:txBody>
      </p:sp>
      <p:graphicFrame>
        <p:nvGraphicFramePr>
          <p:cNvPr id="2" name="Table 1">
            <a:extLst>
              <a:ext uri="{FF2B5EF4-FFF2-40B4-BE49-F238E27FC236}">
                <a16:creationId xmlns:a16="http://schemas.microsoft.com/office/drawing/2014/main" id="{B73E4837-7A3B-4797-BFB6-6F7F910E2136}"/>
              </a:ext>
            </a:extLst>
          </p:cNvPr>
          <p:cNvGraphicFramePr>
            <a:graphicFrameLocks noGrp="1"/>
          </p:cNvGraphicFramePr>
          <p:nvPr>
            <p:extLst>
              <p:ext uri="{D42A27DB-BD31-4B8C-83A1-F6EECF244321}">
                <p14:modId xmlns:p14="http://schemas.microsoft.com/office/powerpoint/2010/main" val="1991986732"/>
              </p:ext>
            </p:extLst>
          </p:nvPr>
        </p:nvGraphicFramePr>
        <p:xfrm>
          <a:off x="798512" y="731837"/>
          <a:ext cx="7913517" cy="4159955"/>
        </p:xfrm>
        <a:graphic>
          <a:graphicData uri="http://schemas.openxmlformats.org/drawingml/2006/table">
            <a:tbl>
              <a:tblPr firstRow="1" bandRow="1">
                <a:tableStyleId>{5C22544A-7EE6-4342-B048-85BDC9FD1C3A}</a:tableStyleId>
              </a:tblPr>
              <a:tblGrid>
                <a:gridCol w="2733598">
                  <a:extLst>
                    <a:ext uri="{9D8B030D-6E8A-4147-A177-3AD203B41FA5}">
                      <a16:colId xmlns:a16="http://schemas.microsoft.com/office/drawing/2014/main" val="142654838"/>
                    </a:ext>
                  </a:extLst>
                </a:gridCol>
                <a:gridCol w="5179919">
                  <a:extLst>
                    <a:ext uri="{9D8B030D-6E8A-4147-A177-3AD203B41FA5}">
                      <a16:colId xmlns:a16="http://schemas.microsoft.com/office/drawing/2014/main" val="3001336057"/>
                    </a:ext>
                  </a:extLst>
                </a:gridCol>
              </a:tblGrid>
              <a:tr h="258267">
                <a:tc>
                  <a:txBody>
                    <a:bodyPr/>
                    <a:lstStyle/>
                    <a:p>
                      <a:pPr rtl="0"/>
                      <a:r>
                        <a:rPr lang="es-419" sz="1400"/>
                        <a:t>Comando</a:t>
                      </a:r>
                    </a:p>
                  </a:txBody>
                  <a:tcPr/>
                </a:tc>
                <a:tc>
                  <a:txBody>
                    <a:bodyPr/>
                    <a:lstStyle/>
                    <a:p>
                      <a:pPr rtl="0"/>
                      <a:r>
                        <a:rPr lang="es-419" sz="1400"/>
                        <a:t>Descripción</a:t>
                      </a:r>
                    </a:p>
                  </a:txBody>
                  <a:tcPr/>
                </a:tc>
                <a:extLst>
                  <a:ext uri="{0D108BD9-81ED-4DB2-BD59-A6C34878D82A}">
                    <a16:rowId xmlns:a16="http://schemas.microsoft.com/office/drawing/2014/main" val="888108213"/>
                  </a:ext>
                </a:extLst>
              </a:tr>
              <a:tr h="715715">
                <a:tc>
                  <a:txBody>
                    <a:bodyPr/>
                    <a:lstStyle/>
                    <a:p>
                      <a:pPr rtl="0"/>
                      <a:r>
                        <a:rPr lang="es-419" sz="1400" b="1">
                          <a:solidFill>
                            <a:srgbClr val="000000"/>
                          </a:solidFill>
                          <a:latin typeface="Courier New" panose="02070309020205020404" pitchFamily="49" charset="0"/>
                          <a:cs typeface="Courier New" panose="02070309020205020404" pitchFamily="49" charset="0"/>
                        </a:rPr>
                        <a:t>ping</a:t>
                      </a:r>
                    </a:p>
                  </a:txBody>
                  <a:tcPr/>
                </a:tc>
                <a:tc>
                  <a:txBody>
                    <a:bodyPr/>
                    <a:lstStyle/>
                    <a:p>
                      <a:pPr marL="171450" indent="-171450" algn="l" defTabSz="685777" rtl="0" eaLnBrk="1" latinLnBrk="0" hangingPunct="1">
                        <a:buFont typeface="Arial" panose="020B0604020202020204" pitchFamily="34" charset="0"/>
                        <a:buChar char="•"/>
                      </a:pPr>
                      <a:r>
                        <a:rPr lang="es-419" sz="1400" kern="1200" dirty="0">
                          <a:solidFill>
                            <a:srgbClr val="000000"/>
                          </a:solidFill>
                          <a:latin typeface="+mn-lt"/>
                          <a:ea typeface="+mn-ea"/>
                          <a:cs typeface="+mn-cs"/>
                        </a:rPr>
                        <a:t>Verificar la conectividad de la Capa 3.</a:t>
                      </a:r>
                    </a:p>
                    <a:p>
                      <a:pPr marL="171450" indent="-171450" algn="l" defTabSz="685777" rtl="0" eaLnBrk="1" latinLnBrk="0" hangingPunct="1">
                        <a:buFont typeface="Arial" panose="020B0604020202020204" pitchFamily="34" charset="0"/>
                        <a:buChar char="•"/>
                      </a:pPr>
                      <a:r>
                        <a:rPr lang="es-419" sz="1400" kern="1200" dirty="0">
                          <a:solidFill>
                            <a:srgbClr val="000000"/>
                          </a:solidFill>
                          <a:latin typeface="+mn-lt"/>
                          <a:ea typeface="+mn-ea"/>
                          <a:cs typeface="+mn-cs"/>
                        </a:rPr>
                        <a:t>Los pings extendidos proporcionan opciones adicionales.</a:t>
                      </a:r>
                    </a:p>
                  </a:txBody>
                  <a:tcPr/>
                </a:tc>
                <a:extLst>
                  <a:ext uri="{0D108BD9-81ED-4DB2-BD59-A6C34878D82A}">
                    <a16:rowId xmlns:a16="http://schemas.microsoft.com/office/drawing/2014/main" val="3483992816"/>
                  </a:ext>
                </a:extLst>
              </a:tr>
              <a:tr h="563136">
                <a:tc>
                  <a:txBody>
                    <a:bodyPr/>
                    <a:lstStyle/>
                    <a:p>
                      <a:pPr rtl="0"/>
                      <a:r>
                        <a:rPr lang="es-419" sz="1400" b="1">
                          <a:solidFill>
                            <a:srgbClr val="000000"/>
                          </a:solidFill>
                          <a:latin typeface="Courier New" panose="02070309020205020404" pitchFamily="49" charset="0"/>
                          <a:cs typeface="Courier New" panose="02070309020205020404" pitchFamily="49" charset="0"/>
                        </a:rPr>
                        <a:t>traceroute</a:t>
                      </a:r>
                    </a:p>
                  </a:txBody>
                  <a:tcPr/>
                </a:tc>
                <a:tc>
                  <a:txBody>
                    <a:bodyPr/>
                    <a:lstStyle/>
                    <a:p>
                      <a:pPr marL="171450" indent="-171450" algn="l" defTabSz="685777" rtl="0" eaLnBrk="1" latinLnBrk="0" hangingPunct="1">
                        <a:buFont typeface="Arial" panose="020B0604020202020204" pitchFamily="34" charset="0"/>
                        <a:buChar char="•"/>
                      </a:pPr>
                      <a:r>
                        <a:rPr lang="es-419" sz="1400" kern="1200">
                          <a:solidFill>
                            <a:srgbClr val="000000"/>
                          </a:solidFill>
                          <a:latin typeface="+mn-lt"/>
                          <a:ea typeface="+mn-ea"/>
                          <a:cs typeface="+mn-cs"/>
                        </a:rPr>
                        <a:t>Verifica el camino que se toma hasta llegar al destino.</a:t>
                      </a:r>
                    </a:p>
                    <a:p>
                      <a:pPr marL="171450" indent="-171450" algn="l" defTabSz="685777" rtl="0" eaLnBrk="1" latinLnBrk="0" hangingPunct="1">
                        <a:buFont typeface="Arial" panose="020B0604020202020204" pitchFamily="34" charset="0"/>
                        <a:buChar char="•"/>
                      </a:pPr>
                      <a:r>
                        <a:rPr lang="es-419" sz="1400" kern="1200">
                          <a:solidFill>
                            <a:srgbClr val="000000"/>
                          </a:solidFill>
                          <a:latin typeface="+mn-lt"/>
                          <a:ea typeface="+mn-ea"/>
                          <a:cs typeface="+mn-cs"/>
                        </a:rPr>
                        <a:t>Utiliza mensajes de respuesta de eco ICMP para determinar los saltos al destino.</a:t>
                      </a:r>
                    </a:p>
                  </a:txBody>
                  <a:tcPr/>
                </a:tc>
                <a:extLst>
                  <a:ext uri="{0D108BD9-81ED-4DB2-BD59-A6C34878D82A}">
                    <a16:rowId xmlns:a16="http://schemas.microsoft.com/office/drawing/2014/main" val="2404510817"/>
                  </a:ext>
                </a:extLst>
              </a:tr>
              <a:tr h="563136">
                <a:tc>
                  <a:txBody>
                    <a:bodyPr/>
                    <a:lstStyle/>
                    <a:p>
                      <a:pPr rtl="0"/>
                      <a:r>
                        <a:rPr lang="es-419" sz="1400" b="1">
                          <a:solidFill>
                            <a:srgbClr val="000000"/>
                          </a:solidFill>
                          <a:latin typeface="Courier New" panose="02070309020205020404" pitchFamily="49" charset="0"/>
                          <a:cs typeface="Courier New" panose="02070309020205020404" pitchFamily="49" charset="0"/>
                        </a:rPr>
                        <a:t>show ip route</a:t>
                      </a:r>
                    </a:p>
                  </a:txBody>
                  <a:tcPr/>
                </a:tc>
                <a:tc>
                  <a:txBody>
                    <a:bodyPr/>
                    <a:lstStyle/>
                    <a:p>
                      <a:pPr marL="171450" indent="-171450" algn="l" defTabSz="685777" rtl="0" eaLnBrk="1" latinLnBrk="0" hangingPunct="1">
                        <a:buFont typeface="Arial" panose="020B0604020202020204" pitchFamily="34" charset="0"/>
                        <a:buChar char="•"/>
                      </a:pPr>
                      <a:r>
                        <a:rPr lang="es-419" sz="1400" kern="1200">
                          <a:solidFill>
                            <a:srgbClr val="000000"/>
                          </a:solidFill>
                          <a:latin typeface="+mn-lt"/>
                          <a:ea typeface="+mn-ea"/>
                          <a:cs typeface="+mn-cs"/>
                        </a:rPr>
                        <a:t>Muestra la tabla de enrutamiento.</a:t>
                      </a:r>
                    </a:p>
                    <a:p>
                      <a:pPr marL="171450" indent="-171450" algn="l" defTabSz="685777" rtl="0" eaLnBrk="1" latinLnBrk="0" hangingPunct="1">
                        <a:buFont typeface="Arial" panose="020B0604020202020204" pitchFamily="34" charset="0"/>
                        <a:buChar char="•"/>
                      </a:pPr>
                      <a:r>
                        <a:rPr lang="es-419" sz="1400" kern="1200">
                          <a:solidFill>
                            <a:srgbClr val="000000"/>
                          </a:solidFill>
                          <a:latin typeface="+mn-lt"/>
                          <a:ea typeface="+mn-ea"/>
                          <a:cs typeface="+mn-cs"/>
                        </a:rPr>
                        <a:t>Se utiliza para verificar entradas de ruta para direcciones IP de destino.</a:t>
                      </a:r>
                    </a:p>
                  </a:txBody>
                  <a:tcPr/>
                </a:tc>
                <a:extLst>
                  <a:ext uri="{0D108BD9-81ED-4DB2-BD59-A6C34878D82A}">
                    <a16:rowId xmlns:a16="http://schemas.microsoft.com/office/drawing/2014/main" val="2805360840"/>
                  </a:ext>
                </a:extLst>
              </a:tr>
              <a:tr h="563136">
                <a:tc>
                  <a:txBody>
                    <a:bodyPr/>
                    <a:lstStyle/>
                    <a:p>
                      <a:pPr rtl="0"/>
                      <a:r>
                        <a:rPr lang="es-419" sz="1400" b="1">
                          <a:solidFill>
                            <a:srgbClr val="000000"/>
                          </a:solidFill>
                          <a:latin typeface="Courier New" panose="02070309020205020404" pitchFamily="49" charset="0"/>
                          <a:cs typeface="Courier New" panose="02070309020205020404" pitchFamily="49" charset="0"/>
                        </a:rPr>
                        <a:t>show ip interface brief</a:t>
                      </a:r>
                    </a:p>
                  </a:txBody>
                  <a:tcPr/>
                </a:tc>
                <a:tc>
                  <a:txBody>
                    <a:bodyPr/>
                    <a:lstStyle/>
                    <a:p>
                      <a:pPr marL="171450" indent="-171450" algn="l" defTabSz="685777" rtl="0" eaLnBrk="1" latinLnBrk="0" hangingPunct="1">
                        <a:buFont typeface="Arial" panose="020B0604020202020204" pitchFamily="34" charset="0"/>
                        <a:buChar char="•"/>
                      </a:pPr>
                      <a:r>
                        <a:rPr lang="es-419" sz="1400" kern="1200">
                          <a:solidFill>
                            <a:srgbClr val="000000"/>
                          </a:solidFill>
                          <a:latin typeface="+mn-lt"/>
                          <a:ea typeface="+mn-ea"/>
                          <a:cs typeface="+mn-cs"/>
                        </a:rPr>
                        <a:t>Muestra el estado de la interfaz.</a:t>
                      </a:r>
                    </a:p>
                    <a:p>
                      <a:pPr marL="171450" indent="-171450" algn="l" defTabSz="685777" rtl="0" eaLnBrk="1" latinLnBrk="0" hangingPunct="1">
                        <a:buFont typeface="Arial" panose="020B0604020202020204" pitchFamily="34" charset="0"/>
                        <a:buChar char="•"/>
                      </a:pPr>
                      <a:r>
                        <a:rPr lang="es-419" sz="1400" kern="1200">
                          <a:solidFill>
                            <a:srgbClr val="000000"/>
                          </a:solidFill>
                          <a:latin typeface="+mn-lt"/>
                          <a:ea typeface="+mn-ea"/>
                          <a:cs typeface="+mn-cs"/>
                        </a:rPr>
                        <a:t>Se utiliza para verificar el estado operativo y la dirección IP de una interfaz.</a:t>
                      </a:r>
                    </a:p>
                  </a:txBody>
                  <a:tcPr/>
                </a:tc>
                <a:extLst>
                  <a:ext uri="{0D108BD9-81ED-4DB2-BD59-A6C34878D82A}">
                    <a16:rowId xmlns:a16="http://schemas.microsoft.com/office/drawing/2014/main" val="1271990834"/>
                  </a:ext>
                </a:extLst>
              </a:tr>
              <a:tr h="563136">
                <a:tc>
                  <a:txBody>
                    <a:bodyPr/>
                    <a:lstStyle/>
                    <a:p>
                      <a:pPr rtl="0"/>
                      <a:r>
                        <a:rPr lang="es-419" sz="1400" b="1">
                          <a:solidFill>
                            <a:srgbClr val="000000"/>
                          </a:solidFill>
                          <a:latin typeface="Courier New" panose="02070309020205020404" pitchFamily="49" charset="0"/>
                          <a:cs typeface="Courier New" panose="02070309020205020404" pitchFamily="49" charset="0"/>
                        </a:rPr>
                        <a:t>show cdp neighbors</a:t>
                      </a:r>
                    </a:p>
                  </a:txBody>
                  <a:tcPr/>
                </a:tc>
                <a:tc>
                  <a:txBody>
                    <a:bodyPr/>
                    <a:lstStyle/>
                    <a:p>
                      <a:pPr marL="171450" indent="-171450" algn="l" defTabSz="685777" rtl="0" eaLnBrk="1" latinLnBrk="0" hangingPunct="1">
                        <a:buFont typeface="Arial" panose="020B0604020202020204" pitchFamily="34" charset="0"/>
                        <a:buChar char="•"/>
                      </a:pPr>
                      <a:r>
                        <a:rPr lang="es-419" sz="1400" kern="1200" dirty="0">
                          <a:solidFill>
                            <a:srgbClr val="000000"/>
                          </a:solidFill>
                          <a:latin typeface="+mn-lt"/>
                          <a:ea typeface="+mn-ea"/>
                          <a:cs typeface="+mn-cs"/>
                        </a:rPr>
                        <a:t>Proporciona una lista de dispositivos Cisco conectados directamente.</a:t>
                      </a:r>
                    </a:p>
                    <a:p>
                      <a:pPr marL="171450" indent="-171450" algn="l" defTabSz="685777" rtl="0" eaLnBrk="1" latinLnBrk="0" hangingPunct="1">
                        <a:buFont typeface="Arial" panose="020B0604020202020204" pitchFamily="34" charset="0"/>
                        <a:buChar char="•"/>
                      </a:pPr>
                      <a:r>
                        <a:rPr lang="es-419" sz="1400" kern="1200" dirty="0">
                          <a:solidFill>
                            <a:srgbClr val="000000"/>
                          </a:solidFill>
                          <a:latin typeface="+mn-lt"/>
                          <a:ea typeface="+mn-ea"/>
                          <a:cs typeface="+mn-cs"/>
                        </a:rPr>
                        <a:t>También se utiliza para validar la conectividad de las capas 1 y 2.</a:t>
                      </a:r>
                    </a:p>
                  </a:txBody>
                  <a:tcPr/>
                </a:tc>
                <a:extLst>
                  <a:ext uri="{0D108BD9-81ED-4DB2-BD59-A6C34878D82A}">
                    <a16:rowId xmlns:a16="http://schemas.microsoft.com/office/drawing/2014/main" val="1469579584"/>
                  </a:ext>
                </a:extLst>
              </a:tr>
            </a:tbl>
          </a:graphicData>
        </a:graphic>
      </p:graphicFrame>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Solución de Problemas de Configuración de Rutas Estáticas y Predeterminadas IPv4</a:t>
            </a:r>
            <a:br>
              <a:rPr lang="en-US" dirty="0"/>
            </a:br>
            <a:r>
              <a:rPr lang="es-419" sz="2400" dirty="0"/>
              <a:t> Resolver problemas de Conectividad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022898" cy="1716331"/>
          </a:xfrm>
        </p:spPr>
        <p:txBody>
          <a:bodyPr/>
          <a:lstStyle/>
          <a:p>
            <a:pPr marL="0" indent="0" algn="l" rtl="0"/>
            <a:r>
              <a:rPr lang="es-419" sz="1500" dirty="0">
                <a:solidFill>
                  <a:srgbClr val="000000"/>
                </a:solidFill>
              </a:rPr>
              <a:t>Se produce un error en la conectividad de PC1 a PC3.</a:t>
            </a:r>
          </a:p>
          <a:p>
            <a:pPr marL="342900" indent="-342900" algn="l" rtl="0">
              <a:buFont typeface="Arial" panose="020B0604020202020204" pitchFamily="34" charset="0"/>
              <a:buChar char="•"/>
            </a:pPr>
            <a:r>
              <a:rPr lang="es-419" sz="1500" dirty="0">
                <a:solidFill>
                  <a:srgbClr val="000000"/>
                </a:solidFill>
              </a:rPr>
              <a:t>Los pings extendidos desde la interfaz R1 G0/0/0 a PC3 fallan.</a:t>
            </a:r>
          </a:p>
          <a:p>
            <a:pPr marL="342900" indent="-342900" algn="l" rtl="0">
              <a:buFont typeface="Arial" panose="020B0604020202020204" pitchFamily="34" charset="0"/>
              <a:buChar char="•"/>
            </a:pPr>
            <a:r>
              <a:rPr lang="es-419" sz="1500" dirty="0">
                <a:solidFill>
                  <a:srgbClr val="000000"/>
                </a:solidFill>
              </a:rPr>
              <a:t>Los pings de R1 (es decir, interfaz S0/1/0) a R2 son correctos.</a:t>
            </a:r>
          </a:p>
          <a:p>
            <a:pPr marL="342900" indent="-342900" algn="l" rtl="0">
              <a:buFont typeface="Arial" panose="020B0604020202020204" pitchFamily="34" charset="0"/>
              <a:buChar char="•"/>
            </a:pPr>
            <a:r>
              <a:rPr lang="es-419" sz="1500" dirty="0">
                <a:solidFill>
                  <a:srgbClr val="000000"/>
                </a:solidFill>
              </a:rPr>
              <a:t>Los pings de R1 (es decir, interfaz S0/1/0) a R3 son correctos.</a:t>
            </a:r>
          </a:p>
        </p:txBody>
      </p:sp>
      <p:sp>
        <p:nvSpPr>
          <p:cNvPr id="10" name="Content Placeholder 3">
            <a:extLst>
              <a:ext uri="{FF2B5EF4-FFF2-40B4-BE49-F238E27FC236}">
                <a16:creationId xmlns:a16="http://schemas.microsoft.com/office/drawing/2014/main" id="{2283DF60-4C91-485F-BDD1-7A4CB657C5F3}"/>
              </a:ext>
            </a:extLst>
          </p:cNvPr>
          <p:cNvSpPr txBox="1">
            <a:spLocks/>
          </p:cNvSpPr>
          <p:nvPr/>
        </p:nvSpPr>
        <p:spPr>
          <a:xfrm>
            <a:off x="369217" y="2695332"/>
            <a:ext cx="4024415" cy="171633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500" dirty="0">
                <a:solidFill>
                  <a:srgbClr val="000000"/>
                </a:solidFill>
              </a:rPr>
              <a:t>La tabla de enrutamiento R2 revela el problema y se elimina la ruta estática incorrecta.</a:t>
            </a:r>
          </a:p>
          <a:p>
            <a:pPr marL="342900" indent="-342900" algn="l" rtl="0">
              <a:buFont typeface="Arial" panose="020B0604020202020204" pitchFamily="34" charset="0"/>
              <a:buChar char="•"/>
            </a:pPr>
            <a:r>
              <a:rPr lang="es-419" sz="1500" dirty="0">
                <a:solidFill>
                  <a:srgbClr val="000000"/>
                </a:solidFill>
              </a:rPr>
              <a:t>Una nueva ruta estática resuelve el problema.</a:t>
            </a:r>
          </a:p>
          <a:p>
            <a:pPr marL="415985" lvl="1" indent="-342900" rtl="0">
              <a:buFont typeface="Arial" panose="020B0604020202020204" pitchFamily="34" charset="0"/>
              <a:buChar char="•"/>
            </a:pPr>
            <a:r>
              <a:rPr lang="es-419" sz="1000" b="1" dirty="0" err="1">
                <a:solidFill>
                  <a:srgbClr val="000000"/>
                </a:solidFill>
                <a:latin typeface="Courier New" panose="02070309020205020404" pitchFamily="49" charset="0"/>
                <a:cs typeface="Courier New" panose="02070309020205020404" pitchFamily="49" charset="0"/>
              </a:rPr>
              <a:t>ip</a:t>
            </a:r>
            <a:r>
              <a:rPr lang="es-419" sz="1000" b="1" dirty="0">
                <a:solidFill>
                  <a:srgbClr val="000000"/>
                </a:solidFill>
                <a:latin typeface="Courier New" panose="02070309020205020404" pitchFamily="49" charset="0"/>
                <a:cs typeface="Courier New" panose="02070309020205020404" pitchFamily="49" charset="0"/>
              </a:rPr>
              <a:t> </a:t>
            </a:r>
            <a:r>
              <a:rPr lang="es-419" sz="1000" b="1" dirty="0" err="1">
                <a:solidFill>
                  <a:srgbClr val="000000"/>
                </a:solidFill>
                <a:latin typeface="Courier New" panose="02070309020205020404" pitchFamily="49" charset="0"/>
                <a:cs typeface="Courier New" panose="02070309020205020404" pitchFamily="49" charset="0"/>
              </a:rPr>
              <a:t>route</a:t>
            </a:r>
            <a:r>
              <a:rPr lang="es-419" sz="1000" b="1" dirty="0">
                <a:solidFill>
                  <a:srgbClr val="000000"/>
                </a:solidFill>
                <a:latin typeface="Courier New" panose="02070309020205020404" pitchFamily="49" charset="0"/>
                <a:cs typeface="Courier New" panose="02070309020205020404" pitchFamily="49" charset="0"/>
              </a:rPr>
              <a:t> 172.16.3.0 255.255.255.0 172.16.2.1</a:t>
            </a: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12C72D6-6017-493F-8258-1217F22A31AD}"/>
              </a:ext>
            </a:extLst>
          </p:cNvPr>
          <p:cNvPicPr>
            <a:picLocks noChangeAspect="1"/>
          </p:cNvPicPr>
          <p:nvPr/>
        </p:nvPicPr>
        <p:blipFill>
          <a:blip r:embed="rId3"/>
          <a:stretch>
            <a:fillRect/>
          </a:stretch>
        </p:blipFill>
        <p:spPr>
          <a:xfrm>
            <a:off x="5454869" y="802869"/>
            <a:ext cx="3327108" cy="1768881"/>
          </a:xfrm>
          <a:prstGeom prst="rect">
            <a:avLst/>
          </a:prstGeom>
        </p:spPr>
      </p:pic>
      <p:sp>
        <p:nvSpPr>
          <p:cNvPr id="9" name="Content Placeholder 3">
            <a:extLst>
              <a:ext uri="{FF2B5EF4-FFF2-40B4-BE49-F238E27FC236}">
                <a16:creationId xmlns:a16="http://schemas.microsoft.com/office/drawing/2014/main" id="{6AAD1D6D-89D0-4094-8B66-34FB3D28F74F}"/>
              </a:ext>
            </a:extLst>
          </p:cNvPr>
          <p:cNvSpPr txBox="1">
            <a:spLocks/>
          </p:cNvSpPr>
          <p:nvPr/>
        </p:nvSpPr>
        <p:spPr>
          <a:xfrm>
            <a:off x="4330262" y="2686456"/>
            <a:ext cx="4707960" cy="1883588"/>
          </a:xfrm>
          <a:prstGeom prst="rect">
            <a:avLst/>
          </a:prstGeom>
          <a:ln>
            <a:solidFill>
              <a:srgbClr val="000000"/>
            </a:solidFill>
          </a:ln>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l" rtl="0">
              <a:spcBef>
                <a:spcPts val="0"/>
              </a:spcBef>
            </a:pPr>
            <a:r>
              <a:rPr lang="es-419" sz="900">
                <a:solidFill>
                  <a:srgbClr val="000000"/>
                </a:solidFill>
                <a:latin typeface="Courier New" panose="02070309020205020404" pitchFamily="49" charset="0"/>
                <a:cs typeface="Courier New" panose="02070309020205020404" pitchFamily="49" charset="0"/>
              </a:rPr>
              <a:t>R2# </a:t>
            </a:r>
            <a:r>
              <a:rPr lang="es-419" sz="900" b="1">
                <a:solidFill>
                  <a:srgbClr val="000000"/>
                </a:solidFill>
                <a:latin typeface="Courier New" panose="02070309020205020404" pitchFamily="49" charset="0"/>
                <a:cs typeface="Courier New" panose="02070309020205020404" pitchFamily="49" charset="0"/>
              </a:rPr>
              <a:t>show ip route | begin Gateway</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Gateway of last resort is not set</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      172.16.0.0/16 is variably subnetted, 5 subnets, 2 masks </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C 172.16.1.0/24 is directly connected, GigabitEthernet0/0/0</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L 172.16.1.1/32 is directly connected, GigabitEthernet0/0/0</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C 172.16.2.0/24 is directly connected, Serial0/l/0</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L 172.16.2.2/32 is directly connected, Serial0/l/0</a:t>
            </a:r>
          </a:p>
          <a:p>
            <a:pPr algn="l" rtl="0">
              <a:spcBef>
                <a:spcPts val="0"/>
              </a:spcBef>
            </a:pPr>
            <a:r>
              <a:rPr lang="es-419" sz="900">
                <a:solidFill>
                  <a:srgbClr val="000000"/>
                </a:solidFill>
                <a:highlight>
                  <a:srgbClr val="FFFF00"/>
                </a:highlight>
                <a:latin typeface="Courier New" panose="02070309020205020404" pitchFamily="49" charset="0"/>
                <a:cs typeface="Courier New" panose="02070309020205020404" pitchFamily="49" charset="0"/>
              </a:rPr>
              <a:t>S 172.16.3.0/24 [1/0] via 192.168.1.1</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      192.168.1.0/24 is variably subnetted, 2 subnets, 2 masks </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C 192.168.1.0/24 is directly connected, Serial0/1/1</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L 192.168.1.2/32 is directly connected, Serial0/1/1</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S 192.168.2.0/24 [1/0] via 192.168.1.1 </a:t>
            </a:r>
          </a:p>
          <a:p>
            <a:pPr algn="l" rtl="0">
              <a:spcBef>
                <a:spcPts val="0"/>
              </a:spcBef>
            </a:pPr>
            <a:r>
              <a:rPr lang="es-419" sz="900">
                <a:solidFill>
                  <a:srgbClr val="000000"/>
                </a:solidFill>
                <a:latin typeface="Courier New" panose="02070309020205020404" pitchFamily="49" charset="0"/>
                <a:cs typeface="Courier New" panose="02070309020205020404" pitchFamily="49" charset="0"/>
              </a:rPr>
              <a:t>R2#</a:t>
            </a:r>
          </a:p>
          <a:p>
            <a:pPr marL="342900" indent="-342900" algn="l">
              <a:spcBef>
                <a:spcPts val="0"/>
              </a:spcBef>
              <a:buFont typeface="Arial" panose="020B0604020202020204" pitchFamily="34" charset="0"/>
              <a:buChar char="•"/>
            </a:pPr>
            <a:endParaRPr lang="en-CA" sz="900" dirty="0">
              <a:solidFill>
                <a:srgbClr val="000000"/>
              </a:solidFill>
              <a:latin typeface="Courier New" panose="02070309020205020404" pitchFamily="49" charset="0"/>
              <a:cs typeface="Courier New" panose="02070309020205020404" pitchFamily="49" charset="0"/>
            </a:endParaRPr>
          </a:p>
          <a:p>
            <a:pPr marL="342900" indent="-342900" algn="l">
              <a:spcBef>
                <a:spcPts val="0"/>
              </a:spcBef>
              <a:buFont typeface="Arial" panose="020B0604020202020204" pitchFamily="34" charset="0"/>
              <a:buChar char="•"/>
            </a:pPr>
            <a:endParaRPr lang="en-CA" sz="9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16.3 -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pPr rtl="0"/>
            <a:r>
              <a:rPr lang="es-419" sz="1600"/>
              <a:t>Diseño Estructurado</a:t>
            </a:r>
            <a:br>
              <a:rPr lang="en-US" dirty="0"/>
            </a:br>
            <a:r>
              <a:rPr lang="es-419" sz="2300"/>
              <a:t>Solución de problemas de rutas estáticas y predeterminadas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es-419" sz="1600">
                <a:solidFill>
                  <a:srgbClr val="000000"/>
                </a:solidFill>
              </a:rPr>
              <a:t>En esta actividad, solucionará las rutas estáticas y predeterminadas y reparará los errores que encuentre.</a:t>
            </a:r>
          </a:p>
          <a:p>
            <a:pPr marL="415985" lvl="1" indent="-342900" rtl="0">
              <a:buFont typeface="Arial" panose="020B0604020202020204" pitchFamily="34" charset="0"/>
              <a:buChar char="•"/>
            </a:pPr>
            <a:r>
              <a:rPr lang="es-419" sz="1600">
                <a:solidFill>
                  <a:srgbClr val="000000"/>
                </a:solidFill>
              </a:rPr>
              <a:t>Solucionar problemas de rutas estáticas IPv4.</a:t>
            </a:r>
          </a:p>
          <a:p>
            <a:pPr marL="415985" lvl="1" indent="-342900" rtl="0">
              <a:buFont typeface="Arial" panose="020B0604020202020204" pitchFamily="34" charset="0"/>
              <a:buChar char="•"/>
            </a:pPr>
            <a:r>
              <a:rPr lang="es-419" sz="1600">
                <a:solidFill>
                  <a:srgbClr val="000000"/>
                </a:solidFill>
              </a:rPr>
              <a:t>Solucionar problemas de rutas estáticas IPv6.</a:t>
            </a:r>
          </a:p>
          <a:p>
            <a:pPr marL="415985" lvl="1" indent="-342900" rtl="0">
              <a:buFont typeface="Arial" panose="020B0604020202020204" pitchFamily="34" charset="0"/>
              <a:buChar char="•"/>
            </a:pPr>
            <a:r>
              <a:rPr lang="es-419" sz="1600">
                <a:solidFill>
                  <a:srgbClr val="000000"/>
                </a:solidFill>
              </a:rPr>
              <a:t>Configurar rutas estáticas IPv4.</a:t>
            </a:r>
          </a:p>
          <a:p>
            <a:pPr marL="415985" lvl="1" indent="-342900" rtl="0">
              <a:buFont typeface="Arial" panose="020B0604020202020204" pitchFamily="34" charset="0"/>
              <a:buChar char="•"/>
            </a:pPr>
            <a:r>
              <a:rPr lang="es-419" sz="1600">
                <a:solidFill>
                  <a:srgbClr val="000000"/>
                </a:solidFill>
              </a:rPr>
              <a:t>Configurar rutas predeterminadas de IPv4.</a:t>
            </a:r>
          </a:p>
          <a:p>
            <a:pPr marL="415985" lvl="1" indent="-342900" rtl="0">
              <a:buFont typeface="Arial" panose="020B0604020202020204" pitchFamily="34" charset="0"/>
              <a:buChar char="•"/>
            </a:pPr>
            <a:r>
              <a:rPr lang="es-419" sz="1600">
                <a:solidFill>
                  <a:srgbClr val="000000"/>
                </a:solidFill>
              </a:rPr>
              <a:t>Configurar rutas estáticas IPv6.</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77274"/>
            <a:ext cx="8345488" cy="731837"/>
          </a:xfrm>
        </p:spPr>
        <p:txBody>
          <a:bodyPr/>
          <a:lstStyle/>
          <a:p>
            <a:pPr rtl="0"/>
            <a:r>
              <a:rPr lang="es-419" sz="1600"/>
              <a:t>Diseño Estructurado</a:t>
            </a:r>
            <a:br>
              <a:rPr lang="en-US" dirty="0"/>
            </a:br>
            <a:r>
              <a:rPr lang="es-419" sz="2400"/>
              <a:t>Solución de problemas de rutas estáticas y predeterminadas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932693"/>
            <a:ext cx="8280057" cy="3073946"/>
          </a:xfrm>
        </p:spPr>
        <p:txBody>
          <a:bodyPr/>
          <a:lstStyle/>
          <a:p>
            <a:pPr marL="0" indent="0" algn="l" rtl="0"/>
            <a:r>
              <a:rPr lang="es-419" sz="1600" dirty="0">
                <a:solidFill>
                  <a:srgbClr val="000000"/>
                </a:solidFill>
              </a:rPr>
              <a:t>En esta práctica de laboratorio se cumplirán los siguientes objetivos:</a:t>
            </a:r>
          </a:p>
          <a:p>
            <a:pPr marL="415985" lvl="1" indent="-342900" rtl="0">
              <a:buFont typeface="Arial" panose="020B0604020202020204" pitchFamily="34" charset="0"/>
              <a:buChar char="•"/>
            </a:pPr>
            <a:r>
              <a:rPr lang="es-419" sz="1600" dirty="0">
                <a:solidFill>
                  <a:srgbClr val="000000"/>
                </a:solidFill>
              </a:rPr>
              <a:t>Evaluar el funcionamiento de la red.</a:t>
            </a:r>
          </a:p>
          <a:p>
            <a:pPr marL="415985" lvl="1" indent="-342900" rtl="0">
              <a:buFont typeface="Arial" panose="020B0604020202020204" pitchFamily="34" charset="0"/>
              <a:buChar char="•"/>
            </a:pPr>
            <a:r>
              <a:rPr lang="es-419" sz="1600" dirty="0">
                <a:solidFill>
                  <a:srgbClr val="000000"/>
                </a:solidFill>
              </a:rPr>
              <a:t>Recopilar información, crear un plan de acción e implementar cambios.</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es-419" sz="1600"/>
              <a:t>Un host envía un paquete a otro host y lo envía a la dirección de puerta de enlace predeterminada.</a:t>
            </a:r>
          </a:p>
          <a:p>
            <a:pPr marL="182563" indent="-166688" rtl="0">
              <a:spcBef>
                <a:spcPts val="300"/>
              </a:spcBef>
              <a:spcAft>
                <a:spcPts val="300"/>
              </a:spcAft>
              <a:buFont typeface="Arial" panose="020B0604020202020204" pitchFamily="34" charset="0"/>
              <a:buChar char="•"/>
            </a:pPr>
            <a:r>
              <a:rPr lang="es-419" sz="1600"/>
              <a:t>Cuando el paquete llega a una interfaz del router, des-encapsulará el paquete y buscará en la tabla de enrutamiento una entrada de red de destino que coincida.</a:t>
            </a:r>
          </a:p>
          <a:p>
            <a:pPr marL="182563" indent="-166688" rtl="0">
              <a:spcBef>
                <a:spcPts val="300"/>
              </a:spcBef>
              <a:spcAft>
                <a:spcPts val="300"/>
              </a:spcAft>
              <a:buFont typeface="Arial" panose="020B0604020202020204" pitchFamily="34" charset="0"/>
              <a:buChar char="•"/>
            </a:pPr>
            <a:r>
              <a:rPr lang="es-419" sz="1600"/>
              <a:t>Si la dirección IP de destino:</a:t>
            </a:r>
          </a:p>
          <a:p>
            <a:pPr marL="371475" lvl="1" indent="-166688" rtl="0">
              <a:buFont typeface="Arial" panose="020B0604020202020204" pitchFamily="34" charset="0"/>
              <a:buChar char="•"/>
            </a:pPr>
            <a:r>
              <a:rPr lang="es-419"/>
              <a:t>Coincide con una entrada de ruta estática, el router usará la ruta estática para identificar la dirección IP de salto siguiente o la interfaz de salida.</a:t>
            </a:r>
          </a:p>
          <a:p>
            <a:pPr marL="371475" lvl="1" indent="-166688" rtl="0">
              <a:buFont typeface="Arial" panose="020B0604020202020204" pitchFamily="34" charset="0"/>
              <a:buChar char="•"/>
            </a:pPr>
            <a:r>
              <a:rPr lang="es-419"/>
              <a:t>No coincide con una ruta específica a la red de destino, entonces el router utilizará la ruta estática predeterminada (si está configurada).</a:t>
            </a:r>
          </a:p>
          <a:p>
            <a:pPr marL="371475" lvl="1" indent="-166688" rtl="0">
              <a:buFont typeface="Arial" panose="020B0604020202020204" pitchFamily="34" charset="0"/>
              <a:buChar char="•"/>
            </a:pPr>
            <a:r>
              <a:rPr lang="es-419"/>
              <a:t>No coincide con una entrada de la tabla de rutas, entonces el router descartará el paquete y enviará un mensaje ICMP de vuelta al origen.</a:t>
            </a:r>
          </a:p>
          <a:p>
            <a:pPr marL="182563" indent="-166688" rtl="0">
              <a:spcBef>
                <a:spcPts val="300"/>
              </a:spcBef>
              <a:spcAft>
                <a:spcPts val="300"/>
              </a:spcAft>
              <a:buFont typeface="Arial" panose="020B0604020202020204" pitchFamily="34" charset="0"/>
              <a:buChar char="•"/>
            </a:pPr>
            <a:r>
              <a:rPr lang="es-419" sz="1600"/>
              <a:t>Si el router coincide con una entrada de tabla de enrutamiento, entonces el router encapsula el paquete y lo reenvía fuera de la interfaz adecuada. </a:t>
            </a:r>
          </a:p>
          <a:p>
            <a:pPr marL="182563" indent="-166688" rtl="0">
              <a:spcBef>
                <a:spcPts val="300"/>
              </a:spcBef>
              <a:spcAft>
                <a:spcPts val="300"/>
              </a:spcAft>
              <a:buFont typeface="Arial" panose="020B0604020202020204" pitchFamily="34" charset="0"/>
              <a:buChar char="•"/>
            </a:pPr>
            <a:r>
              <a:rPr lang="es-419" sz="1600"/>
              <a:t>El paquete se reenvía de router a router hasta que llega a su red de destino.</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 (continuación)</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es-419" sz="1600"/>
              <a:t>Cuando el paquete llegue a la red de destino, ese router buscará una coincidencia en la tabla de enrutamiento.</a:t>
            </a:r>
          </a:p>
          <a:p>
            <a:pPr marL="182563" indent="-166688" rtl="0">
              <a:spcBef>
                <a:spcPts val="300"/>
              </a:spcBef>
              <a:spcAft>
                <a:spcPts val="300"/>
              </a:spcAft>
              <a:buFont typeface="Arial" panose="020B0604020202020204" pitchFamily="34" charset="0"/>
              <a:buChar char="•"/>
            </a:pPr>
            <a:r>
              <a:rPr lang="es-419" sz="1600"/>
              <a:t>Cuando la dirección IP de destino coincide con una interfaz Ethernet conectada directamente, el router busca en la tabla ARP la dirección MAC de Capa 2 de la dirección IP de destino. </a:t>
            </a:r>
          </a:p>
          <a:p>
            <a:pPr marL="182563" indent="-166688" rtl="0">
              <a:spcBef>
                <a:spcPts val="300"/>
              </a:spcBef>
              <a:spcAft>
                <a:spcPts val="300"/>
              </a:spcAft>
              <a:buFont typeface="Arial" panose="020B0604020202020204" pitchFamily="34" charset="0"/>
              <a:buChar char="•"/>
            </a:pPr>
            <a:r>
              <a:rPr lang="es-419" sz="1600"/>
              <a:t>Si no existe ninguna entrada ARP, el router envía una solicitud ARP fuera de la interfaz Ethernet</a:t>
            </a:r>
          </a:p>
          <a:p>
            <a:pPr marL="182563" indent="-166688" rtl="0">
              <a:spcBef>
                <a:spcPts val="300"/>
              </a:spcBef>
              <a:spcAft>
                <a:spcPts val="300"/>
              </a:spcAft>
              <a:buFont typeface="Arial" panose="020B0604020202020204" pitchFamily="34" charset="0"/>
              <a:buChar char="•"/>
            </a:pPr>
            <a:r>
              <a:rPr lang="es-419" sz="1600"/>
              <a:t>El host de destino responde con una respuesta ARP que contiene su dirección MAC.</a:t>
            </a:r>
          </a:p>
          <a:p>
            <a:pPr marL="182563" indent="-166688" rtl="0">
              <a:spcBef>
                <a:spcPts val="300"/>
              </a:spcBef>
              <a:spcAft>
                <a:spcPts val="300"/>
              </a:spcAft>
              <a:buFont typeface="Arial" panose="020B0604020202020204" pitchFamily="34" charset="0"/>
              <a:buChar char="•"/>
            </a:pPr>
            <a:r>
              <a:rPr lang="es-419" sz="1600"/>
              <a:t>El router encapsula el paquete en una nueva trama. Utiliza la dirección MAC del host de destino como dirección MAC de destino de la trama y la dirección MAC de la interfaz Ethernet del router como dirección MAC de origen en la trama.</a:t>
            </a:r>
          </a:p>
          <a:p>
            <a:pPr marL="182563" indent="-166688" rtl="0">
              <a:spcBef>
                <a:spcPts val="300"/>
              </a:spcBef>
              <a:spcAft>
                <a:spcPts val="300"/>
              </a:spcAft>
              <a:buFont typeface="Arial" panose="020B0604020202020204" pitchFamily="34" charset="0"/>
              <a:buChar char="•"/>
            </a:pPr>
            <a:r>
              <a:rPr lang="es-419" sz="1600"/>
              <a:t>La trama se reenvía a través de la interfaz apropiada.</a:t>
            </a:r>
          </a:p>
          <a:p>
            <a:pPr marL="182563" indent="-166688" rtl="0">
              <a:spcBef>
                <a:spcPts val="300"/>
              </a:spcBef>
              <a:spcAft>
                <a:spcPts val="300"/>
              </a:spcAft>
              <a:buFont typeface="Arial" panose="020B0604020202020204" pitchFamily="34" charset="0"/>
              <a:buChar char="•"/>
            </a:pPr>
            <a:r>
              <a:rPr lang="es-419" sz="1600"/>
              <a:t>El paquete llega a la interfaz de la tarjeta de interfaz de red (NIC) de dispositivo destino y es procesado.</a:t>
            </a:r>
          </a:p>
        </p:txBody>
      </p:sp>
    </p:spTree>
    <p:custDataLst>
      <p:tags r:id="rId1"/>
    </p:custDataLst>
    <p:extLst>
      <p:ext uri="{BB962C8B-B14F-4D97-AF65-F5344CB8AC3E}">
        <p14:creationId xmlns:p14="http://schemas.microsoft.com/office/powerpoint/2010/main" val="204506582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 (continuación)</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5875" indent="0" rtl="0">
              <a:spcBef>
                <a:spcPts val="300"/>
              </a:spcBef>
              <a:spcAft>
                <a:spcPts val="300"/>
              </a:spcAft>
              <a:buNone/>
            </a:pPr>
            <a:r>
              <a:rPr lang="es-419" sz="1600"/>
              <a:t>Los comandos comunes de solución de problemas de IOS para solucionar problemas de rutas estáticas y predeterminadas de IPv4 incluyen:</a:t>
            </a:r>
          </a:p>
          <a:p>
            <a:pPr marL="182563" indent="-166688" rtl="0">
              <a:spcBef>
                <a:spcPts val="300"/>
              </a:spcBef>
              <a:spcAft>
                <a:spcPts val="300"/>
              </a:spcAft>
              <a:buFont typeface="Arial" panose="020B0604020202020204" pitchFamily="34" charset="0"/>
              <a:buChar char="•"/>
            </a:pPr>
            <a:r>
              <a:rPr lang="es-419" sz="1400" b="1"/>
              <a:t>ping</a:t>
            </a:r>
          </a:p>
          <a:p>
            <a:pPr marL="182563" indent="-166688" rtl="0">
              <a:spcBef>
                <a:spcPts val="300"/>
              </a:spcBef>
              <a:spcAft>
                <a:spcPts val="300"/>
              </a:spcAft>
              <a:buFont typeface="Arial" panose="020B0604020202020204" pitchFamily="34" charset="0"/>
              <a:buChar char="•"/>
            </a:pPr>
            <a:r>
              <a:rPr lang="es-419" sz="1400" b="1"/>
              <a:t>traceroute</a:t>
            </a:r>
          </a:p>
          <a:p>
            <a:pPr marL="182563" indent="-166688" rtl="0">
              <a:spcBef>
                <a:spcPts val="300"/>
              </a:spcBef>
              <a:spcAft>
                <a:spcPts val="300"/>
              </a:spcAft>
              <a:buFont typeface="Arial" panose="020B0604020202020204" pitchFamily="34" charset="0"/>
              <a:buChar char="•"/>
            </a:pPr>
            <a:r>
              <a:rPr lang="es-419" sz="1400" b="1"/>
              <a:t>show ip route</a:t>
            </a:r>
          </a:p>
          <a:p>
            <a:pPr marL="182563" indent="-166688" rtl="0">
              <a:spcBef>
                <a:spcPts val="300"/>
              </a:spcBef>
              <a:spcAft>
                <a:spcPts val="300"/>
              </a:spcAft>
              <a:buFont typeface="Arial" panose="020B0604020202020204" pitchFamily="34" charset="0"/>
              <a:buChar char="•"/>
            </a:pPr>
            <a:r>
              <a:rPr lang="es-419" sz="1400" b="1"/>
              <a:t>show ip interface brief</a:t>
            </a:r>
          </a:p>
          <a:p>
            <a:pPr marL="182563" indent="-166688" rtl="0">
              <a:spcBef>
                <a:spcPts val="300"/>
              </a:spcBef>
              <a:spcAft>
                <a:spcPts val="300"/>
              </a:spcAft>
              <a:buFont typeface="Arial" panose="020B0604020202020204" pitchFamily="34" charset="0"/>
              <a:buChar char="•"/>
            </a:pPr>
            <a:r>
              <a:rPr lang="es-419" sz="1400" b="1"/>
              <a:t>show cdp neighbors detail</a:t>
            </a:r>
          </a:p>
        </p:txBody>
      </p:sp>
    </p:spTree>
    <p:custDataLst>
      <p:tags r:id="rId1"/>
    </p:custDataLst>
    <p:extLst>
      <p:ext uri="{BB962C8B-B14F-4D97-AF65-F5344CB8AC3E}">
        <p14:creationId xmlns:p14="http://schemas.microsoft.com/office/powerpoint/2010/main" val="427190860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10459</TotalTime>
  <Words>2560</Words>
  <Application>Microsoft Office PowerPoint</Application>
  <PresentationFormat>Presentación en pantalla (16:9)</PresentationFormat>
  <Paragraphs>282</Paragraphs>
  <Slides>24</Slides>
  <Notes>22</Notes>
  <HiddenSlides>6</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24</vt:i4>
      </vt:variant>
    </vt:vector>
  </HeadingPairs>
  <TitlesOfParts>
    <vt:vector size="34" baseType="lpstr">
      <vt:lpstr>ＭＳ Ｐゴシック</vt:lpstr>
      <vt:lpstr>Arial</vt:lpstr>
      <vt:lpstr>Calibri</vt:lpstr>
      <vt:lpstr>CiscoSans</vt:lpstr>
      <vt:lpstr>CiscoSans ExtraLight</vt:lpstr>
      <vt:lpstr>CiscoSans Thin</vt:lpstr>
      <vt:lpstr>Courier New</vt:lpstr>
      <vt:lpstr>Times New Roman</vt:lpstr>
      <vt:lpstr>Wingdings</vt:lpstr>
      <vt:lpstr>Default Theme</vt:lpstr>
      <vt:lpstr>Módulo 16: Solución de Problemas de Rutas Estáticas y Predeterminadas</vt:lpstr>
      <vt:lpstr>Instructor Materials – Module 16 Planning Guide</vt:lpstr>
      <vt:lpstr>What to Expect in this Module</vt:lpstr>
      <vt:lpstr>What to Expect in this Module (Cont.)</vt:lpstr>
      <vt:lpstr>Check Your Understanding</vt:lpstr>
      <vt:lpstr>Module 16: Activities</vt:lpstr>
      <vt:lpstr>Module 16: Best Practices</vt:lpstr>
      <vt:lpstr>Módulo 16: Solución de Problemas de Rutas Estáticas y Predeterminadas</vt:lpstr>
      <vt:lpstr>Objetivos del módulo</vt:lpstr>
      <vt:lpstr>16.1 Procesamiento de paquetes con rutas estáticas</vt:lpstr>
      <vt:lpstr>Procesamiento de paquetes con rutas estáticas Rutas estáticas y Reenvío de Paquetes</vt:lpstr>
      <vt:lpstr>Procesamiento de Paquetes con Rutas Estáticas Rutas Estáticas y Reenvío de Paquetes (cont.)</vt:lpstr>
      <vt:lpstr>Procesamiento de Paquetes con Rutas Estáticas Rutas Estáticas y Reenvío de Paquetes (cont.)</vt:lpstr>
      <vt:lpstr>16.2 Solución de Problemas de Configuración de Rutas Estáticas y Predeterminadas IPv4</vt:lpstr>
      <vt:lpstr>Solución de Problemas de Configuración de Rutas Estáticas y Predeterminadas IPv4  Cambios en la Red</vt:lpstr>
      <vt:lpstr>Solución de Problemas de Configuración de Rutas Estáticas y Predeterminadas IPv4 Comandos Comunes para Solución de Problemas</vt:lpstr>
      <vt:lpstr>Solución de Problemas de Configuración de Rutas Estáticas y Predeterminadas IPv4  Resolver problemas de Conectividad</vt:lpstr>
      <vt:lpstr>16.3 - Módulo de práctica y cuestionario</vt:lpstr>
      <vt:lpstr>Diseño Estructurado Solución de problemas de rutas estáticas y predeterminadas</vt:lpstr>
      <vt:lpstr>Diseño Estructurado Solución de problemas de rutas estáticas y predeterminadas</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Gloriana Carrillo Campos</cp:lastModifiedBy>
  <cp:revision>308</cp:revision>
  <dcterms:created xsi:type="dcterms:W3CDTF">2019-10-18T06:21:22Z</dcterms:created>
  <dcterms:modified xsi:type="dcterms:W3CDTF">2020-05-14T22:01:48Z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