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6.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7.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8.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9.xml" ContentType="application/vnd.openxmlformats-officedocument.presentationml.tags+xml"/>
  <Override PartName="/ppt/notesSlides/notesSlide63.xml" ContentType="application/vnd.openxmlformats-officedocument.presentationml.notesSlide+xml"/>
  <Override PartName="/ppt/tags/tag10.xml" ContentType="application/vnd.openxmlformats-officedocument.presentationml.tags+xml"/>
  <Override PartName="/ppt/notesSlides/notesSlide64.xml" ContentType="application/vnd.openxmlformats-officedocument.presentationml.notesSlide+xml"/>
  <Override PartName="/ppt/tags/tag11.xml" ContentType="application/vnd.openxmlformats-officedocument.presentationml.tags+xml"/>
  <Override PartName="/ppt/notesSlides/notesSlide65.xml" ContentType="application/vnd.openxmlformats-officedocument.presentationml.notesSlide+xml"/>
  <Override PartName="/ppt/tags/tag12.xml" ContentType="application/vnd.openxmlformats-officedocument.presentationml.tags+xml"/>
  <Override PartName="/ppt/notesSlides/notesSlide6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8"/>
  </p:notesMasterIdLst>
  <p:sldIdLst>
    <p:sldId id="876" r:id="rId2"/>
    <p:sldId id="860" r:id="rId3"/>
    <p:sldId id="759" r:id="rId4"/>
    <p:sldId id="1108" r:id="rId5"/>
    <p:sldId id="1211" r:id="rId6"/>
    <p:sldId id="1212" r:id="rId7"/>
    <p:sldId id="1213" r:id="rId8"/>
    <p:sldId id="1214" r:id="rId9"/>
    <p:sldId id="1215" r:id="rId10"/>
    <p:sldId id="1216" r:id="rId11"/>
    <p:sldId id="1217" r:id="rId12"/>
    <p:sldId id="1218" r:id="rId13"/>
    <p:sldId id="1219" r:id="rId14"/>
    <p:sldId id="1220" r:id="rId15"/>
    <p:sldId id="1056" r:id="rId16"/>
    <p:sldId id="1187" r:id="rId17"/>
    <p:sldId id="1221" r:id="rId18"/>
    <p:sldId id="1222" r:id="rId19"/>
    <p:sldId id="1223" r:id="rId20"/>
    <p:sldId id="1224" r:id="rId21"/>
    <p:sldId id="1225" r:id="rId22"/>
    <p:sldId id="1226" r:id="rId23"/>
    <p:sldId id="1227" r:id="rId24"/>
    <p:sldId id="1229" r:id="rId25"/>
    <p:sldId id="1231" r:id="rId26"/>
    <p:sldId id="1233" r:id="rId27"/>
    <p:sldId id="1234" r:id="rId28"/>
    <p:sldId id="1103" r:id="rId29"/>
    <p:sldId id="1189" r:id="rId30"/>
    <p:sldId id="1235" r:id="rId31"/>
    <p:sldId id="1236" r:id="rId32"/>
    <p:sldId id="1237" r:id="rId33"/>
    <p:sldId id="1238" r:id="rId34"/>
    <p:sldId id="1239" r:id="rId35"/>
    <p:sldId id="1240" r:id="rId36"/>
    <p:sldId id="1241" r:id="rId37"/>
    <p:sldId id="1242" r:id="rId38"/>
    <p:sldId id="1244" r:id="rId39"/>
    <p:sldId id="1273" r:id="rId40"/>
    <p:sldId id="1247" r:id="rId41"/>
    <p:sldId id="1248" r:id="rId42"/>
    <p:sldId id="1249" r:id="rId43"/>
    <p:sldId id="1250" r:id="rId44"/>
    <p:sldId id="1252" r:id="rId45"/>
    <p:sldId id="1254" r:id="rId46"/>
    <p:sldId id="1255" r:id="rId47"/>
    <p:sldId id="1256" r:id="rId48"/>
    <p:sldId id="1257" r:id="rId49"/>
    <p:sldId id="1259" r:id="rId50"/>
    <p:sldId id="1261" r:id="rId51"/>
    <p:sldId id="1263" r:id="rId52"/>
    <p:sldId id="1104" r:id="rId53"/>
    <p:sldId id="1194" r:id="rId54"/>
    <p:sldId id="1269" r:id="rId55"/>
    <p:sldId id="1264" r:id="rId56"/>
    <p:sldId id="1270" r:id="rId57"/>
    <p:sldId id="1265" r:id="rId58"/>
    <p:sldId id="1271" r:id="rId59"/>
    <p:sldId id="1266" r:id="rId60"/>
    <p:sldId id="1267" r:id="rId61"/>
    <p:sldId id="957" r:id="rId62"/>
    <p:sldId id="1205" r:id="rId63"/>
    <p:sldId id="1138" r:id="rId64"/>
    <p:sldId id="1268" r:id="rId65"/>
    <p:sldId id="874" r:id="rId66"/>
    <p:sldId id="291" r:id="rId67"/>
  </p:sldIdLst>
  <p:sldSz cx="9144000" cy="5143500" type="screen16x9"/>
  <p:notesSz cx="6858000" cy="9144000"/>
  <p:custDataLst>
    <p:tags r:id="rId6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206" autoAdjust="0"/>
    <p:restoredTop sz="86275" autoAdjust="0"/>
  </p:normalViewPr>
  <p:slideViewPr>
    <p:cSldViewPr snapToGrid="0" showGuides="1">
      <p:cViewPr varScale="1">
        <p:scale>
          <a:sx n="60" d="100"/>
          <a:sy n="60" d="100"/>
        </p:scale>
        <p:origin x="84" y="117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x Marber Padilla Santos" userId="ad61f224-958b-4aef-825b-8bf86e91b6d0" providerId="ADAL" clId="{3EFDFDD0-FA89-4D0B-ADA4-1AC89E5CADEC}"/>
    <pc:docChg chg="delSld">
      <pc:chgData name="Lex Marber Padilla Santos" userId="ad61f224-958b-4aef-825b-8bf86e91b6d0" providerId="ADAL" clId="{3EFDFDD0-FA89-4D0B-ADA4-1AC89E5CADEC}" dt="2024-07-31T01:27:28.033" v="0" actId="47"/>
      <pc:docMkLst>
        <pc:docMk/>
      </pc:docMkLst>
      <pc:sldChg chg="del">
        <pc:chgData name="Lex Marber Padilla Santos" userId="ad61f224-958b-4aef-825b-8bf86e91b6d0" providerId="ADAL" clId="{3EFDFDD0-FA89-4D0B-ADA4-1AC89E5CADEC}" dt="2024-07-31T01:27:28.033" v="0" actId="47"/>
        <pc:sldMkLst>
          <pc:docMk/>
          <pc:sldMk cId="343650477" sldId="513"/>
        </pc:sldMkLst>
      </pc:sldChg>
      <pc:sldChg chg="del">
        <pc:chgData name="Lex Marber Padilla Santos" userId="ad61f224-958b-4aef-825b-8bf86e91b6d0" providerId="ADAL" clId="{3EFDFDD0-FA89-4D0B-ADA4-1AC89E5CADEC}" dt="2024-07-31T01:27:28.033" v="0" actId="47"/>
        <pc:sldMkLst>
          <pc:docMk/>
          <pc:sldMk cId="2145273728" sldId="763"/>
        </pc:sldMkLst>
      </pc:sldChg>
      <pc:sldChg chg="del">
        <pc:chgData name="Lex Marber Padilla Santos" userId="ad61f224-958b-4aef-825b-8bf86e91b6d0" providerId="ADAL" clId="{3EFDFDD0-FA89-4D0B-ADA4-1AC89E5CADEC}" dt="2024-07-31T01:27:28.033" v="0" actId="47"/>
        <pc:sldMkLst>
          <pc:docMk/>
          <pc:sldMk cId="2109317603" sldId="1052"/>
        </pc:sldMkLst>
      </pc:sldChg>
      <pc:sldChg chg="del">
        <pc:chgData name="Lex Marber Padilla Santos" userId="ad61f224-958b-4aef-825b-8bf86e91b6d0" providerId="ADAL" clId="{3EFDFDD0-FA89-4D0B-ADA4-1AC89E5CADEC}" dt="2024-07-31T01:27:28.033" v="0" actId="47"/>
        <pc:sldMkLst>
          <pc:docMk/>
          <pc:sldMk cId="34472702" sldId="1053"/>
        </pc:sldMkLst>
      </pc:sldChg>
      <pc:sldChg chg="del">
        <pc:chgData name="Lex Marber Padilla Santos" userId="ad61f224-958b-4aef-825b-8bf86e91b6d0" providerId="ADAL" clId="{3EFDFDD0-FA89-4D0B-ADA4-1AC89E5CADEC}" dt="2024-07-31T01:27:28.033" v="0" actId="47"/>
        <pc:sldMkLst>
          <pc:docMk/>
          <pc:sldMk cId="1129576059" sldId="1069"/>
        </pc:sldMkLst>
      </pc:sldChg>
      <pc:sldChg chg="del">
        <pc:chgData name="Lex Marber Padilla Santos" userId="ad61f224-958b-4aef-825b-8bf86e91b6d0" providerId="ADAL" clId="{3EFDFDD0-FA89-4D0B-ADA4-1AC89E5CADEC}" dt="2024-07-31T01:27:28.033" v="0" actId="47"/>
        <pc:sldMkLst>
          <pc:docMk/>
          <pc:sldMk cId="1736058053" sldId="1071"/>
        </pc:sldMkLst>
      </pc:sldChg>
      <pc:sldChg chg="del">
        <pc:chgData name="Lex Marber Padilla Santos" userId="ad61f224-958b-4aef-825b-8bf86e91b6d0" providerId="ADAL" clId="{3EFDFDD0-FA89-4D0B-ADA4-1AC89E5CADEC}" dt="2024-07-31T01:27:28.033" v="0" actId="47"/>
        <pc:sldMkLst>
          <pc:docMk/>
          <pc:sldMk cId="2625469064" sldId="1209"/>
        </pc:sldMkLst>
      </pc:sldChg>
      <pc:sldChg chg="del">
        <pc:chgData name="Lex Marber Padilla Santos" userId="ad61f224-958b-4aef-825b-8bf86e91b6d0" providerId="ADAL" clId="{3EFDFDD0-FA89-4D0B-ADA4-1AC89E5CADEC}" dt="2024-07-31T01:27:28.033" v="0" actId="47"/>
        <pc:sldMkLst>
          <pc:docMk/>
          <pc:sldMk cId="3828050738" sldId="1210"/>
        </pc:sldMkLst>
      </pc:sldChg>
      <pc:sldChg chg="del">
        <pc:chgData name="Lex Marber Padilla Santos" userId="ad61f224-958b-4aef-825b-8bf86e91b6d0" providerId="ADAL" clId="{3EFDFDD0-FA89-4D0B-ADA4-1AC89E5CADEC}" dt="2024-07-31T01:27:28.033" v="0" actId="47"/>
        <pc:sldMkLst>
          <pc:docMk/>
          <pc:sldMk cId="122153960" sldId="1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7/30/2024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Programa Cisco Networking Academy</a:t>
            </a:r>
          </a:p>
          <a:p>
            <a:pPr rtl="0">
              <a:spcBef>
                <a:spcPts val="0"/>
              </a:spcBef>
            </a:pPr>
            <a:r>
              <a:rPr lang="es-419">
                <a:solidFill>
                  <a:schemeClr val="accent5">
                    <a:lumMod val="40000"/>
                    <a:lumOff val="60000"/>
                  </a:schemeClr>
                </a:solidFill>
              </a:rPr>
              <a:t>- Switching, Routing y Wireless Essentials v7.0 (SRWE)</a:t>
            </a:r>
          </a:p>
          <a:p>
            <a:pPr rtl="0">
              <a:buFontTx/>
              <a:buNone/>
            </a:pPr>
            <a:r>
              <a:rPr lang="es-419" b="0"/>
              <a:t>Módulo 13: Configuraciones de redes inalámbricas WLAN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13.0 – Introducción</a:t>
            </a:r>
          </a:p>
          <a:p>
            <a:pPr rtl="0">
              <a:buFontTx/>
              <a:buNone/>
            </a:pPr>
            <a:r>
              <a:rPr lang="es-419"/>
              <a:t>13.0.2 –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13.1.1 – Video - Configuración de una red inalámbrica</a:t>
            </a:r>
          </a:p>
        </p:txBody>
      </p:sp>
      <p:sp>
        <p:nvSpPr>
          <p:cNvPr id="4" name="Slide Number Placeholder 3"/>
          <p:cNvSpPr>
            <a:spLocks noGrp="1"/>
          </p:cNvSpPr>
          <p:nvPr>
            <p:ph type="sldNum" sz="quarter" idx="5"/>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13.1.2 - </a:t>
            </a:r>
            <a:r>
              <a:rPr lang="es-419" sz="1200"/>
              <a:t>El router inalámbrico</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1406720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13.1.3 – Iniciar sesión en el router inalámbrico</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2202398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13.1.4 - </a:t>
            </a:r>
            <a:r>
              <a:rPr lang="es-419" sz="1200"/>
              <a:t>Configuración Básica de Red</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2378486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13.1.5 - </a:t>
            </a:r>
            <a:r>
              <a:rPr lang="es-419" sz="1200"/>
              <a:t>Configuración básica de red</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1316072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13.1.6 - </a:t>
            </a:r>
            <a:r>
              <a:rPr lang="es-419" sz="1200"/>
              <a:t>Configurar una red de malla inalámbrica</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1582235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13.1.7 - </a:t>
            </a:r>
            <a:r>
              <a:rPr lang="es-419" sz="1200"/>
              <a:t>NAT para IPv4</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889244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13.1.8 - </a:t>
            </a:r>
            <a:r>
              <a:rPr lang="es-419" sz="1200"/>
              <a:t>Calidad de servicio</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558383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13.1.9 – Reenvío de puerto</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101986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13.1.10 – </a:t>
            </a:r>
            <a:r>
              <a:rPr lang="es-419" sz="1200"/>
              <a:t>Packet Tracer – Configure una red inalámbrica</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189268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13.1 - Configuración de WLAN de sitio remoto</a:t>
            </a:r>
          </a:p>
          <a:p>
            <a:pPr rtl="0"/>
            <a:r>
              <a:rPr lang="es-419"/>
              <a:t>13.1.11 - </a:t>
            </a:r>
            <a:r>
              <a:rPr lang="es-419" sz="1200"/>
              <a:t>Lab – Configure una red inalámbrica</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646007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13.2.1 – Video – Configure una WLAN básica en el WLC</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2949022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13.2.2 – Topología WLC</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561713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13.2.3 – Inicie sesión en el WLC</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4051131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13.2.4 – </a:t>
            </a:r>
            <a:r>
              <a:rPr lang="es-419" sz="1200"/>
              <a:t>Ver información AP</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6025664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13.2.5 - </a:t>
            </a:r>
            <a:r>
              <a:rPr lang="es-419" sz="1200"/>
              <a:t>Configuración avanzada</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426837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13.2.6 - </a:t>
            </a:r>
            <a:r>
              <a:rPr lang="es-419" sz="1200"/>
              <a:t>Configurar una WLAN</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8661897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13.2.6 - </a:t>
            </a:r>
            <a:r>
              <a:rPr lang="es-419" sz="1200"/>
              <a:t>Configurar una WLAN (Cont.)</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042241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13.2.6 - </a:t>
            </a:r>
            <a:r>
              <a:rPr lang="es-419" sz="1200"/>
              <a:t>Configurar una WLAN (Cont.)</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2773290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13.2.6 - </a:t>
            </a:r>
            <a:r>
              <a:rPr lang="es-419" sz="1200"/>
              <a:t>Configurar una WLAN (Cont.)</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39795258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13.2.6 - </a:t>
            </a:r>
            <a:r>
              <a:rPr lang="es-419" sz="1200"/>
              <a:t>Configurar una WLAN (Cont.)</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4750395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13.2.6 - </a:t>
            </a:r>
            <a:r>
              <a:rPr lang="es-419" sz="1200"/>
              <a:t>Configurar una WLAN (Cont.)</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8039782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13.2 – Configure una WLAN básica en el WLC</a:t>
            </a:r>
          </a:p>
          <a:p>
            <a:pPr rtl="0"/>
            <a:r>
              <a:rPr lang="es-419"/>
              <a:t>13.2.7 - </a:t>
            </a:r>
            <a:r>
              <a:rPr lang="es-419" sz="1200"/>
              <a:t>Packet Tracer – Configure una WLAN básica en el WLC</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19281153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13.3.1 - </a:t>
            </a:r>
            <a:r>
              <a:rPr lang="es-419" sz="1200"/>
              <a:t>Video – Defina un servidor SNMP y RADIUS en el WLC</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3656323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13.3.2 - </a:t>
            </a:r>
            <a:r>
              <a:rPr lang="es-419" sz="1200"/>
              <a:t>SNMP y RADIUS</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39025247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13.3.3 - </a:t>
            </a:r>
            <a:r>
              <a:rPr lang="es-419" sz="1200"/>
              <a:t>Configurar la información del servidor SNMP</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30742476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13.3.4 - </a:t>
            </a:r>
            <a:r>
              <a:rPr lang="es-419" sz="1200"/>
              <a:t>Configurar la información del servidor RADIUS</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26071871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13.3.4 - </a:t>
            </a:r>
            <a:r>
              <a:rPr lang="es-419" sz="1200"/>
              <a:t>Configurar la información del servidor RADIUS (Cont.)</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9297010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13.3.5 - </a:t>
            </a:r>
            <a:r>
              <a:rPr lang="es-419" sz="1200"/>
              <a:t>Video – Configurar una VLAN para una nueva WLAN</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7376557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13.3.6 –Topología con direccionamiento VLAN 5</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21610106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13.3.7 - </a:t>
            </a:r>
            <a:r>
              <a:rPr lang="es-419" sz="1200"/>
              <a:t>Configurar una nueva interfaz</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25554168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13.3.7 - </a:t>
            </a:r>
            <a:r>
              <a:rPr lang="es-419" sz="1200"/>
              <a:t>Configurar una nueva interfaz(Cont.)</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12459986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13.3.7 - </a:t>
            </a:r>
            <a:r>
              <a:rPr lang="es-419" sz="1200"/>
              <a:t>Configurar una nueva interfaz(Cont.)</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1250543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13.3.7 - </a:t>
            </a:r>
            <a:r>
              <a:rPr lang="es-419" sz="1200"/>
              <a:t>Configurar una nueva interfaz(Cont.)</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37578699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13.3.7 - </a:t>
            </a:r>
            <a:r>
              <a:rPr lang="es-419" sz="1200"/>
              <a:t>Configurar una nueva interfaz(Cont.)</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1731182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13.3.8 - </a:t>
            </a:r>
            <a:r>
              <a:rPr lang="es-419" sz="1200"/>
              <a:t>Video – Configure DHCP para la nueva WLAN</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3482700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13.3.9 - </a:t>
            </a:r>
            <a:r>
              <a:rPr lang="es-419" sz="1200"/>
              <a:t>Configurar un DHCP Scope</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38168305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13.3.9 - </a:t>
            </a:r>
            <a:r>
              <a:rPr lang="es-419" sz="1200"/>
              <a:t>Configurar un DHCP Scope</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42202898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13.3.9 - </a:t>
            </a:r>
            <a:r>
              <a:rPr lang="es-419" sz="1200"/>
              <a:t>Configurar un DHCP Scope </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2459288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13.3.9 - </a:t>
            </a:r>
            <a:r>
              <a:rPr lang="es-419" sz="1200"/>
              <a:t>Configurar un DHCP Scope</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39860206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13.3.10 - </a:t>
            </a:r>
            <a:r>
              <a:rPr lang="es-419" sz="1200"/>
              <a:t>Video – Configurar una WLAN empresarial WPA2</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29249145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13.3.11 - </a:t>
            </a:r>
            <a:r>
              <a:rPr lang="es-419" sz="1200"/>
              <a:t>Configurar una WLAN empresarial WPA2</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25489637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13.3.11 - </a:t>
            </a:r>
            <a:r>
              <a:rPr lang="es-419" sz="1200"/>
              <a:t>Configurar una WLAN empresarial WPA2 (Cont.)</a:t>
            </a:r>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14312865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13.3.11 - </a:t>
            </a:r>
            <a:r>
              <a:rPr lang="es-419" sz="1200"/>
              <a:t>Configurar una WLAN empresarial WPA2 (Cont.)</a:t>
            </a:r>
          </a:p>
        </p:txBody>
      </p:sp>
      <p:sp>
        <p:nvSpPr>
          <p:cNvPr id="4" name="Slide Number Placeholder 3"/>
          <p:cNvSpPr>
            <a:spLocks noGrp="1"/>
          </p:cNvSpPr>
          <p:nvPr>
            <p:ph type="sldNum" sz="quarter" idx="5"/>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33939495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13.3.11 - </a:t>
            </a:r>
            <a:r>
              <a:rPr lang="es-419" sz="1200"/>
              <a:t>Configurar una WLAN empresarial WPA2 (Cont.)</a:t>
            </a:r>
          </a:p>
        </p:txBody>
      </p:sp>
      <p:sp>
        <p:nvSpPr>
          <p:cNvPr id="4" name="Slide Number Placeholder 3"/>
          <p:cNvSpPr>
            <a:spLocks noGrp="1"/>
          </p:cNvSpPr>
          <p:nvPr>
            <p:ph type="sldNum" sz="quarter" idx="5"/>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4080832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13.3 – Configure una red inalámbrica WLAN WPA2 Enterprise en el WLC</a:t>
            </a:r>
          </a:p>
          <a:p>
            <a:pPr rtl="0"/>
            <a:r>
              <a:rPr lang="es-419"/>
              <a:t>13.3.12 - </a:t>
            </a:r>
            <a:r>
              <a:rPr lang="es-419" sz="1200"/>
              <a:t>Packet Tracer: configure una WPA2 Enterprise WLAN en el WLC</a:t>
            </a:r>
          </a:p>
        </p:txBody>
      </p:sp>
      <p:sp>
        <p:nvSpPr>
          <p:cNvPr id="4" name="Slide Number Placeholder 3"/>
          <p:cNvSpPr>
            <a:spLocks noGrp="1"/>
          </p:cNvSpPr>
          <p:nvPr>
            <p:ph type="sldNum" sz="quarter" idx="5"/>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26665040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pPr rtl="0"/>
            <a:r>
              <a:rPr lang="es-419"/>
              <a:t>13.4.1 –Enfoques de solución de problemas</a:t>
            </a:r>
          </a:p>
        </p:txBody>
      </p:sp>
      <p:sp>
        <p:nvSpPr>
          <p:cNvPr id="4" name="Slide Number Placeholder 3"/>
          <p:cNvSpPr>
            <a:spLocks noGrp="1"/>
          </p:cNvSpPr>
          <p:nvPr>
            <p:ph type="sldNum" sz="quarter" idx="5"/>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34633508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pPr rtl="0"/>
            <a:r>
              <a:rPr lang="es-419"/>
              <a:t>13.4.1 – Enfoques de solución de problemas (Cont.)</a:t>
            </a:r>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36767595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pPr rtl="0"/>
            <a:r>
              <a:rPr lang="es-419"/>
              <a:t>13.4.2 – </a:t>
            </a:r>
            <a:r>
              <a:rPr lang="es-419" sz="1200"/>
              <a:t>Cliente Inalámbrico no se esta conectando</a:t>
            </a:r>
          </a:p>
        </p:txBody>
      </p:sp>
      <p:sp>
        <p:nvSpPr>
          <p:cNvPr id="4" name="Slide Number Placeholder 3"/>
          <p:cNvSpPr>
            <a:spLocks noGrp="1"/>
          </p:cNvSpPr>
          <p:nvPr>
            <p:ph type="sldNum" sz="quarter" idx="5"/>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12878498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pPr rtl="0"/>
            <a:r>
              <a:rPr lang="es-419"/>
              <a:t>13.4.2 – </a:t>
            </a:r>
            <a:r>
              <a:rPr lang="es-419" sz="1200"/>
              <a:t>Cliente Inalámbrico no se esta conectando (Cont.)</a:t>
            </a:r>
          </a:p>
        </p:txBody>
      </p:sp>
      <p:sp>
        <p:nvSpPr>
          <p:cNvPr id="4" name="Slide Number Placeholder 3"/>
          <p:cNvSpPr>
            <a:spLocks noGrp="1"/>
          </p:cNvSpPr>
          <p:nvPr>
            <p:ph type="sldNum" sz="quarter" idx="5"/>
          </p:nvPr>
        </p:nvSpPr>
        <p:spPr/>
        <p:txBody>
          <a:bodyPr/>
          <a:lstStyle/>
          <a:p>
            <a:pPr rtl="0"/>
            <a:fld id="{5641018C-6CAF-B84E-B92C-ECB119457FBA}" type="slidenum">
              <a:rPr/>
              <a:t>56</a:t>
            </a:fld>
            <a:endParaRPr/>
          </a:p>
        </p:txBody>
      </p:sp>
    </p:spTree>
    <p:extLst>
      <p:ext uri="{BB962C8B-B14F-4D97-AF65-F5344CB8AC3E}">
        <p14:creationId xmlns:p14="http://schemas.microsoft.com/office/powerpoint/2010/main" val="38561893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pPr rtl="0"/>
            <a:r>
              <a:rPr lang="es-419"/>
              <a:t>13.4.3 – </a:t>
            </a:r>
            <a:r>
              <a:rPr lang="es-419" sz="1200"/>
              <a:t>Resolución de Problemas cuando la red esta lenta</a:t>
            </a:r>
          </a:p>
        </p:txBody>
      </p:sp>
      <p:sp>
        <p:nvSpPr>
          <p:cNvPr id="4" name="Slide Number Placeholder 3"/>
          <p:cNvSpPr>
            <a:spLocks noGrp="1"/>
          </p:cNvSpPr>
          <p:nvPr>
            <p:ph type="sldNum" sz="quarter" idx="5"/>
          </p:nvPr>
        </p:nvSpPr>
        <p:spPr/>
        <p:txBody>
          <a:bodyPr/>
          <a:lstStyle/>
          <a:p>
            <a:pPr rtl="0"/>
            <a:fld id="{5641018C-6CAF-B84E-B92C-ECB119457FBA}" type="slidenum">
              <a:rPr/>
              <a:t>57</a:t>
            </a:fld>
            <a:endParaRPr/>
          </a:p>
        </p:txBody>
      </p:sp>
    </p:spTree>
    <p:extLst>
      <p:ext uri="{BB962C8B-B14F-4D97-AF65-F5344CB8AC3E}">
        <p14:creationId xmlns:p14="http://schemas.microsoft.com/office/powerpoint/2010/main" val="22939533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pPr rtl="0"/>
            <a:r>
              <a:rPr lang="es-419"/>
              <a:t>13.4.3 – </a:t>
            </a:r>
            <a:r>
              <a:rPr lang="es-419" sz="1200"/>
              <a:t>Resolución de Problemas cuando la red esta lenta (Cont.)</a:t>
            </a:r>
          </a:p>
        </p:txBody>
      </p:sp>
      <p:sp>
        <p:nvSpPr>
          <p:cNvPr id="4" name="Slide Number Placeholder 3"/>
          <p:cNvSpPr>
            <a:spLocks noGrp="1"/>
          </p:cNvSpPr>
          <p:nvPr>
            <p:ph type="sldNum" sz="quarter" idx="5"/>
          </p:nvPr>
        </p:nvSpPr>
        <p:spPr/>
        <p:txBody>
          <a:bodyPr/>
          <a:lstStyle/>
          <a:p>
            <a:pPr rtl="0"/>
            <a:fld id="{5641018C-6CAF-B84E-B92C-ECB119457FBA}" type="slidenum">
              <a:rPr/>
              <a:t>58</a:t>
            </a:fld>
            <a:endParaRPr/>
          </a:p>
        </p:txBody>
      </p:sp>
    </p:spTree>
    <p:extLst>
      <p:ext uri="{BB962C8B-B14F-4D97-AF65-F5344CB8AC3E}">
        <p14:creationId xmlns:p14="http://schemas.microsoft.com/office/powerpoint/2010/main" val="17191438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pPr rtl="0"/>
            <a:r>
              <a:rPr lang="es-419"/>
              <a:t>13.4.4 – </a:t>
            </a:r>
            <a:r>
              <a:rPr lang="es-419" sz="1200"/>
              <a:t>Actualizar el firmware</a:t>
            </a:r>
          </a:p>
        </p:txBody>
      </p:sp>
      <p:sp>
        <p:nvSpPr>
          <p:cNvPr id="4" name="Slide Number Placeholder 3"/>
          <p:cNvSpPr>
            <a:spLocks noGrp="1"/>
          </p:cNvSpPr>
          <p:nvPr>
            <p:ph type="sldNum" sz="quarter" idx="5"/>
          </p:nvPr>
        </p:nvSpPr>
        <p:spPr/>
        <p:txBody>
          <a:bodyPr/>
          <a:lstStyle/>
          <a:p>
            <a:pPr rtl="0"/>
            <a:fld id="{5641018C-6CAF-B84E-B92C-ECB119457FBA}" type="slidenum">
              <a:rPr/>
              <a:t>59</a:t>
            </a:fld>
            <a:endParaRPr/>
          </a:p>
        </p:txBody>
      </p:sp>
    </p:spTree>
    <p:extLst>
      <p:ext uri="{BB962C8B-B14F-4D97-AF65-F5344CB8AC3E}">
        <p14:creationId xmlns:p14="http://schemas.microsoft.com/office/powerpoint/2010/main" val="36872074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13.4 – Solucionar problemas de WLAN</a:t>
            </a:r>
          </a:p>
          <a:p>
            <a:pPr rtl="0"/>
            <a:r>
              <a:rPr lang="es-419"/>
              <a:t>13.4.5 - </a:t>
            </a:r>
            <a:r>
              <a:rPr lang="es-419" sz="1200"/>
              <a:t>Packet Tracer: Solución de problemas WLAN</a:t>
            </a:r>
          </a:p>
        </p:txBody>
      </p:sp>
      <p:sp>
        <p:nvSpPr>
          <p:cNvPr id="4" name="Slide Number Placeholder 3"/>
          <p:cNvSpPr>
            <a:spLocks noGrp="1"/>
          </p:cNvSpPr>
          <p:nvPr>
            <p:ph type="sldNum" sz="quarter" idx="5"/>
          </p:nvPr>
        </p:nvSpPr>
        <p:spPr/>
        <p:txBody>
          <a:bodyPr/>
          <a:lstStyle/>
          <a:p>
            <a:pPr rtl="0"/>
            <a:fld id="{5641018C-6CAF-B84E-B92C-ECB119457FBA}" type="slidenum">
              <a:rPr/>
              <a:t>60</a:t>
            </a:fld>
            <a:endParaRPr/>
          </a:p>
        </p:txBody>
      </p:sp>
    </p:spTree>
    <p:extLst>
      <p:ext uri="{BB962C8B-B14F-4D97-AF65-F5344CB8AC3E}">
        <p14:creationId xmlns:p14="http://schemas.microsoft.com/office/powerpoint/2010/main" val="25663263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13.5 – Práctica y Resumen del Módulo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61</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13 – Configuración de WLAN</a:t>
            </a:r>
          </a:p>
          <a:p>
            <a:pPr rtl="0"/>
            <a:r>
              <a:rPr lang="es-419"/>
              <a:t>13.5 – Práctica y Resumen del Módulo</a:t>
            </a:r>
          </a:p>
          <a:p>
            <a:pPr rtl="0"/>
            <a:r>
              <a:rPr lang="es-419"/>
              <a:t>13.5.1 - </a:t>
            </a:r>
            <a:r>
              <a:rPr lang="es-419" sz="1200"/>
              <a:t>Packet Tracer: Configuración WLAN</a:t>
            </a:r>
          </a:p>
        </p:txBody>
      </p:sp>
      <p:sp>
        <p:nvSpPr>
          <p:cNvPr id="4" name="Slide Number Placeholder 3"/>
          <p:cNvSpPr>
            <a:spLocks noGrp="1"/>
          </p:cNvSpPr>
          <p:nvPr>
            <p:ph type="sldNum" sz="quarter" idx="5"/>
          </p:nvPr>
        </p:nvSpPr>
        <p:spPr/>
        <p:txBody>
          <a:bodyPr/>
          <a:lstStyle/>
          <a:p>
            <a:pPr rtl="0"/>
            <a:fld id="{5641018C-6CAF-B84E-B92C-ECB119457FBA}" type="slidenum">
              <a:rPr/>
              <a:t>62</a:t>
            </a:fld>
            <a:endParaRPr/>
          </a:p>
        </p:txBody>
      </p:sp>
    </p:spTree>
    <p:extLst>
      <p:ext uri="{BB962C8B-B14F-4D97-AF65-F5344CB8AC3E}">
        <p14:creationId xmlns:p14="http://schemas.microsoft.com/office/powerpoint/2010/main" val="12601964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63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13 – Configuración de WLAN</a:t>
            </a:r>
          </a:p>
          <a:p>
            <a:pPr rtl="0"/>
            <a:r>
              <a:rPr lang="es-419"/>
              <a:t>13.5 – Práctica y Resumen del Módulo</a:t>
            </a:r>
          </a:p>
          <a:p>
            <a:pPr rtl="0"/>
            <a:r>
              <a:rPr lang="es-419"/>
              <a:t>13.5.2 – ¿Qué aprendí en este módulo?</a:t>
            </a:r>
          </a:p>
        </p:txBody>
      </p:sp>
    </p:spTree>
    <p:extLst>
      <p:ext uri="{BB962C8B-B14F-4D97-AF65-F5344CB8AC3E}">
        <p14:creationId xmlns:p14="http://schemas.microsoft.com/office/powerpoint/2010/main" val="25279157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64</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13 – Configuración de WLAN</a:t>
            </a:r>
          </a:p>
          <a:p>
            <a:pPr rtl="0"/>
            <a:r>
              <a:rPr lang="es-419"/>
              <a:t>13.5 – Práctica y Resumen del Módulo</a:t>
            </a:r>
          </a:p>
          <a:p>
            <a:pPr rtl="0"/>
            <a:r>
              <a:rPr lang="es-419"/>
              <a:t>13.5.2 – ¿Qué aprendí en este módulo? (continuación)</a:t>
            </a:r>
          </a:p>
          <a:p>
            <a:pPr rtl="0"/>
            <a:r>
              <a:rPr lang="es-419"/>
              <a:t>13.5.3 – Módulo Quiz - Configuración WLAN</a:t>
            </a:r>
          </a:p>
        </p:txBody>
      </p:sp>
    </p:spTree>
    <p:extLst>
      <p:ext uri="{BB962C8B-B14F-4D97-AF65-F5344CB8AC3E}">
        <p14:creationId xmlns:p14="http://schemas.microsoft.com/office/powerpoint/2010/main" val="10616335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65</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66</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13: Configuraciones de redes inalámbricas WLAN</a:t>
            </a:r>
          </a:p>
        </p:txBody>
      </p:sp>
      <p:sp>
        <p:nvSpPr>
          <p:cNvPr id="7" name="Subtitle 6"/>
          <p:cNvSpPr>
            <a:spLocks noGrp="1"/>
          </p:cNvSpPr>
          <p:nvPr>
            <p:ph type="subTitle" idx="1"/>
          </p:nvPr>
        </p:nvSpPr>
        <p:spPr>
          <a:xfrm>
            <a:off x="469497" y="3809526"/>
            <a:ext cx="2368954" cy="902174"/>
          </a:xfrm>
        </p:spPr>
        <p:txBody>
          <a:bodyPr/>
          <a:lstStyle/>
          <a:p>
            <a:pPr rtl="0">
              <a:spcBef>
                <a:spcPts val="0"/>
              </a:spcBef>
            </a:pPr>
            <a:r>
              <a:rPr lang="es-419">
                <a:solidFill>
                  <a:schemeClr val="accent5">
                    <a:lumMod val="40000"/>
                    <a:lumOff val="60000"/>
                  </a:schemeClr>
                </a:solidFill>
              </a:rPr>
              <a:t>Switching, Routing, y Wireless Essentials v7.0</a:t>
            </a:r>
          </a:p>
          <a:p>
            <a:pPr rtl="0">
              <a:spcBef>
                <a:spcPts val="0"/>
              </a:spcBef>
            </a:pPr>
            <a:r>
              <a:rPr lang="es-419">
                <a:solidFill>
                  <a:schemeClr val="accent5">
                    <a:lumMod val="40000"/>
                    <a:lumOff val="60000"/>
                  </a:schemeClr>
                </a:solidFill>
              </a:rPr>
              <a:t>(SRWE)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Titulo del Módulo: </a:t>
            </a:r>
            <a:r>
              <a:rPr lang="es-419" sz="1400">
                <a:solidFill>
                  <a:schemeClr val="tx1"/>
                </a:solidFill>
                <a:ea typeface="Calibri" panose="020F0502020204030204" pitchFamily="34" charset="0"/>
                <a:cs typeface="Calibri" panose="020F0502020204030204" pitchFamily="34" charset="0"/>
              </a:rPr>
              <a:t>Configuraciones de redes inalámbricas WLAN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Objetivo del Modulo</a:t>
            </a:r>
            <a:r>
              <a:rPr lang="es-419" sz="1400">
                <a:solidFill>
                  <a:schemeClr val="tx1"/>
                </a:solidFill>
                <a:ea typeface="Calibri" panose="020F0502020204030204" pitchFamily="34" charset="0"/>
                <a:cs typeface="Calibri" panose="020F0502020204030204" pitchFamily="34" charset="0"/>
              </a:rPr>
              <a:t>: </a:t>
            </a:r>
            <a:r>
              <a:rPr lang="es-419"/>
              <a:t>Implementar una WLAN utilizando un enrutador inalámbrico y WLC.</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208611094"/>
              </p:ext>
            </p:extLst>
          </p:nvPr>
        </p:nvGraphicFramePr>
        <p:xfrm>
          <a:off x="368097" y="1807506"/>
          <a:ext cx="7896830" cy="230759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rtl="0" fontAlgn="ctr"/>
                      <a:r>
                        <a:rPr lang="es-419">
                          <a:effectLst/>
                        </a:rPr>
                        <a:t>Título del tema</a:t>
                      </a:r>
                    </a:p>
                  </a:txBody>
                  <a:tcPr marL="47625" marR="47625" marT="47625" marB="47625" anchor="ctr"/>
                </a:tc>
                <a:tc>
                  <a:txBody>
                    <a:bodyPr/>
                    <a:lstStyle/>
                    <a:p>
                      <a:pPr algn="l" rtl="0" fontAlgn="ctr"/>
                      <a:r>
                        <a:rPr lang="es-419">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0">
                          <a:solidFill>
                            <a:schemeClr val="bg1"/>
                          </a:solidFill>
                          <a:effectLst/>
                        </a:rPr>
                        <a:t>Configuración de WLAN del sitio remoto</a:t>
                      </a:r>
                    </a:p>
                  </a:txBody>
                  <a:tcPr marL="47625" marR="47625" marT="47625" marB="47625" anchor="ctr">
                    <a:solidFill>
                      <a:schemeClr val="accent1"/>
                    </a:solidFill>
                  </a:tcPr>
                </a:tc>
                <a:tc>
                  <a:txBody>
                    <a:bodyPr/>
                    <a:lstStyle/>
                    <a:p>
                      <a:pPr rtl="0" fontAlgn="ctr"/>
                      <a:r>
                        <a:rPr lang="es-419" b="0">
                          <a:effectLst/>
                        </a:rPr>
                        <a:t>Configurar una WLAN para admitir un sitio remoto.</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0">
                          <a:solidFill>
                            <a:schemeClr val="bg1"/>
                          </a:solidFill>
                          <a:effectLst/>
                        </a:rPr>
                        <a:t>Configuración de una WLAN Básico en el WLC</a:t>
                      </a:r>
                    </a:p>
                  </a:txBody>
                  <a:tcPr marL="47625" marR="47625" marT="47625" marB="47625" anchor="ctr">
                    <a:solidFill>
                      <a:schemeClr val="accent1"/>
                    </a:solidFill>
                  </a:tcPr>
                </a:tc>
                <a:tc>
                  <a:txBody>
                    <a:bodyPr/>
                    <a:lstStyle/>
                    <a:p>
                      <a:pPr rtl="0" fontAlgn="ctr"/>
                      <a:r>
                        <a:rPr lang="es-419" b="0">
                          <a:effectLst/>
                        </a:rPr>
                        <a:t>Configurar un WLC de red inalámbrica WLAN para que use la interfaz de administración y la autenticación WPA2 PSK.</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0">
                          <a:solidFill>
                            <a:schemeClr val="bg1"/>
                          </a:solidFill>
                          <a:effectLst/>
                        </a:rPr>
                        <a:t>Configuración de una red inalámbrica WLAN WPA2 Enterprise en el WLC</a:t>
                      </a:r>
                    </a:p>
                  </a:txBody>
                  <a:tcPr marL="47625" marR="47625" marT="47625" marB="47625" anchor="ctr">
                    <a:solidFill>
                      <a:schemeClr val="accent1"/>
                    </a:solidFill>
                  </a:tcPr>
                </a:tc>
                <a:tc>
                  <a:txBody>
                    <a:bodyPr/>
                    <a:lstStyle/>
                    <a:p>
                      <a:pPr rtl="0" fontAlgn="ctr"/>
                      <a:r>
                        <a:rPr lang="es-419" b="0">
                          <a:effectLst/>
                        </a:rPr>
                        <a:t>Configurar un WLC de red inalámbrica WLAN para que use una interfaz VLAN, un servidor DHCP, y autenticación WPA2 Enterpise.</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es-419" b="0">
                          <a:solidFill>
                            <a:schemeClr val="bg1"/>
                          </a:solidFill>
                          <a:effectLst/>
                        </a:rPr>
                        <a:t>Solución de problemas de WLAN</a:t>
                      </a:r>
                    </a:p>
                  </a:txBody>
                  <a:tcPr marL="47625" marR="47625" marT="47625" marB="47625" anchor="ctr">
                    <a:solidFill>
                      <a:schemeClr val="accent1"/>
                    </a:solidFill>
                  </a:tcPr>
                </a:tc>
                <a:tc>
                  <a:txBody>
                    <a:bodyPr/>
                    <a:lstStyle/>
                    <a:p>
                      <a:pPr rtl="0" fontAlgn="ctr"/>
                      <a:r>
                        <a:rPr lang="es-419" b="0">
                          <a:effectLst/>
                        </a:rPr>
                        <a:t>Resolver problemas comunes de la configuración inalámbrica.</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13.1 - Configuración de WLAN de sitio remoto</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 sitio remoto</a:t>
            </a:r>
            <a:br>
              <a:rPr lang="en-US" dirty="0"/>
            </a:br>
            <a:r>
              <a:rPr lang="es-419" sz="2400"/>
              <a:t> Video – Configure una Red Inalámbrica</a:t>
            </a:r>
          </a:p>
        </p:txBody>
      </p:sp>
      <p:sp>
        <p:nvSpPr>
          <p:cNvPr id="5" name="Content Placeholder 4">
            <a:extLst>
              <a:ext uri="{FF2B5EF4-FFF2-40B4-BE49-F238E27FC236}">
                <a16:creationId xmlns:a16="http://schemas.microsoft.com/office/drawing/2014/main" id="{B8A80458-5FAF-4BF3-8D24-3817B93C8172}"/>
              </a:ext>
            </a:extLst>
          </p:cNvPr>
          <p:cNvSpPr>
            <a:spLocks noGrp="1"/>
          </p:cNvSpPr>
          <p:nvPr>
            <p:ph idx="1"/>
          </p:nvPr>
        </p:nvSpPr>
        <p:spPr>
          <a:xfrm>
            <a:off x="474662" y="731838"/>
            <a:ext cx="8280057" cy="2172728"/>
          </a:xfrm>
        </p:spPr>
        <p:txBody>
          <a:bodyPr/>
          <a:lstStyle/>
          <a:p>
            <a:pPr marL="0" indent="0" algn="l" rtl="0"/>
            <a:r>
              <a:rPr lang="es-419">
                <a:solidFill>
                  <a:srgbClr val="000000"/>
                </a:solidFill>
              </a:rPr>
              <a:t>Este video cubrirá lo siguiente:</a:t>
            </a:r>
          </a:p>
          <a:p>
            <a:pPr marL="342900" indent="-342900" algn="l" rtl="0">
              <a:buFont typeface="Arial" panose="020B0604020202020204" pitchFamily="34" charset="0"/>
              <a:buChar char="•"/>
            </a:pPr>
            <a:r>
              <a:rPr lang="es-419">
                <a:solidFill>
                  <a:srgbClr val="000000"/>
                </a:solidFill>
              </a:rPr>
              <a:t>Utilice la Página Web del Router Inalámbrico</a:t>
            </a:r>
          </a:p>
          <a:p>
            <a:pPr marL="342900" indent="-342900" algn="l" rtl="0">
              <a:buFont typeface="Arial" panose="020B0604020202020204" pitchFamily="34" charset="0"/>
              <a:buChar char="•"/>
            </a:pPr>
            <a:r>
              <a:rPr lang="es-419">
                <a:solidFill>
                  <a:srgbClr val="000000"/>
                </a:solidFill>
              </a:rPr>
              <a:t>Cambie la contraseña.</a:t>
            </a:r>
          </a:p>
          <a:p>
            <a:pPr marL="342900" indent="-342900" algn="l" rtl="0">
              <a:buFont typeface="Arial" panose="020B0604020202020204" pitchFamily="34" charset="0"/>
              <a:buChar char="•"/>
            </a:pPr>
            <a:r>
              <a:rPr lang="es-419">
                <a:solidFill>
                  <a:srgbClr val="000000"/>
                </a:solidFill>
              </a:rPr>
              <a:t>Cambiar la configuración de WAN y LAN</a:t>
            </a:r>
          </a:p>
          <a:p>
            <a:pPr marL="342900" indent="-342900" algn="l" rtl="0">
              <a:buFont typeface="Arial" panose="020B0604020202020204" pitchFamily="34" charset="0"/>
              <a:buChar char="•"/>
            </a:pPr>
            <a:r>
              <a:rPr lang="es-419">
                <a:solidFill>
                  <a:srgbClr val="000000"/>
                </a:solidFill>
              </a:rPr>
              <a:t>Conectarse a la red inalámbrica</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 sitio remoto</a:t>
            </a:r>
            <a:br>
              <a:rPr lang="en-US" dirty="0"/>
            </a:br>
            <a:r>
              <a:rPr lang="es-419" sz="2400"/>
              <a:t>El router inalámbrico</a:t>
            </a:r>
            <a:r>
              <a:rPr lang="es-419" sz="1600"/>
              <a:t> </a:t>
            </a:r>
          </a:p>
        </p:txBody>
      </p:sp>
      <p:sp>
        <p:nvSpPr>
          <p:cNvPr id="5" name="Content Placeholder 4">
            <a:extLst>
              <a:ext uri="{FF2B5EF4-FFF2-40B4-BE49-F238E27FC236}">
                <a16:creationId xmlns:a16="http://schemas.microsoft.com/office/drawing/2014/main" id="{B8A80458-5FAF-4BF3-8D24-3817B93C8172}"/>
              </a:ext>
            </a:extLst>
          </p:cNvPr>
          <p:cNvSpPr>
            <a:spLocks noGrp="1"/>
          </p:cNvSpPr>
          <p:nvPr>
            <p:ph idx="1"/>
          </p:nvPr>
        </p:nvSpPr>
        <p:spPr>
          <a:xfrm>
            <a:off x="474663" y="731837"/>
            <a:ext cx="4943157" cy="3689897"/>
          </a:xfrm>
        </p:spPr>
        <p:txBody>
          <a:bodyPr/>
          <a:lstStyle/>
          <a:p>
            <a:pPr marL="0" indent="0" algn="l" rtl="0"/>
            <a:r>
              <a:rPr lang="es-419" sz="1600">
                <a:solidFill>
                  <a:srgbClr val="000000"/>
                </a:solidFill>
              </a:rPr>
              <a:t>Los trabajadores remotos, las oficinas pequeñas, y las redes caseras comúnmente usan routers de casa y oficina pequeña. </a:t>
            </a:r>
          </a:p>
          <a:p>
            <a:pPr marL="285750" indent="-285750" algn="l" rtl="0">
              <a:buFont typeface="Arial" panose="020B0604020202020204" pitchFamily="34" charset="0"/>
              <a:buChar char="•"/>
            </a:pPr>
            <a:r>
              <a:rPr lang="es-419" sz="1400">
                <a:solidFill>
                  <a:srgbClr val="000000"/>
                </a:solidFill>
              </a:rPr>
              <a:t>Estos routers "integrados" generalmente incluyen un switch para clientes con cable, un puerto para una conexión a Internet (a veces etiquetado como "WAN") y componentes inalámbricos para acceso de clientes inalámbricos. </a:t>
            </a:r>
          </a:p>
          <a:p>
            <a:pPr marL="285750" indent="-285750" algn="l" rtl="0">
              <a:buFont typeface="Arial" panose="020B0604020202020204" pitchFamily="34" charset="0"/>
              <a:buChar char="•"/>
            </a:pPr>
            <a:r>
              <a:rPr lang="es-419" sz="1400">
                <a:solidFill>
                  <a:srgbClr val="000000"/>
                </a:solidFill>
              </a:rPr>
              <a:t>Estos routers inalámbricos comúnmente proveen seguridad WLAN, servicios de DHCP, traducción de direcciones de red (NAT), calidad de servicio (QoS), y una variedad de otras funciones. </a:t>
            </a:r>
          </a:p>
          <a:p>
            <a:pPr marL="285750" indent="-285750" algn="l" rtl="0">
              <a:buFont typeface="Arial" panose="020B0604020202020204" pitchFamily="34" charset="0"/>
              <a:buChar char="•"/>
            </a:pPr>
            <a:r>
              <a:rPr lang="es-419" sz="1400">
                <a:solidFill>
                  <a:srgbClr val="000000"/>
                </a:solidFill>
              </a:rPr>
              <a:t>El conjunto de características variara de acuerdo al modelo del router.</a:t>
            </a:r>
          </a:p>
          <a:p>
            <a:pPr marL="73085" lvl="1" indent="0">
              <a:buNone/>
            </a:pPr>
            <a:endParaRPr lang="en-US" b="1" dirty="0">
              <a:solidFill>
                <a:srgbClr val="000000"/>
              </a:solidFill>
            </a:endParaRPr>
          </a:p>
          <a:p>
            <a:pPr marL="73085" lvl="1" indent="0" rtl="0">
              <a:buNone/>
            </a:pPr>
            <a:r>
              <a:rPr lang="es-419" b="1">
                <a:solidFill>
                  <a:srgbClr val="000000"/>
                </a:solidFill>
              </a:rPr>
              <a:t>Nota</a:t>
            </a:r>
            <a:r>
              <a:rPr lang="es-419">
                <a:solidFill>
                  <a:srgbClr val="000000"/>
                </a:solidFill>
              </a:rPr>
              <a:t>: La configuración del módem por cable o DSL generalmente la realiza el representante del proveedor de servicios en el sitio o de forma remota.</a:t>
            </a:r>
            <a:r>
              <a:rPr lang="es-419" b="1">
                <a:solidFill>
                  <a:srgbClr val="000000"/>
                </a:solidFill>
              </a:rPr>
              <a:t> </a:t>
            </a:r>
          </a:p>
        </p:txBody>
      </p:sp>
      <p:pic>
        <p:nvPicPr>
          <p:cNvPr id="4" name="Picture 3">
            <a:extLst>
              <a:ext uri="{FF2B5EF4-FFF2-40B4-BE49-F238E27FC236}">
                <a16:creationId xmlns:a16="http://schemas.microsoft.com/office/drawing/2014/main" id="{779D9BF7-99CA-4EA3-B675-8CA3E0E6959C}"/>
              </a:ext>
            </a:extLst>
          </p:cNvPr>
          <p:cNvPicPr>
            <a:picLocks noChangeAspect="1"/>
          </p:cNvPicPr>
          <p:nvPr/>
        </p:nvPicPr>
        <p:blipFill>
          <a:blip r:embed="rId3"/>
          <a:stretch>
            <a:fillRect/>
          </a:stretch>
        </p:blipFill>
        <p:spPr>
          <a:xfrm>
            <a:off x="5628639" y="258598"/>
            <a:ext cx="3145816" cy="1737842"/>
          </a:xfrm>
          <a:prstGeom prst="rect">
            <a:avLst/>
          </a:prstGeom>
        </p:spPr>
      </p:pic>
      <p:pic>
        <p:nvPicPr>
          <p:cNvPr id="6" name="Picture 5">
            <a:extLst>
              <a:ext uri="{FF2B5EF4-FFF2-40B4-BE49-F238E27FC236}">
                <a16:creationId xmlns:a16="http://schemas.microsoft.com/office/drawing/2014/main" id="{8F62773C-86CB-40C7-B2E4-3836B9613D1A}"/>
              </a:ext>
            </a:extLst>
          </p:cNvPr>
          <p:cNvPicPr>
            <a:picLocks noChangeAspect="1"/>
          </p:cNvPicPr>
          <p:nvPr/>
        </p:nvPicPr>
        <p:blipFill>
          <a:blip r:embed="rId4"/>
          <a:stretch>
            <a:fillRect/>
          </a:stretch>
        </p:blipFill>
        <p:spPr>
          <a:xfrm>
            <a:off x="5493570" y="2424525"/>
            <a:ext cx="3175767" cy="1818011"/>
          </a:xfrm>
          <a:prstGeom prst="rect">
            <a:avLst/>
          </a:prstGeom>
        </p:spPr>
      </p:pic>
    </p:spTree>
    <p:extLst>
      <p:ext uri="{BB962C8B-B14F-4D97-AF65-F5344CB8AC3E}">
        <p14:creationId xmlns:p14="http://schemas.microsoft.com/office/powerpoint/2010/main" val="4093382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 sitio remoto</a:t>
            </a:r>
            <a:br>
              <a:rPr lang="en-US" dirty="0"/>
            </a:br>
            <a:r>
              <a:rPr lang="es-419" sz="2400"/>
              <a:t>Inicie sesión en el router inalámbrico</a:t>
            </a:r>
          </a:p>
        </p:txBody>
      </p:sp>
      <p:sp>
        <p:nvSpPr>
          <p:cNvPr id="7" name="Content Placeholder 6">
            <a:extLst>
              <a:ext uri="{FF2B5EF4-FFF2-40B4-BE49-F238E27FC236}">
                <a16:creationId xmlns:a16="http://schemas.microsoft.com/office/drawing/2014/main" id="{A6633B77-E10F-488A-8FB2-FBF8D5603DD5}"/>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mayoría de los routers inalámbricos están preconfigurados para conectarse a la red y proporcionar servicios. </a:t>
            </a:r>
          </a:p>
          <a:p>
            <a:pPr marL="285750" indent="-285750" algn="l" rtl="0">
              <a:buFont typeface="Arial" panose="020B0604020202020204" pitchFamily="34" charset="0"/>
              <a:buChar char="•"/>
            </a:pPr>
            <a:r>
              <a:rPr lang="es-419" sz="1400">
                <a:solidFill>
                  <a:srgbClr val="000000"/>
                </a:solidFill>
              </a:rPr>
              <a:t>Las direcciones IP, los nombres de usuario y las contraseñas predeterminadas del enrutador inalámbrico se pueden encontrar fácilmente en Internet. </a:t>
            </a:r>
          </a:p>
          <a:p>
            <a:pPr marL="285750" indent="-285750" algn="l" rtl="0">
              <a:buFont typeface="Arial" panose="020B0604020202020204" pitchFamily="34" charset="0"/>
              <a:buChar char="•"/>
            </a:pPr>
            <a:r>
              <a:rPr lang="es-419" sz="1400">
                <a:solidFill>
                  <a:srgbClr val="000000"/>
                </a:solidFill>
              </a:rPr>
              <a:t>En consecuencia, su prioridad principal debe ser cambiar estos valores predeterminados por razones de seguridad.</a:t>
            </a:r>
          </a:p>
          <a:p>
            <a:pPr marL="0" indent="0" algn="l"/>
            <a:endParaRPr lang="en-US" sz="1600" dirty="0">
              <a:solidFill>
                <a:srgbClr val="000000"/>
              </a:solidFill>
            </a:endParaRPr>
          </a:p>
          <a:p>
            <a:pPr marL="0" indent="0" algn="l" rtl="0"/>
            <a:r>
              <a:rPr lang="es-419" sz="1600">
                <a:solidFill>
                  <a:srgbClr val="000000"/>
                </a:solidFill>
              </a:rPr>
              <a:t>Para obtener acceso a la GUI de configuración del enrutador inalámbrico:</a:t>
            </a:r>
          </a:p>
          <a:p>
            <a:pPr marL="285750" indent="-285750" algn="l" rtl="0">
              <a:buFont typeface="Arial" panose="020B0604020202020204" pitchFamily="34" charset="0"/>
              <a:buChar char="•"/>
            </a:pPr>
            <a:r>
              <a:rPr lang="es-419" sz="1400">
                <a:solidFill>
                  <a:srgbClr val="000000"/>
                </a:solidFill>
              </a:rPr>
              <a:t>Abra un navegador web e ingrese la dirección IP predeterminada para su enrutador inalámbrico. </a:t>
            </a:r>
          </a:p>
          <a:p>
            <a:pPr marL="285750" indent="-285750" algn="l" rtl="0">
              <a:buFont typeface="Arial" panose="020B0604020202020204" pitchFamily="34" charset="0"/>
              <a:buChar char="•"/>
            </a:pPr>
            <a:r>
              <a:rPr lang="es-419" sz="1400">
                <a:solidFill>
                  <a:srgbClr val="000000"/>
                </a:solidFill>
              </a:rPr>
              <a:t>La dirección IP predeterminada se puede encontrar en la documentación que viene con el router inalámbrico o se puede buscar en Internet. </a:t>
            </a:r>
          </a:p>
          <a:p>
            <a:pPr marL="285750" indent="-285750" algn="l" rtl="0">
              <a:buFont typeface="Arial" panose="020B0604020202020204" pitchFamily="34" charset="0"/>
              <a:buChar char="•"/>
            </a:pPr>
            <a:r>
              <a:rPr lang="es-419" sz="1400">
                <a:solidFill>
                  <a:srgbClr val="000000"/>
                </a:solidFill>
              </a:rPr>
              <a:t>La palabra </a:t>
            </a:r>
            <a:r>
              <a:rPr lang="es-419" sz="1400" b="1">
                <a:solidFill>
                  <a:srgbClr val="000000"/>
                </a:solidFill>
              </a:rPr>
              <a:t>admin</a:t>
            </a:r>
            <a:r>
              <a:rPr lang="es-419" sz="1400">
                <a:solidFill>
                  <a:srgbClr val="000000"/>
                </a:solidFill>
              </a:rPr>
              <a:t> se utiliza comúnmente como nombre de usuario y contraseña predeterminados.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97618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Sitio remoto Configuración de WLAN</a:t>
            </a:r>
            <a:br>
              <a:rPr lang="en-US" dirty="0"/>
            </a:br>
            <a:r>
              <a:rPr lang="es-419" sz="2400"/>
              <a:t>Configuración de red básica</a:t>
            </a:r>
          </a:p>
        </p:txBody>
      </p:sp>
      <p:sp>
        <p:nvSpPr>
          <p:cNvPr id="4" name="Content Placeholder 3">
            <a:extLst>
              <a:ext uri="{FF2B5EF4-FFF2-40B4-BE49-F238E27FC236}">
                <a16:creationId xmlns:a16="http://schemas.microsoft.com/office/drawing/2014/main" id="{7A22DCCF-5BB5-44EF-B0CB-AC58F945096D}"/>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configuración básica de la red incluye los siguientes pasos:</a:t>
            </a:r>
          </a:p>
          <a:p>
            <a:pPr marL="342900" indent="-342900" algn="l" rtl="0">
              <a:buFont typeface="Arial" panose="020B0604020202020204" pitchFamily="34" charset="0"/>
              <a:buChar char="•"/>
            </a:pPr>
            <a:r>
              <a:rPr lang="es-419" sz="1400">
                <a:solidFill>
                  <a:srgbClr val="000000"/>
                </a:solidFill>
              </a:rPr>
              <a:t>Iniciar sesión en el router desde un navegador web</a:t>
            </a:r>
          </a:p>
          <a:p>
            <a:pPr marL="342900" indent="-342900" algn="l" rtl="0">
              <a:buFont typeface="Arial" panose="020B0604020202020204" pitchFamily="34" charset="0"/>
              <a:buChar char="•"/>
            </a:pPr>
            <a:r>
              <a:rPr lang="es-419" sz="1400">
                <a:solidFill>
                  <a:srgbClr val="000000"/>
                </a:solidFill>
              </a:rPr>
              <a:t>Cambiar la contraseña de administrador predeterminada.</a:t>
            </a:r>
          </a:p>
          <a:p>
            <a:pPr marL="342900" indent="-342900" algn="l" rtl="0">
              <a:buFont typeface="Arial" panose="020B0604020202020204" pitchFamily="34" charset="0"/>
              <a:buChar char="•"/>
            </a:pPr>
            <a:r>
              <a:rPr lang="es-419" sz="1400">
                <a:solidFill>
                  <a:srgbClr val="000000"/>
                </a:solidFill>
              </a:rPr>
              <a:t>Iniciar sesión con la nueva contraseña administrativa</a:t>
            </a:r>
          </a:p>
          <a:p>
            <a:pPr marL="342900" indent="-342900" algn="l" rtl="0">
              <a:buFont typeface="Arial" panose="020B0604020202020204" pitchFamily="34" charset="0"/>
              <a:buChar char="•"/>
            </a:pPr>
            <a:r>
              <a:rPr lang="es-419" sz="1400">
                <a:solidFill>
                  <a:srgbClr val="000000"/>
                </a:solidFill>
              </a:rPr>
              <a:t>Cambiar las direcciones IPv4 predeterminadas del DHCP</a:t>
            </a:r>
          </a:p>
          <a:p>
            <a:pPr marL="342900" indent="-342900" algn="l" rtl="0">
              <a:buFont typeface="Arial" panose="020B0604020202020204" pitchFamily="34" charset="0"/>
              <a:buChar char="•"/>
            </a:pPr>
            <a:r>
              <a:rPr lang="es-419" sz="1400">
                <a:solidFill>
                  <a:srgbClr val="000000"/>
                </a:solidFill>
              </a:rPr>
              <a:t>Renovar la dirección IP.</a:t>
            </a:r>
          </a:p>
          <a:p>
            <a:pPr marL="342900" indent="-342900" algn="l" rtl="0">
              <a:buFont typeface="Arial" panose="020B0604020202020204" pitchFamily="34" charset="0"/>
              <a:buChar char="•"/>
            </a:pPr>
            <a:r>
              <a:rPr lang="es-419" sz="1400">
                <a:solidFill>
                  <a:srgbClr val="000000"/>
                </a:solidFill>
              </a:rPr>
              <a:t>Iniciar sesión en el router con la nueva dirección IP.</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356858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Sitio remoto Configuración de WLAN</a:t>
            </a:r>
            <a:br>
              <a:rPr lang="en-US" dirty="0"/>
            </a:br>
            <a:r>
              <a:rPr lang="es-419" sz="2400"/>
              <a:t>Configuración de red básica</a:t>
            </a:r>
          </a:p>
        </p:txBody>
      </p:sp>
      <p:sp>
        <p:nvSpPr>
          <p:cNvPr id="4" name="Content Placeholder 3">
            <a:extLst>
              <a:ext uri="{FF2B5EF4-FFF2-40B4-BE49-F238E27FC236}">
                <a16:creationId xmlns:a16="http://schemas.microsoft.com/office/drawing/2014/main" id="{7A22DCCF-5BB5-44EF-B0CB-AC58F945096D}"/>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configuración básica de la red inalámbrica incluye los siguientes pasos:</a:t>
            </a:r>
          </a:p>
          <a:p>
            <a:pPr marL="342900" indent="-342900" algn="l" rtl="0">
              <a:buFont typeface="Arial" panose="020B0604020202020204" pitchFamily="34" charset="0"/>
              <a:buChar char="•"/>
            </a:pPr>
            <a:r>
              <a:rPr lang="es-419" sz="1400">
                <a:solidFill>
                  <a:srgbClr val="000000"/>
                </a:solidFill>
              </a:rPr>
              <a:t>Ver los valores predeterminados de WLAN</a:t>
            </a:r>
          </a:p>
          <a:p>
            <a:pPr marL="342900" indent="-342900" algn="l" rtl="0">
              <a:buFont typeface="Arial" panose="020B0604020202020204" pitchFamily="34" charset="0"/>
              <a:buChar char="•"/>
            </a:pPr>
            <a:r>
              <a:rPr lang="es-419" sz="1400">
                <a:solidFill>
                  <a:srgbClr val="000000"/>
                </a:solidFill>
              </a:rPr>
              <a:t>Cambiar el modo de red, identificando qué el estándar 802.11 se implemente.</a:t>
            </a:r>
          </a:p>
          <a:p>
            <a:pPr marL="342900" indent="-342900" algn="l" rtl="0">
              <a:buFont typeface="Arial" panose="020B0604020202020204" pitchFamily="34" charset="0"/>
              <a:buChar char="•"/>
            </a:pPr>
            <a:r>
              <a:rPr lang="es-419" sz="1400">
                <a:solidFill>
                  <a:srgbClr val="000000"/>
                </a:solidFill>
              </a:rPr>
              <a:t>Configurar el SSID</a:t>
            </a:r>
          </a:p>
          <a:p>
            <a:pPr marL="342900" indent="-342900" algn="l" rtl="0">
              <a:buFont typeface="Arial" panose="020B0604020202020204" pitchFamily="34" charset="0"/>
              <a:buChar char="•"/>
            </a:pPr>
            <a:r>
              <a:rPr lang="es-419" sz="1400">
                <a:solidFill>
                  <a:srgbClr val="000000"/>
                </a:solidFill>
              </a:rPr>
              <a:t>Configurar el canal, asegurándose de que no haya canales superpuestos en uso.</a:t>
            </a:r>
          </a:p>
          <a:p>
            <a:pPr marL="342900" indent="-342900" algn="l" rtl="0">
              <a:buFont typeface="Arial" panose="020B0604020202020204" pitchFamily="34" charset="0"/>
              <a:buChar char="•"/>
            </a:pPr>
            <a:r>
              <a:rPr lang="es-419" sz="1400">
                <a:solidFill>
                  <a:srgbClr val="000000"/>
                </a:solidFill>
              </a:rPr>
              <a:t>Configurar el modo de seguridad, seleccionando entre Open, WPA, WPA2 Personal, WPA2 Enterprise, etc..</a:t>
            </a:r>
          </a:p>
          <a:p>
            <a:pPr marL="342900" indent="-342900" algn="l" rtl="0">
              <a:buFont typeface="Arial" panose="020B0604020202020204" pitchFamily="34" charset="0"/>
              <a:buChar char="•"/>
            </a:pPr>
            <a:r>
              <a:rPr lang="es-419" sz="1400">
                <a:solidFill>
                  <a:srgbClr val="000000"/>
                </a:solidFill>
              </a:rPr>
              <a:t>Configurar la frase de contraseña, según sea necesario para el modo de seguridad seleccionado.</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5451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 sitio remoto</a:t>
            </a:r>
            <a:br>
              <a:rPr lang="en-US" dirty="0"/>
            </a:br>
            <a:r>
              <a:rPr lang="es-419" sz="2400"/>
              <a:t>Configurar una red de malla inalámbrica</a:t>
            </a:r>
          </a:p>
        </p:txBody>
      </p:sp>
      <p:sp>
        <p:nvSpPr>
          <p:cNvPr id="5" name="Content Placeholder 4">
            <a:extLst>
              <a:ext uri="{FF2B5EF4-FFF2-40B4-BE49-F238E27FC236}">
                <a16:creationId xmlns:a16="http://schemas.microsoft.com/office/drawing/2014/main" id="{F1DA98B9-49B3-4F7A-8317-33D71C191442}"/>
              </a:ext>
            </a:extLst>
          </p:cNvPr>
          <p:cNvSpPr>
            <a:spLocks noGrp="1"/>
          </p:cNvSpPr>
          <p:nvPr>
            <p:ph idx="1"/>
          </p:nvPr>
        </p:nvSpPr>
        <p:spPr>
          <a:xfrm>
            <a:off x="309616" y="726801"/>
            <a:ext cx="8595102" cy="3689897"/>
          </a:xfrm>
        </p:spPr>
        <p:txBody>
          <a:bodyPr/>
          <a:lstStyle/>
          <a:p>
            <a:pPr marL="0" indent="0" algn="l" rtl="0"/>
            <a:r>
              <a:rPr lang="es-419" sz="1600">
                <a:solidFill>
                  <a:srgbClr val="000000"/>
                </a:solidFill>
              </a:rPr>
              <a:t>En una red de una oficina pequeña o doméstica, un router inalámbrico puede bastar para proporcionar acceso inalámbrico a todos los clientes. </a:t>
            </a:r>
          </a:p>
        </p:txBody>
      </p:sp>
      <p:pic>
        <p:nvPicPr>
          <p:cNvPr id="6" name="Picture 5">
            <a:extLst>
              <a:ext uri="{FF2B5EF4-FFF2-40B4-BE49-F238E27FC236}">
                <a16:creationId xmlns:a16="http://schemas.microsoft.com/office/drawing/2014/main" id="{AA488784-D968-4FE0-BC60-C968332871F6}"/>
              </a:ext>
            </a:extLst>
          </p:cNvPr>
          <p:cNvPicPr>
            <a:picLocks noChangeAspect="1"/>
          </p:cNvPicPr>
          <p:nvPr/>
        </p:nvPicPr>
        <p:blipFill>
          <a:blip r:embed="rId3"/>
          <a:stretch>
            <a:fillRect/>
          </a:stretch>
        </p:blipFill>
        <p:spPr>
          <a:xfrm>
            <a:off x="4498499" y="1401450"/>
            <a:ext cx="4262384" cy="2345635"/>
          </a:xfrm>
          <a:prstGeom prst="rect">
            <a:avLst/>
          </a:prstGeom>
        </p:spPr>
      </p:pic>
      <p:sp>
        <p:nvSpPr>
          <p:cNvPr id="7" name="Content Placeholder 4">
            <a:extLst>
              <a:ext uri="{FF2B5EF4-FFF2-40B4-BE49-F238E27FC236}">
                <a16:creationId xmlns:a16="http://schemas.microsoft.com/office/drawing/2014/main" id="{A932577D-37DE-490A-84DC-9A106FA3BFDF}"/>
              </a:ext>
            </a:extLst>
          </p:cNvPr>
          <p:cNvSpPr txBox="1">
            <a:spLocks/>
          </p:cNvSpPr>
          <p:nvPr/>
        </p:nvSpPr>
        <p:spPr>
          <a:xfrm>
            <a:off x="309616" y="1261676"/>
            <a:ext cx="4045048"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es-419" sz="1400">
                <a:solidFill>
                  <a:srgbClr val="000000"/>
                </a:solidFill>
              </a:rPr>
              <a:t>Si desea extender el alcance más allá de aproximadamente 45 metros en interiores y 90 metros en exteriores, cree una malla inalámbrica. </a:t>
            </a:r>
          </a:p>
          <a:p>
            <a:pPr marL="342900" indent="-342900" algn="l" rtl="0">
              <a:buFont typeface="Arial" panose="020B0604020202020204" pitchFamily="34" charset="0"/>
              <a:buChar char="•"/>
            </a:pPr>
            <a:r>
              <a:rPr lang="es-419" sz="1400">
                <a:solidFill>
                  <a:srgbClr val="000000"/>
                </a:solidFill>
              </a:rPr>
              <a:t>Cree la malla agregando puntos de acceso con la misma configuración, excepto que use diferentes canales para evitar interferencias.</a:t>
            </a:r>
          </a:p>
          <a:p>
            <a:pPr marL="342900" indent="-342900" algn="l" rtl="0">
              <a:buFont typeface="Arial" panose="020B0604020202020204" pitchFamily="34" charset="0"/>
              <a:buChar char="•"/>
            </a:pPr>
            <a:r>
              <a:rPr lang="es-419" sz="1400">
                <a:solidFill>
                  <a:srgbClr val="000000"/>
                </a:solidFill>
              </a:rPr>
              <a:t>La extensión de una WLAN en una oficina pequeña o en el hogar se vuelve cada vez más fácil. </a:t>
            </a:r>
          </a:p>
          <a:p>
            <a:pPr marL="342900" indent="-342900" algn="l" rtl="0">
              <a:buFont typeface="Arial" panose="020B0604020202020204" pitchFamily="34" charset="0"/>
              <a:buChar char="•"/>
            </a:pPr>
            <a:r>
              <a:rPr lang="es-419" sz="1400">
                <a:solidFill>
                  <a:srgbClr val="000000"/>
                </a:solidFill>
              </a:rPr>
              <a:t>Los fabricantes han creado una red de malla inalámbrica (WMN) simple a través de aplicaciones de teléfono inteligente. </a:t>
            </a:r>
          </a:p>
        </p:txBody>
      </p:sp>
    </p:spTree>
    <p:extLst>
      <p:ext uri="{BB962C8B-B14F-4D97-AF65-F5344CB8AC3E}">
        <p14:creationId xmlns:p14="http://schemas.microsoft.com/office/powerpoint/2010/main" val="220853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del sitio remoto</a:t>
            </a:r>
            <a:br>
              <a:rPr lang="en-US" dirty="0"/>
            </a:br>
            <a:r>
              <a:rPr lang="es-419" sz="2400"/>
              <a:t>NAT para IPv4</a:t>
            </a:r>
          </a:p>
        </p:txBody>
      </p:sp>
      <p:sp>
        <p:nvSpPr>
          <p:cNvPr id="4" name="Content Placeholder 3">
            <a:extLst>
              <a:ext uri="{FF2B5EF4-FFF2-40B4-BE49-F238E27FC236}">
                <a16:creationId xmlns:a16="http://schemas.microsoft.com/office/drawing/2014/main" id="{F3EE6C6B-0A8B-4195-A5E0-2C1D3CADA94A}"/>
              </a:ext>
            </a:extLst>
          </p:cNvPr>
          <p:cNvSpPr>
            <a:spLocks noGrp="1"/>
          </p:cNvSpPr>
          <p:nvPr>
            <p:ph idx="1"/>
          </p:nvPr>
        </p:nvSpPr>
        <p:spPr>
          <a:xfrm>
            <a:off x="312883" y="731837"/>
            <a:ext cx="4900420" cy="3689897"/>
          </a:xfrm>
        </p:spPr>
        <p:txBody>
          <a:bodyPr/>
          <a:lstStyle/>
          <a:p>
            <a:pPr marL="0" indent="0" algn="l" rtl="0"/>
            <a:r>
              <a:rPr lang="es-419" sz="1600">
                <a:solidFill>
                  <a:srgbClr val="000000"/>
                </a:solidFill>
              </a:rPr>
              <a:t>Por lo general, el ISP asigna una dirección públicamente enrutable al router inalámbrico y utiliza una dirección de red privada para direccionar en la LAN.</a:t>
            </a:r>
          </a:p>
          <a:p>
            <a:pPr marL="171450" indent="-171450" algn="l" rtl="0">
              <a:buFont typeface="Arial" panose="020B0604020202020204" pitchFamily="34" charset="0"/>
              <a:buChar char="•"/>
            </a:pPr>
            <a:r>
              <a:rPr lang="es-419" sz="1400">
                <a:solidFill>
                  <a:srgbClr val="000000"/>
                </a:solidFill>
              </a:rPr>
              <a:t>Para permitir que los hosts en la LAN se comuniquen con el mundo exterior, el router utilizará un proceso llamado Traducción de direcciones de red (NAT). </a:t>
            </a:r>
          </a:p>
          <a:p>
            <a:pPr marL="171450" indent="-171450" algn="l" rtl="0">
              <a:buFont typeface="Arial" panose="020B0604020202020204" pitchFamily="34" charset="0"/>
              <a:buChar char="•"/>
            </a:pPr>
            <a:r>
              <a:rPr lang="es-419" sz="1400">
                <a:solidFill>
                  <a:srgbClr val="000000"/>
                </a:solidFill>
              </a:rPr>
              <a:t>NAT traduce una dirección IPv4 de origen privada (local) a una dirección pública (global) (el proceso se invierte para los paquetes entrantes). </a:t>
            </a:r>
          </a:p>
          <a:p>
            <a:pPr marL="171450" indent="-171450" algn="l" rtl="0">
              <a:buFont typeface="Arial" panose="020B0604020202020204" pitchFamily="34" charset="0"/>
              <a:buChar char="•"/>
            </a:pPr>
            <a:r>
              <a:rPr lang="es-419" sz="1400">
                <a:solidFill>
                  <a:srgbClr val="000000"/>
                </a:solidFill>
              </a:rPr>
              <a:t>NAT hace posible compartir una dirección IPv4 pública al rastrear los números de puerto de origen para cada sesión establecida por un dispositivo. </a:t>
            </a:r>
          </a:p>
          <a:p>
            <a:pPr marL="171450" indent="-171450" algn="l" rtl="0">
              <a:buFont typeface="Arial" panose="020B0604020202020204" pitchFamily="34" charset="0"/>
              <a:buChar char="•"/>
            </a:pPr>
            <a:r>
              <a:rPr lang="es-419" sz="1400">
                <a:solidFill>
                  <a:srgbClr val="000000"/>
                </a:solidFill>
              </a:rPr>
              <a:t>Si su ISP tiene la IPv6 habilitada, verá una dirección IPv6 única para cada dispositivo.</a:t>
            </a:r>
          </a:p>
          <a:p>
            <a:pPr marL="171450" indent="-17145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A3194B37-7A77-454D-8366-514171329894}"/>
              </a:ext>
            </a:extLst>
          </p:cNvPr>
          <p:cNvPicPr>
            <a:picLocks noChangeAspect="1"/>
          </p:cNvPicPr>
          <p:nvPr/>
        </p:nvPicPr>
        <p:blipFill>
          <a:blip r:embed="rId3"/>
          <a:stretch>
            <a:fillRect/>
          </a:stretch>
        </p:blipFill>
        <p:spPr>
          <a:xfrm>
            <a:off x="5375083" y="1273269"/>
            <a:ext cx="3456034" cy="2607033"/>
          </a:xfrm>
          <a:prstGeom prst="rect">
            <a:avLst/>
          </a:prstGeom>
        </p:spPr>
      </p:pic>
    </p:spTree>
    <p:extLst>
      <p:ext uri="{BB962C8B-B14F-4D97-AF65-F5344CB8AC3E}">
        <p14:creationId xmlns:p14="http://schemas.microsoft.com/office/powerpoint/2010/main" val="1715801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del sitio remoto</a:t>
            </a:r>
            <a:br>
              <a:rPr lang="en-US" dirty="0"/>
            </a:br>
            <a:r>
              <a:rPr lang="es-419" sz="2400"/>
              <a:t>Calidad de servicio</a:t>
            </a:r>
          </a:p>
        </p:txBody>
      </p:sp>
      <p:sp>
        <p:nvSpPr>
          <p:cNvPr id="5" name="Content Placeholder 4">
            <a:extLst>
              <a:ext uri="{FF2B5EF4-FFF2-40B4-BE49-F238E27FC236}">
                <a16:creationId xmlns:a16="http://schemas.microsoft.com/office/drawing/2014/main" id="{92133746-CB4B-46ED-8442-D94560F00AC4}"/>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Muchos routers domésticos y de oficinas pequeñas tienen una opción para configurar la calidad de servicio (QoS). </a:t>
            </a:r>
          </a:p>
          <a:p>
            <a:pPr marL="285750" indent="-285750" algn="l" rtl="0">
              <a:buFont typeface="Arial" panose="020B0604020202020204" pitchFamily="34" charset="0"/>
              <a:buChar char="•"/>
            </a:pPr>
            <a:r>
              <a:rPr lang="es-419" sz="1400">
                <a:solidFill>
                  <a:srgbClr val="000000"/>
                </a:solidFill>
              </a:rPr>
              <a:t>Al configurar la QoS, puede garantizar que ciertos tipos de tráfico, como voz y video, tengan prioridad respecto del tráfico sin plazos, como el correo electrónico y la navegación web. </a:t>
            </a:r>
          </a:p>
          <a:p>
            <a:pPr marL="285750" indent="-285750" algn="l" rtl="0">
              <a:buFont typeface="Arial" panose="020B0604020202020204" pitchFamily="34" charset="0"/>
              <a:buChar char="•"/>
            </a:pPr>
            <a:r>
              <a:rPr lang="es-419" sz="1400">
                <a:solidFill>
                  <a:srgbClr val="000000"/>
                </a:solidFill>
              </a:rPr>
              <a:t>En algunos routers inalámbricos, también se puede priorizar el tráfico en puertos específicos.</a:t>
            </a:r>
          </a:p>
        </p:txBody>
      </p:sp>
      <p:pic>
        <p:nvPicPr>
          <p:cNvPr id="2" name="Picture 1">
            <a:extLst>
              <a:ext uri="{FF2B5EF4-FFF2-40B4-BE49-F238E27FC236}">
                <a16:creationId xmlns:a16="http://schemas.microsoft.com/office/drawing/2014/main" id="{14D34F0B-6AA6-4CB8-9CF3-4FA353A8AE90}"/>
              </a:ext>
            </a:extLst>
          </p:cNvPr>
          <p:cNvPicPr>
            <a:picLocks noChangeAspect="1"/>
          </p:cNvPicPr>
          <p:nvPr/>
        </p:nvPicPr>
        <p:blipFill>
          <a:blip r:embed="rId3"/>
          <a:stretch>
            <a:fillRect/>
          </a:stretch>
        </p:blipFill>
        <p:spPr>
          <a:xfrm>
            <a:off x="2644676" y="2049915"/>
            <a:ext cx="3854648" cy="2165461"/>
          </a:xfrm>
          <a:prstGeom prst="rect">
            <a:avLst/>
          </a:prstGeom>
        </p:spPr>
      </p:pic>
    </p:spTree>
    <p:extLst>
      <p:ext uri="{BB962C8B-B14F-4D97-AF65-F5344CB8AC3E}">
        <p14:creationId xmlns:p14="http://schemas.microsoft.com/office/powerpoint/2010/main" val="3643591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 sitio remoto</a:t>
            </a:r>
            <a:br>
              <a:rPr lang="en-US" dirty="0"/>
            </a:br>
            <a:r>
              <a:rPr lang="es-419" sz="2400"/>
              <a:t>Reenvío de puerto</a:t>
            </a:r>
            <a:r>
              <a:rPr lang="es-419" sz="1600"/>
              <a:t> </a:t>
            </a:r>
          </a:p>
        </p:txBody>
      </p:sp>
      <p:sp>
        <p:nvSpPr>
          <p:cNvPr id="4" name="Content Placeholder 3">
            <a:extLst>
              <a:ext uri="{FF2B5EF4-FFF2-40B4-BE49-F238E27FC236}">
                <a16:creationId xmlns:a16="http://schemas.microsoft.com/office/drawing/2014/main" id="{93CDE018-D867-4E28-ACA0-CE828C6F9486}"/>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Los routers inalámbricos comúnmente se pueden utilizar para bloquear puertos TCP y UDP, a fin de impedir el acceso no autorizado entrante y saliente de una LAN. </a:t>
            </a:r>
          </a:p>
          <a:p>
            <a:pPr marL="285750" indent="-285750" algn="l" rtl="0">
              <a:buFont typeface="Arial" panose="020B0604020202020204" pitchFamily="34" charset="0"/>
              <a:buChar char="•"/>
            </a:pPr>
            <a:r>
              <a:rPr lang="es-419" sz="1400">
                <a:solidFill>
                  <a:srgbClr val="000000"/>
                </a:solidFill>
              </a:rPr>
              <a:t>No obstante, existen situaciones en las que deben abrirse puertos específicos para que determinados programas y aplicaciones puedan comunicarse con dispositivos de otras redes. </a:t>
            </a:r>
          </a:p>
          <a:p>
            <a:pPr marL="285750" indent="-285750" algn="l" rtl="0">
              <a:buFont typeface="Arial" panose="020B0604020202020204" pitchFamily="34" charset="0"/>
              <a:buChar char="•"/>
            </a:pPr>
            <a:r>
              <a:rPr lang="es-419" sz="1400">
                <a:solidFill>
                  <a:srgbClr val="000000"/>
                </a:solidFill>
              </a:rPr>
              <a:t>El reenvío a puerto asignado es un método basado en reglas que permite dirigir el tráfico entre dispositivos de redes separadas.</a:t>
            </a:r>
          </a:p>
          <a:p>
            <a:pPr marL="285750" indent="-285750" algn="l" rtl="0">
              <a:buFont typeface="Arial" panose="020B0604020202020204" pitchFamily="34" charset="0"/>
              <a:buChar char="•"/>
            </a:pPr>
            <a:r>
              <a:rPr lang="es-419" sz="1400">
                <a:solidFill>
                  <a:srgbClr val="000000"/>
                </a:solidFill>
              </a:rPr>
              <a:t>La activación de puertos permite que el router reenvíe datos temporalmente mediante puertos entrantes a un dispositivo determinado. </a:t>
            </a:r>
          </a:p>
          <a:p>
            <a:pPr marL="285750" indent="-285750" algn="l" rtl="0">
              <a:buFont typeface="Arial" panose="020B0604020202020204" pitchFamily="34" charset="0"/>
              <a:buChar char="•"/>
            </a:pPr>
            <a:r>
              <a:rPr lang="es-419" sz="1400">
                <a:solidFill>
                  <a:srgbClr val="000000"/>
                </a:solidFill>
              </a:rPr>
              <a:t>Se puede utilizar la activación de puertos para reenviar datos a una PC solo si se utiliza un rango de puertos designados para realizar una solicitud saliente. </a:t>
            </a:r>
          </a:p>
        </p:txBody>
      </p:sp>
    </p:spTree>
    <p:extLst>
      <p:ext uri="{BB962C8B-B14F-4D97-AF65-F5344CB8AC3E}">
        <p14:creationId xmlns:p14="http://schemas.microsoft.com/office/powerpoint/2010/main" val="2609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 sitio remoto</a:t>
            </a:r>
            <a:br>
              <a:rPr lang="en-US" dirty="0"/>
            </a:br>
            <a:r>
              <a:rPr lang="es-419" sz="2400"/>
              <a:t>Packet Tracer – Configure una red inalámbrica</a:t>
            </a:r>
          </a:p>
        </p:txBody>
      </p:sp>
      <p:sp>
        <p:nvSpPr>
          <p:cNvPr id="5" name="Content Placeholder 4">
            <a:extLst>
              <a:ext uri="{FF2B5EF4-FFF2-40B4-BE49-F238E27FC236}">
                <a16:creationId xmlns:a16="http://schemas.microsoft.com/office/drawing/2014/main" id="{4BFE5AAA-7BEE-4288-B562-D542C16B6AC6}"/>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En esta actividad de Packet Tracer, completará los siguientes objetivos:</a:t>
            </a:r>
          </a:p>
          <a:p>
            <a:pPr marL="285750" indent="-285750" algn="l" rtl="0">
              <a:buFont typeface="Arial" panose="020B0604020202020204" pitchFamily="34" charset="0"/>
              <a:buChar char="•"/>
            </a:pPr>
            <a:r>
              <a:rPr lang="es-419" sz="1400">
                <a:solidFill>
                  <a:srgbClr val="000000"/>
                </a:solidFill>
              </a:rPr>
              <a:t>Conectarse a un router inalámbrico.</a:t>
            </a:r>
          </a:p>
          <a:p>
            <a:pPr marL="285750" indent="-285750" algn="l" rtl="0">
              <a:buFont typeface="Arial" panose="020B0604020202020204" pitchFamily="34" charset="0"/>
              <a:buChar char="•"/>
            </a:pPr>
            <a:r>
              <a:rPr lang="es-419" sz="1400">
                <a:solidFill>
                  <a:srgbClr val="000000"/>
                </a:solidFill>
              </a:rPr>
              <a:t>Configurar el router inalámbrico.</a:t>
            </a:r>
          </a:p>
          <a:p>
            <a:pPr marL="285750" indent="-285750" algn="l" rtl="0">
              <a:buFont typeface="Arial" panose="020B0604020202020204" pitchFamily="34" charset="0"/>
              <a:buChar char="•"/>
            </a:pPr>
            <a:r>
              <a:rPr lang="es-419" sz="1400">
                <a:solidFill>
                  <a:srgbClr val="000000"/>
                </a:solidFill>
              </a:rPr>
              <a:t>Conectar un dispositivo cableado al router inalámbrico.</a:t>
            </a:r>
          </a:p>
          <a:p>
            <a:pPr marL="285750" indent="-285750" algn="l" rtl="0">
              <a:buFont typeface="Arial" panose="020B0604020202020204" pitchFamily="34" charset="0"/>
              <a:buChar char="•"/>
            </a:pPr>
            <a:r>
              <a:rPr lang="es-419" sz="1400">
                <a:solidFill>
                  <a:srgbClr val="000000"/>
                </a:solidFill>
              </a:rPr>
              <a:t>Conectar un dispositivo inalámbrico a un router inalámbrico.</a:t>
            </a:r>
          </a:p>
          <a:p>
            <a:pPr marL="285750" indent="-285750" algn="l" rtl="0">
              <a:buFont typeface="Arial" panose="020B0604020202020204" pitchFamily="34" charset="0"/>
              <a:buChar char="•"/>
            </a:pPr>
            <a:r>
              <a:rPr lang="es-419" sz="1400">
                <a:solidFill>
                  <a:srgbClr val="000000"/>
                </a:solidFill>
              </a:rPr>
              <a:t>Agregar un AP a la red para ampliar la cobertura inalámbrica.</a:t>
            </a:r>
          </a:p>
          <a:p>
            <a:pPr marL="285750" indent="-285750" algn="l" rtl="0">
              <a:buFont typeface="Arial" panose="020B0604020202020204" pitchFamily="34" charset="0"/>
              <a:buChar char="•"/>
            </a:pPr>
            <a:r>
              <a:rPr lang="es-419" sz="1400">
                <a:solidFill>
                  <a:srgbClr val="000000"/>
                </a:solidFill>
              </a:rPr>
              <a:t>Actualizar la configuración predeterminada del router.</a:t>
            </a:r>
          </a:p>
        </p:txBody>
      </p:sp>
    </p:spTree>
    <p:extLst>
      <p:ext uri="{BB962C8B-B14F-4D97-AF65-F5344CB8AC3E}">
        <p14:creationId xmlns:p14="http://schemas.microsoft.com/office/powerpoint/2010/main" val="3665696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Configuración de WLAN de sitio remoto</a:t>
            </a:r>
            <a:br>
              <a:rPr lang="en-US" dirty="0"/>
            </a:br>
            <a:r>
              <a:rPr lang="es-419" sz="2400"/>
              <a:t>Lab – Configure una red inalámbrica</a:t>
            </a:r>
          </a:p>
        </p:txBody>
      </p:sp>
      <p:sp>
        <p:nvSpPr>
          <p:cNvPr id="5" name="Content Placeholder 4">
            <a:extLst>
              <a:ext uri="{FF2B5EF4-FFF2-40B4-BE49-F238E27FC236}">
                <a16:creationId xmlns:a16="http://schemas.microsoft.com/office/drawing/2014/main" id="{4BFE5AAA-7BEE-4288-B562-D542C16B6AC6}"/>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En esta práctica de laboratorio, hará las configuraciones básicas en un router inalámbrico y conectará una PC al router de manera inalámbrica.</a:t>
            </a:r>
          </a:p>
        </p:txBody>
      </p:sp>
    </p:spTree>
    <p:extLst>
      <p:ext uri="{BB962C8B-B14F-4D97-AF65-F5344CB8AC3E}">
        <p14:creationId xmlns:p14="http://schemas.microsoft.com/office/powerpoint/2010/main" val="4064493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13.2 - Configure una WLAN básica en el WLC.</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Video – Configure una WLAN básica en el WLC</a:t>
            </a:r>
          </a:p>
        </p:txBody>
      </p:sp>
      <p:sp>
        <p:nvSpPr>
          <p:cNvPr id="4" name="Content Placeholder 3">
            <a:extLst>
              <a:ext uri="{FF2B5EF4-FFF2-40B4-BE49-F238E27FC236}">
                <a16:creationId xmlns:a16="http://schemas.microsoft.com/office/drawing/2014/main" id="{6D91A3C2-4B53-4E46-BC1E-362B6A603448}"/>
              </a:ext>
            </a:extLst>
          </p:cNvPr>
          <p:cNvSpPr>
            <a:spLocks noGrp="1"/>
          </p:cNvSpPr>
          <p:nvPr>
            <p:ph idx="1"/>
          </p:nvPr>
        </p:nvSpPr>
        <p:spPr>
          <a:xfrm>
            <a:off x="474662" y="731837"/>
            <a:ext cx="8280057" cy="3689897"/>
          </a:xfrm>
        </p:spPr>
        <p:txBody>
          <a:bodyPr/>
          <a:lstStyle/>
          <a:p>
            <a:pPr marL="0" indent="0" algn="l" rtl="0"/>
            <a:r>
              <a:rPr lang="es-419" sz="1800">
                <a:solidFill>
                  <a:srgbClr val="000000"/>
                </a:solidFill>
              </a:rPr>
              <a:t>Este video cubrirá lo siguiente:</a:t>
            </a:r>
          </a:p>
          <a:p>
            <a:pPr marL="342900" indent="-342900" algn="l" rtl="0">
              <a:buFont typeface="Arial" panose="020B0604020202020204" pitchFamily="34" charset="0"/>
              <a:buChar char="•"/>
            </a:pPr>
            <a:r>
              <a:rPr lang="es-419" sz="1800">
                <a:solidFill>
                  <a:srgbClr val="000000"/>
                </a:solidFill>
              </a:rPr>
              <a:t>Revise la topología </a:t>
            </a:r>
          </a:p>
          <a:p>
            <a:pPr marL="342900" indent="-342900" algn="l" rtl="0">
              <a:buFont typeface="Arial" panose="020B0604020202020204" pitchFamily="34" charset="0"/>
              <a:buChar char="•"/>
            </a:pPr>
            <a:r>
              <a:rPr lang="es-419" sz="1800">
                <a:solidFill>
                  <a:srgbClr val="000000"/>
                </a:solidFill>
              </a:rPr>
              <a:t>Acceda a la GUI para el controlador WLAN</a:t>
            </a:r>
          </a:p>
          <a:p>
            <a:pPr marL="342900" indent="-342900" algn="l" rtl="0">
              <a:buFont typeface="Arial" panose="020B0604020202020204" pitchFamily="34" charset="0"/>
              <a:buChar char="•"/>
            </a:pPr>
            <a:r>
              <a:rPr lang="es-419" sz="1800">
                <a:solidFill>
                  <a:srgbClr val="000000"/>
                </a:solidFill>
              </a:rPr>
              <a:t>Información sobre la red inalámbrica en la pantalla de resumen de red</a:t>
            </a:r>
          </a:p>
          <a:p>
            <a:pPr marL="342900" indent="-342900" algn="l" rtl="0">
              <a:buFont typeface="Arial" panose="020B0604020202020204" pitchFamily="34" charset="0"/>
              <a:buChar char="•"/>
            </a:pPr>
            <a:r>
              <a:rPr lang="es-419" sz="1800">
                <a:solidFill>
                  <a:srgbClr val="000000"/>
                </a:solidFill>
              </a:rPr>
              <a:t>Configurar una nueva WLAN</a:t>
            </a:r>
          </a:p>
          <a:p>
            <a:pPr marL="342900" indent="-342900" algn="l" rtl="0">
              <a:buFont typeface="Arial" panose="020B0604020202020204" pitchFamily="34" charset="0"/>
              <a:buChar char="•"/>
            </a:pPr>
            <a:r>
              <a:rPr lang="es-419" sz="1800">
                <a:solidFill>
                  <a:srgbClr val="000000"/>
                </a:solidFill>
              </a:rPr>
              <a:t>Asegure la nueva WLAN</a:t>
            </a:r>
          </a:p>
        </p:txBody>
      </p:sp>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Topología de WLC</a:t>
            </a:r>
          </a:p>
        </p:txBody>
      </p:sp>
      <p:sp>
        <p:nvSpPr>
          <p:cNvPr id="5" name="Content Placeholder 4">
            <a:extLst>
              <a:ext uri="{FF2B5EF4-FFF2-40B4-BE49-F238E27FC236}">
                <a16:creationId xmlns:a16="http://schemas.microsoft.com/office/drawing/2014/main" id="{0B9F3ECB-836A-4B17-8DB8-D94926DE815A}"/>
              </a:ext>
            </a:extLst>
          </p:cNvPr>
          <p:cNvSpPr>
            <a:spLocks noGrp="1"/>
          </p:cNvSpPr>
          <p:nvPr>
            <p:ph idx="1"/>
          </p:nvPr>
        </p:nvSpPr>
        <p:spPr>
          <a:xfrm>
            <a:off x="474662" y="731837"/>
            <a:ext cx="3892239" cy="3361599"/>
          </a:xfrm>
        </p:spPr>
        <p:txBody>
          <a:bodyPr/>
          <a:lstStyle/>
          <a:p>
            <a:pPr marL="0" indent="0" algn="l" rtl="0"/>
            <a:r>
              <a:rPr lang="es-419" sz="1600">
                <a:solidFill>
                  <a:srgbClr val="000000"/>
                </a:solidFill>
              </a:rPr>
              <a:t>La topología y el esquema de direccionamiento utilizados para este tema se muestran en la figura y la tabla. </a:t>
            </a:r>
          </a:p>
          <a:p>
            <a:pPr marL="285750" indent="-285750" algn="l" rtl="0">
              <a:buFont typeface="Arial" panose="020B0604020202020204" pitchFamily="34" charset="0"/>
              <a:buChar char="•"/>
            </a:pPr>
            <a:r>
              <a:rPr lang="es-419" sz="1400">
                <a:solidFill>
                  <a:srgbClr val="000000"/>
                </a:solidFill>
              </a:rPr>
              <a:t>El punto de acceso (AP) es un AP basado en el controlador en lugar de un AP autónomo, por lo que no requiere configuración inicial y a menudo se denomina AP ligero (LAPs). </a:t>
            </a:r>
          </a:p>
          <a:p>
            <a:pPr marL="285750" indent="-285750" algn="l" rtl="0">
              <a:buFont typeface="Arial" panose="020B0604020202020204" pitchFamily="34" charset="0"/>
              <a:buChar char="•"/>
            </a:pPr>
            <a:r>
              <a:rPr lang="es-419" sz="1400">
                <a:solidFill>
                  <a:srgbClr val="000000"/>
                </a:solidFill>
              </a:rPr>
              <a:t>Los puntos de acceso LAPs usan el Protocolo Lightweight Access Point Protocol (LWAPP) para comunicarse con el controlador WLAN (WLC). </a:t>
            </a:r>
          </a:p>
          <a:p>
            <a:pPr marL="285750" indent="-285750" algn="l" rtl="0">
              <a:buFont typeface="Arial" panose="020B0604020202020204" pitchFamily="34" charset="0"/>
              <a:buChar char="•"/>
            </a:pPr>
            <a:r>
              <a:rPr lang="es-419" sz="1400">
                <a:solidFill>
                  <a:srgbClr val="000000"/>
                </a:solidFill>
              </a:rPr>
              <a:t>Los AP basados en controladores son útiles en situaciones en las que se requieren muchos AP en la red. </a:t>
            </a:r>
          </a:p>
          <a:p>
            <a:pPr marL="285750" indent="-285750" algn="l" rtl="0">
              <a:buFont typeface="Arial" panose="020B0604020202020204" pitchFamily="34" charset="0"/>
              <a:buChar char="•"/>
            </a:pPr>
            <a:r>
              <a:rPr lang="es-419" sz="1400">
                <a:solidFill>
                  <a:srgbClr val="000000"/>
                </a:solidFill>
              </a:rPr>
              <a:t>Conforme se agregan puntos de acceso, cada punto de acceso es configurado y administrado de manera automática por el WLC.</a:t>
            </a:r>
          </a:p>
        </p:txBody>
      </p:sp>
      <p:graphicFrame>
        <p:nvGraphicFramePr>
          <p:cNvPr id="9" name="Table 9">
            <a:extLst>
              <a:ext uri="{FF2B5EF4-FFF2-40B4-BE49-F238E27FC236}">
                <a16:creationId xmlns:a16="http://schemas.microsoft.com/office/drawing/2014/main" id="{1DEEFD1E-D246-4ACC-B7A5-31D1504BD373}"/>
              </a:ext>
            </a:extLst>
          </p:cNvPr>
          <p:cNvGraphicFramePr>
            <a:graphicFrameLocks noGrp="1"/>
          </p:cNvGraphicFramePr>
          <p:nvPr>
            <p:extLst>
              <p:ext uri="{D42A27DB-BD31-4B8C-83A1-F6EECF244321}">
                <p14:modId xmlns:p14="http://schemas.microsoft.com/office/powerpoint/2010/main" val="2774399177"/>
              </p:ext>
            </p:extLst>
          </p:nvPr>
        </p:nvGraphicFramePr>
        <p:xfrm>
          <a:off x="5006642" y="2189682"/>
          <a:ext cx="3954448" cy="2381250"/>
        </p:xfrm>
        <a:graphic>
          <a:graphicData uri="http://schemas.openxmlformats.org/drawingml/2006/table">
            <a:tbl>
              <a:tblPr firstRow="1" bandRow="1">
                <a:tableStyleId>{5C22544A-7EE6-4342-B048-85BDC9FD1C3A}</a:tableStyleId>
              </a:tblPr>
              <a:tblGrid>
                <a:gridCol w="670560">
                  <a:extLst>
                    <a:ext uri="{9D8B030D-6E8A-4147-A177-3AD203B41FA5}">
                      <a16:colId xmlns:a16="http://schemas.microsoft.com/office/drawing/2014/main" val="327807571"/>
                    </a:ext>
                  </a:extLst>
                </a:gridCol>
                <a:gridCol w="858741">
                  <a:extLst>
                    <a:ext uri="{9D8B030D-6E8A-4147-A177-3AD203B41FA5}">
                      <a16:colId xmlns:a16="http://schemas.microsoft.com/office/drawing/2014/main" val="348928102"/>
                    </a:ext>
                  </a:extLst>
                </a:gridCol>
                <a:gridCol w="1137037">
                  <a:extLst>
                    <a:ext uri="{9D8B030D-6E8A-4147-A177-3AD203B41FA5}">
                      <a16:colId xmlns:a16="http://schemas.microsoft.com/office/drawing/2014/main" val="822506009"/>
                    </a:ext>
                  </a:extLst>
                </a:gridCol>
                <a:gridCol w="1288110">
                  <a:extLst>
                    <a:ext uri="{9D8B030D-6E8A-4147-A177-3AD203B41FA5}">
                      <a16:colId xmlns:a16="http://schemas.microsoft.com/office/drawing/2014/main" val="3300627119"/>
                    </a:ext>
                  </a:extLst>
                </a:gridCol>
              </a:tblGrid>
              <a:tr h="212264">
                <a:tc>
                  <a:txBody>
                    <a:bodyPr/>
                    <a:lstStyle/>
                    <a:p>
                      <a:pPr algn="l" rtl="0" fontAlgn="ctr"/>
                      <a:r>
                        <a:rPr lang="es-419" sz="1000">
                          <a:effectLst/>
                        </a:rPr>
                        <a:t>Dispositivo</a:t>
                      </a:r>
                    </a:p>
                  </a:txBody>
                  <a:tcPr marL="47625" marR="47625" marT="47625" marB="47625" anchor="ctr"/>
                </a:tc>
                <a:tc>
                  <a:txBody>
                    <a:bodyPr/>
                    <a:lstStyle/>
                    <a:p>
                      <a:pPr algn="l" rtl="0" fontAlgn="ctr"/>
                      <a:r>
                        <a:rPr lang="es-419" sz="1000">
                          <a:effectLst/>
                        </a:rPr>
                        <a:t>Interfaz</a:t>
                      </a:r>
                    </a:p>
                  </a:txBody>
                  <a:tcPr marL="47625" marR="47625" marT="47625" marB="47625" anchor="ctr"/>
                </a:tc>
                <a:tc>
                  <a:txBody>
                    <a:bodyPr/>
                    <a:lstStyle/>
                    <a:p>
                      <a:pPr algn="l" rtl="0" fontAlgn="ctr"/>
                      <a:r>
                        <a:rPr lang="es-419" sz="1000">
                          <a:effectLst/>
                        </a:rPr>
                        <a:t>Dirección IP</a:t>
                      </a:r>
                    </a:p>
                  </a:txBody>
                  <a:tcPr marL="47625" marR="47625" marT="47625" marB="47625" anchor="ctr"/>
                </a:tc>
                <a:tc>
                  <a:txBody>
                    <a:bodyPr/>
                    <a:lstStyle/>
                    <a:p>
                      <a:pPr algn="l" rtl="0" fontAlgn="ctr"/>
                      <a:r>
                        <a:rPr lang="es-419" sz="1000">
                          <a:effectLst/>
                        </a:rPr>
                        <a:t>Máscara de subred</a:t>
                      </a:r>
                    </a:p>
                  </a:txBody>
                  <a:tcPr marL="47625" marR="47625" marT="47625" marB="47625" anchor="ctr"/>
                </a:tc>
                <a:extLst>
                  <a:ext uri="{0D108BD9-81ED-4DB2-BD59-A6C34878D82A}">
                    <a16:rowId xmlns:a16="http://schemas.microsoft.com/office/drawing/2014/main" val="2391689401"/>
                  </a:ext>
                </a:extLst>
              </a:tr>
              <a:tr h="212264">
                <a:tc>
                  <a:txBody>
                    <a:bodyPr/>
                    <a:lstStyle/>
                    <a:p>
                      <a:pPr rtl="0" fontAlgn="ctr"/>
                      <a:r>
                        <a:rPr lang="es-419" sz="1000" b="0">
                          <a:effectLst/>
                        </a:rPr>
                        <a:t>R1</a:t>
                      </a:r>
                    </a:p>
                  </a:txBody>
                  <a:tcPr marL="47625" marR="47625" marT="47625" marB="47625" anchor="ctr"/>
                </a:tc>
                <a:tc>
                  <a:txBody>
                    <a:bodyPr/>
                    <a:lstStyle/>
                    <a:p>
                      <a:pPr rtl="0" fontAlgn="ctr"/>
                      <a:r>
                        <a:rPr lang="es-419" sz="1000" b="0">
                          <a:effectLst/>
                        </a:rPr>
                        <a:t>F0/0</a:t>
                      </a:r>
                    </a:p>
                  </a:txBody>
                  <a:tcPr marL="47625" marR="47625" marT="47625" marB="47625" anchor="ctr"/>
                </a:tc>
                <a:tc>
                  <a:txBody>
                    <a:bodyPr/>
                    <a:lstStyle/>
                    <a:p>
                      <a:pPr rtl="0" fontAlgn="ctr"/>
                      <a:r>
                        <a:rPr lang="es-419" sz="1000" b="0">
                          <a:effectLst/>
                        </a:rPr>
                        <a:t>172.16.1.1</a:t>
                      </a:r>
                    </a:p>
                  </a:txBody>
                  <a:tcPr marL="47625" marR="47625" marT="47625" marB="47625" anchor="ctr"/>
                </a:tc>
                <a:tc>
                  <a:txBody>
                    <a:bodyPr/>
                    <a:lstStyle/>
                    <a:p>
                      <a:pPr rtl="0" fontAlgn="ctr"/>
                      <a:r>
                        <a:rPr lang="es-419" sz="1000" b="0">
                          <a:effectLst/>
                        </a:rPr>
                        <a:t>255.255.255.0</a:t>
                      </a:r>
                    </a:p>
                  </a:txBody>
                  <a:tcPr marL="47625" marR="47625" marT="47625" marB="47625" anchor="ctr"/>
                </a:tc>
                <a:extLst>
                  <a:ext uri="{0D108BD9-81ED-4DB2-BD59-A6C34878D82A}">
                    <a16:rowId xmlns:a16="http://schemas.microsoft.com/office/drawing/2014/main" val="3346906376"/>
                  </a:ext>
                </a:extLst>
              </a:tr>
              <a:tr h="212264">
                <a:tc>
                  <a:txBody>
                    <a:bodyPr/>
                    <a:lstStyle/>
                    <a:p>
                      <a:pPr rtl="0" fontAlgn="ctr"/>
                      <a:r>
                        <a:rPr lang="es-419" sz="1000" b="0">
                          <a:effectLst/>
                        </a:rPr>
                        <a:t>R1</a:t>
                      </a:r>
                    </a:p>
                  </a:txBody>
                  <a:tcPr marL="47625" marR="47625" marT="47625" marB="47625" anchor="ctr"/>
                </a:tc>
                <a:tc>
                  <a:txBody>
                    <a:bodyPr/>
                    <a:lstStyle/>
                    <a:p>
                      <a:pPr rtl="0" fontAlgn="ctr"/>
                      <a:r>
                        <a:rPr lang="es-419" sz="1000" b="0">
                          <a:effectLst/>
                        </a:rPr>
                        <a:t>F0/1.1</a:t>
                      </a:r>
                    </a:p>
                  </a:txBody>
                  <a:tcPr marL="47625" marR="47625" marT="47625" marB="47625" anchor="ctr"/>
                </a:tc>
                <a:tc>
                  <a:txBody>
                    <a:bodyPr/>
                    <a:lstStyle/>
                    <a:p>
                      <a:pPr rtl="0" fontAlgn="ctr"/>
                      <a:r>
                        <a:rPr lang="es-419" sz="1000" b="0">
                          <a:effectLst/>
                        </a:rPr>
                        <a:t>192.168.200.1</a:t>
                      </a:r>
                    </a:p>
                  </a:txBody>
                  <a:tcPr marL="47625" marR="47625" marT="47625" marB="47625" anchor="ctr"/>
                </a:tc>
                <a:tc>
                  <a:txBody>
                    <a:bodyPr/>
                    <a:lstStyle/>
                    <a:p>
                      <a:pPr rtl="0" fontAlgn="ctr"/>
                      <a:r>
                        <a:rPr lang="es-419" sz="1000" b="0">
                          <a:effectLst/>
                        </a:rPr>
                        <a:t>255.255.255.0</a:t>
                      </a:r>
                    </a:p>
                  </a:txBody>
                  <a:tcPr marL="47625" marR="47625" marT="47625" marB="47625" anchor="ctr"/>
                </a:tc>
                <a:extLst>
                  <a:ext uri="{0D108BD9-81ED-4DB2-BD59-A6C34878D82A}">
                    <a16:rowId xmlns:a16="http://schemas.microsoft.com/office/drawing/2014/main" val="504986055"/>
                  </a:ext>
                </a:extLst>
              </a:tr>
              <a:tr h="212264">
                <a:tc>
                  <a:txBody>
                    <a:bodyPr/>
                    <a:lstStyle/>
                    <a:p>
                      <a:pPr rtl="0" fontAlgn="ctr"/>
                      <a:r>
                        <a:rPr lang="es-419" sz="1000" b="0">
                          <a:effectLst/>
                        </a:rPr>
                        <a:t>S1</a:t>
                      </a:r>
                    </a:p>
                  </a:txBody>
                  <a:tcPr marL="47625" marR="47625" marT="47625" marB="47625" anchor="ctr"/>
                </a:tc>
                <a:tc>
                  <a:txBody>
                    <a:bodyPr/>
                    <a:lstStyle/>
                    <a:p>
                      <a:pPr rtl="0" fontAlgn="ctr"/>
                      <a:r>
                        <a:rPr lang="es-419" sz="1000" b="0">
                          <a:effectLst/>
                        </a:rPr>
                        <a:t>VLAN 1</a:t>
                      </a:r>
                    </a:p>
                  </a:txBody>
                  <a:tcPr marL="47625" marR="47625" marT="47625" marB="47625" anchor="ctr"/>
                </a:tc>
                <a:tc gridSpan="2">
                  <a:txBody>
                    <a:bodyPr/>
                    <a:lstStyle/>
                    <a:p>
                      <a:pPr rtl="0" fontAlgn="ctr"/>
                      <a:r>
                        <a:rPr lang="es-419" sz="1000" b="0">
                          <a:effectLst/>
                        </a:rPr>
                        <a:t>DHCP</a:t>
                      </a:r>
                    </a:p>
                  </a:txBody>
                  <a:tcPr marL="47625" marR="47625" marT="47625" marB="47625" anchor="ctr"/>
                </a:tc>
                <a:tc hMerge="1">
                  <a:txBody>
                    <a:bodyPr/>
                    <a:lstStyle/>
                    <a:p>
                      <a:endParaRPr lang="en-US"/>
                    </a:p>
                  </a:txBody>
                  <a:tcPr/>
                </a:tc>
                <a:extLst>
                  <a:ext uri="{0D108BD9-81ED-4DB2-BD59-A6C34878D82A}">
                    <a16:rowId xmlns:a16="http://schemas.microsoft.com/office/drawing/2014/main" val="340670286"/>
                  </a:ext>
                </a:extLst>
              </a:tr>
              <a:tr h="212264">
                <a:tc>
                  <a:txBody>
                    <a:bodyPr/>
                    <a:lstStyle/>
                    <a:p>
                      <a:pPr rtl="0" fontAlgn="ctr"/>
                      <a:r>
                        <a:rPr lang="es-419" sz="1000" b="0">
                          <a:effectLst/>
                        </a:rPr>
                        <a:t>WLC</a:t>
                      </a:r>
                    </a:p>
                  </a:txBody>
                  <a:tcPr marL="47625" marR="47625" marT="47625" marB="47625" anchor="ctr"/>
                </a:tc>
                <a:tc>
                  <a:txBody>
                    <a:bodyPr/>
                    <a:lstStyle/>
                    <a:p>
                      <a:pPr rtl="0" fontAlgn="ctr"/>
                      <a:r>
                        <a:rPr lang="es-419" sz="1000" b="0">
                          <a:effectLst/>
                        </a:rPr>
                        <a:t>Administración</a:t>
                      </a:r>
                    </a:p>
                  </a:txBody>
                  <a:tcPr marL="47625" marR="47625" marT="47625" marB="47625" anchor="ctr"/>
                </a:tc>
                <a:tc>
                  <a:txBody>
                    <a:bodyPr/>
                    <a:lstStyle/>
                    <a:p>
                      <a:pPr rtl="0" fontAlgn="ctr"/>
                      <a:r>
                        <a:rPr lang="es-419" sz="1000" b="0">
                          <a:effectLst/>
                        </a:rPr>
                        <a:t>192.168.200.254</a:t>
                      </a:r>
                    </a:p>
                  </a:txBody>
                  <a:tcPr marL="47625" marR="47625" marT="47625" marB="47625" anchor="ctr"/>
                </a:tc>
                <a:tc>
                  <a:txBody>
                    <a:bodyPr/>
                    <a:lstStyle/>
                    <a:p>
                      <a:pPr rtl="0" fontAlgn="ctr"/>
                      <a:r>
                        <a:rPr lang="es-419" sz="1000" b="0">
                          <a:effectLst/>
                        </a:rPr>
                        <a:t>255.255.255.0</a:t>
                      </a:r>
                    </a:p>
                  </a:txBody>
                  <a:tcPr marL="47625" marR="47625" marT="47625" marB="47625" anchor="ctr"/>
                </a:tc>
                <a:extLst>
                  <a:ext uri="{0D108BD9-81ED-4DB2-BD59-A6C34878D82A}">
                    <a16:rowId xmlns:a16="http://schemas.microsoft.com/office/drawing/2014/main" val="2291173808"/>
                  </a:ext>
                </a:extLst>
              </a:tr>
              <a:tr h="212264">
                <a:tc>
                  <a:txBody>
                    <a:bodyPr/>
                    <a:lstStyle/>
                    <a:p>
                      <a:pPr rtl="0" fontAlgn="ctr"/>
                      <a:r>
                        <a:rPr lang="es-419" sz="1000" b="0">
                          <a:effectLst/>
                        </a:rPr>
                        <a:t>AP1</a:t>
                      </a:r>
                    </a:p>
                  </a:txBody>
                  <a:tcPr marL="47625" marR="47625" marT="47625" marB="47625" anchor="ctr"/>
                </a:tc>
                <a:tc>
                  <a:txBody>
                    <a:bodyPr/>
                    <a:lstStyle/>
                    <a:p>
                      <a:pPr rtl="0" fontAlgn="ctr"/>
                      <a:r>
                        <a:rPr lang="es-419" sz="1000" b="0">
                          <a:effectLst/>
                        </a:rPr>
                        <a:t>Wired 0</a:t>
                      </a:r>
                    </a:p>
                  </a:txBody>
                  <a:tcPr marL="47625" marR="47625" marT="47625" marB="47625" anchor="ctr"/>
                </a:tc>
                <a:tc>
                  <a:txBody>
                    <a:bodyPr/>
                    <a:lstStyle/>
                    <a:p>
                      <a:pPr rtl="0" fontAlgn="ctr"/>
                      <a:r>
                        <a:rPr lang="es-419" sz="1000" b="0">
                          <a:effectLst/>
                        </a:rPr>
                        <a:t>192.168.200.3</a:t>
                      </a:r>
                    </a:p>
                  </a:txBody>
                  <a:tcPr marL="47625" marR="47625" marT="47625" marB="47625" anchor="ctr"/>
                </a:tc>
                <a:tc>
                  <a:txBody>
                    <a:bodyPr/>
                    <a:lstStyle/>
                    <a:p>
                      <a:pPr rtl="0" fontAlgn="ctr"/>
                      <a:r>
                        <a:rPr lang="es-419" sz="1000" b="0">
                          <a:effectLst/>
                        </a:rPr>
                        <a:t>255.255.255.0</a:t>
                      </a:r>
                    </a:p>
                  </a:txBody>
                  <a:tcPr marL="47625" marR="47625" marT="47625" marB="47625" anchor="ctr"/>
                </a:tc>
                <a:extLst>
                  <a:ext uri="{0D108BD9-81ED-4DB2-BD59-A6C34878D82A}">
                    <a16:rowId xmlns:a16="http://schemas.microsoft.com/office/drawing/2014/main" val="1119465407"/>
                  </a:ext>
                </a:extLst>
              </a:tr>
              <a:tr h="212264">
                <a:tc>
                  <a:txBody>
                    <a:bodyPr/>
                    <a:lstStyle/>
                    <a:p>
                      <a:pPr rtl="0" fontAlgn="ctr"/>
                      <a:r>
                        <a:rPr lang="es-419" sz="1000" b="0">
                          <a:effectLst/>
                        </a:rPr>
                        <a:t>PC-A</a:t>
                      </a:r>
                    </a:p>
                  </a:txBody>
                  <a:tcPr marL="47625" marR="47625" marT="47625" marB="47625" anchor="ctr"/>
                </a:tc>
                <a:tc>
                  <a:txBody>
                    <a:bodyPr/>
                    <a:lstStyle/>
                    <a:p>
                      <a:pPr rtl="0" fontAlgn="ctr"/>
                      <a:r>
                        <a:rPr lang="es-419" sz="1000" b="0">
                          <a:effectLst/>
                        </a:rPr>
                        <a:t>NIC</a:t>
                      </a:r>
                    </a:p>
                  </a:txBody>
                  <a:tcPr marL="47625" marR="47625" marT="47625" marB="47625" anchor="ctr"/>
                </a:tc>
                <a:tc>
                  <a:txBody>
                    <a:bodyPr/>
                    <a:lstStyle/>
                    <a:p>
                      <a:pPr rtl="0" fontAlgn="ctr"/>
                      <a:r>
                        <a:rPr lang="es-419" sz="1000" b="0">
                          <a:effectLst/>
                        </a:rPr>
                        <a:t>172.16.1.254</a:t>
                      </a:r>
                    </a:p>
                  </a:txBody>
                  <a:tcPr marL="47625" marR="47625" marT="47625" marB="47625" anchor="ctr"/>
                </a:tc>
                <a:tc>
                  <a:txBody>
                    <a:bodyPr/>
                    <a:lstStyle/>
                    <a:p>
                      <a:pPr rtl="0" fontAlgn="ctr"/>
                      <a:r>
                        <a:rPr lang="es-419" sz="1000" b="0">
                          <a:effectLst/>
                        </a:rPr>
                        <a:t>255.255.255.0</a:t>
                      </a:r>
                    </a:p>
                  </a:txBody>
                  <a:tcPr marL="47625" marR="47625" marT="47625" marB="47625" anchor="ctr"/>
                </a:tc>
                <a:extLst>
                  <a:ext uri="{0D108BD9-81ED-4DB2-BD59-A6C34878D82A}">
                    <a16:rowId xmlns:a16="http://schemas.microsoft.com/office/drawing/2014/main" val="2009576385"/>
                  </a:ext>
                </a:extLst>
              </a:tr>
              <a:tr h="212264">
                <a:tc>
                  <a:txBody>
                    <a:bodyPr/>
                    <a:lstStyle/>
                    <a:p>
                      <a:pPr rtl="0" fontAlgn="ctr"/>
                      <a:r>
                        <a:rPr lang="es-419" sz="1000" b="0">
                          <a:effectLst/>
                        </a:rPr>
                        <a:t>PC-B</a:t>
                      </a:r>
                    </a:p>
                  </a:txBody>
                  <a:tcPr marL="47625" marR="47625" marT="47625" marB="47625" anchor="ctr"/>
                </a:tc>
                <a:tc>
                  <a:txBody>
                    <a:bodyPr/>
                    <a:lstStyle/>
                    <a:p>
                      <a:pPr rtl="0" fontAlgn="ctr"/>
                      <a:r>
                        <a:rPr lang="es-419" sz="1000" b="0">
                          <a:effectLst/>
                        </a:rPr>
                        <a:t>NIC</a:t>
                      </a:r>
                    </a:p>
                  </a:txBody>
                  <a:tcPr marL="47625" marR="47625" marT="47625" marB="47625" anchor="ctr"/>
                </a:tc>
                <a:tc gridSpan="2">
                  <a:txBody>
                    <a:bodyPr/>
                    <a:lstStyle/>
                    <a:p>
                      <a:pPr rtl="0" fontAlgn="ctr"/>
                      <a:r>
                        <a:rPr lang="es-419" sz="1000" b="0">
                          <a:effectLst/>
                        </a:rPr>
                        <a:t>DHCP</a:t>
                      </a:r>
                    </a:p>
                  </a:txBody>
                  <a:tcPr marL="47625" marR="47625" marT="47625" marB="47625" anchor="ctr"/>
                </a:tc>
                <a:tc hMerge="1">
                  <a:txBody>
                    <a:bodyPr/>
                    <a:lstStyle/>
                    <a:p>
                      <a:endParaRPr lang="en-US"/>
                    </a:p>
                  </a:txBody>
                  <a:tcPr/>
                </a:tc>
                <a:extLst>
                  <a:ext uri="{0D108BD9-81ED-4DB2-BD59-A6C34878D82A}">
                    <a16:rowId xmlns:a16="http://schemas.microsoft.com/office/drawing/2014/main" val="809065936"/>
                  </a:ext>
                </a:extLst>
              </a:tr>
              <a:tr h="342887">
                <a:tc>
                  <a:txBody>
                    <a:bodyPr/>
                    <a:lstStyle/>
                    <a:p>
                      <a:pPr rtl="0" fontAlgn="ctr"/>
                      <a:r>
                        <a:rPr lang="es-419" sz="1000" b="0">
                          <a:effectLst/>
                        </a:rPr>
                        <a:t>Computadora portátil inalámbrica</a:t>
                      </a:r>
                    </a:p>
                  </a:txBody>
                  <a:tcPr marL="47625" marR="47625" marT="47625" marB="47625" anchor="ctr"/>
                </a:tc>
                <a:tc>
                  <a:txBody>
                    <a:bodyPr/>
                    <a:lstStyle/>
                    <a:p>
                      <a:pPr rtl="0" fontAlgn="ctr"/>
                      <a:r>
                        <a:rPr lang="es-419" sz="1000" b="0">
                          <a:effectLst/>
                        </a:rPr>
                        <a:t>NIC</a:t>
                      </a:r>
                    </a:p>
                  </a:txBody>
                  <a:tcPr marL="47625" marR="47625" marT="47625" marB="47625" anchor="ctr"/>
                </a:tc>
                <a:tc gridSpan="2">
                  <a:txBody>
                    <a:bodyPr/>
                    <a:lstStyle/>
                    <a:p>
                      <a:pPr rtl="0" fontAlgn="ctr"/>
                      <a:r>
                        <a:rPr lang="es-419" sz="1000" b="0">
                          <a:effectLst/>
                        </a:rPr>
                        <a:t>DHCP</a:t>
                      </a:r>
                    </a:p>
                  </a:txBody>
                  <a:tcPr marL="47625" marR="47625" marT="47625" marB="47625" anchor="ctr"/>
                </a:tc>
                <a:tc hMerge="1">
                  <a:txBody>
                    <a:bodyPr/>
                    <a:lstStyle/>
                    <a:p>
                      <a:endParaRPr lang="en-US"/>
                    </a:p>
                  </a:txBody>
                  <a:tcPr/>
                </a:tc>
                <a:extLst>
                  <a:ext uri="{0D108BD9-81ED-4DB2-BD59-A6C34878D82A}">
                    <a16:rowId xmlns:a16="http://schemas.microsoft.com/office/drawing/2014/main" val="1693076009"/>
                  </a:ext>
                </a:extLst>
              </a:tr>
            </a:tbl>
          </a:graphicData>
        </a:graphic>
      </p:graphicFrame>
      <p:pic>
        <p:nvPicPr>
          <p:cNvPr id="2" name="Picture 1">
            <a:extLst>
              <a:ext uri="{FF2B5EF4-FFF2-40B4-BE49-F238E27FC236}">
                <a16:creationId xmlns:a16="http://schemas.microsoft.com/office/drawing/2014/main" id="{A751EEF4-08C1-4F48-8C82-83F85C2F4AC8}"/>
              </a:ext>
            </a:extLst>
          </p:cNvPr>
          <p:cNvPicPr>
            <a:picLocks noChangeAspect="1"/>
          </p:cNvPicPr>
          <p:nvPr/>
        </p:nvPicPr>
        <p:blipFill>
          <a:blip r:embed="rId3"/>
          <a:stretch>
            <a:fillRect/>
          </a:stretch>
        </p:blipFill>
        <p:spPr>
          <a:xfrm>
            <a:off x="6104235" y="217841"/>
            <a:ext cx="2561123" cy="1863113"/>
          </a:xfrm>
          <a:prstGeom prst="rect">
            <a:avLst/>
          </a:prstGeom>
        </p:spPr>
      </p:pic>
    </p:spTree>
    <p:extLst>
      <p:ext uri="{BB962C8B-B14F-4D97-AF65-F5344CB8AC3E}">
        <p14:creationId xmlns:p14="http://schemas.microsoft.com/office/powerpoint/2010/main" val="2802699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Inicie sesión en el WLC</a:t>
            </a:r>
          </a:p>
        </p:txBody>
      </p:sp>
      <p:sp>
        <p:nvSpPr>
          <p:cNvPr id="4" name="Content Placeholder 3">
            <a:extLst>
              <a:ext uri="{FF2B5EF4-FFF2-40B4-BE49-F238E27FC236}">
                <a16:creationId xmlns:a16="http://schemas.microsoft.com/office/drawing/2014/main" id="{8BF8E58F-DA90-4868-A644-DA5460109610}"/>
              </a:ext>
            </a:extLst>
          </p:cNvPr>
          <p:cNvSpPr>
            <a:spLocks noGrp="1"/>
          </p:cNvSpPr>
          <p:nvPr>
            <p:ph idx="1"/>
          </p:nvPr>
        </p:nvSpPr>
        <p:spPr>
          <a:xfrm>
            <a:off x="347125" y="731837"/>
            <a:ext cx="8345487" cy="3689897"/>
          </a:xfrm>
        </p:spPr>
        <p:txBody>
          <a:bodyPr/>
          <a:lstStyle/>
          <a:p>
            <a:pPr marL="0" indent="0" algn="l" rtl="0"/>
            <a:r>
              <a:rPr lang="es-419" sz="1600">
                <a:solidFill>
                  <a:srgbClr val="000000"/>
                </a:solidFill>
              </a:rPr>
              <a:t>Configurar un controlador de red inalámbrica (WLC) no es muy diferente que configurar un router inalámbrico El WLC controla los AP y proporciona más servicios y capacidades de gestión.</a:t>
            </a:r>
          </a:p>
          <a:p>
            <a:pPr marL="342900" indent="-342900" algn="l" rtl="0">
              <a:buFont typeface="Arial" panose="020B0604020202020204" pitchFamily="34" charset="0"/>
              <a:buChar char="•"/>
            </a:pPr>
            <a:r>
              <a:rPr lang="es-419" sz="1600">
                <a:solidFill>
                  <a:srgbClr val="000000"/>
                </a:solidFill>
              </a:rPr>
              <a:t>El usuario inicia sesión en el WLC utilizando credenciales que se configuraron durante la configuración inicial.</a:t>
            </a:r>
          </a:p>
        </p:txBody>
      </p:sp>
      <p:pic>
        <p:nvPicPr>
          <p:cNvPr id="7" name="Picture 6">
            <a:extLst>
              <a:ext uri="{FF2B5EF4-FFF2-40B4-BE49-F238E27FC236}">
                <a16:creationId xmlns:a16="http://schemas.microsoft.com/office/drawing/2014/main" id="{E9C38E45-3CA3-4B3F-8695-CDB21CA4614D}"/>
              </a:ext>
            </a:extLst>
          </p:cNvPr>
          <p:cNvPicPr>
            <a:picLocks noChangeAspect="1"/>
          </p:cNvPicPr>
          <p:nvPr/>
        </p:nvPicPr>
        <p:blipFill>
          <a:blip r:embed="rId3"/>
          <a:stretch>
            <a:fillRect/>
          </a:stretch>
        </p:blipFill>
        <p:spPr>
          <a:xfrm>
            <a:off x="4397518" y="1997904"/>
            <a:ext cx="4399357" cy="2413759"/>
          </a:xfrm>
          <a:prstGeom prst="rect">
            <a:avLst/>
          </a:prstGeom>
        </p:spPr>
      </p:pic>
      <p:sp>
        <p:nvSpPr>
          <p:cNvPr id="5" name="Content Placeholder 3">
            <a:extLst>
              <a:ext uri="{FF2B5EF4-FFF2-40B4-BE49-F238E27FC236}">
                <a16:creationId xmlns:a16="http://schemas.microsoft.com/office/drawing/2014/main" id="{C7A93B4E-9A8E-4B09-88D5-29E75F1244DF}"/>
              </a:ext>
            </a:extLst>
          </p:cNvPr>
          <p:cNvSpPr txBox="1">
            <a:spLocks/>
          </p:cNvSpPr>
          <p:nvPr/>
        </p:nvSpPr>
        <p:spPr>
          <a:xfrm>
            <a:off x="347124" y="1939896"/>
            <a:ext cx="3946131" cy="234154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es-419" sz="1600">
                <a:solidFill>
                  <a:srgbClr val="000000"/>
                </a:solidFill>
              </a:rPr>
              <a:t>La</a:t>
            </a:r>
            <a:r>
              <a:rPr lang="es-419" sz="1600" b="1">
                <a:solidFill>
                  <a:srgbClr val="000000"/>
                </a:solidFill>
              </a:rPr>
              <a:t>página de resumen</a:t>
            </a:r>
            <a:r>
              <a:rPr lang="es-419" sz="1600">
                <a:solidFill>
                  <a:srgbClr val="000000"/>
                </a:solidFill>
              </a:rPr>
              <a:t> de red es un panel que proporciona una descripción general rápida de las redes inalámbricas configuradas, los puntos de acceso asociados (AP) y los clientes activos. </a:t>
            </a:r>
          </a:p>
          <a:p>
            <a:pPr marL="342900" indent="-342900" algn="l" rtl="0">
              <a:buFont typeface="Arial" panose="020B0604020202020204" pitchFamily="34" charset="0"/>
              <a:buChar char="•"/>
            </a:pPr>
            <a:r>
              <a:rPr lang="es-419" sz="1600">
                <a:solidFill>
                  <a:srgbClr val="000000"/>
                </a:solidFill>
              </a:rPr>
              <a:t>También puede ver la cantidad de puntos de acceso no autorizados y clientes.</a:t>
            </a:r>
          </a:p>
        </p:txBody>
      </p:sp>
    </p:spTree>
    <p:extLst>
      <p:ext uri="{BB962C8B-B14F-4D97-AF65-F5344CB8AC3E}">
        <p14:creationId xmlns:p14="http://schemas.microsoft.com/office/powerpoint/2010/main" val="2594109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41945"/>
            <a:ext cx="8345488" cy="731837"/>
          </a:xfrm>
        </p:spPr>
        <p:txBody>
          <a:bodyPr/>
          <a:lstStyle/>
          <a:p>
            <a:pPr rtl="0"/>
            <a:r>
              <a:rPr lang="es-419" sz="1600"/>
              <a:t>Configure una WLAN básica en el WLC</a:t>
            </a:r>
            <a:br>
              <a:rPr lang="en-US" dirty="0"/>
            </a:br>
            <a:r>
              <a:rPr lang="es-419" sz="2400"/>
              <a:t>Ver información AP</a:t>
            </a:r>
          </a:p>
        </p:txBody>
      </p:sp>
      <p:sp>
        <p:nvSpPr>
          <p:cNvPr id="5" name="Content Placeholder 4">
            <a:extLst>
              <a:ext uri="{FF2B5EF4-FFF2-40B4-BE49-F238E27FC236}">
                <a16:creationId xmlns:a16="http://schemas.microsoft.com/office/drawing/2014/main" id="{9AD461AA-922C-460B-A71E-5401FBC85CBF}"/>
              </a:ext>
            </a:extLst>
          </p:cNvPr>
          <p:cNvSpPr>
            <a:spLocks noGrp="1"/>
          </p:cNvSpPr>
          <p:nvPr>
            <p:ph idx="1"/>
          </p:nvPr>
        </p:nvSpPr>
        <p:spPr>
          <a:xfrm>
            <a:off x="474662" y="731837"/>
            <a:ext cx="8280057" cy="1641371"/>
          </a:xfrm>
        </p:spPr>
        <p:txBody>
          <a:bodyPr/>
          <a:lstStyle/>
          <a:p>
            <a:pPr marL="0" indent="0" algn="l" rtl="0"/>
            <a:r>
              <a:rPr lang="es-419" sz="1600">
                <a:solidFill>
                  <a:srgbClr val="000000"/>
                </a:solidFill>
              </a:rPr>
              <a:t>Haga clic en </a:t>
            </a:r>
            <a:r>
              <a:rPr lang="es-419" sz="1600" b="1">
                <a:solidFill>
                  <a:srgbClr val="000000"/>
                </a:solidFill>
              </a:rPr>
              <a:t>Puntos de acceso (AP)</a:t>
            </a:r>
            <a:r>
              <a:rPr lang="es-419" sz="1600">
                <a:solidFill>
                  <a:srgbClr val="000000"/>
                </a:solidFill>
              </a:rPr>
              <a:t> en el menú de la izquierda para ver una imagen general de la información y el rendimiento del sistema AP. </a:t>
            </a:r>
          </a:p>
        </p:txBody>
      </p:sp>
      <p:sp>
        <p:nvSpPr>
          <p:cNvPr id="7" name="Content Placeholder 4">
            <a:extLst>
              <a:ext uri="{FF2B5EF4-FFF2-40B4-BE49-F238E27FC236}">
                <a16:creationId xmlns:a16="http://schemas.microsoft.com/office/drawing/2014/main" id="{65882B81-C830-41B6-8C95-FED3920E1E3F}"/>
              </a:ext>
            </a:extLst>
          </p:cNvPr>
          <p:cNvSpPr txBox="1">
            <a:spLocks/>
          </p:cNvSpPr>
          <p:nvPr/>
        </p:nvSpPr>
        <p:spPr>
          <a:xfrm>
            <a:off x="474663" y="1304405"/>
            <a:ext cx="3234212" cy="342116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rtl="0">
              <a:buFont typeface="Arial" panose="020B0604020202020204" pitchFamily="34" charset="0"/>
              <a:buChar char="•"/>
            </a:pPr>
            <a:r>
              <a:rPr lang="es-419" sz="1400">
                <a:solidFill>
                  <a:srgbClr val="000000"/>
                </a:solidFill>
              </a:rPr>
              <a:t>El punto de acceso (AP) esta usando la dirección IP 192.168.200.3 </a:t>
            </a:r>
          </a:p>
          <a:p>
            <a:pPr marL="285750" indent="-285750" algn="l" rtl="0">
              <a:buFont typeface="Arial" panose="020B0604020202020204" pitchFamily="34" charset="0"/>
              <a:buChar char="•"/>
            </a:pPr>
            <a:r>
              <a:rPr lang="es-419" sz="1400">
                <a:solidFill>
                  <a:srgbClr val="000000"/>
                </a:solidFill>
              </a:rPr>
              <a:t>Debido a que el protocolo Cisco Discovery Protocol (CDP) esta activo en esta red, el WLC sabe que el punto de acceso esta conectado al puerto FastEthernet 0/1 del switch.</a:t>
            </a:r>
          </a:p>
          <a:p>
            <a:pPr marL="285750" indent="-285750" algn="l" rtl="0">
              <a:buFont typeface="Arial" panose="020B0604020202020204" pitchFamily="34" charset="0"/>
              <a:buChar char="•"/>
            </a:pPr>
            <a:r>
              <a:rPr lang="es-419" sz="1400">
                <a:solidFill>
                  <a:srgbClr val="000000"/>
                </a:solidFill>
              </a:rPr>
              <a:t>El punto de acceso (AP) en la topología es un Cisco Aironet 1815i lo que significa que se puede usar la linea de comandos y un conjunto limitado de comandos IOS familiares.</a:t>
            </a:r>
          </a:p>
        </p:txBody>
      </p:sp>
      <p:pic>
        <p:nvPicPr>
          <p:cNvPr id="1026" name="Picture 2" descr="C:\Users\bvachon\AppData\Local\Temp\SNAGHTML1aba7b2b.PNG">
            <a:extLst>
              <a:ext uri="{FF2B5EF4-FFF2-40B4-BE49-F238E27FC236}">
                <a16:creationId xmlns:a16="http://schemas.microsoft.com/office/drawing/2014/main" id="{86338316-7EA1-4145-95FC-C13C4E7B4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5787" y="1123958"/>
            <a:ext cx="5118931" cy="2775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76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 Configuraciones Avanzadas </a:t>
            </a:r>
          </a:p>
        </p:txBody>
      </p:sp>
      <p:sp>
        <p:nvSpPr>
          <p:cNvPr id="4" name="Content Placeholder 3">
            <a:extLst>
              <a:ext uri="{FF2B5EF4-FFF2-40B4-BE49-F238E27FC236}">
                <a16:creationId xmlns:a16="http://schemas.microsoft.com/office/drawing/2014/main" id="{8045F764-E1B3-4F1D-B3C1-27984A0CEE1D}"/>
              </a:ext>
            </a:extLst>
          </p:cNvPr>
          <p:cNvSpPr>
            <a:spLocks noGrp="1"/>
          </p:cNvSpPr>
          <p:nvPr>
            <p:ph idx="1"/>
          </p:nvPr>
        </p:nvSpPr>
        <p:spPr>
          <a:xfrm>
            <a:off x="192948" y="731838"/>
            <a:ext cx="8561772" cy="1318118"/>
          </a:xfrm>
        </p:spPr>
        <p:txBody>
          <a:bodyPr/>
          <a:lstStyle/>
          <a:p>
            <a:pPr marL="0" indent="0" algn="l" rtl="0"/>
            <a:r>
              <a:rPr lang="es-419" sz="1600">
                <a:solidFill>
                  <a:srgbClr val="000000"/>
                </a:solidFill>
              </a:rPr>
              <a:t>La mayoría de los WLC tienen configuraciones básicas y menús que los usuarios pueden accesar rápidamente para implementar una variedad de configuraciones comunes. </a:t>
            </a:r>
          </a:p>
          <a:p>
            <a:pPr marL="285750" indent="-285750" algn="l" rtl="0">
              <a:buFont typeface="Arial" panose="020B0604020202020204" pitchFamily="34" charset="0"/>
              <a:buChar char="•"/>
            </a:pPr>
            <a:r>
              <a:rPr lang="es-419" sz="1400">
                <a:solidFill>
                  <a:srgbClr val="000000"/>
                </a:solidFill>
              </a:rPr>
              <a:t>Sin embrago, como administrador de la red, usted comúnmente accederá a la configuración avanzada. </a:t>
            </a:r>
          </a:p>
          <a:p>
            <a:pPr marL="0" indent="0" algn="l"/>
            <a:endParaRPr lang="en-US" sz="1400" dirty="0">
              <a:solidFill>
                <a:srgbClr val="000000"/>
              </a:solidFill>
            </a:endParaRPr>
          </a:p>
        </p:txBody>
      </p:sp>
      <p:pic>
        <p:nvPicPr>
          <p:cNvPr id="7" name="Picture 6">
            <a:extLst>
              <a:ext uri="{FF2B5EF4-FFF2-40B4-BE49-F238E27FC236}">
                <a16:creationId xmlns:a16="http://schemas.microsoft.com/office/drawing/2014/main" id="{326F9F69-283C-4287-B77D-B8278664E058}"/>
              </a:ext>
            </a:extLst>
          </p:cNvPr>
          <p:cNvPicPr>
            <a:picLocks noChangeAspect="1"/>
          </p:cNvPicPr>
          <p:nvPr/>
        </p:nvPicPr>
        <p:blipFill>
          <a:blip r:embed="rId3"/>
          <a:stretch>
            <a:fillRect/>
          </a:stretch>
        </p:blipFill>
        <p:spPr>
          <a:xfrm>
            <a:off x="4170348" y="1615154"/>
            <a:ext cx="4777320" cy="2097221"/>
          </a:xfrm>
          <a:prstGeom prst="rect">
            <a:avLst/>
          </a:prstGeom>
        </p:spPr>
      </p:pic>
      <p:sp>
        <p:nvSpPr>
          <p:cNvPr id="5" name="Content Placeholder 3">
            <a:extLst>
              <a:ext uri="{FF2B5EF4-FFF2-40B4-BE49-F238E27FC236}">
                <a16:creationId xmlns:a16="http://schemas.microsoft.com/office/drawing/2014/main" id="{65E342DB-2FFC-4ADC-99B5-F1D8E9137E46}"/>
              </a:ext>
            </a:extLst>
          </p:cNvPr>
          <p:cNvSpPr txBox="1">
            <a:spLocks/>
          </p:cNvSpPr>
          <p:nvPr/>
        </p:nvSpPr>
        <p:spPr>
          <a:xfrm>
            <a:off x="192948" y="1615155"/>
            <a:ext cx="3977400" cy="266628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rtl="0">
              <a:buFont typeface="Arial" panose="020B0604020202020204" pitchFamily="34" charset="0"/>
              <a:buChar char="•"/>
            </a:pPr>
            <a:r>
              <a:rPr lang="es-419" sz="1400">
                <a:solidFill>
                  <a:srgbClr val="000000"/>
                </a:solidFill>
              </a:rPr>
              <a:t>En el controlador inalámbrico Cisco 3504, haga clic en </a:t>
            </a:r>
            <a:r>
              <a:rPr lang="es-419" sz="1400" b="1">
                <a:solidFill>
                  <a:srgbClr val="000000"/>
                </a:solidFill>
              </a:rPr>
              <a:t>Avanzado</a:t>
            </a:r>
            <a:r>
              <a:rPr lang="es-419" sz="1400">
                <a:solidFill>
                  <a:srgbClr val="000000"/>
                </a:solidFill>
              </a:rPr>
              <a:t> en la esquina superior derecha para accesar la página </a:t>
            </a:r>
            <a:r>
              <a:rPr lang="es-419" sz="1400" b="1">
                <a:solidFill>
                  <a:srgbClr val="000000"/>
                </a:solidFill>
              </a:rPr>
              <a:t>Resumen</a:t>
            </a:r>
            <a:r>
              <a:rPr lang="es-419" sz="1400">
                <a:solidFill>
                  <a:srgbClr val="000000"/>
                </a:solidFill>
              </a:rPr>
              <a:t> </a:t>
            </a:r>
          </a:p>
          <a:p>
            <a:pPr marL="285750" indent="-285750" algn="l" rtl="0">
              <a:buFont typeface="Arial" panose="020B0604020202020204" pitchFamily="34" charset="0"/>
              <a:buChar char="•"/>
            </a:pPr>
            <a:r>
              <a:rPr lang="es-419" sz="1400">
                <a:solidFill>
                  <a:srgbClr val="000000"/>
                </a:solidFill>
              </a:rPr>
              <a:t>Desde aquí, usted puede acceder a toda la configuración del WLC.</a:t>
            </a:r>
          </a:p>
        </p:txBody>
      </p:sp>
    </p:spTree>
    <p:extLst>
      <p:ext uri="{BB962C8B-B14F-4D97-AF65-F5344CB8AC3E}">
        <p14:creationId xmlns:p14="http://schemas.microsoft.com/office/powerpoint/2010/main" val="169079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Configurar una WLAN</a:t>
            </a:r>
          </a:p>
        </p:txBody>
      </p:sp>
      <p:sp>
        <p:nvSpPr>
          <p:cNvPr id="5" name="Content Placeholder 4">
            <a:extLst>
              <a:ext uri="{FF2B5EF4-FFF2-40B4-BE49-F238E27FC236}">
                <a16:creationId xmlns:a16="http://schemas.microsoft.com/office/drawing/2014/main" id="{1539087E-37BB-492A-9D81-66CD0F2002B2}"/>
              </a:ext>
            </a:extLst>
          </p:cNvPr>
          <p:cNvSpPr>
            <a:spLocks noGrp="1"/>
          </p:cNvSpPr>
          <p:nvPr>
            <p:ph idx="1"/>
          </p:nvPr>
        </p:nvSpPr>
        <p:spPr>
          <a:xfrm>
            <a:off x="474662" y="731837"/>
            <a:ext cx="8280057" cy="1839913"/>
          </a:xfrm>
        </p:spPr>
        <p:txBody>
          <a:bodyPr/>
          <a:lstStyle/>
          <a:p>
            <a:pPr marL="0" indent="0" algn="l" rtl="0"/>
            <a:r>
              <a:rPr lang="es-419" sz="1600">
                <a:solidFill>
                  <a:srgbClr val="000000"/>
                </a:solidFill>
              </a:rPr>
              <a:t>Los controladores de LAN inalámbricos tienen puertos de conmutador de capa 2 e interfaces virtuales que se crean en software y son muy similares a las interfaces VLAN. </a:t>
            </a:r>
          </a:p>
          <a:p>
            <a:pPr marL="285750" indent="-285750" algn="l" rtl="0">
              <a:buFont typeface="Arial" panose="020B0604020202020204" pitchFamily="34" charset="0"/>
              <a:buChar char="•"/>
            </a:pPr>
            <a:r>
              <a:rPr lang="es-419" sz="1400">
                <a:solidFill>
                  <a:srgbClr val="000000"/>
                </a:solidFill>
              </a:rPr>
              <a:t>Cada puerto físico puede admitir muchos AP y WLAN. </a:t>
            </a:r>
          </a:p>
          <a:p>
            <a:pPr marL="285750" indent="-285750" algn="l" rtl="0">
              <a:buFont typeface="Arial" panose="020B0604020202020204" pitchFamily="34" charset="0"/>
              <a:buChar char="•"/>
            </a:pPr>
            <a:r>
              <a:rPr lang="es-419" sz="1400">
                <a:solidFill>
                  <a:srgbClr val="000000"/>
                </a:solidFill>
              </a:rPr>
              <a:t>Los puertos en el WLC son básicamente puertos troncales que pueden llevar tráfico de múltiples VLANs hacia un switch para distribuirlo a múltiples puntos de acceso. </a:t>
            </a:r>
          </a:p>
          <a:p>
            <a:pPr marL="285750" indent="-285750" algn="l" rtl="0">
              <a:buFont typeface="Arial" panose="020B0604020202020204" pitchFamily="34" charset="0"/>
              <a:buChar char="•"/>
            </a:pPr>
            <a:r>
              <a:rPr lang="es-419" sz="1400">
                <a:solidFill>
                  <a:srgbClr val="000000"/>
                </a:solidFill>
              </a:rPr>
              <a:t>Cada punto de acceso puede soportar varias WLANs.</a:t>
            </a:r>
          </a:p>
        </p:txBody>
      </p:sp>
      <p:pic>
        <p:nvPicPr>
          <p:cNvPr id="6" name="Picture 5">
            <a:extLst>
              <a:ext uri="{FF2B5EF4-FFF2-40B4-BE49-F238E27FC236}">
                <a16:creationId xmlns:a16="http://schemas.microsoft.com/office/drawing/2014/main" id="{F5F65757-2F06-46D8-ABE9-904E50DEB8A8}"/>
              </a:ext>
            </a:extLst>
          </p:cNvPr>
          <p:cNvPicPr>
            <a:picLocks noChangeAspect="1"/>
          </p:cNvPicPr>
          <p:nvPr/>
        </p:nvPicPr>
        <p:blipFill>
          <a:blip r:embed="rId3"/>
          <a:stretch>
            <a:fillRect/>
          </a:stretch>
        </p:blipFill>
        <p:spPr>
          <a:xfrm>
            <a:off x="1428750" y="2413705"/>
            <a:ext cx="6286500" cy="2105025"/>
          </a:xfrm>
          <a:prstGeom prst="rect">
            <a:avLst/>
          </a:prstGeom>
        </p:spPr>
      </p:pic>
    </p:spTree>
    <p:extLst>
      <p:ext uri="{BB962C8B-B14F-4D97-AF65-F5344CB8AC3E}">
        <p14:creationId xmlns:p14="http://schemas.microsoft.com/office/powerpoint/2010/main" val="3286720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Configurar una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configuración WLAN en el WLC incluye los siguientes pasos:</a:t>
            </a:r>
          </a:p>
          <a:p>
            <a:pPr marL="457200" indent="-457200" algn="l" rtl="0">
              <a:buFont typeface="+mj-lt"/>
              <a:buAutoNum type="arabicPeriod"/>
            </a:pPr>
            <a:r>
              <a:rPr lang="es-419" sz="1400">
                <a:solidFill>
                  <a:srgbClr val="000000"/>
                </a:solidFill>
              </a:rPr>
              <a:t>Crear la WLAN.</a:t>
            </a:r>
          </a:p>
          <a:p>
            <a:pPr marL="457200" indent="-457200" algn="l" rtl="0">
              <a:buFont typeface="+mj-lt"/>
              <a:buAutoNum type="arabicPeriod"/>
            </a:pPr>
            <a:r>
              <a:rPr lang="es-419" sz="1400">
                <a:solidFill>
                  <a:srgbClr val="000000"/>
                </a:solidFill>
              </a:rPr>
              <a:t>Aplicar y active la WLAN.</a:t>
            </a:r>
          </a:p>
          <a:p>
            <a:pPr marL="457200" indent="-457200" algn="l" rtl="0">
              <a:buFont typeface="+mj-lt"/>
              <a:buAutoNum type="arabicPeriod"/>
            </a:pPr>
            <a:r>
              <a:rPr lang="es-419" sz="1400">
                <a:solidFill>
                  <a:srgbClr val="000000"/>
                </a:solidFill>
              </a:rPr>
              <a:t>Seleccionar la interfaz.</a:t>
            </a:r>
          </a:p>
          <a:p>
            <a:pPr marL="457200" indent="-457200" algn="l" rtl="0">
              <a:buFont typeface="+mj-lt"/>
              <a:buAutoNum type="arabicPeriod"/>
            </a:pPr>
            <a:r>
              <a:rPr lang="es-419" sz="1400">
                <a:solidFill>
                  <a:srgbClr val="000000"/>
                </a:solidFill>
              </a:rPr>
              <a:t>Asegurar la WLAN.</a:t>
            </a:r>
          </a:p>
          <a:p>
            <a:pPr marL="457200" indent="-457200" algn="l" rtl="0">
              <a:buFont typeface="+mj-lt"/>
              <a:buAutoNum type="arabicPeriod"/>
            </a:pPr>
            <a:r>
              <a:rPr lang="es-419" sz="1400">
                <a:solidFill>
                  <a:srgbClr val="000000"/>
                </a:solidFill>
              </a:rPr>
              <a:t>Verificar que la WLAN este funcionando.</a:t>
            </a:r>
          </a:p>
          <a:p>
            <a:pPr marL="457200" indent="-457200" algn="l" rtl="0">
              <a:buFont typeface="+mj-lt"/>
              <a:buAutoNum type="arabicPeriod"/>
            </a:pPr>
            <a:r>
              <a:rPr lang="es-419" sz="1400">
                <a:solidFill>
                  <a:srgbClr val="000000"/>
                </a:solidFill>
              </a:rPr>
              <a:t>Monitorear la WLAN.</a:t>
            </a:r>
          </a:p>
          <a:p>
            <a:pPr marL="457200" indent="-457200" algn="l" rtl="0">
              <a:buFont typeface="+mj-lt"/>
              <a:buAutoNum type="arabicPeriod"/>
            </a:pPr>
            <a:r>
              <a:rPr lang="es-419" sz="1400">
                <a:solidFill>
                  <a:srgbClr val="000000"/>
                </a:solidFill>
              </a:rPr>
              <a:t>Ver la información del cliente inalámbrico.</a:t>
            </a:r>
          </a:p>
          <a:p>
            <a:pPr marL="457200" indent="-457200" algn="l">
              <a:buFont typeface="+mj-lt"/>
              <a:buAutoNum type="arabicPeriod"/>
            </a:pPr>
            <a:endParaRPr lang="en-US" sz="1600" dirty="0">
              <a:solidFill>
                <a:srgbClr val="000000"/>
              </a:solidFill>
            </a:endParaRPr>
          </a:p>
        </p:txBody>
      </p:sp>
    </p:spTree>
    <p:extLst>
      <p:ext uri="{BB962C8B-B14F-4D97-AF65-F5344CB8AC3E}">
        <p14:creationId xmlns:p14="http://schemas.microsoft.com/office/powerpoint/2010/main" val="3993448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Configurar una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2" y="731837"/>
            <a:ext cx="3635865" cy="1025245"/>
          </a:xfrm>
        </p:spPr>
        <p:txBody>
          <a:bodyPr/>
          <a:lstStyle/>
          <a:p>
            <a:pPr marL="342900" indent="-342900" algn="l" rtl="0">
              <a:buAutoNum type="arabicPeriod"/>
            </a:pPr>
            <a:r>
              <a:rPr lang="es-419" sz="1600" b="1">
                <a:solidFill>
                  <a:srgbClr val="000000"/>
                </a:solidFill>
              </a:rPr>
              <a:t>Crea la WLAN:</a:t>
            </a:r>
            <a:r>
              <a:rPr lang="es-419" sz="1600">
                <a:solidFill>
                  <a:srgbClr val="000000"/>
                </a:solidFill>
              </a:rPr>
              <a:t> en la figura, se crea una nueva WLAN con un nombre </a:t>
            </a:r>
            <a:r>
              <a:rPr lang="es-419" sz="1600" b="1">
                <a:solidFill>
                  <a:srgbClr val="000000"/>
                </a:solidFill>
              </a:rPr>
              <a:t>SSID </a:t>
            </a:r>
            <a:r>
              <a:rPr lang="es-419" sz="1600">
                <a:solidFill>
                  <a:srgbClr val="000000"/>
                </a:solidFill>
              </a:rPr>
              <a:t>Wireless_LAN.</a:t>
            </a:r>
          </a:p>
          <a:p>
            <a:pPr marL="342900" indent="-342900" algn="l">
              <a:buAutoNum type="arabicPeriod"/>
            </a:pPr>
            <a:endParaRPr lang="en-US" sz="1600" dirty="0">
              <a:solidFill>
                <a:srgbClr val="000000"/>
              </a:solidFill>
            </a:endParaRPr>
          </a:p>
          <a:p>
            <a:pPr marL="342900" indent="-342900" algn="l">
              <a:buAutoNum type="arabicPeriod"/>
            </a:pPr>
            <a:endParaRPr lang="en-US" sz="1600" dirty="0">
              <a:solidFill>
                <a:srgbClr val="000000"/>
              </a:solidFill>
            </a:endParaRPr>
          </a:p>
          <a:p>
            <a:pPr marL="342900" indent="-342900" algn="l">
              <a:buAutoNum type="arabicPeriod"/>
            </a:pPr>
            <a:endParaRPr lang="en-US" sz="1600" dirty="0">
              <a:solidFill>
                <a:srgbClr val="000000"/>
              </a:solidFill>
            </a:endParaRPr>
          </a:p>
          <a:p>
            <a:pPr marL="342900" indent="-342900" algn="l">
              <a:buAutoNum type="arabicPeriod"/>
            </a:pPr>
            <a:endParaRPr lang="en-US" sz="1600" dirty="0">
              <a:solidFill>
                <a:srgbClr val="000000"/>
              </a:solidFill>
            </a:endParaRPr>
          </a:p>
          <a:p>
            <a:pPr marL="342900" indent="-342900" algn="l" rtl="0">
              <a:buFont typeface="Arial"/>
              <a:buAutoNum type="arabicPeriod"/>
            </a:pPr>
            <a:r>
              <a:rPr lang="es-419" sz="1600" b="1">
                <a:solidFill>
                  <a:srgbClr val="000000"/>
                </a:solidFill>
              </a:rPr>
              <a:t>Aplique y habilite la WLAN: </a:t>
            </a:r>
            <a:r>
              <a:rPr lang="es-419" sz="1600">
                <a:solidFill>
                  <a:srgbClr val="000000"/>
                </a:solidFill>
              </a:rPr>
              <a:t>A continuación, se habilita la WLAN, se configuran los ajustes de WLAN.</a:t>
            </a:r>
          </a:p>
          <a:p>
            <a:pPr marL="342900" indent="-342900" algn="l">
              <a:buAutoNum type="arabicPeriod"/>
            </a:pPr>
            <a:endParaRPr lang="en-US" sz="1600" dirty="0">
              <a:solidFill>
                <a:srgbClr val="000000"/>
              </a:solidFill>
            </a:endParaRP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C28EEE54-4C0B-4265-9064-59F544BEB863}"/>
              </a:ext>
            </a:extLst>
          </p:cNvPr>
          <p:cNvPicPr>
            <a:picLocks noChangeAspect="1"/>
          </p:cNvPicPr>
          <p:nvPr/>
        </p:nvPicPr>
        <p:blipFill>
          <a:blip r:embed="rId3"/>
          <a:stretch>
            <a:fillRect/>
          </a:stretch>
        </p:blipFill>
        <p:spPr>
          <a:xfrm>
            <a:off x="4178665" y="666572"/>
            <a:ext cx="4845147" cy="1237811"/>
          </a:xfrm>
          <a:prstGeom prst="rect">
            <a:avLst/>
          </a:prstGeom>
        </p:spPr>
      </p:pic>
      <p:pic>
        <p:nvPicPr>
          <p:cNvPr id="5" name="Picture 4">
            <a:extLst>
              <a:ext uri="{FF2B5EF4-FFF2-40B4-BE49-F238E27FC236}">
                <a16:creationId xmlns:a16="http://schemas.microsoft.com/office/drawing/2014/main" id="{AF505D17-A729-4F39-BB42-1B357A0C1D12}"/>
              </a:ext>
            </a:extLst>
          </p:cNvPr>
          <p:cNvPicPr>
            <a:picLocks noChangeAspect="1"/>
          </p:cNvPicPr>
          <p:nvPr/>
        </p:nvPicPr>
        <p:blipFill>
          <a:blip r:embed="rId4"/>
          <a:stretch>
            <a:fillRect/>
          </a:stretch>
        </p:blipFill>
        <p:spPr>
          <a:xfrm>
            <a:off x="4178666" y="2176566"/>
            <a:ext cx="4829847" cy="2417851"/>
          </a:xfrm>
          <a:prstGeom prst="rect">
            <a:avLst/>
          </a:prstGeom>
        </p:spPr>
      </p:pic>
    </p:spTree>
    <p:extLst>
      <p:ext uri="{BB962C8B-B14F-4D97-AF65-F5344CB8AC3E}">
        <p14:creationId xmlns:p14="http://schemas.microsoft.com/office/powerpoint/2010/main" val="2723940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Configurar una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3" y="731837"/>
            <a:ext cx="3510860" cy="4147811"/>
          </a:xfrm>
        </p:spPr>
        <p:txBody>
          <a:bodyPr/>
          <a:lstStyle/>
          <a:p>
            <a:pPr marL="342900" indent="-342900" algn="l" rtl="0">
              <a:buFont typeface="+mj-lt"/>
              <a:buAutoNum type="arabicPeriod" startAt="3"/>
            </a:pPr>
            <a:r>
              <a:rPr lang="es-419" sz="1600" b="1">
                <a:solidFill>
                  <a:srgbClr val="000000"/>
                </a:solidFill>
              </a:rPr>
              <a:t>Seleccione la interfaz:</a:t>
            </a:r>
            <a:r>
              <a:rPr lang="es-419" sz="1600">
                <a:solidFill>
                  <a:srgbClr val="000000"/>
                </a:solidFill>
              </a:rPr>
              <a:t> Se debe seleccionar la interfaz que transportará el tráfico WLAN.</a:t>
            </a: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endParaRPr lang="en-CA" sz="1600" b="1" dirty="0">
              <a:solidFill>
                <a:srgbClr val="000000"/>
              </a:solidFill>
            </a:endParaRPr>
          </a:p>
          <a:p>
            <a:pPr marL="342900" indent="-342900" algn="l" rtl="0">
              <a:buFont typeface="+mj-lt"/>
              <a:buAutoNum type="arabicPeriod" startAt="3"/>
            </a:pPr>
            <a:r>
              <a:rPr lang="es-419" sz="1600" b="1">
                <a:solidFill>
                  <a:srgbClr val="000000"/>
                </a:solidFill>
              </a:rPr>
              <a:t>Asegure la WLAN</a:t>
            </a:r>
            <a:r>
              <a:rPr lang="es-419" sz="1600">
                <a:solidFill>
                  <a:srgbClr val="000000"/>
                </a:solidFill>
              </a:rPr>
              <a:t>: la pestaña Seguridad se utiliza para acceder a todas las opciones disponibles para proteger la LAN.</a:t>
            </a:r>
            <a:r>
              <a:rPr lang="es-419" sz="1600" b="1">
                <a:solidFill>
                  <a:srgbClr val="000000"/>
                </a:solidFill>
              </a:rPr>
              <a:t> </a:t>
            </a:r>
          </a:p>
        </p:txBody>
      </p:sp>
      <p:pic>
        <p:nvPicPr>
          <p:cNvPr id="7" name="Picture 6">
            <a:extLst>
              <a:ext uri="{FF2B5EF4-FFF2-40B4-BE49-F238E27FC236}">
                <a16:creationId xmlns:a16="http://schemas.microsoft.com/office/drawing/2014/main" id="{2E6769B0-F746-42F9-A2A2-BCBF7C8DC85A}"/>
              </a:ext>
            </a:extLst>
          </p:cNvPr>
          <p:cNvPicPr>
            <a:picLocks noChangeAspect="1"/>
          </p:cNvPicPr>
          <p:nvPr/>
        </p:nvPicPr>
        <p:blipFill>
          <a:blip r:embed="rId3"/>
          <a:stretch>
            <a:fillRect/>
          </a:stretch>
        </p:blipFill>
        <p:spPr>
          <a:xfrm>
            <a:off x="4410110" y="2805392"/>
            <a:ext cx="4368974" cy="1906646"/>
          </a:xfrm>
          <a:prstGeom prst="rect">
            <a:avLst/>
          </a:prstGeom>
        </p:spPr>
      </p:pic>
      <p:pic>
        <p:nvPicPr>
          <p:cNvPr id="8" name="Picture 7">
            <a:extLst>
              <a:ext uri="{FF2B5EF4-FFF2-40B4-BE49-F238E27FC236}">
                <a16:creationId xmlns:a16="http://schemas.microsoft.com/office/drawing/2014/main" id="{A7E2A1CF-0080-43B8-AA5F-BFF2164771D7}"/>
              </a:ext>
            </a:extLst>
          </p:cNvPr>
          <p:cNvPicPr>
            <a:picLocks noChangeAspect="1"/>
          </p:cNvPicPr>
          <p:nvPr/>
        </p:nvPicPr>
        <p:blipFill>
          <a:blip r:embed="rId4"/>
          <a:stretch>
            <a:fillRect/>
          </a:stretch>
        </p:blipFill>
        <p:spPr>
          <a:xfrm>
            <a:off x="4409928" y="665394"/>
            <a:ext cx="4368974" cy="1912915"/>
          </a:xfrm>
          <a:prstGeom prst="rect">
            <a:avLst/>
          </a:prstGeom>
        </p:spPr>
      </p:pic>
    </p:spTree>
    <p:extLst>
      <p:ext uri="{BB962C8B-B14F-4D97-AF65-F5344CB8AC3E}">
        <p14:creationId xmlns:p14="http://schemas.microsoft.com/office/powerpoint/2010/main" val="3098945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Configurar una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2" y="731837"/>
            <a:ext cx="3763109" cy="1677134"/>
          </a:xfrm>
        </p:spPr>
        <p:txBody>
          <a:bodyPr/>
          <a:lstStyle/>
          <a:p>
            <a:pPr marL="342900" indent="-342900" algn="l" rtl="0">
              <a:buFont typeface="+mj-lt"/>
              <a:buAutoNum type="arabicPeriod" startAt="5"/>
            </a:pPr>
            <a:r>
              <a:rPr lang="es-419" sz="1600" b="1">
                <a:solidFill>
                  <a:srgbClr val="000000"/>
                </a:solidFill>
              </a:rPr>
              <a:t>Verifique que la WLAN esté operativa: </a:t>
            </a:r>
            <a:r>
              <a:rPr lang="es-419" sz="1600">
                <a:solidFill>
                  <a:srgbClr val="000000"/>
                </a:solidFill>
              </a:rPr>
              <a:t>El </a:t>
            </a:r>
            <a:r>
              <a:rPr lang="es-419" sz="1600" b="1">
                <a:solidFill>
                  <a:srgbClr val="000000"/>
                </a:solidFill>
              </a:rPr>
              <a:t>menú WLAN</a:t>
            </a:r>
            <a:r>
              <a:rPr lang="es-419" sz="1600">
                <a:solidFill>
                  <a:srgbClr val="000000"/>
                </a:solidFill>
              </a:rPr>
              <a:t>de la izquierda se usa para ver la WLAN recién configurada y sus configuraciones.</a:t>
            </a:r>
            <a:r>
              <a:rPr lang="es-419" sz="1600" b="1">
                <a:solidFill>
                  <a:srgbClr val="000000"/>
                </a:solidFill>
              </a:rPr>
              <a:t> </a:t>
            </a:r>
          </a:p>
          <a:p>
            <a:pPr marL="342900" indent="-342900" algn="l">
              <a:buFont typeface="+mj-lt"/>
              <a:buAutoNum type="arabicPeriod" startAt="5"/>
            </a:pPr>
            <a:endParaRPr lang="en-US" sz="1600" dirty="0">
              <a:solidFill>
                <a:srgbClr val="000000"/>
              </a:solidFill>
            </a:endParaRPr>
          </a:p>
          <a:p>
            <a:pPr marL="342900" indent="-342900" algn="l" rtl="0">
              <a:buFont typeface="+mj-lt"/>
              <a:buAutoNum type="arabicPeriod" startAt="5"/>
            </a:pPr>
            <a:r>
              <a:rPr lang="es-419" sz="1600" b="1">
                <a:solidFill>
                  <a:srgbClr val="000000"/>
                </a:solidFill>
              </a:rPr>
              <a:t>Monitoree la WLAN</a:t>
            </a:r>
            <a:r>
              <a:rPr lang="es-419" sz="1600">
                <a:solidFill>
                  <a:srgbClr val="000000"/>
                </a:solidFill>
              </a:rPr>
              <a:t>: La pestaña  </a:t>
            </a:r>
            <a:r>
              <a:rPr lang="es-419" sz="1600" b="1">
                <a:solidFill>
                  <a:srgbClr val="000000"/>
                </a:solidFill>
              </a:rPr>
              <a:t>Monitorear </a:t>
            </a:r>
            <a:r>
              <a:rPr lang="es-419" sz="1600">
                <a:solidFill>
                  <a:srgbClr val="000000"/>
                </a:solidFill>
              </a:rPr>
              <a:t> se utiliza para acceder a la página de </a:t>
            </a:r>
            <a:r>
              <a:rPr lang="es-419" sz="1600" b="1">
                <a:solidFill>
                  <a:srgbClr val="000000"/>
                </a:solidFill>
              </a:rPr>
              <a:t> Resumen </a:t>
            </a:r>
            <a:r>
              <a:rPr lang="es-419" sz="1600">
                <a:solidFill>
                  <a:srgbClr val="000000"/>
                </a:solidFill>
              </a:rPr>
              <a:t> avanzada y confirmar que </a:t>
            </a:r>
            <a:r>
              <a:rPr lang="es-419" sz="1600" b="1">
                <a:solidFill>
                  <a:srgbClr val="000000"/>
                </a:solidFill>
              </a:rPr>
              <a:t>Wireless_LAN</a:t>
            </a:r>
            <a:r>
              <a:rPr lang="es-419" sz="1600">
                <a:solidFill>
                  <a:srgbClr val="000000"/>
                </a:solidFill>
              </a:rPr>
              <a:t> ahora tiene un cliente que utiliza sus servicios.</a:t>
            </a:r>
          </a:p>
          <a:p>
            <a:pPr marL="342900" indent="-342900" algn="l">
              <a:buFont typeface="+mj-lt"/>
              <a:buAutoNum type="arabicPeriod" startAt="5"/>
            </a:pPr>
            <a:endParaRPr lang="en-US" sz="1600" dirty="0">
              <a:solidFill>
                <a:srgbClr val="000000"/>
              </a:solidFill>
            </a:endParaRPr>
          </a:p>
          <a:p>
            <a:pPr marL="342900" indent="-342900" algn="l">
              <a:buFont typeface="+mj-lt"/>
              <a:buAutoNum type="arabicPeriod" startAt="5"/>
            </a:pPr>
            <a:endParaRPr lang="en-US" sz="1600" dirty="0">
              <a:solidFill>
                <a:srgbClr val="000000"/>
              </a:solidFill>
            </a:endParaRPr>
          </a:p>
        </p:txBody>
      </p:sp>
      <p:pic>
        <p:nvPicPr>
          <p:cNvPr id="6" name="Picture 5">
            <a:extLst>
              <a:ext uri="{FF2B5EF4-FFF2-40B4-BE49-F238E27FC236}">
                <a16:creationId xmlns:a16="http://schemas.microsoft.com/office/drawing/2014/main" id="{C00B29A0-5DF7-4449-AA90-AA93D40C5006}"/>
              </a:ext>
            </a:extLst>
          </p:cNvPr>
          <p:cNvPicPr>
            <a:picLocks noChangeAspect="1"/>
          </p:cNvPicPr>
          <p:nvPr/>
        </p:nvPicPr>
        <p:blipFill>
          <a:blip r:embed="rId3"/>
          <a:stretch>
            <a:fillRect/>
          </a:stretch>
        </p:blipFill>
        <p:spPr>
          <a:xfrm>
            <a:off x="4409928" y="665394"/>
            <a:ext cx="4343399" cy="934806"/>
          </a:xfrm>
          <a:prstGeom prst="rect">
            <a:avLst/>
          </a:prstGeom>
        </p:spPr>
      </p:pic>
      <p:pic>
        <p:nvPicPr>
          <p:cNvPr id="7" name="Picture 6">
            <a:extLst>
              <a:ext uri="{FF2B5EF4-FFF2-40B4-BE49-F238E27FC236}">
                <a16:creationId xmlns:a16="http://schemas.microsoft.com/office/drawing/2014/main" id="{ABD1C815-9D36-4AB9-94A3-EA964C676B91}"/>
              </a:ext>
            </a:extLst>
          </p:cNvPr>
          <p:cNvPicPr>
            <a:picLocks noChangeAspect="1"/>
          </p:cNvPicPr>
          <p:nvPr/>
        </p:nvPicPr>
        <p:blipFill>
          <a:blip r:embed="rId4"/>
          <a:stretch>
            <a:fillRect/>
          </a:stretch>
        </p:blipFill>
        <p:spPr>
          <a:xfrm>
            <a:off x="4409928" y="2144997"/>
            <a:ext cx="4343399" cy="1921516"/>
          </a:xfrm>
          <a:prstGeom prst="rect">
            <a:avLst/>
          </a:prstGeom>
        </p:spPr>
      </p:pic>
    </p:spTree>
    <p:extLst>
      <p:ext uri="{BB962C8B-B14F-4D97-AF65-F5344CB8AC3E}">
        <p14:creationId xmlns:p14="http://schemas.microsoft.com/office/powerpoint/2010/main" val="29763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Configurar una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2" y="731837"/>
            <a:ext cx="3764829" cy="2273534"/>
          </a:xfrm>
        </p:spPr>
        <p:txBody>
          <a:bodyPr/>
          <a:lstStyle/>
          <a:p>
            <a:pPr marL="342900" indent="-342900" algn="l" rtl="0">
              <a:buFont typeface="+mj-lt"/>
              <a:buAutoNum type="arabicPeriod" startAt="7"/>
            </a:pPr>
            <a:r>
              <a:rPr lang="es-419" sz="1600" b="1">
                <a:solidFill>
                  <a:srgbClr val="000000"/>
                </a:solidFill>
              </a:rPr>
              <a:t>Ver detalles del cliente inalámbrico:</a:t>
            </a:r>
            <a:r>
              <a:rPr lang="es-419" sz="1600">
                <a:solidFill>
                  <a:srgbClr val="000000"/>
                </a:solidFill>
              </a:rPr>
              <a:t>haga clic </a:t>
            </a:r>
            <a:r>
              <a:rPr lang="es-419" sz="1600" b="1">
                <a:solidFill>
                  <a:srgbClr val="000000"/>
                </a:solidFill>
              </a:rPr>
              <a:t>Clientes</a:t>
            </a:r>
            <a:r>
              <a:rPr lang="es-419" sz="1600">
                <a:solidFill>
                  <a:srgbClr val="000000"/>
                </a:solidFill>
              </a:rPr>
              <a:t>en el menú de la izquierda para ver más información sobre los clientes conectados a la WLAN.</a:t>
            </a:r>
          </a:p>
        </p:txBody>
      </p:sp>
      <p:pic>
        <p:nvPicPr>
          <p:cNvPr id="5" name="Picture 4">
            <a:extLst>
              <a:ext uri="{FF2B5EF4-FFF2-40B4-BE49-F238E27FC236}">
                <a16:creationId xmlns:a16="http://schemas.microsoft.com/office/drawing/2014/main" id="{54FE627E-D7DC-4552-85E4-183A564373DE}"/>
              </a:ext>
            </a:extLst>
          </p:cNvPr>
          <p:cNvPicPr>
            <a:picLocks noChangeAspect="1"/>
          </p:cNvPicPr>
          <p:nvPr/>
        </p:nvPicPr>
        <p:blipFill>
          <a:blip r:embed="rId3"/>
          <a:stretch>
            <a:fillRect/>
          </a:stretch>
        </p:blipFill>
        <p:spPr>
          <a:xfrm>
            <a:off x="4409927" y="665394"/>
            <a:ext cx="4343399" cy="954084"/>
          </a:xfrm>
          <a:prstGeom prst="rect">
            <a:avLst/>
          </a:prstGeom>
        </p:spPr>
      </p:pic>
    </p:spTree>
    <p:extLst>
      <p:ext uri="{BB962C8B-B14F-4D97-AF65-F5344CB8AC3E}">
        <p14:creationId xmlns:p14="http://schemas.microsoft.com/office/powerpoint/2010/main" val="261175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WLAN básica en el WLC</a:t>
            </a:r>
            <a:br>
              <a:rPr lang="en-US" dirty="0"/>
            </a:br>
            <a:r>
              <a:rPr lang="es-419" sz="2400"/>
              <a:t>Packet Tracer – Configure una WLAN básica en el WLC</a:t>
            </a:r>
          </a:p>
        </p:txBody>
      </p:sp>
      <p:sp>
        <p:nvSpPr>
          <p:cNvPr id="6" name="Content Placeholder 5">
            <a:extLst>
              <a:ext uri="{FF2B5EF4-FFF2-40B4-BE49-F238E27FC236}">
                <a16:creationId xmlns:a16="http://schemas.microsoft.com/office/drawing/2014/main" id="{672A704A-64B1-4FAD-BDDF-E59F440CA66D}"/>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En este laboratorio, explorará algunas de las características de un Controlador de la red Inalámbrica </a:t>
            </a:r>
          </a:p>
          <a:p>
            <a:pPr marL="285750" indent="-285750" algn="l" rtl="0">
              <a:buFont typeface="Arial" panose="020B0604020202020204" pitchFamily="34" charset="0"/>
              <a:buChar char="•"/>
            </a:pPr>
            <a:r>
              <a:rPr lang="es-419" sz="1400">
                <a:solidFill>
                  <a:srgbClr val="000000"/>
                </a:solidFill>
              </a:rPr>
              <a:t>Va a crear una nueva WLAN en el controlador e implementar seguridad en esa LAN. </a:t>
            </a:r>
          </a:p>
          <a:p>
            <a:pPr marL="285750" indent="-285750" algn="l" rtl="0">
              <a:buFont typeface="Arial" panose="020B0604020202020204" pitchFamily="34" charset="0"/>
              <a:buChar char="•"/>
            </a:pPr>
            <a:r>
              <a:rPr lang="es-419" sz="1400">
                <a:solidFill>
                  <a:srgbClr val="000000"/>
                </a:solidFill>
              </a:rPr>
              <a:t>Luego va a configurar un host inalámbrico para conectarse a la nueva WLAN a través de un AP que esté bajo el control del WLC. </a:t>
            </a:r>
          </a:p>
          <a:p>
            <a:pPr marL="285750" indent="-285750" algn="l" rtl="0">
              <a:buFont typeface="Arial" panose="020B0604020202020204" pitchFamily="34" charset="0"/>
              <a:buChar char="•"/>
            </a:pPr>
            <a:r>
              <a:rPr lang="es-419" sz="1400">
                <a:solidFill>
                  <a:srgbClr val="000000"/>
                </a:solidFill>
              </a:rPr>
              <a:t>Por último, verificará que exista conectividad.</a:t>
            </a:r>
          </a:p>
        </p:txBody>
      </p:sp>
    </p:spTree>
    <p:extLst>
      <p:ext uri="{BB962C8B-B14F-4D97-AF65-F5344CB8AC3E}">
        <p14:creationId xmlns:p14="http://schemas.microsoft.com/office/powerpoint/2010/main" val="754968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13.3 - Configure una red inalámbrica WLAN WPA2 Enterprise en el WLC</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una red inalámbrica WLAN WPA2 Enterprise en el WLC</a:t>
            </a:r>
            <a:br>
              <a:rPr lang="en-US" dirty="0"/>
            </a:br>
            <a:r>
              <a:rPr lang="es-419" sz="2400"/>
              <a:t>Video – Defina un servidor SNMP y RADIUS en el WLC</a:t>
            </a:r>
          </a:p>
        </p:txBody>
      </p:sp>
      <p:sp>
        <p:nvSpPr>
          <p:cNvPr id="5" name="Content Placeholder 4">
            <a:extLst>
              <a:ext uri="{FF2B5EF4-FFF2-40B4-BE49-F238E27FC236}">
                <a16:creationId xmlns:a16="http://schemas.microsoft.com/office/drawing/2014/main" id="{B0674CD1-43A6-4491-8658-C8969872C355}"/>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Este video cubrirá lo siguiente:</a:t>
            </a:r>
          </a:p>
          <a:p>
            <a:pPr marL="342900" indent="-342900" algn="l" rtl="0">
              <a:buFont typeface="Arial" panose="020B0604020202020204" pitchFamily="34" charset="0"/>
              <a:buChar char="•"/>
            </a:pPr>
            <a:r>
              <a:rPr lang="es-419" sz="1400">
                <a:solidFill>
                  <a:srgbClr val="000000"/>
                </a:solidFill>
              </a:rPr>
              <a:t>Configure el controlador WLAN para enviar trampas SNMP a un servidor externo</a:t>
            </a:r>
          </a:p>
          <a:p>
            <a:pPr marL="342900" indent="-342900" algn="l" rtl="0">
              <a:buFont typeface="Arial" panose="020B0604020202020204" pitchFamily="34" charset="0"/>
              <a:buChar char="•"/>
            </a:pPr>
            <a:r>
              <a:rPr lang="es-419" sz="1400">
                <a:solidFill>
                  <a:srgbClr val="000000"/>
                </a:solidFill>
              </a:rPr>
              <a:t>Configure el controlador WLAN para usar un servidor RADIUS externo para autenticar a los usuarios de WLAN</a:t>
            </a:r>
          </a:p>
          <a:p>
            <a:pPr marL="342900" indent="-342900" algn="l" rtl="0">
              <a:buFont typeface="Arial" panose="020B0604020202020204" pitchFamily="34" charset="0"/>
              <a:buChar char="•"/>
            </a:pPr>
            <a:r>
              <a:rPr lang="es-419" sz="1400">
                <a:solidFill>
                  <a:srgbClr val="000000"/>
                </a:solidFill>
              </a:rPr>
              <a:t>Verifique la conectividad con el servidor RADIUS</a:t>
            </a:r>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SNMP y RADIUS</a:t>
            </a:r>
          </a:p>
        </p:txBody>
      </p:sp>
      <p:sp>
        <p:nvSpPr>
          <p:cNvPr id="4" name="Content Placeholder 3">
            <a:extLst>
              <a:ext uri="{FF2B5EF4-FFF2-40B4-BE49-F238E27FC236}">
                <a16:creationId xmlns:a16="http://schemas.microsoft.com/office/drawing/2014/main" id="{BEF55340-1EB9-4F11-BE23-8C3B36E3AE12}"/>
              </a:ext>
            </a:extLst>
          </p:cNvPr>
          <p:cNvSpPr>
            <a:spLocks noGrp="1"/>
          </p:cNvSpPr>
          <p:nvPr>
            <p:ph idx="1"/>
          </p:nvPr>
        </p:nvSpPr>
        <p:spPr>
          <a:xfrm>
            <a:off x="474662" y="731837"/>
            <a:ext cx="4885614" cy="3689897"/>
          </a:xfrm>
        </p:spPr>
        <p:txBody>
          <a:bodyPr/>
          <a:lstStyle/>
          <a:p>
            <a:pPr marL="0" indent="0" algn="l" rtl="0"/>
            <a:r>
              <a:rPr lang="es-419" sz="1500">
                <a:solidFill>
                  <a:srgbClr val="000000"/>
                </a:solidFill>
              </a:rPr>
              <a:t>La PC-A está ejecutando el software del servidor Simple Network Management Protocol (SNMP) y el servicio de autenticación remota de acceso telefónico (RADIUS). </a:t>
            </a:r>
          </a:p>
          <a:p>
            <a:pPr marL="342900" indent="-342900" algn="l" rtl="0">
              <a:buFont typeface="Arial" panose="020B0604020202020204" pitchFamily="34" charset="0"/>
              <a:buChar char="•"/>
            </a:pPr>
            <a:r>
              <a:rPr lang="es-419" sz="1400">
                <a:solidFill>
                  <a:srgbClr val="000000"/>
                </a:solidFill>
              </a:rPr>
              <a:t>El administrador de red quiere que el WLC reenvíe todos los mensajes de registro SNMP (es decir, trampas) al servidor SNMP.</a:t>
            </a:r>
          </a:p>
          <a:p>
            <a:pPr marL="342900" indent="-342900" algn="l" rtl="0">
              <a:buFont typeface="Arial" panose="020B0604020202020204" pitchFamily="34" charset="0"/>
              <a:buChar char="•"/>
            </a:pPr>
            <a:r>
              <a:rPr lang="es-419" sz="1400">
                <a:solidFill>
                  <a:srgbClr val="000000"/>
                </a:solidFill>
              </a:rPr>
              <a:t>El administrador de la red quiere usar un servidor RADIUS para los servicios de autenticación, autorización y contabilidad (AAA). </a:t>
            </a:r>
          </a:p>
          <a:p>
            <a:pPr marL="342900" indent="-342900" algn="l" rtl="0">
              <a:buFont typeface="Arial" panose="020B0604020202020204" pitchFamily="34" charset="0"/>
              <a:buChar char="•"/>
            </a:pPr>
            <a:r>
              <a:rPr lang="es-419" sz="1400">
                <a:solidFill>
                  <a:srgbClr val="000000"/>
                </a:solidFill>
              </a:rPr>
              <a:t>Los usuarios ingresarán sus credenciales de nombre de usuario y contraseña que serán verificadas por el servidor RADIUS. </a:t>
            </a:r>
          </a:p>
          <a:p>
            <a:pPr marL="342900" indent="-342900" algn="l" rtl="0">
              <a:buFont typeface="Arial" panose="020B0604020202020204" pitchFamily="34" charset="0"/>
              <a:buChar char="•"/>
            </a:pPr>
            <a:r>
              <a:rPr lang="es-419" sz="1400">
                <a:solidFill>
                  <a:srgbClr val="000000"/>
                </a:solidFill>
              </a:rPr>
              <a:t>El servidor RADIUS se necesita para las redes WLAN que están usando autenticación WPA2 Enterprise.</a:t>
            </a:r>
          </a:p>
          <a:p>
            <a:pPr marL="73085" lvl="1" indent="0" rtl="0">
              <a:buNone/>
            </a:pPr>
            <a:r>
              <a:rPr lang="es-419" b="1">
                <a:solidFill>
                  <a:srgbClr val="000000"/>
                </a:solidFill>
              </a:rPr>
              <a:t>Nota</a:t>
            </a:r>
            <a:r>
              <a:rPr lang="es-419">
                <a:solidFill>
                  <a:srgbClr val="000000"/>
                </a:solidFill>
              </a:rPr>
              <a:t>: La configuración del servidor SNMP y del servidor RADIUS está fuera del alcance de este módulo.</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31AE5712-3425-453F-B1F5-EFB63D52DF9E}"/>
              </a:ext>
            </a:extLst>
          </p:cNvPr>
          <p:cNvPicPr>
            <a:picLocks noChangeAspect="1"/>
          </p:cNvPicPr>
          <p:nvPr/>
        </p:nvPicPr>
        <p:blipFill>
          <a:blip r:embed="rId3"/>
          <a:stretch>
            <a:fillRect/>
          </a:stretch>
        </p:blipFill>
        <p:spPr>
          <a:xfrm>
            <a:off x="5459882" y="819987"/>
            <a:ext cx="3449030" cy="2572752"/>
          </a:xfrm>
          <a:prstGeom prst="rect">
            <a:avLst/>
          </a:prstGeom>
        </p:spPr>
      </p:pic>
    </p:spTree>
    <p:extLst>
      <p:ext uri="{BB962C8B-B14F-4D97-AF65-F5344CB8AC3E}">
        <p14:creationId xmlns:p14="http://schemas.microsoft.com/office/powerpoint/2010/main" val="150502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Configurar la información del servidor SNMP</a:t>
            </a:r>
          </a:p>
        </p:txBody>
      </p:sp>
      <p:sp>
        <p:nvSpPr>
          <p:cNvPr id="5" name="Content Placeholder 4">
            <a:extLst>
              <a:ext uri="{FF2B5EF4-FFF2-40B4-BE49-F238E27FC236}">
                <a16:creationId xmlns:a16="http://schemas.microsoft.com/office/drawing/2014/main" id="{DA4D99DA-6F7E-4479-B55B-DD02055C7230}"/>
              </a:ext>
            </a:extLst>
          </p:cNvPr>
          <p:cNvSpPr>
            <a:spLocks noGrp="1"/>
          </p:cNvSpPr>
          <p:nvPr>
            <p:ph idx="1"/>
          </p:nvPr>
        </p:nvSpPr>
        <p:spPr>
          <a:xfrm>
            <a:off x="474663" y="731837"/>
            <a:ext cx="3977520" cy="1422947"/>
          </a:xfrm>
        </p:spPr>
        <p:txBody>
          <a:bodyPr/>
          <a:lstStyle/>
          <a:p>
            <a:pPr marL="0" indent="0" algn="l" rtl="0"/>
            <a:r>
              <a:rPr lang="es-419" sz="1600">
                <a:solidFill>
                  <a:srgbClr val="000000"/>
                </a:solidFill>
              </a:rPr>
              <a:t>Para habilitar SNMP y configurar las opciones:</a:t>
            </a:r>
          </a:p>
          <a:p>
            <a:pPr marL="342900" indent="-342900" algn="l" rtl="0">
              <a:buFont typeface="+mj-lt"/>
              <a:buAutoNum type="arabicPeriod"/>
            </a:pPr>
            <a:r>
              <a:rPr lang="es-419" sz="1400">
                <a:solidFill>
                  <a:srgbClr val="000000"/>
                </a:solidFill>
              </a:rPr>
              <a:t>Haga clic en la pestaña </a:t>
            </a:r>
            <a:r>
              <a:rPr lang="es-419" sz="1400" b="1">
                <a:solidFill>
                  <a:srgbClr val="000000"/>
                </a:solidFill>
              </a:rPr>
              <a:t>MANAGEMENT</a:t>
            </a:r>
            <a:r>
              <a:rPr lang="es-419" sz="1400">
                <a:solidFill>
                  <a:srgbClr val="000000"/>
                </a:solidFill>
              </a:rPr>
              <a:t> para acceder a una variedad de funciones de administración. </a:t>
            </a:r>
          </a:p>
          <a:p>
            <a:pPr marL="342900" indent="-342900" algn="l" rtl="0">
              <a:buFont typeface="+mj-lt"/>
              <a:buAutoNum type="arabicPeriod"/>
            </a:pPr>
            <a:r>
              <a:rPr lang="es-419" sz="1400">
                <a:solidFill>
                  <a:srgbClr val="000000"/>
                </a:solidFill>
              </a:rPr>
              <a:t>Haga clic en </a:t>
            </a:r>
            <a:r>
              <a:rPr lang="es-419" sz="1400" b="1">
                <a:solidFill>
                  <a:srgbClr val="000000"/>
                </a:solidFill>
              </a:rPr>
              <a:t>SNMP</a:t>
            </a:r>
            <a:r>
              <a:rPr lang="es-419" sz="1400">
                <a:solidFill>
                  <a:srgbClr val="000000"/>
                </a:solidFill>
              </a:rPr>
              <a:t> para expandir los sub-menús.</a:t>
            </a:r>
          </a:p>
          <a:p>
            <a:pPr marL="342900" indent="-342900" algn="l" rtl="0">
              <a:buFont typeface="+mj-lt"/>
              <a:buAutoNum type="arabicPeriod"/>
            </a:pPr>
            <a:r>
              <a:rPr lang="es-419" sz="1400">
                <a:solidFill>
                  <a:srgbClr val="000000"/>
                </a:solidFill>
              </a:rPr>
              <a:t>Haga clic en </a:t>
            </a:r>
            <a:r>
              <a:rPr lang="es-419" sz="1400" b="1">
                <a:solidFill>
                  <a:srgbClr val="000000"/>
                </a:solidFill>
              </a:rPr>
              <a:t>Trap Receivers (Receptores de trampa) </a:t>
            </a:r>
            <a:r>
              <a:rPr lang="es-419" sz="1400">
                <a:solidFill>
                  <a:srgbClr val="000000"/>
                </a:solidFill>
              </a:rPr>
              <a:t>. </a:t>
            </a:r>
          </a:p>
          <a:p>
            <a:pPr marL="342900" indent="-342900" algn="l" rtl="0">
              <a:buFont typeface="+mj-lt"/>
              <a:buAutoNum type="arabicPeriod"/>
            </a:pPr>
            <a:r>
              <a:rPr lang="es-419" sz="1400">
                <a:solidFill>
                  <a:srgbClr val="000000"/>
                </a:solidFill>
              </a:rPr>
              <a:t>Haga clic en </a:t>
            </a:r>
            <a:r>
              <a:rPr lang="es-419" sz="1400" b="1">
                <a:solidFill>
                  <a:srgbClr val="000000"/>
                </a:solidFill>
              </a:rPr>
              <a:t>New... (Nuevo...)</a:t>
            </a:r>
            <a:r>
              <a:rPr lang="es-419" sz="1400">
                <a:solidFill>
                  <a:srgbClr val="000000"/>
                </a:solidFill>
              </a:rPr>
              <a:t> para configurar un nuevo recibidor de SNMP trap. </a:t>
            </a:r>
          </a:p>
          <a:p>
            <a:pPr marL="285750" indent="-285750" algn="l">
              <a:buFont typeface="Arial" panose="020B0604020202020204" pitchFamily="34" charset="0"/>
              <a:buChar char="•"/>
            </a:pPr>
            <a:endParaRPr lang="en-US" sz="1400" dirty="0">
              <a:solidFill>
                <a:srgbClr val="000000"/>
              </a:solidFill>
            </a:endParaRPr>
          </a:p>
          <a:p>
            <a:pPr marL="285750" indent="-285750" algn="l" rtl="0">
              <a:buFont typeface="Arial" panose="020B0604020202020204" pitchFamily="34" charset="0"/>
              <a:buChar char="•"/>
            </a:pPr>
            <a:r>
              <a:rPr lang="es-419" sz="1400">
                <a:solidFill>
                  <a:srgbClr val="000000"/>
                </a:solidFill>
              </a:rPr>
              <a:t>Ingrese el nombre de la comunidad SNMP y la dirección IP (IPv4 o IPv6) para el servidor SNMP y luego haga clic en </a:t>
            </a:r>
            <a:r>
              <a:rPr lang="es-419" sz="1400" b="1">
                <a:solidFill>
                  <a:srgbClr val="000000"/>
                </a:solidFill>
              </a:rPr>
              <a:t>Apply (Aplicar)</a:t>
            </a:r>
            <a:r>
              <a:rPr lang="es-419" sz="1400">
                <a:solidFill>
                  <a:srgbClr val="000000"/>
                </a:solidFill>
              </a:rPr>
              <a:t>. </a:t>
            </a:r>
          </a:p>
          <a:p>
            <a:pPr marL="285750" indent="-285750" algn="l" rtl="0">
              <a:buFont typeface="Arial" panose="020B0604020202020204" pitchFamily="34" charset="0"/>
              <a:buChar char="•"/>
            </a:pPr>
            <a:r>
              <a:rPr lang="es-419" sz="1400">
                <a:solidFill>
                  <a:srgbClr val="000000"/>
                </a:solidFill>
              </a:rPr>
              <a:t>Ahora el WLC enviará los mensajes de registro de SNMP al servidor SNMP.</a:t>
            </a:r>
          </a:p>
        </p:txBody>
      </p:sp>
      <p:pic>
        <p:nvPicPr>
          <p:cNvPr id="2" name="Picture 1">
            <a:extLst>
              <a:ext uri="{FF2B5EF4-FFF2-40B4-BE49-F238E27FC236}">
                <a16:creationId xmlns:a16="http://schemas.microsoft.com/office/drawing/2014/main" id="{52763219-29DF-48D3-9FA3-B62B10F84C49}"/>
              </a:ext>
            </a:extLst>
          </p:cNvPr>
          <p:cNvPicPr>
            <a:picLocks noChangeAspect="1"/>
          </p:cNvPicPr>
          <p:nvPr/>
        </p:nvPicPr>
        <p:blipFill>
          <a:blip r:embed="rId3"/>
          <a:stretch>
            <a:fillRect/>
          </a:stretch>
        </p:blipFill>
        <p:spPr>
          <a:xfrm>
            <a:off x="4475189" y="846114"/>
            <a:ext cx="4531512" cy="1241240"/>
          </a:xfrm>
          <a:prstGeom prst="rect">
            <a:avLst/>
          </a:prstGeom>
        </p:spPr>
      </p:pic>
      <p:pic>
        <p:nvPicPr>
          <p:cNvPr id="4" name="Picture 3">
            <a:extLst>
              <a:ext uri="{FF2B5EF4-FFF2-40B4-BE49-F238E27FC236}">
                <a16:creationId xmlns:a16="http://schemas.microsoft.com/office/drawing/2014/main" id="{A7B721CE-2F5C-4703-8969-159A42BB0087}"/>
              </a:ext>
            </a:extLst>
          </p:cNvPr>
          <p:cNvPicPr>
            <a:picLocks noChangeAspect="1"/>
          </p:cNvPicPr>
          <p:nvPr/>
        </p:nvPicPr>
        <p:blipFill>
          <a:blip r:embed="rId4"/>
          <a:stretch>
            <a:fillRect/>
          </a:stretch>
        </p:blipFill>
        <p:spPr>
          <a:xfrm>
            <a:off x="4475189" y="2802754"/>
            <a:ext cx="4531513" cy="1019343"/>
          </a:xfrm>
          <a:prstGeom prst="rect">
            <a:avLst/>
          </a:prstGeom>
        </p:spPr>
      </p:pic>
    </p:spTree>
    <p:extLst>
      <p:ext uri="{BB962C8B-B14F-4D97-AF65-F5344CB8AC3E}">
        <p14:creationId xmlns:p14="http://schemas.microsoft.com/office/powerpoint/2010/main" val="4211494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la información del servidor RADIUS</a:t>
            </a:r>
            <a:r>
              <a:rPr lang="es-419" sz="1600"/>
              <a:t> </a:t>
            </a:r>
          </a:p>
        </p:txBody>
      </p:sp>
      <p:sp>
        <p:nvSpPr>
          <p:cNvPr id="4" name="Content Placeholder 3">
            <a:extLst>
              <a:ext uri="{FF2B5EF4-FFF2-40B4-BE49-F238E27FC236}">
                <a16:creationId xmlns:a16="http://schemas.microsoft.com/office/drawing/2014/main" id="{EED4C701-3F9B-428D-9107-E3B21447E910}"/>
              </a:ext>
            </a:extLst>
          </p:cNvPr>
          <p:cNvSpPr>
            <a:spLocks noGrp="1"/>
          </p:cNvSpPr>
          <p:nvPr>
            <p:ph idx="1"/>
          </p:nvPr>
        </p:nvSpPr>
        <p:spPr>
          <a:xfrm>
            <a:off x="474662" y="731837"/>
            <a:ext cx="3138795" cy="4231147"/>
          </a:xfrm>
        </p:spPr>
        <p:txBody>
          <a:bodyPr/>
          <a:lstStyle/>
          <a:p>
            <a:pPr marL="0" indent="0" algn="l" rtl="0"/>
            <a:r>
              <a:rPr lang="es-419" sz="1600">
                <a:solidFill>
                  <a:srgbClr val="000000"/>
                </a:solidFill>
              </a:rPr>
              <a:t>Para configurar el WLC con la información del servidor RADIUS:</a:t>
            </a:r>
          </a:p>
          <a:p>
            <a:pPr marL="342900" indent="-342900" algn="l" rtl="0">
              <a:buFont typeface="+mj-lt"/>
              <a:buAutoNum type="arabicPeriod"/>
            </a:pPr>
            <a:r>
              <a:rPr lang="es-419" sz="1400">
                <a:solidFill>
                  <a:srgbClr val="000000"/>
                </a:solidFill>
              </a:rPr>
              <a:t>Haga clic en </a:t>
            </a:r>
            <a:r>
              <a:rPr lang="es-419" sz="1400" b="1">
                <a:solidFill>
                  <a:srgbClr val="000000"/>
                </a:solidFill>
              </a:rPr>
              <a:t>SECURITY</a:t>
            </a:r>
          </a:p>
          <a:p>
            <a:pPr marL="342900" indent="-342900" algn="l" rtl="0">
              <a:buFont typeface="+mj-lt"/>
              <a:buAutoNum type="arabicPeriod"/>
            </a:pPr>
            <a:r>
              <a:rPr lang="es-419" sz="1400">
                <a:solidFill>
                  <a:srgbClr val="000000"/>
                </a:solidFill>
              </a:rPr>
              <a:t>Haga clic en </a:t>
            </a:r>
            <a:r>
              <a:rPr lang="es-419" sz="1400" b="1">
                <a:solidFill>
                  <a:srgbClr val="000000"/>
                </a:solidFill>
              </a:rPr>
              <a:t>RADIUS</a:t>
            </a:r>
          </a:p>
          <a:p>
            <a:pPr marL="342900" indent="-342900" algn="l" rtl="0">
              <a:buFont typeface="+mj-lt"/>
              <a:buAutoNum type="arabicPeriod"/>
            </a:pPr>
            <a:r>
              <a:rPr lang="es-419" sz="1400">
                <a:solidFill>
                  <a:srgbClr val="000000"/>
                </a:solidFill>
              </a:rPr>
              <a:t>Haga clic en </a:t>
            </a:r>
            <a:r>
              <a:rPr lang="es-419" sz="1400" b="1">
                <a:solidFill>
                  <a:srgbClr val="000000"/>
                </a:solidFill>
              </a:rPr>
              <a:t>Authentication</a:t>
            </a:r>
          </a:p>
          <a:p>
            <a:pPr marL="342900" indent="-342900" algn="l" rtl="0">
              <a:buFont typeface="+mj-lt"/>
              <a:buAutoNum type="arabicPeriod"/>
            </a:pPr>
            <a:r>
              <a:rPr lang="es-419" sz="1400">
                <a:solidFill>
                  <a:srgbClr val="000000"/>
                </a:solidFill>
              </a:rPr>
              <a:t>Haga clic en </a:t>
            </a:r>
            <a:r>
              <a:rPr lang="es-419" sz="1400" b="1">
                <a:solidFill>
                  <a:srgbClr val="000000"/>
                </a:solidFill>
              </a:rPr>
              <a:t> New...</a:t>
            </a:r>
            <a:r>
              <a:rPr lang="es-419" sz="1400">
                <a:solidFill>
                  <a:srgbClr val="000000"/>
                </a:solidFill>
              </a:rPr>
              <a:t>para agregar la PC-A como el servidor RADIUS. </a:t>
            </a:r>
          </a:p>
          <a:p>
            <a:pPr marL="342900" indent="-342900" algn="l">
              <a:buFont typeface="+mj-lt"/>
              <a:buAutoNum type="arabicPeriod"/>
            </a:pPr>
            <a:endParaRPr lang="en-US" sz="1400" dirty="0">
              <a:solidFill>
                <a:srgbClr val="000000"/>
              </a:solidFill>
            </a:endParaRPr>
          </a:p>
          <a:p>
            <a:pPr marL="358835" lvl="1" indent="-285750" rtl="0"/>
            <a:r>
              <a:rPr lang="es-419">
                <a:solidFill>
                  <a:srgbClr val="000000"/>
                </a:solidFill>
              </a:rPr>
              <a:t>Ingrese la dirección IPv4 para PC-A y el secreto compartido que se utilizará entre el WLC y el servidor RADIUS y luego haga clic en Aply (Aplicar).</a:t>
            </a:r>
          </a:p>
        </p:txBody>
      </p:sp>
      <p:pic>
        <p:nvPicPr>
          <p:cNvPr id="5" name="Picture 4">
            <a:extLst>
              <a:ext uri="{FF2B5EF4-FFF2-40B4-BE49-F238E27FC236}">
                <a16:creationId xmlns:a16="http://schemas.microsoft.com/office/drawing/2014/main" id="{DF77F1A6-EFB9-4D36-BCFB-6CA8FA2F79B5}"/>
              </a:ext>
            </a:extLst>
          </p:cNvPr>
          <p:cNvPicPr>
            <a:picLocks noChangeAspect="1"/>
          </p:cNvPicPr>
          <p:nvPr/>
        </p:nvPicPr>
        <p:blipFill>
          <a:blip r:embed="rId3"/>
          <a:stretch>
            <a:fillRect/>
          </a:stretch>
        </p:blipFill>
        <p:spPr>
          <a:xfrm>
            <a:off x="4313444" y="726740"/>
            <a:ext cx="4724787" cy="1141339"/>
          </a:xfrm>
          <a:prstGeom prst="rect">
            <a:avLst/>
          </a:prstGeom>
        </p:spPr>
      </p:pic>
      <p:pic>
        <p:nvPicPr>
          <p:cNvPr id="2" name="Picture 1">
            <a:extLst>
              <a:ext uri="{FF2B5EF4-FFF2-40B4-BE49-F238E27FC236}">
                <a16:creationId xmlns:a16="http://schemas.microsoft.com/office/drawing/2014/main" id="{1D67C973-2D55-465B-B433-AAB05A635164}"/>
              </a:ext>
            </a:extLst>
          </p:cNvPr>
          <p:cNvPicPr>
            <a:picLocks noChangeAspect="1"/>
          </p:cNvPicPr>
          <p:nvPr/>
        </p:nvPicPr>
        <p:blipFill>
          <a:blip r:embed="rId4"/>
          <a:stretch>
            <a:fillRect/>
          </a:stretch>
        </p:blipFill>
        <p:spPr>
          <a:xfrm>
            <a:off x="4484430" y="2033027"/>
            <a:ext cx="4502757" cy="1628766"/>
          </a:xfrm>
          <a:prstGeom prst="rect">
            <a:avLst/>
          </a:prstGeom>
        </p:spPr>
      </p:pic>
    </p:spTree>
    <p:extLst>
      <p:ext uri="{BB962C8B-B14F-4D97-AF65-F5344CB8AC3E}">
        <p14:creationId xmlns:p14="http://schemas.microsoft.com/office/powerpoint/2010/main" val="3497163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la información del servidor RADIUS (Cont.)</a:t>
            </a:r>
          </a:p>
        </p:txBody>
      </p:sp>
      <p:sp>
        <p:nvSpPr>
          <p:cNvPr id="5" name="Content Placeholder 4">
            <a:extLst>
              <a:ext uri="{FF2B5EF4-FFF2-40B4-BE49-F238E27FC236}">
                <a16:creationId xmlns:a16="http://schemas.microsoft.com/office/drawing/2014/main" id="{CF96625D-2DC6-4A48-970D-6717BE007231}"/>
              </a:ext>
            </a:extLst>
          </p:cNvPr>
          <p:cNvSpPr>
            <a:spLocks noGrp="1"/>
          </p:cNvSpPr>
          <p:nvPr>
            <p:ph idx="1"/>
          </p:nvPr>
        </p:nvSpPr>
        <p:spPr>
          <a:xfrm>
            <a:off x="474662" y="731837"/>
            <a:ext cx="3592841" cy="2232080"/>
          </a:xfrm>
        </p:spPr>
        <p:txBody>
          <a:bodyPr/>
          <a:lstStyle/>
          <a:p>
            <a:pPr marL="0" indent="0" algn="l" rtl="0"/>
            <a:r>
              <a:rPr lang="es-419" sz="1600">
                <a:solidFill>
                  <a:srgbClr val="000000"/>
                </a:solidFill>
              </a:rPr>
              <a:t>Después de hacer clic en </a:t>
            </a:r>
            <a:r>
              <a:rPr lang="es-419" sz="1600" b="1">
                <a:solidFill>
                  <a:srgbClr val="000000"/>
                </a:solidFill>
              </a:rPr>
              <a:t>Apply,</a:t>
            </a:r>
            <a:r>
              <a:rPr lang="es-419" sz="1600">
                <a:solidFill>
                  <a:srgbClr val="000000"/>
                </a:solidFill>
              </a:rPr>
              <a:t>la lista de servidores de </a:t>
            </a:r>
            <a:r>
              <a:rPr lang="es-419" sz="1600" b="1">
                <a:solidFill>
                  <a:srgbClr val="000000"/>
                </a:solidFill>
              </a:rPr>
              <a:t>autenticación RADIUS configurados</a:t>
            </a:r>
            <a:r>
              <a:rPr lang="es-419" sz="1600">
                <a:solidFill>
                  <a:srgbClr val="000000"/>
                </a:solidFill>
              </a:rPr>
              <a:t> se actualiza con el nuevo servidor en la lista.</a:t>
            </a:r>
          </a:p>
        </p:txBody>
      </p:sp>
      <p:pic>
        <p:nvPicPr>
          <p:cNvPr id="6" name="Picture 5">
            <a:extLst>
              <a:ext uri="{FF2B5EF4-FFF2-40B4-BE49-F238E27FC236}">
                <a16:creationId xmlns:a16="http://schemas.microsoft.com/office/drawing/2014/main" id="{CDF1BCF8-6271-41B0-A365-E7ABE612D516}"/>
              </a:ext>
            </a:extLst>
          </p:cNvPr>
          <p:cNvPicPr>
            <a:picLocks noChangeAspect="1"/>
          </p:cNvPicPr>
          <p:nvPr/>
        </p:nvPicPr>
        <p:blipFill>
          <a:blip r:embed="rId3"/>
          <a:stretch>
            <a:fillRect/>
          </a:stretch>
        </p:blipFill>
        <p:spPr>
          <a:xfrm>
            <a:off x="4484430" y="740417"/>
            <a:ext cx="4502758" cy="1113983"/>
          </a:xfrm>
          <a:prstGeom prst="rect">
            <a:avLst/>
          </a:prstGeom>
        </p:spPr>
      </p:pic>
    </p:spTree>
    <p:extLst>
      <p:ext uri="{BB962C8B-B14F-4D97-AF65-F5344CB8AC3E}">
        <p14:creationId xmlns:p14="http://schemas.microsoft.com/office/powerpoint/2010/main" val="1907814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Video – Configurar una VLAN para una nueva WLAN</a:t>
            </a:r>
          </a:p>
        </p:txBody>
      </p:sp>
      <p:sp>
        <p:nvSpPr>
          <p:cNvPr id="4" name="Content Placeholder 3">
            <a:extLst>
              <a:ext uri="{FF2B5EF4-FFF2-40B4-BE49-F238E27FC236}">
                <a16:creationId xmlns:a16="http://schemas.microsoft.com/office/drawing/2014/main" id="{6EA68BB5-C9CB-4841-A9D3-D3C7A46D4220}"/>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Este video cubrirá lo siguiente:</a:t>
            </a:r>
          </a:p>
          <a:p>
            <a:pPr marL="342900" indent="-342900" algn="l" rtl="0">
              <a:buFont typeface="Arial" panose="020B0604020202020204" pitchFamily="34" charset="0"/>
              <a:buChar char="•"/>
            </a:pPr>
            <a:r>
              <a:rPr lang="es-419" sz="1400">
                <a:solidFill>
                  <a:srgbClr val="000000"/>
                </a:solidFill>
              </a:rPr>
              <a:t>Revisar la topología</a:t>
            </a:r>
          </a:p>
          <a:p>
            <a:pPr marL="342900" indent="-342900" algn="l" rtl="0">
              <a:buFont typeface="Arial" panose="020B0604020202020204" pitchFamily="34" charset="0"/>
              <a:buChar char="•"/>
            </a:pPr>
            <a:r>
              <a:rPr lang="es-419" sz="1400">
                <a:solidFill>
                  <a:srgbClr val="000000"/>
                </a:solidFill>
              </a:rPr>
              <a:t>Implemente una nueva interfaz VLAN</a:t>
            </a:r>
          </a:p>
          <a:p>
            <a:pPr marL="342900" indent="-342900" algn="l" rtl="0">
              <a:buFont typeface="Arial" panose="020B0604020202020204" pitchFamily="34" charset="0"/>
              <a:buChar char="•"/>
            </a:pPr>
            <a:r>
              <a:rPr lang="es-419" sz="1400">
                <a:solidFill>
                  <a:srgbClr val="000000"/>
                </a:solidFill>
              </a:rPr>
              <a:t>Asociar la nueva interfaz VLAN con una WLAN</a:t>
            </a:r>
          </a:p>
        </p:txBody>
      </p:sp>
    </p:spTree>
    <p:extLst>
      <p:ext uri="{BB962C8B-B14F-4D97-AF65-F5344CB8AC3E}">
        <p14:creationId xmlns:p14="http://schemas.microsoft.com/office/powerpoint/2010/main" val="367207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 Topología con direccionamiento VLAN 5</a:t>
            </a:r>
            <a:r>
              <a:rPr lang="es-419" sz="1600"/>
              <a:t> </a:t>
            </a:r>
          </a:p>
        </p:txBody>
      </p:sp>
      <p:sp>
        <p:nvSpPr>
          <p:cNvPr id="4" name="Content Placeholder 3">
            <a:extLst>
              <a:ext uri="{FF2B5EF4-FFF2-40B4-BE49-F238E27FC236}">
                <a16:creationId xmlns:a16="http://schemas.microsoft.com/office/drawing/2014/main" id="{6EA68BB5-C9CB-4841-A9D3-D3C7A46D4220}"/>
              </a:ext>
            </a:extLst>
          </p:cNvPr>
          <p:cNvSpPr>
            <a:spLocks noGrp="1"/>
          </p:cNvSpPr>
          <p:nvPr>
            <p:ph idx="1"/>
          </p:nvPr>
        </p:nvSpPr>
        <p:spPr>
          <a:xfrm>
            <a:off x="474662" y="731837"/>
            <a:ext cx="8240515" cy="3689897"/>
          </a:xfrm>
        </p:spPr>
        <p:txBody>
          <a:bodyPr/>
          <a:lstStyle/>
          <a:p>
            <a:pPr marL="0" indent="0" algn="l" rtl="0"/>
            <a:r>
              <a:rPr lang="es-419" sz="1600">
                <a:solidFill>
                  <a:srgbClr val="000000"/>
                </a:solidFill>
              </a:rPr>
              <a:t>Cada WLAN configurada en el WLC necesita su propia interfaz virtual. </a:t>
            </a:r>
          </a:p>
          <a:p>
            <a:pPr marL="342900" indent="-342900" algn="l" rtl="0">
              <a:buFont typeface="Arial" panose="020B0604020202020204" pitchFamily="34" charset="0"/>
              <a:buChar char="•"/>
            </a:pPr>
            <a:r>
              <a:rPr lang="es-419" sz="1400">
                <a:solidFill>
                  <a:srgbClr val="000000"/>
                </a:solidFill>
              </a:rPr>
              <a:t>El WLC tiene cinco puertos de datos físicos que se pueden configurar para admitir múltiples WLAN y una interfaz virtual. </a:t>
            </a:r>
          </a:p>
          <a:p>
            <a:pPr marL="342900" indent="-342900" algn="l" rtl="0">
              <a:buFont typeface="Arial" panose="020B0604020202020204" pitchFamily="34" charset="0"/>
              <a:buChar char="•"/>
            </a:pPr>
            <a:r>
              <a:rPr lang="es-419" sz="1400">
                <a:solidFill>
                  <a:srgbClr val="000000"/>
                </a:solidFill>
              </a:rPr>
              <a:t>La nueva WLAN utilizará la interfaz VLAN 5 y la red 192.168.5.0/24 y, por lo tanto, R1 se ha configurado para la VLAN 5 como se muestra en la topología y el </a:t>
            </a:r>
            <a:r>
              <a:rPr lang="es-419" sz="1400" b="1">
                <a:solidFill>
                  <a:srgbClr val="000000"/>
                </a:solidFill>
              </a:rPr>
              <a:t>show ip interface brief</a:t>
            </a:r>
            <a:r>
              <a:rPr lang="es-419" sz="1400">
                <a:solidFill>
                  <a:srgbClr val="000000"/>
                </a:solidFill>
              </a:rPr>
              <a:t> lo muestra también.</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7459998D-218F-474F-B93F-72FF2F1E6D73}"/>
              </a:ext>
            </a:extLst>
          </p:cNvPr>
          <p:cNvPicPr>
            <a:picLocks noChangeAspect="1"/>
          </p:cNvPicPr>
          <p:nvPr/>
        </p:nvPicPr>
        <p:blipFill>
          <a:blip r:embed="rId3"/>
          <a:stretch>
            <a:fillRect/>
          </a:stretch>
        </p:blipFill>
        <p:spPr>
          <a:xfrm>
            <a:off x="4365481" y="2607996"/>
            <a:ext cx="4349696" cy="1228298"/>
          </a:xfrm>
          <a:prstGeom prst="rect">
            <a:avLst/>
          </a:prstGeom>
        </p:spPr>
      </p:pic>
      <p:pic>
        <p:nvPicPr>
          <p:cNvPr id="7" name="Picture 6">
            <a:extLst>
              <a:ext uri="{FF2B5EF4-FFF2-40B4-BE49-F238E27FC236}">
                <a16:creationId xmlns:a16="http://schemas.microsoft.com/office/drawing/2014/main" id="{189BF7D4-F24F-654D-B53D-A8991341A837}"/>
              </a:ext>
            </a:extLst>
          </p:cNvPr>
          <p:cNvPicPr>
            <a:picLocks noChangeAspect="1"/>
          </p:cNvPicPr>
          <p:nvPr/>
        </p:nvPicPr>
        <p:blipFill>
          <a:blip r:embed="rId4"/>
          <a:stretch>
            <a:fillRect/>
          </a:stretch>
        </p:blipFill>
        <p:spPr>
          <a:xfrm>
            <a:off x="890870" y="2153752"/>
            <a:ext cx="2911771" cy="2289021"/>
          </a:xfrm>
          <a:prstGeom prst="rect">
            <a:avLst/>
          </a:prstGeom>
        </p:spPr>
      </p:pic>
    </p:spTree>
    <p:extLst>
      <p:ext uri="{BB962C8B-B14F-4D97-AF65-F5344CB8AC3E}">
        <p14:creationId xmlns:p14="http://schemas.microsoft.com/office/powerpoint/2010/main" val="204994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una nueva interfaz</a:t>
            </a:r>
          </a:p>
        </p:txBody>
      </p:sp>
      <p:sp>
        <p:nvSpPr>
          <p:cNvPr id="4" name="Content Placeholder 3">
            <a:extLst>
              <a:ext uri="{FF2B5EF4-FFF2-40B4-BE49-F238E27FC236}">
                <a16:creationId xmlns:a16="http://schemas.microsoft.com/office/drawing/2014/main" id="{6EA68BB5-C9CB-4841-A9D3-D3C7A46D4220}"/>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configuración WLAN en el WLC incluye los siguientes pasos:</a:t>
            </a:r>
          </a:p>
          <a:p>
            <a:pPr marL="342900" indent="-342900" algn="l" rtl="0">
              <a:buFont typeface="+mj-lt"/>
              <a:buAutoNum type="arabicPeriod"/>
            </a:pPr>
            <a:r>
              <a:rPr lang="es-419" sz="1400">
                <a:solidFill>
                  <a:srgbClr val="000000"/>
                </a:solidFill>
              </a:rPr>
              <a:t>Crear una nueva interfaz</a:t>
            </a:r>
          </a:p>
          <a:p>
            <a:pPr marL="342900" indent="-342900" algn="l" rtl="0">
              <a:buFont typeface="+mj-lt"/>
              <a:buAutoNum type="arabicPeriod"/>
            </a:pPr>
            <a:r>
              <a:rPr lang="es-419" sz="1400">
                <a:solidFill>
                  <a:srgbClr val="000000"/>
                </a:solidFill>
              </a:rPr>
              <a:t>Configurar el nombre y el ID de la VLAN</a:t>
            </a:r>
          </a:p>
          <a:p>
            <a:pPr marL="342900" indent="-342900" algn="l" rtl="0">
              <a:buFont typeface="+mj-lt"/>
              <a:buAutoNum type="arabicPeriod"/>
            </a:pPr>
            <a:r>
              <a:rPr lang="es-419" sz="1400">
                <a:solidFill>
                  <a:srgbClr val="000000"/>
                </a:solidFill>
              </a:rPr>
              <a:t>Configurar el puerto y la dirección de la interfaz.</a:t>
            </a:r>
          </a:p>
          <a:p>
            <a:pPr marL="342900" indent="-342900" algn="l" rtl="0">
              <a:buFont typeface="+mj-lt"/>
              <a:buAutoNum type="arabicPeriod"/>
            </a:pPr>
            <a:r>
              <a:rPr lang="es-419" sz="1400">
                <a:solidFill>
                  <a:srgbClr val="000000"/>
                </a:solidFill>
              </a:rPr>
              <a:t>Configurar la direccion del servidor DHCP</a:t>
            </a:r>
          </a:p>
          <a:p>
            <a:pPr marL="342900" indent="-342900" algn="l" rtl="0">
              <a:buFont typeface="+mj-lt"/>
              <a:buAutoNum type="arabicPeriod"/>
            </a:pPr>
            <a:r>
              <a:rPr lang="es-419" sz="1400">
                <a:solidFill>
                  <a:srgbClr val="000000"/>
                </a:solidFill>
              </a:rPr>
              <a:t>Aplicar y Confirmar</a:t>
            </a:r>
          </a:p>
          <a:p>
            <a:pPr marL="342900" indent="-342900" algn="l" rtl="0">
              <a:buFont typeface="+mj-lt"/>
              <a:buAutoNum type="arabicPeriod"/>
            </a:pPr>
            <a:r>
              <a:rPr lang="es-419" sz="1400">
                <a:solidFill>
                  <a:srgbClr val="000000"/>
                </a:solidFill>
              </a:rPr>
              <a:t>Verificar el estado de una interfaz.</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090687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una nueva interfaz(Cont.)</a:t>
            </a:r>
          </a:p>
        </p:txBody>
      </p:sp>
      <p:sp>
        <p:nvSpPr>
          <p:cNvPr id="5" name="Content Placeholder 4">
            <a:extLst>
              <a:ext uri="{FF2B5EF4-FFF2-40B4-BE49-F238E27FC236}">
                <a16:creationId xmlns:a16="http://schemas.microsoft.com/office/drawing/2014/main" id="{2A305048-1E35-4FDC-AC43-685E9154F69B}"/>
              </a:ext>
            </a:extLst>
          </p:cNvPr>
          <p:cNvSpPr>
            <a:spLocks noGrp="1"/>
          </p:cNvSpPr>
          <p:nvPr>
            <p:ph idx="1"/>
          </p:nvPr>
        </p:nvSpPr>
        <p:spPr>
          <a:xfrm>
            <a:off x="474662" y="731837"/>
            <a:ext cx="3277531" cy="2654596"/>
          </a:xfrm>
        </p:spPr>
        <p:txBody>
          <a:bodyPr/>
          <a:lstStyle/>
          <a:p>
            <a:pPr marL="342900" indent="-342900" algn="l" rtl="0">
              <a:buFont typeface="+mj-lt"/>
              <a:buAutoNum type="arabicPeriod"/>
            </a:pPr>
            <a:r>
              <a:rPr lang="es-419" sz="1600" b="1">
                <a:solidFill>
                  <a:srgbClr val="000000"/>
                </a:solidFill>
              </a:rPr>
              <a:t>Cree una nueva interfaz: </a:t>
            </a:r>
            <a:r>
              <a:rPr lang="es-419" sz="1600">
                <a:solidFill>
                  <a:srgbClr val="000000"/>
                </a:solidFill>
              </a:rPr>
              <a:t>haga clic en </a:t>
            </a:r>
            <a:r>
              <a:rPr lang="es-419" sz="1600" b="1">
                <a:solidFill>
                  <a:srgbClr val="000000"/>
                </a:solidFill>
              </a:rPr>
              <a:t>CONTROLLER&gt; Interfaces&gt; New ...</a:t>
            </a: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rtl="0">
              <a:buFont typeface="+mj-lt"/>
              <a:buAutoNum type="arabicPeriod"/>
            </a:pPr>
            <a:r>
              <a:rPr lang="es-419" sz="1600" b="1">
                <a:solidFill>
                  <a:srgbClr val="000000"/>
                </a:solidFill>
              </a:rPr>
              <a:t>Configure el nombre y la ID: </a:t>
            </a:r>
            <a:r>
              <a:rPr lang="es-419" sz="1600">
                <a:solidFill>
                  <a:srgbClr val="000000"/>
                </a:solidFill>
              </a:rPr>
              <a:t>de la VLAN: en el ejemplo, la nueva interfaz se llama </a:t>
            </a:r>
            <a:r>
              <a:rPr lang="es-419" sz="1600" b="1">
                <a:solidFill>
                  <a:srgbClr val="000000"/>
                </a:solidFill>
              </a:rPr>
              <a:t>vlan5</a:t>
            </a:r>
            <a:r>
              <a:rPr lang="es-419" sz="1600">
                <a:solidFill>
                  <a:srgbClr val="000000"/>
                </a:solidFill>
              </a:rPr>
              <a:t>, la VLAN  ID es </a:t>
            </a:r>
            <a:r>
              <a:rPr lang="es-419" sz="1600" b="1">
                <a:solidFill>
                  <a:srgbClr val="000000"/>
                </a:solidFill>
              </a:rPr>
              <a:t>5</a:t>
            </a:r>
            <a:r>
              <a:rPr lang="es-419" sz="1600">
                <a:solidFill>
                  <a:srgbClr val="000000"/>
                </a:solidFill>
              </a:rPr>
              <a:t>, y hacer cli en Aplly.</a:t>
            </a: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dirty="0">
              <a:solidFill>
                <a:srgbClr val="000000"/>
              </a:solidFill>
            </a:endParaRPr>
          </a:p>
          <a:p>
            <a:pPr marL="0" indent="0" algn="l"/>
            <a:endParaRPr lang="en-US" sz="2400" dirty="0">
              <a:solidFill>
                <a:srgbClr val="000000"/>
              </a:solidFill>
            </a:endParaRPr>
          </a:p>
        </p:txBody>
      </p:sp>
      <p:pic>
        <p:nvPicPr>
          <p:cNvPr id="7" name="Picture 6">
            <a:extLst>
              <a:ext uri="{FF2B5EF4-FFF2-40B4-BE49-F238E27FC236}">
                <a16:creationId xmlns:a16="http://schemas.microsoft.com/office/drawing/2014/main" id="{E98A0139-951B-47BE-8673-4822B9E5CC5B}"/>
              </a:ext>
            </a:extLst>
          </p:cNvPr>
          <p:cNvPicPr>
            <a:picLocks noChangeAspect="1"/>
          </p:cNvPicPr>
          <p:nvPr/>
        </p:nvPicPr>
        <p:blipFill>
          <a:blip r:embed="rId3"/>
          <a:stretch>
            <a:fillRect/>
          </a:stretch>
        </p:blipFill>
        <p:spPr>
          <a:xfrm>
            <a:off x="4487437" y="747217"/>
            <a:ext cx="4509225" cy="1151813"/>
          </a:xfrm>
          <a:prstGeom prst="rect">
            <a:avLst/>
          </a:prstGeom>
        </p:spPr>
      </p:pic>
      <p:pic>
        <p:nvPicPr>
          <p:cNvPr id="2" name="Picture 1">
            <a:extLst>
              <a:ext uri="{FF2B5EF4-FFF2-40B4-BE49-F238E27FC236}">
                <a16:creationId xmlns:a16="http://schemas.microsoft.com/office/drawing/2014/main" id="{9FAFABF9-CF83-4809-A4A7-635A8720A043}"/>
              </a:ext>
            </a:extLst>
          </p:cNvPr>
          <p:cNvPicPr>
            <a:picLocks noChangeAspect="1"/>
          </p:cNvPicPr>
          <p:nvPr/>
        </p:nvPicPr>
        <p:blipFill>
          <a:blip r:embed="rId4"/>
          <a:stretch>
            <a:fillRect/>
          </a:stretch>
        </p:blipFill>
        <p:spPr>
          <a:xfrm>
            <a:off x="4487436" y="2496953"/>
            <a:ext cx="4509225" cy="717153"/>
          </a:xfrm>
          <a:prstGeom prst="rect">
            <a:avLst/>
          </a:prstGeom>
        </p:spPr>
      </p:pic>
    </p:spTree>
    <p:extLst>
      <p:ext uri="{BB962C8B-B14F-4D97-AF65-F5344CB8AC3E}">
        <p14:creationId xmlns:p14="http://schemas.microsoft.com/office/powerpoint/2010/main" val="1673481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una nueva interfaz(Cont.)</a:t>
            </a:r>
          </a:p>
        </p:txBody>
      </p:sp>
      <p:sp>
        <p:nvSpPr>
          <p:cNvPr id="4" name="Content Placeholder 3">
            <a:extLst>
              <a:ext uri="{FF2B5EF4-FFF2-40B4-BE49-F238E27FC236}">
                <a16:creationId xmlns:a16="http://schemas.microsoft.com/office/drawing/2014/main" id="{9DE73A46-5E31-47E3-A4BE-88261877ADB8}"/>
              </a:ext>
            </a:extLst>
          </p:cNvPr>
          <p:cNvSpPr>
            <a:spLocks noGrp="1"/>
          </p:cNvSpPr>
          <p:nvPr>
            <p:ph idx="1"/>
          </p:nvPr>
        </p:nvSpPr>
        <p:spPr>
          <a:xfrm>
            <a:off x="474663" y="757294"/>
            <a:ext cx="3870314" cy="2812020"/>
          </a:xfrm>
        </p:spPr>
        <p:txBody>
          <a:bodyPr/>
          <a:lstStyle/>
          <a:p>
            <a:pPr marL="342900" indent="-342900" algn="l" rtl="0">
              <a:buFont typeface="+mj-lt"/>
              <a:buAutoNum type="arabicPeriod" startAt="3"/>
            </a:pPr>
            <a:r>
              <a:rPr lang="es-419" sz="1600" b="1">
                <a:solidFill>
                  <a:srgbClr val="000000"/>
                </a:solidFill>
              </a:rPr>
              <a:t>Configure el puerto y la dirección de la interfaz: </a:t>
            </a:r>
            <a:r>
              <a:rPr lang="es-419" sz="1600">
                <a:solidFill>
                  <a:srgbClr val="000000"/>
                </a:solidFill>
              </a:rPr>
              <a:t>en la página de </a:t>
            </a:r>
            <a:r>
              <a:rPr lang="es-419" sz="1600" b="1">
                <a:solidFill>
                  <a:srgbClr val="000000"/>
                </a:solidFill>
              </a:rPr>
              <a:t>edición</a:t>
            </a:r>
            <a:r>
              <a:rPr lang="es-419" sz="1600">
                <a:solidFill>
                  <a:srgbClr val="000000"/>
                </a:solidFill>
              </a:rPr>
              <a:t> de la interfaz, configure el número de puerto físico (es decir, la interfaz WLC G1 es el número de puerto 1 en el WLC), el direccionamiento de la interfaz VLAN 5 (es decir, 192.168.5.254/24) y la puerta de enlace predeterminada (es decir, 192.168.5.1)</a:t>
            </a:r>
            <a:r>
              <a:rPr lang="es-419" sz="1600" b="1">
                <a:solidFill>
                  <a:srgbClr val="000000"/>
                </a:solidFill>
              </a:rPr>
              <a:t> </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95B64C30-DBF6-4F5A-BEFB-ECB9F148EDDE}"/>
              </a:ext>
            </a:extLst>
          </p:cNvPr>
          <p:cNvPicPr>
            <a:picLocks noChangeAspect="1"/>
          </p:cNvPicPr>
          <p:nvPr/>
        </p:nvPicPr>
        <p:blipFill>
          <a:blip r:embed="rId3"/>
          <a:stretch>
            <a:fillRect/>
          </a:stretch>
        </p:blipFill>
        <p:spPr>
          <a:xfrm>
            <a:off x="4500048" y="747217"/>
            <a:ext cx="4509225" cy="2263396"/>
          </a:xfrm>
          <a:prstGeom prst="rect">
            <a:avLst/>
          </a:prstGeom>
        </p:spPr>
      </p:pic>
    </p:spTree>
    <p:extLst>
      <p:ext uri="{BB962C8B-B14F-4D97-AF65-F5344CB8AC3E}">
        <p14:creationId xmlns:p14="http://schemas.microsoft.com/office/powerpoint/2010/main" val="153763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una nueva interfaz(Cont.)</a:t>
            </a:r>
          </a:p>
        </p:txBody>
      </p:sp>
      <p:sp>
        <p:nvSpPr>
          <p:cNvPr id="4" name="Content Placeholder 3">
            <a:extLst>
              <a:ext uri="{FF2B5EF4-FFF2-40B4-BE49-F238E27FC236}">
                <a16:creationId xmlns:a16="http://schemas.microsoft.com/office/drawing/2014/main" id="{9DE73A46-5E31-47E3-A4BE-88261877ADB8}"/>
              </a:ext>
            </a:extLst>
          </p:cNvPr>
          <p:cNvSpPr>
            <a:spLocks noGrp="1"/>
          </p:cNvSpPr>
          <p:nvPr>
            <p:ph idx="1"/>
          </p:nvPr>
        </p:nvSpPr>
        <p:spPr>
          <a:xfrm>
            <a:off x="474663" y="757294"/>
            <a:ext cx="3870314" cy="2812020"/>
          </a:xfrm>
        </p:spPr>
        <p:txBody>
          <a:bodyPr/>
          <a:lstStyle/>
          <a:p>
            <a:pPr marL="342900" indent="-342900" algn="l" rtl="0">
              <a:buFont typeface="+mj-lt"/>
              <a:buAutoNum type="arabicPeriod" startAt="4"/>
            </a:pPr>
            <a:r>
              <a:rPr lang="es-419" sz="1600" b="1">
                <a:solidFill>
                  <a:srgbClr val="000000"/>
                </a:solidFill>
              </a:rPr>
              <a:t>Configure la dirección del servidor DHCP:</a:t>
            </a:r>
            <a:r>
              <a:rPr lang="es-419" sz="1600">
                <a:solidFill>
                  <a:srgbClr val="000000"/>
                </a:solidFill>
              </a:rPr>
              <a:t>el ejemplo configura un servidor DHCP primario en la dirección IPv4 192.168.5.1, que es la dirección del enrutador de la puerta de enlace predeterminada que está habilitada como servidor DHCP.</a:t>
            </a:r>
          </a:p>
          <a:p>
            <a:pPr marL="342900" indent="-342900" algn="l">
              <a:buFont typeface="+mj-lt"/>
              <a:buAutoNum type="arabicPeriod" startAt="4"/>
            </a:pPr>
            <a:endParaRPr lang="en-US" sz="1600" dirty="0">
              <a:solidFill>
                <a:srgbClr val="000000"/>
              </a:solidFill>
            </a:endParaRPr>
          </a:p>
          <a:p>
            <a:pPr marL="342900" indent="-342900" algn="l">
              <a:buFont typeface="+mj-lt"/>
              <a:buAutoNum type="arabicPeriod" startAt="4"/>
            </a:pPr>
            <a:endParaRPr lang="en-US" sz="1600" dirty="0">
              <a:solidFill>
                <a:srgbClr val="000000"/>
              </a:solidFill>
            </a:endParaRPr>
          </a:p>
          <a:p>
            <a:pPr marL="342900" indent="-342900" algn="l" rtl="0">
              <a:buFont typeface="+mj-lt"/>
              <a:buAutoNum type="arabicPeriod" startAt="4"/>
            </a:pPr>
            <a:r>
              <a:rPr lang="es-419" sz="1600" b="1">
                <a:solidFill>
                  <a:srgbClr val="000000"/>
                </a:solidFill>
              </a:rPr>
              <a:t>Aplicar y confirmar:</a:t>
            </a:r>
            <a:r>
              <a:rPr lang="es-419" sz="1600">
                <a:solidFill>
                  <a:srgbClr val="000000"/>
                </a:solidFill>
              </a:rPr>
              <a:t>desplácese hasta la parte superior y haga clic en </a:t>
            </a:r>
            <a:r>
              <a:rPr lang="es-419" sz="1600" b="1">
                <a:solidFill>
                  <a:srgbClr val="000000"/>
                </a:solidFill>
              </a:rPr>
              <a:t>Apply </a:t>
            </a:r>
            <a:r>
              <a:rPr lang="es-419" sz="1600">
                <a:solidFill>
                  <a:srgbClr val="000000"/>
                </a:solidFill>
              </a:rPr>
              <a:t>y luego haga clic en </a:t>
            </a:r>
            <a:r>
              <a:rPr lang="es-419" sz="1600" b="1">
                <a:solidFill>
                  <a:srgbClr val="000000"/>
                </a:solidFill>
              </a:rPr>
              <a:t>OK</a:t>
            </a:r>
            <a:r>
              <a:rPr lang="es-419" sz="1600">
                <a:solidFill>
                  <a:srgbClr val="000000"/>
                </a:solidFill>
              </a:rPr>
              <a:t> para ver el mensaje de advertencia.</a:t>
            </a:r>
          </a:p>
          <a:p>
            <a:pPr marL="342900" indent="-342900" algn="l">
              <a:buFont typeface="+mj-lt"/>
              <a:buAutoNum type="arabicPeriod" startAt="4"/>
            </a:pPr>
            <a:endParaRPr lang="en-US" sz="1600" dirty="0">
              <a:solidFill>
                <a:srgbClr val="000000"/>
              </a:solidFill>
            </a:endParaRPr>
          </a:p>
          <a:p>
            <a:pPr marL="342900" indent="-342900" algn="l">
              <a:buFont typeface="+mj-lt"/>
              <a:buAutoNum type="arabicPeriod" startAt="4"/>
            </a:pPr>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B64C17EE-A3BD-4036-9623-2C66FFA1760C}"/>
              </a:ext>
            </a:extLst>
          </p:cNvPr>
          <p:cNvPicPr>
            <a:picLocks noChangeAspect="1"/>
          </p:cNvPicPr>
          <p:nvPr/>
        </p:nvPicPr>
        <p:blipFill>
          <a:blip r:embed="rId3"/>
          <a:stretch>
            <a:fillRect/>
          </a:stretch>
        </p:blipFill>
        <p:spPr>
          <a:xfrm>
            <a:off x="4519342" y="751080"/>
            <a:ext cx="4500746" cy="1823429"/>
          </a:xfrm>
          <a:prstGeom prst="rect">
            <a:avLst/>
          </a:prstGeom>
        </p:spPr>
      </p:pic>
      <p:pic>
        <p:nvPicPr>
          <p:cNvPr id="7" name="Picture 6">
            <a:extLst>
              <a:ext uri="{FF2B5EF4-FFF2-40B4-BE49-F238E27FC236}">
                <a16:creationId xmlns:a16="http://schemas.microsoft.com/office/drawing/2014/main" id="{C8536311-6E93-4CB4-B75C-7BC5F45AF2BA}"/>
              </a:ext>
            </a:extLst>
          </p:cNvPr>
          <p:cNvPicPr>
            <a:picLocks noChangeAspect="1"/>
          </p:cNvPicPr>
          <p:nvPr/>
        </p:nvPicPr>
        <p:blipFill>
          <a:blip r:embed="rId4"/>
          <a:stretch>
            <a:fillRect/>
          </a:stretch>
        </p:blipFill>
        <p:spPr>
          <a:xfrm>
            <a:off x="4519339" y="2870971"/>
            <a:ext cx="4500747" cy="1004805"/>
          </a:xfrm>
          <a:prstGeom prst="rect">
            <a:avLst/>
          </a:prstGeom>
        </p:spPr>
      </p:pic>
    </p:spTree>
    <p:extLst>
      <p:ext uri="{BB962C8B-B14F-4D97-AF65-F5344CB8AC3E}">
        <p14:creationId xmlns:p14="http://schemas.microsoft.com/office/powerpoint/2010/main" val="106491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una nueva interfaz(Cont.)</a:t>
            </a:r>
          </a:p>
        </p:txBody>
      </p:sp>
      <p:sp>
        <p:nvSpPr>
          <p:cNvPr id="4" name="Content Placeholder 3">
            <a:extLst>
              <a:ext uri="{FF2B5EF4-FFF2-40B4-BE49-F238E27FC236}">
                <a16:creationId xmlns:a16="http://schemas.microsoft.com/office/drawing/2014/main" id="{9DE73A46-5E31-47E3-A4BE-88261877ADB8}"/>
              </a:ext>
            </a:extLst>
          </p:cNvPr>
          <p:cNvSpPr>
            <a:spLocks noGrp="1"/>
          </p:cNvSpPr>
          <p:nvPr>
            <p:ph idx="1"/>
          </p:nvPr>
        </p:nvSpPr>
        <p:spPr>
          <a:xfrm>
            <a:off x="474663" y="795130"/>
            <a:ext cx="3901846" cy="1985907"/>
          </a:xfrm>
        </p:spPr>
        <p:txBody>
          <a:bodyPr/>
          <a:lstStyle/>
          <a:p>
            <a:pPr marL="342900" indent="-342900" algn="l" rtl="0">
              <a:buFont typeface="+mj-lt"/>
              <a:buAutoNum type="arabicPeriod" startAt="6"/>
            </a:pPr>
            <a:r>
              <a:rPr lang="es-419" sz="1600" b="1">
                <a:solidFill>
                  <a:srgbClr val="000000"/>
                </a:solidFill>
              </a:rPr>
              <a:t>Verificar interfaces: </a:t>
            </a:r>
            <a:r>
              <a:rPr lang="es-419" sz="1600">
                <a:solidFill>
                  <a:srgbClr val="000000"/>
                </a:solidFill>
              </a:rPr>
              <a:t>haga clic en </a:t>
            </a:r>
            <a:r>
              <a:rPr lang="es-419" sz="1600" b="1">
                <a:solidFill>
                  <a:srgbClr val="000000"/>
                </a:solidFill>
              </a:rPr>
              <a:t>Interfaces </a:t>
            </a:r>
            <a:r>
              <a:rPr lang="es-419" sz="1600">
                <a:solidFill>
                  <a:srgbClr val="000000"/>
                </a:solidFill>
              </a:rPr>
              <a:t>para verificar que la nueva interfaz </a:t>
            </a:r>
            <a:r>
              <a:rPr lang="es-419" sz="1600" b="1">
                <a:solidFill>
                  <a:srgbClr val="000000"/>
                </a:solidFill>
              </a:rPr>
              <a:t>vlan5</a:t>
            </a:r>
            <a:r>
              <a:rPr lang="es-419" sz="1600">
                <a:solidFill>
                  <a:srgbClr val="000000"/>
                </a:solidFill>
              </a:rPr>
              <a:t> se muestre en la lista de interfaces con su dirección IPv4.</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06BF5CF0-D38A-4613-9D6E-A0C42670AB78}"/>
              </a:ext>
            </a:extLst>
          </p:cNvPr>
          <p:cNvPicPr>
            <a:picLocks noChangeAspect="1"/>
          </p:cNvPicPr>
          <p:nvPr/>
        </p:nvPicPr>
        <p:blipFill>
          <a:blip r:embed="rId3"/>
          <a:stretch>
            <a:fillRect/>
          </a:stretch>
        </p:blipFill>
        <p:spPr>
          <a:xfrm>
            <a:off x="4519804" y="744774"/>
            <a:ext cx="4506588" cy="1229069"/>
          </a:xfrm>
          <a:prstGeom prst="rect">
            <a:avLst/>
          </a:prstGeom>
        </p:spPr>
      </p:pic>
    </p:spTree>
    <p:extLst>
      <p:ext uri="{BB962C8B-B14F-4D97-AF65-F5344CB8AC3E}">
        <p14:creationId xmlns:p14="http://schemas.microsoft.com/office/powerpoint/2010/main" val="3187233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Video – Configurar un DHCP Scope</a:t>
            </a:r>
          </a:p>
        </p:txBody>
      </p:sp>
      <p:sp>
        <p:nvSpPr>
          <p:cNvPr id="4" name="Content Placeholder 3">
            <a:extLst>
              <a:ext uri="{FF2B5EF4-FFF2-40B4-BE49-F238E27FC236}">
                <a16:creationId xmlns:a16="http://schemas.microsoft.com/office/drawing/2014/main" id="{9DE73A46-5E31-47E3-A4BE-88261877ADB8}"/>
              </a:ext>
            </a:extLst>
          </p:cNvPr>
          <p:cNvSpPr>
            <a:spLocks noGrp="1"/>
          </p:cNvSpPr>
          <p:nvPr>
            <p:ph idx="1"/>
          </p:nvPr>
        </p:nvSpPr>
        <p:spPr>
          <a:xfrm>
            <a:off x="474662" y="795130"/>
            <a:ext cx="8280057" cy="3626604"/>
          </a:xfrm>
        </p:spPr>
        <p:txBody>
          <a:bodyPr/>
          <a:lstStyle/>
          <a:p>
            <a:pPr marL="0" indent="0" algn="l" rtl="0"/>
            <a:r>
              <a:rPr lang="es-419" sz="1600">
                <a:solidFill>
                  <a:srgbClr val="000000"/>
                </a:solidFill>
              </a:rPr>
              <a:t>Este video cubrirá lo siguiente:</a:t>
            </a:r>
          </a:p>
          <a:p>
            <a:pPr marL="171450" indent="-171450" algn="l" rtl="0">
              <a:buFont typeface="Arial" panose="020B0604020202020204" pitchFamily="34" charset="0"/>
              <a:buChar char="•"/>
            </a:pPr>
            <a:r>
              <a:rPr lang="es-419" sz="1400">
                <a:solidFill>
                  <a:srgbClr val="000000"/>
                </a:solidFill>
              </a:rPr>
              <a:t>Revise la topología</a:t>
            </a:r>
          </a:p>
          <a:p>
            <a:pPr marL="171450" indent="-171450" algn="l" rtl="0">
              <a:buFont typeface="Arial" panose="020B0604020202020204" pitchFamily="34" charset="0"/>
              <a:buChar char="•"/>
            </a:pPr>
            <a:r>
              <a:rPr lang="es-419" sz="1400">
                <a:solidFill>
                  <a:srgbClr val="000000"/>
                </a:solidFill>
              </a:rPr>
              <a:t>Configurar un WPA2 Enterprise WLAN en el WLC</a:t>
            </a:r>
          </a:p>
          <a:p>
            <a:pPr marL="171450" indent="-171450" algn="l" rtl="0">
              <a:buFont typeface="Arial" panose="020B0604020202020204" pitchFamily="34" charset="0"/>
              <a:buChar char="•"/>
            </a:pPr>
            <a:r>
              <a:rPr lang="es-419" sz="1400">
                <a:solidFill>
                  <a:srgbClr val="000000"/>
                </a:solidFill>
              </a:rPr>
              <a:t>Crear un nuevo DHCP Scope</a:t>
            </a:r>
          </a:p>
        </p:txBody>
      </p:sp>
    </p:spTree>
    <p:extLst>
      <p:ext uri="{BB962C8B-B14F-4D97-AF65-F5344CB8AC3E}">
        <p14:creationId xmlns:p14="http://schemas.microsoft.com/office/powerpoint/2010/main" val="423878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Video – Configurar un DHCP Scope</a:t>
            </a:r>
          </a:p>
        </p:txBody>
      </p:sp>
      <p:sp>
        <p:nvSpPr>
          <p:cNvPr id="5" name="Content Placeholder 4">
            <a:extLst>
              <a:ext uri="{FF2B5EF4-FFF2-40B4-BE49-F238E27FC236}">
                <a16:creationId xmlns:a16="http://schemas.microsoft.com/office/drawing/2014/main" id="{C81B2690-382F-41C9-972F-A501400BB694}"/>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configuración del DHCP Scope incluye los siguientes pasos:</a:t>
            </a:r>
          </a:p>
          <a:p>
            <a:pPr marL="342900" indent="-342900" algn="l" rtl="0">
              <a:buFont typeface="+mj-lt"/>
              <a:buAutoNum type="arabicPeriod"/>
            </a:pPr>
            <a:r>
              <a:rPr lang="es-419" sz="1400">
                <a:solidFill>
                  <a:srgbClr val="000000"/>
                </a:solidFill>
              </a:rPr>
              <a:t>Crear un DHCP Scope.</a:t>
            </a:r>
          </a:p>
          <a:p>
            <a:pPr marL="342900" indent="-342900" algn="l" rtl="0">
              <a:buFont typeface="+mj-lt"/>
              <a:buAutoNum type="arabicPeriod"/>
            </a:pPr>
            <a:r>
              <a:rPr lang="es-419" sz="1400">
                <a:solidFill>
                  <a:srgbClr val="000000"/>
                </a:solidFill>
              </a:rPr>
              <a:t>Nombrar un DHCP Scope.</a:t>
            </a:r>
          </a:p>
          <a:p>
            <a:pPr marL="342900" indent="-342900" algn="l" rtl="0">
              <a:buFont typeface="+mj-lt"/>
              <a:buAutoNum type="arabicPeriod"/>
            </a:pPr>
            <a:r>
              <a:rPr lang="es-419" sz="1400">
                <a:solidFill>
                  <a:srgbClr val="000000"/>
                </a:solidFill>
              </a:rPr>
              <a:t>Verificar el nuevo ámbito DHCP Scope</a:t>
            </a:r>
          </a:p>
          <a:p>
            <a:pPr marL="342900" indent="-342900" algn="l" rtl="0">
              <a:buFont typeface="+mj-lt"/>
              <a:buAutoNum type="arabicPeriod"/>
            </a:pPr>
            <a:r>
              <a:rPr lang="es-419" sz="1400">
                <a:solidFill>
                  <a:srgbClr val="000000"/>
                </a:solidFill>
              </a:rPr>
              <a:t>Configurar y activar un nuevo DHCP Scope</a:t>
            </a:r>
          </a:p>
          <a:p>
            <a:pPr marL="342900" indent="-342900" algn="l" rtl="0">
              <a:buFont typeface="+mj-lt"/>
              <a:buAutoNum type="arabicPeriod"/>
            </a:pPr>
            <a:r>
              <a:rPr lang="es-419" sz="1400">
                <a:solidFill>
                  <a:srgbClr val="000000"/>
                </a:solidFill>
              </a:rPr>
              <a:t>Verificar el nuevo ámbito DHCP</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44412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Video – Configurar DHCP Scope(Cont.)</a:t>
            </a:r>
          </a:p>
        </p:txBody>
      </p:sp>
      <p:sp>
        <p:nvSpPr>
          <p:cNvPr id="4" name="Content Placeholder 3">
            <a:extLst>
              <a:ext uri="{FF2B5EF4-FFF2-40B4-BE49-F238E27FC236}">
                <a16:creationId xmlns:a16="http://schemas.microsoft.com/office/drawing/2014/main" id="{6B6C266B-A7D7-4FC0-9C8A-A8DACFE6DFC9}"/>
              </a:ext>
            </a:extLst>
          </p:cNvPr>
          <p:cNvSpPr>
            <a:spLocks noGrp="1"/>
          </p:cNvSpPr>
          <p:nvPr>
            <p:ph idx="1"/>
          </p:nvPr>
        </p:nvSpPr>
        <p:spPr>
          <a:xfrm>
            <a:off x="474662" y="731837"/>
            <a:ext cx="4045142" cy="2534778"/>
          </a:xfrm>
        </p:spPr>
        <p:txBody>
          <a:bodyPr/>
          <a:lstStyle/>
          <a:p>
            <a:pPr marL="342900" indent="-342900" algn="l" rtl="0">
              <a:buFont typeface="+mj-lt"/>
              <a:buAutoNum type="arabicPeriod"/>
            </a:pPr>
            <a:r>
              <a:rPr lang="es-419" sz="1600" b="1">
                <a:solidFill>
                  <a:srgbClr val="000000"/>
                </a:solidFill>
              </a:rPr>
              <a:t>Crear un nuevo DHCP Scope:</a:t>
            </a:r>
            <a:r>
              <a:rPr lang="es-419" sz="1600">
                <a:solidFill>
                  <a:srgbClr val="000000"/>
                </a:solidFill>
              </a:rPr>
              <a:t> para configurar un nuevo alcance DHCP, haga clic en </a:t>
            </a:r>
            <a:r>
              <a:rPr lang="es-419" sz="1600" b="1">
                <a:solidFill>
                  <a:srgbClr val="000000"/>
                </a:solidFill>
              </a:rPr>
              <a:t>Servidor DHCP interno&gt; DHCP Scope&gt; New ...</a:t>
            </a: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rtl="0">
              <a:buFont typeface="+mj-lt"/>
              <a:buAutoNum type="arabicPeriod"/>
            </a:pPr>
            <a:r>
              <a:rPr lang="es-419" sz="1600" b="1">
                <a:solidFill>
                  <a:srgbClr val="000000"/>
                </a:solidFill>
              </a:rPr>
              <a:t>Asigne un nombre al DHCP scope: </a:t>
            </a:r>
            <a:r>
              <a:rPr lang="es-419" sz="1600">
                <a:solidFill>
                  <a:srgbClr val="000000"/>
                </a:solidFill>
              </a:rPr>
              <a:t>el scope se denomina </a:t>
            </a:r>
            <a:r>
              <a:rPr lang="es-419" sz="1600" b="1">
                <a:solidFill>
                  <a:srgbClr val="000000"/>
                </a:solidFill>
              </a:rPr>
              <a:t>Wireless_Management</a:t>
            </a:r>
            <a:r>
              <a:rPr lang="es-419" sz="1600">
                <a:solidFill>
                  <a:srgbClr val="000000"/>
                </a:solidFill>
              </a:rPr>
              <a:t> y luego se aplica.</a:t>
            </a:r>
          </a:p>
          <a:p>
            <a:pPr marL="342900" indent="-342900" algn="l">
              <a:buFont typeface="+mj-lt"/>
              <a:buAutoNum type="arabicPeriod"/>
            </a:pPr>
            <a:endParaRPr lang="en-US" sz="1600" b="1"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2D0F5931-EB3D-49FE-9238-B0D53140262A}"/>
              </a:ext>
            </a:extLst>
          </p:cNvPr>
          <p:cNvPicPr>
            <a:picLocks noChangeAspect="1"/>
          </p:cNvPicPr>
          <p:nvPr/>
        </p:nvPicPr>
        <p:blipFill>
          <a:blip r:embed="rId3"/>
          <a:stretch>
            <a:fillRect/>
          </a:stretch>
        </p:blipFill>
        <p:spPr>
          <a:xfrm>
            <a:off x="4519804" y="713235"/>
            <a:ext cx="4511356" cy="1649313"/>
          </a:xfrm>
          <a:prstGeom prst="rect">
            <a:avLst/>
          </a:prstGeom>
        </p:spPr>
      </p:pic>
      <p:pic>
        <p:nvPicPr>
          <p:cNvPr id="6" name="Picture 5">
            <a:extLst>
              <a:ext uri="{FF2B5EF4-FFF2-40B4-BE49-F238E27FC236}">
                <a16:creationId xmlns:a16="http://schemas.microsoft.com/office/drawing/2014/main" id="{9292344A-C03D-4EDE-B886-F35F1C293AC6}"/>
              </a:ext>
            </a:extLst>
          </p:cNvPr>
          <p:cNvPicPr>
            <a:picLocks noChangeAspect="1"/>
          </p:cNvPicPr>
          <p:nvPr/>
        </p:nvPicPr>
        <p:blipFill>
          <a:blip r:embed="rId4"/>
          <a:stretch>
            <a:fillRect/>
          </a:stretch>
        </p:blipFill>
        <p:spPr>
          <a:xfrm>
            <a:off x="4519803" y="2650223"/>
            <a:ext cx="4510329" cy="1348229"/>
          </a:xfrm>
          <a:prstGeom prst="rect">
            <a:avLst/>
          </a:prstGeom>
        </p:spPr>
      </p:pic>
    </p:spTree>
    <p:extLst>
      <p:ext uri="{BB962C8B-B14F-4D97-AF65-F5344CB8AC3E}">
        <p14:creationId xmlns:p14="http://schemas.microsoft.com/office/powerpoint/2010/main" val="171973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Video – Configurar un DHCP Scope (Cont.)</a:t>
            </a:r>
          </a:p>
        </p:txBody>
      </p:sp>
      <p:sp>
        <p:nvSpPr>
          <p:cNvPr id="4" name="Content Placeholder 3">
            <a:extLst>
              <a:ext uri="{FF2B5EF4-FFF2-40B4-BE49-F238E27FC236}">
                <a16:creationId xmlns:a16="http://schemas.microsoft.com/office/drawing/2014/main" id="{6B6C266B-A7D7-4FC0-9C8A-A8DACFE6DFC9}"/>
              </a:ext>
            </a:extLst>
          </p:cNvPr>
          <p:cNvSpPr>
            <a:spLocks noGrp="1"/>
          </p:cNvSpPr>
          <p:nvPr>
            <p:ph idx="1"/>
          </p:nvPr>
        </p:nvSpPr>
        <p:spPr>
          <a:xfrm>
            <a:off x="474662" y="731838"/>
            <a:ext cx="3889233" cy="2919456"/>
          </a:xfrm>
        </p:spPr>
        <p:txBody>
          <a:bodyPr/>
          <a:lstStyle/>
          <a:p>
            <a:pPr marL="342900" indent="-342900" algn="l" rtl="0">
              <a:buFont typeface="+mj-lt"/>
              <a:buAutoNum type="arabicPeriod" startAt="3"/>
            </a:pPr>
            <a:r>
              <a:rPr lang="es-419" sz="1600" b="1">
                <a:solidFill>
                  <a:srgbClr val="000000"/>
                </a:solidFill>
              </a:rPr>
              <a:t>Verifique el nuevo DHCP Scope:</a:t>
            </a:r>
            <a:r>
              <a:rPr lang="es-419" sz="1600">
                <a:solidFill>
                  <a:srgbClr val="000000"/>
                </a:solidFill>
              </a:rPr>
              <a:t> en la </a:t>
            </a:r>
            <a:r>
              <a:rPr lang="es-419" sz="1600" b="1">
                <a:solidFill>
                  <a:srgbClr val="000000"/>
                </a:solidFill>
              </a:rPr>
              <a:t>página DHCP Scope,</a:t>
            </a:r>
            <a:r>
              <a:rPr lang="es-419" sz="1600">
                <a:solidFill>
                  <a:srgbClr val="000000"/>
                </a:solidFill>
              </a:rPr>
              <a:t> haga clic en el nuevo Nombre del Scope para configurar el DHCP Scope.</a:t>
            </a:r>
          </a:p>
          <a:p>
            <a:pPr marL="342900" indent="-342900" algn="l">
              <a:buFont typeface="+mj-lt"/>
              <a:buAutoNum type="arabicPeriod" startAt="3"/>
            </a:pPr>
            <a:endParaRPr lang="en-US" sz="1600" dirty="0">
              <a:solidFill>
                <a:srgbClr val="000000"/>
              </a:solidFill>
            </a:endParaRPr>
          </a:p>
          <a:p>
            <a:pPr marL="342900" indent="-342900" algn="l" rtl="0">
              <a:buFont typeface="+mj-lt"/>
              <a:buAutoNum type="arabicPeriod" startAt="3"/>
            </a:pPr>
            <a:r>
              <a:rPr lang="es-419" sz="1600" b="1">
                <a:solidFill>
                  <a:srgbClr val="000000"/>
                </a:solidFill>
              </a:rPr>
              <a:t>Configure y habilite el nuevo DHCP Scope:</a:t>
            </a:r>
            <a:r>
              <a:rPr lang="es-419" sz="1600">
                <a:solidFill>
                  <a:srgbClr val="000000"/>
                </a:solidFill>
              </a:rPr>
              <a:t>en la pantalla Editar para el Scope </a:t>
            </a:r>
            <a:r>
              <a:rPr lang="es-419" sz="1600" b="1">
                <a:solidFill>
                  <a:srgbClr val="000000"/>
                </a:solidFill>
              </a:rPr>
              <a:t>Wireless_Management</a:t>
            </a:r>
            <a:r>
              <a:rPr lang="es-419" sz="1600">
                <a:solidFill>
                  <a:srgbClr val="000000"/>
                </a:solidFill>
              </a:rPr>
              <a:t>configure un grupo de direcciones (es decir, 192.168.200.240/24 a .249), la dirección IPv4 del enrutador predeterminada (es decir, 192.168.200.1), luego</a:t>
            </a:r>
            <a:r>
              <a:rPr lang="es-419" sz="1600" b="1">
                <a:solidFill>
                  <a:srgbClr val="000000"/>
                </a:solidFill>
              </a:rPr>
              <a:t>habilite</a:t>
            </a:r>
            <a:r>
              <a:rPr lang="es-419" sz="1600">
                <a:solidFill>
                  <a:srgbClr val="000000"/>
                </a:solidFill>
              </a:rPr>
              <a:t> y </a:t>
            </a:r>
            <a:r>
              <a:rPr lang="es-419" sz="1600" b="1">
                <a:solidFill>
                  <a:srgbClr val="000000"/>
                </a:solidFill>
              </a:rPr>
              <a:t>aplique</a:t>
            </a:r>
            <a:r>
              <a:rPr lang="es-419" sz="1600">
                <a:solidFill>
                  <a:srgbClr val="000000"/>
                </a:solidFill>
              </a:rPr>
              <a:t>.</a:t>
            </a:r>
          </a:p>
          <a:p>
            <a:pPr marL="342900" indent="-342900" algn="l">
              <a:buFont typeface="+mj-lt"/>
              <a:buAutoNum type="arabicPeriod" startAt="3"/>
            </a:pPr>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D3737EAF-CF1E-495D-9010-27E5B67FC1F3}"/>
              </a:ext>
            </a:extLst>
          </p:cNvPr>
          <p:cNvPicPr>
            <a:picLocks noChangeAspect="1"/>
          </p:cNvPicPr>
          <p:nvPr/>
        </p:nvPicPr>
        <p:blipFill>
          <a:blip r:embed="rId3"/>
          <a:stretch>
            <a:fillRect/>
          </a:stretch>
        </p:blipFill>
        <p:spPr>
          <a:xfrm>
            <a:off x="4524507" y="717540"/>
            <a:ext cx="4496063" cy="861013"/>
          </a:xfrm>
          <a:prstGeom prst="rect">
            <a:avLst/>
          </a:prstGeom>
        </p:spPr>
      </p:pic>
      <p:pic>
        <p:nvPicPr>
          <p:cNvPr id="7" name="Picture 6">
            <a:extLst>
              <a:ext uri="{FF2B5EF4-FFF2-40B4-BE49-F238E27FC236}">
                <a16:creationId xmlns:a16="http://schemas.microsoft.com/office/drawing/2014/main" id="{82F40A30-1D8D-4276-928F-AC0BFC672692}"/>
              </a:ext>
            </a:extLst>
          </p:cNvPr>
          <p:cNvPicPr>
            <a:picLocks noChangeAspect="1"/>
          </p:cNvPicPr>
          <p:nvPr/>
        </p:nvPicPr>
        <p:blipFill>
          <a:blip r:embed="rId4"/>
          <a:stretch>
            <a:fillRect/>
          </a:stretch>
        </p:blipFill>
        <p:spPr>
          <a:xfrm>
            <a:off x="4524505" y="2028928"/>
            <a:ext cx="4496064" cy="1609635"/>
          </a:xfrm>
          <a:prstGeom prst="rect">
            <a:avLst/>
          </a:prstGeom>
        </p:spPr>
      </p:pic>
    </p:spTree>
    <p:extLst>
      <p:ext uri="{BB962C8B-B14F-4D97-AF65-F5344CB8AC3E}">
        <p14:creationId xmlns:p14="http://schemas.microsoft.com/office/powerpoint/2010/main" val="414162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Video – Configurar un DHCP Scope (Cont.)</a:t>
            </a:r>
          </a:p>
        </p:txBody>
      </p:sp>
      <p:sp>
        <p:nvSpPr>
          <p:cNvPr id="4" name="Content Placeholder 3">
            <a:extLst>
              <a:ext uri="{FF2B5EF4-FFF2-40B4-BE49-F238E27FC236}">
                <a16:creationId xmlns:a16="http://schemas.microsoft.com/office/drawing/2014/main" id="{6B6C266B-A7D7-4FC0-9C8A-A8DACFE6DFC9}"/>
              </a:ext>
            </a:extLst>
          </p:cNvPr>
          <p:cNvSpPr>
            <a:spLocks noGrp="1"/>
          </p:cNvSpPr>
          <p:nvPr>
            <p:ph idx="1"/>
          </p:nvPr>
        </p:nvSpPr>
        <p:spPr>
          <a:xfrm>
            <a:off x="474663" y="731837"/>
            <a:ext cx="3939682" cy="3392422"/>
          </a:xfrm>
        </p:spPr>
        <p:txBody>
          <a:bodyPr/>
          <a:lstStyle/>
          <a:p>
            <a:pPr marL="342900" indent="-342900" algn="l" rtl="0">
              <a:buFont typeface="+mj-lt"/>
              <a:buAutoNum type="arabicPeriod" startAt="5"/>
            </a:pPr>
            <a:r>
              <a:rPr lang="es-419" sz="1600" b="1">
                <a:solidFill>
                  <a:srgbClr val="000000"/>
                </a:solidFill>
              </a:rPr>
              <a:t>Verifique la habilitación del DHCP Scope:</a:t>
            </a:r>
            <a:r>
              <a:rPr lang="es-419" sz="1600">
                <a:solidFill>
                  <a:srgbClr val="000000"/>
                </a:solidFill>
              </a:rPr>
              <a:t>el administrador de la red vuelve a la página del </a:t>
            </a:r>
            <a:r>
              <a:rPr lang="es-419" sz="1600" b="1">
                <a:solidFill>
                  <a:srgbClr val="000000"/>
                </a:solidFill>
              </a:rPr>
              <a:t>DHCP Scopes</a:t>
            </a:r>
            <a:r>
              <a:rPr lang="es-419" sz="1600">
                <a:solidFill>
                  <a:srgbClr val="000000"/>
                </a:solidFill>
              </a:rPr>
              <a:t> y puede verificar que el alcance esté listo para ser asignado a una nueva WLAN.</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37DAEC89-0E2A-4EAA-85E1-769AC98C2933}"/>
              </a:ext>
            </a:extLst>
          </p:cNvPr>
          <p:cNvPicPr>
            <a:picLocks noChangeAspect="1"/>
          </p:cNvPicPr>
          <p:nvPr/>
        </p:nvPicPr>
        <p:blipFill>
          <a:blip r:embed="rId3"/>
          <a:stretch>
            <a:fillRect/>
          </a:stretch>
        </p:blipFill>
        <p:spPr>
          <a:xfrm>
            <a:off x="4531191" y="718122"/>
            <a:ext cx="4483340" cy="1323513"/>
          </a:xfrm>
          <a:prstGeom prst="rect">
            <a:avLst/>
          </a:prstGeom>
        </p:spPr>
      </p:pic>
    </p:spTree>
    <p:extLst>
      <p:ext uri="{BB962C8B-B14F-4D97-AF65-F5344CB8AC3E}">
        <p14:creationId xmlns:p14="http://schemas.microsoft.com/office/powerpoint/2010/main" val="41476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a WPA2 Enterprise WLAN on the WLC</a:t>
            </a:r>
            <a:br>
              <a:rPr lang="en-US" dirty="0"/>
            </a:br>
            <a:r>
              <a:rPr lang="es-419" sz="2400"/>
              <a:t>Video – Configurar una WLAN empresarial WPA2</a:t>
            </a:r>
          </a:p>
        </p:txBody>
      </p:sp>
      <p:sp>
        <p:nvSpPr>
          <p:cNvPr id="4" name="Content Placeholder 3">
            <a:extLst>
              <a:ext uri="{FF2B5EF4-FFF2-40B4-BE49-F238E27FC236}">
                <a16:creationId xmlns:a16="http://schemas.microsoft.com/office/drawing/2014/main" id="{6B6C266B-A7D7-4FC0-9C8A-A8DACFE6DFC9}"/>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Este video cubrirá lo siguiente:</a:t>
            </a:r>
          </a:p>
          <a:p>
            <a:pPr marL="285750" indent="-285750" algn="l" rtl="0">
              <a:buFont typeface="Arial" panose="020B0604020202020204" pitchFamily="34" charset="0"/>
              <a:buChar char="•"/>
            </a:pPr>
            <a:r>
              <a:rPr lang="es-419" sz="1400">
                <a:solidFill>
                  <a:srgbClr val="000000"/>
                </a:solidFill>
              </a:rPr>
              <a:t>Revise la topología</a:t>
            </a:r>
          </a:p>
          <a:p>
            <a:pPr marL="285750" indent="-285750" algn="l" rtl="0">
              <a:buFont typeface="Arial" panose="020B0604020202020204" pitchFamily="34" charset="0"/>
              <a:buChar char="•"/>
            </a:pPr>
            <a:r>
              <a:rPr lang="es-419" sz="1400">
                <a:solidFill>
                  <a:srgbClr val="000000"/>
                </a:solidFill>
              </a:rPr>
              <a:t>Crear una nueva WLAN</a:t>
            </a:r>
          </a:p>
          <a:p>
            <a:pPr marL="285750" indent="-285750" algn="l" rtl="0">
              <a:buFont typeface="Arial" panose="020B0604020202020204" pitchFamily="34" charset="0"/>
              <a:buChar char="•"/>
            </a:pPr>
            <a:r>
              <a:rPr lang="es-419" sz="1400">
                <a:solidFill>
                  <a:srgbClr val="000000"/>
                </a:solidFill>
              </a:rPr>
              <a:t>Configure el WLC para usar el servidor RADIUS</a:t>
            </a:r>
          </a:p>
          <a:p>
            <a:pPr marL="285750" indent="-285750" algn="l" rtl="0">
              <a:buFont typeface="Arial" panose="020B0604020202020204" pitchFamily="34" charset="0"/>
              <a:buChar char="•"/>
            </a:pPr>
            <a:r>
              <a:rPr lang="es-419" sz="1400">
                <a:solidFill>
                  <a:srgbClr val="000000"/>
                </a:solidFill>
              </a:rPr>
              <a:t>Asegure la nueva WLAN con WPA2-Enterprise</a:t>
            </a:r>
          </a:p>
          <a:p>
            <a:pPr marL="285750" indent="-285750" algn="l" rtl="0">
              <a:buFont typeface="Arial" panose="020B0604020202020204" pitchFamily="34" charset="0"/>
              <a:buChar char="•"/>
            </a:pPr>
            <a:r>
              <a:rPr lang="es-419" sz="1400">
                <a:solidFill>
                  <a:srgbClr val="000000"/>
                </a:solidFill>
              </a:rPr>
              <a:t>Verifique la seguridad de WPA2-Enterprise</a:t>
            </a:r>
          </a:p>
        </p:txBody>
      </p:sp>
    </p:spTree>
    <p:extLst>
      <p:ext uri="{BB962C8B-B14F-4D97-AF65-F5344CB8AC3E}">
        <p14:creationId xmlns:p14="http://schemas.microsoft.com/office/powerpoint/2010/main" val="2714235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 WPA2 Enterprise WLAN</a:t>
            </a:r>
          </a:p>
        </p:txBody>
      </p:sp>
      <p:sp>
        <p:nvSpPr>
          <p:cNvPr id="5" name="Content Placeholder 4">
            <a:extLst>
              <a:ext uri="{FF2B5EF4-FFF2-40B4-BE49-F238E27FC236}">
                <a16:creationId xmlns:a16="http://schemas.microsoft.com/office/drawing/2014/main" id="{CB74077E-84FF-4B2F-948F-9A796DD53A24}"/>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De manera predeterminada, todas las WLANs creadas recientemente en el WLC van a usar WPA2 con el Sistema Avanzado de Encriptación (AES). </a:t>
            </a:r>
          </a:p>
          <a:p>
            <a:pPr marL="285750" indent="-285750" algn="l" rtl="0">
              <a:buFont typeface="Arial" panose="020B0604020202020204" pitchFamily="34" charset="0"/>
              <a:buChar char="•"/>
            </a:pPr>
            <a:r>
              <a:rPr lang="es-419" sz="1400">
                <a:solidFill>
                  <a:srgbClr val="000000"/>
                </a:solidFill>
              </a:rPr>
              <a:t>802.1X es el protocolo de manejo de llaves predeterminado que se usa para comunicarse con el servidor RADIUS.</a:t>
            </a:r>
          </a:p>
          <a:p>
            <a:pPr marL="285750" indent="-285750" algn="l" rtl="0">
              <a:buFont typeface="Arial" panose="020B0604020202020204" pitchFamily="34" charset="0"/>
              <a:buChar char="•"/>
            </a:pPr>
            <a:r>
              <a:rPr lang="es-419" sz="1400">
                <a:solidFill>
                  <a:srgbClr val="000000"/>
                </a:solidFill>
              </a:rPr>
              <a:t>A continuación, cree una nueva WLAN para usar la interfaz </a:t>
            </a:r>
            <a:r>
              <a:rPr lang="es-419" sz="1400" b="1">
                <a:solidFill>
                  <a:srgbClr val="000000"/>
                </a:solidFill>
              </a:rPr>
              <a:t>vlan5</a:t>
            </a:r>
            <a:r>
              <a:rPr lang="es-419" sz="1400">
                <a:solidFill>
                  <a:srgbClr val="000000"/>
                </a:solidFill>
              </a:rPr>
              <a:t>.</a:t>
            </a:r>
          </a:p>
          <a:p>
            <a:pPr marL="0" indent="0" algn="l"/>
            <a:endParaRPr lang="en-US" sz="1600" dirty="0">
              <a:solidFill>
                <a:srgbClr val="000000"/>
              </a:solidFill>
            </a:endParaRPr>
          </a:p>
          <a:p>
            <a:pPr marL="0" indent="0" algn="l" rtl="0"/>
            <a:r>
              <a:rPr lang="es-419" sz="1600">
                <a:solidFill>
                  <a:srgbClr val="000000"/>
                </a:solidFill>
              </a:rPr>
              <a:t>La configuración WLAN en el WLC incluye los siguientes pasos:</a:t>
            </a:r>
          </a:p>
          <a:p>
            <a:pPr marL="415985" lvl="1" indent="-342900" rtl="0">
              <a:buFont typeface="+mj-lt"/>
              <a:buAutoNum type="arabicPeriod"/>
            </a:pPr>
            <a:r>
              <a:rPr lang="es-419">
                <a:solidFill>
                  <a:srgbClr val="000000"/>
                </a:solidFill>
              </a:rPr>
              <a:t>Crear una nueva WLAN</a:t>
            </a:r>
          </a:p>
          <a:p>
            <a:pPr marL="415985" lvl="1" indent="-342900" rtl="0">
              <a:buFont typeface="+mj-lt"/>
              <a:buAutoNum type="arabicPeriod"/>
            </a:pPr>
            <a:r>
              <a:rPr lang="es-419">
                <a:solidFill>
                  <a:srgbClr val="000000"/>
                </a:solidFill>
              </a:rPr>
              <a:t>Configurar el nombre y el SSID de la WLAN</a:t>
            </a:r>
          </a:p>
          <a:p>
            <a:pPr marL="415985" lvl="1" indent="-342900" rtl="0">
              <a:buFont typeface="+mj-lt"/>
              <a:buAutoNum type="arabicPeriod"/>
            </a:pPr>
            <a:r>
              <a:rPr lang="es-419">
                <a:solidFill>
                  <a:srgbClr val="000000"/>
                </a:solidFill>
              </a:rPr>
              <a:t>Activar la WLAN para VLAN 5</a:t>
            </a:r>
          </a:p>
          <a:p>
            <a:pPr marL="415985" lvl="1" indent="-342900" rtl="0">
              <a:buFont typeface="+mj-lt"/>
              <a:buAutoNum type="arabicPeriod"/>
            </a:pPr>
            <a:r>
              <a:rPr lang="es-419">
                <a:solidFill>
                  <a:srgbClr val="000000"/>
                </a:solidFill>
              </a:rPr>
              <a:t>Verifique los valores predeterminados de AES y 802.1X.</a:t>
            </a:r>
          </a:p>
          <a:p>
            <a:pPr marL="415985" lvl="1" indent="-342900" rtl="0">
              <a:buFont typeface="+mj-lt"/>
              <a:buAutoNum type="arabicPeriod"/>
            </a:pPr>
            <a:r>
              <a:rPr lang="es-419">
                <a:solidFill>
                  <a:srgbClr val="000000"/>
                </a:solidFill>
              </a:rPr>
              <a:t>Configurar la seguridad de WLAN para que use el servidor RADIUS</a:t>
            </a:r>
          </a:p>
          <a:p>
            <a:pPr marL="415985" lvl="1" indent="-342900" rtl="0">
              <a:buFont typeface="+mj-lt"/>
              <a:buAutoNum type="arabicPeriod"/>
            </a:pPr>
            <a:r>
              <a:rPr lang="es-419">
                <a:solidFill>
                  <a:srgbClr val="000000"/>
                </a:solidFill>
              </a:rPr>
              <a:t>Verifique que la nueva WLAN este disponible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9008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 WPA2 Enterprise WLAN (Cont.)</a:t>
            </a:r>
          </a:p>
        </p:txBody>
      </p:sp>
      <p:sp>
        <p:nvSpPr>
          <p:cNvPr id="4" name="Content Placeholder 3">
            <a:extLst>
              <a:ext uri="{FF2B5EF4-FFF2-40B4-BE49-F238E27FC236}">
                <a16:creationId xmlns:a16="http://schemas.microsoft.com/office/drawing/2014/main" id="{70BEA8AE-CDE1-48E3-876B-105EFD8ED2E4}"/>
              </a:ext>
            </a:extLst>
          </p:cNvPr>
          <p:cNvSpPr>
            <a:spLocks noGrp="1"/>
          </p:cNvSpPr>
          <p:nvPr>
            <p:ph idx="1"/>
          </p:nvPr>
        </p:nvSpPr>
        <p:spPr>
          <a:xfrm>
            <a:off x="474662" y="731837"/>
            <a:ext cx="4056529" cy="1801296"/>
          </a:xfrm>
        </p:spPr>
        <p:txBody>
          <a:bodyPr/>
          <a:lstStyle/>
          <a:p>
            <a:pPr marL="342900" indent="-342900" algn="l" rtl="0">
              <a:buFont typeface="+mj-lt"/>
              <a:buAutoNum type="arabicPeriod"/>
            </a:pPr>
            <a:r>
              <a:rPr lang="es-419" sz="1600" b="1">
                <a:solidFill>
                  <a:srgbClr val="000000"/>
                </a:solidFill>
              </a:rPr>
              <a:t>Crear una nueva WLAN: </a:t>
            </a:r>
            <a:r>
              <a:rPr lang="es-419" sz="1600">
                <a:solidFill>
                  <a:srgbClr val="000000"/>
                </a:solidFill>
              </a:rPr>
              <a:t>haga clic en </a:t>
            </a:r>
            <a:r>
              <a:rPr lang="es-419" sz="1600" b="1">
                <a:solidFill>
                  <a:srgbClr val="000000"/>
                </a:solidFill>
              </a:rPr>
              <a:t>la pestaña </a:t>
            </a:r>
            <a:r>
              <a:rPr lang="es-419" sz="1600">
                <a:solidFill>
                  <a:srgbClr val="000000"/>
                </a:solidFill>
              </a:rPr>
              <a:t> WLAN y luego </a:t>
            </a:r>
            <a:r>
              <a:rPr lang="es-419" sz="1600" b="1">
                <a:solidFill>
                  <a:srgbClr val="000000"/>
                </a:solidFill>
              </a:rPr>
              <a:t>vaya</a:t>
            </a:r>
            <a:r>
              <a:rPr lang="es-419" sz="1600">
                <a:solidFill>
                  <a:srgbClr val="000000"/>
                </a:solidFill>
              </a:rPr>
              <a:t>a crear una nueva WLAN</a:t>
            </a: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rtl="0">
              <a:buFont typeface="+mj-lt"/>
              <a:buAutoNum type="arabicPeriod"/>
            </a:pPr>
            <a:r>
              <a:rPr lang="es-419" sz="1600" b="1">
                <a:solidFill>
                  <a:srgbClr val="000000"/>
                </a:solidFill>
              </a:rPr>
              <a:t>Configure el nombre de la WLAN y el SSID:</a:t>
            </a:r>
            <a:r>
              <a:rPr lang="es-419" sz="1600">
                <a:solidFill>
                  <a:srgbClr val="000000"/>
                </a:solidFill>
              </a:rPr>
              <a:t>ingrese el nombre del perfil y el SSID, elija una ID de </a:t>
            </a:r>
            <a:r>
              <a:rPr lang="es-419" sz="1600" b="1">
                <a:solidFill>
                  <a:srgbClr val="000000"/>
                </a:solidFill>
              </a:rPr>
              <a:t>5</a:t>
            </a:r>
            <a:r>
              <a:rPr lang="es-419" sz="1600">
                <a:solidFill>
                  <a:srgbClr val="000000"/>
                </a:solidFill>
              </a:rPr>
              <a:t>, y luego haga clic en </a:t>
            </a:r>
            <a:r>
              <a:rPr lang="es-419" sz="1600" b="1">
                <a:solidFill>
                  <a:srgbClr val="000000"/>
                </a:solidFill>
              </a:rPr>
              <a:t>Apply </a:t>
            </a:r>
            <a:r>
              <a:rPr lang="es-419" sz="1600">
                <a:solidFill>
                  <a:srgbClr val="000000"/>
                </a:solidFill>
              </a:rPr>
              <a:t> para crear la nueva WLAN.</a:t>
            </a: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69D07D63-80EC-47FD-A4EB-9542EFFF7445}"/>
              </a:ext>
            </a:extLst>
          </p:cNvPr>
          <p:cNvPicPr>
            <a:picLocks noChangeAspect="1"/>
          </p:cNvPicPr>
          <p:nvPr/>
        </p:nvPicPr>
        <p:blipFill>
          <a:blip r:embed="rId3"/>
          <a:stretch>
            <a:fillRect/>
          </a:stretch>
        </p:blipFill>
        <p:spPr>
          <a:xfrm>
            <a:off x="4531191" y="718122"/>
            <a:ext cx="4558429" cy="1096889"/>
          </a:xfrm>
          <a:prstGeom prst="rect">
            <a:avLst/>
          </a:prstGeom>
        </p:spPr>
      </p:pic>
      <p:pic>
        <p:nvPicPr>
          <p:cNvPr id="7" name="Picture 6">
            <a:extLst>
              <a:ext uri="{FF2B5EF4-FFF2-40B4-BE49-F238E27FC236}">
                <a16:creationId xmlns:a16="http://schemas.microsoft.com/office/drawing/2014/main" id="{2088388C-4009-4727-B175-D1B1B22DE8E7}"/>
              </a:ext>
            </a:extLst>
          </p:cNvPr>
          <p:cNvPicPr>
            <a:picLocks noChangeAspect="1"/>
          </p:cNvPicPr>
          <p:nvPr/>
        </p:nvPicPr>
        <p:blipFill>
          <a:blip r:embed="rId4"/>
          <a:stretch>
            <a:fillRect/>
          </a:stretch>
        </p:blipFill>
        <p:spPr>
          <a:xfrm>
            <a:off x="4587586" y="2408008"/>
            <a:ext cx="4531189" cy="1066809"/>
          </a:xfrm>
          <a:prstGeom prst="rect">
            <a:avLst/>
          </a:prstGeom>
        </p:spPr>
      </p:pic>
    </p:spTree>
    <p:extLst>
      <p:ext uri="{BB962C8B-B14F-4D97-AF65-F5344CB8AC3E}">
        <p14:creationId xmlns:p14="http://schemas.microsoft.com/office/powerpoint/2010/main" val="109764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 WPA2 Enterprise WLAN (Cont.)</a:t>
            </a:r>
          </a:p>
        </p:txBody>
      </p:sp>
      <p:sp>
        <p:nvSpPr>
          <p:cNvPr id="4" name="Content Placeholder 3">
            <a:extLst>
              <a:ext uri="{FF2B5EF4-FFF2-40B4-BE49-F238E27FC236}">
                <a16:creationId xmlns:a16="http://schemas.microsoft.com/office/drawing/2014/main" id="{70BEA8AE-CDE1-48E3-876B-105EFD8ED2E4}"/>
              </a:ext>
            </a:extLst>
          </p:cNvPr>
          <p:cNvSpPr>
            <a:spLocks noGrp="1"/>
          </p:cNvSpPr>
          <p:nvPr>
            <p:ph idx="1"/>
          </p:nvPr>
        </p:nvSpPr>
        <p:spPr>
          <a:xfrm>
            <a:off x="474662" y="731838"/>
            <a:ext cx="4092907" cy="1913750"/>
          </a:xfrm>
        </p:spPr>
        <p:txBody>
          <a:bodyPr/>
          <a:lstStyle/>
          <a:p>
            <a:pPr marL="342900" indent="-342900" algn="l" rtl="0">
              <a:buFont typeface="+mj-lt"/>
              <a:buAutoNum type="arabicPeriod" startAt="3"/>
            </a:pPr>
            <a:r>
              <a:rPr lang="es-419" sz="1600" b="1">
                <a:solidFill>
                  <a:srgbClr val="000000"/>
                </a:solidFill>
              </a:rPr>
              <a:t>Habilite la WLAN para la VLAN 5:</a:t>
            </a:r>
            <a:r>
              <a:rPr lang="es-419" sz="1600">
                <a:solidFill>
                  <a:srgbClr val="000000"/>
                </a:solidFill>
              </a:rPr>
              <a:t>una vez que la WLAN, cambie el estado a </a:t>
            </a:r>
            <a:r>
              <a:rPr lang="es-419" sz="1600" b="1">
                <a:solidFill>
                  <a:srgbClr val="000000"/>
                </a:solidFill>
              </a:rPr>
              <a:t>Enabled</a:t>
            </a:r>
            <a:r>
              <a:rPr lang="es-419" sz="1600">
                <a:solidFill>
                  <a:srgbClr val="000000"/>
                </a:solidFill>
              </a:rPr>
              <a:t>, elija </a:t>
            </a:r>
            <a:r>
              <a:rPr lang="es-419" sz="1600" b="1">
                <a:solidFill>
                  <a:srgbClr val="000000"/>
                </a:solidFill>
              </a:rPr>
              <a:t>vlan5</a:t>
            </a:r>
            <a:r>
              <a:rPr lang="es-419" sz="1600">
                <a:solidFill>
                  <a:srgbClr val="000000"/>
                </a:solidFill>
              </a:rPr>
              <a:t> de la lista desplegable Interfaz/Grupo de interfaz (G), y luego haga clic en </a:t>
            </a:r>
            <a:r>
              <a:rPr lang="es-419" sz="1600" b="1">
                <a:solidFill>
                  <a:srgbClr val="000000"/>
                </a:solidFill>
              </a:rPr>
              <a:t>Apply</a:t>
            </a:r>
            <a:r>
              <a:rPr lang="es-419" sz="1600">
                <a:solidFill>
                  <a:srgbClr val="000000"/>
                </a:solidFill>
              </a:rPr>
              <a:t> y haga clic en </a:t>
            </a:r>
            <a:r>
              <a:rPr lang="es-419" sz="1600" b="1">
                <a:solidFill>
                  <a:srgbClr val="000000"/>
                </a:solidFill>
              </a:rPr>
              <a:t>OK</a:t>
            </a:r>
            <a:r>
              <a:rPr lang="es-419" sz="1600">
                <a:solidFill>
                  <a:srgbClr val="000000"/>
                </a:solidFill>
              </a:rPr>
              <a:t> para aceptar el mensaje emergente.</a:t>
            </a: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endParaRPr lang="en-US" sz="1600" b="1" dirty="0">
              <a:solidFill>
                <a:srgbClr val="000000"/>
              </a:solidFill>
            </a:endParaRPr>
          </a:p>
          <a:p>
            <a:pPr marL="342900" indent="-342900" algn="l" rtl="0">
              <a:buFont typeface="+mj-lt"/>
              <a:buAutoNum type="arabicPeriod" startAt="3"/>
            </a:pPr>
            <a:r>
              <a:rPr lang="es-419" sz="1600" b="1">
                <a:solidFill>
                  <a:srgbClr val="000000"/>
                </a:solidFill>
              </a:rPr>
              <a:t>Verifique los valores predeterminados de AES y 802.1X: </a:t>
            </a:r>
            <a:r>
              <a:rPr lang="es-419" sz="1600">
                <a:solidFill>
                  <a:srgbClr val="000000"/>
                </a:solidFill>
              </a:rPr>
              <a:t>haga clic en la pestaña </a:t>
            </a:r>
            <a:r>
              <a:rPr lang="es-419" sz="1600" b="1">
                <a:solidFill>
                  <a:srgbClr val="000000"/>
                </a:solidFill>
              </a:rPr>
              <a:t>Security</a:t>
            </a:r>
            <a:r>
              <a:rPr lang="es-419" sz="1600">
                <a:solidFill>
                  <a:srgbClr val="000000"/>
                </a:solidFill>
              </a:rPr>
              <a:t> para ver la configuración de seguridad predeterminada para la nueva WLAN.</a:t>
            </a:r>
            <a:r>
              <a:rPr lang="es-419" sz="1600" b="1">
                <a:solidFill>
                  <a:srgbClr val="000000"/>
                </a:solidFill>
              </a:rPr>
              <a:t> </a:t>
            </a:r>
          </a:p>
          <a:p>
            <a:pPr marL="0" indent="0" algn="l"/>
            <a:endParaRPr lang="en-US" sz="1600" dirty="0">
              <a:solidFill>
                <a:srgbClr val="000000"/>
              </a:solidFill>
            </a:endParaRPr>
          </a:p>
          <a:p>
            <a:pPr marL="342900" indent="-342900" algn="l">
              <a:buFont typeface="+mj-lt"/>
              <a:buAutoNum type="arabicPeriod" startAt="3"/>
            </a:pPr>
            <a:endParaRPr lang="en-US" sz="1600" dirty="0">
              <a:solidFill>
                <a:srgbClr val="000000"/>
              </a:solidFill>
            </a:endParaRPr>
          </a:p>
        </p:txBody>
      </p:sp>
      <p:pic>
        <p:nvPicPr>
          <p:cNvPr id="6" name="Picture 5">
            <a:extLst>
              <a:ext uri="{FF2B5EF4-FFF2-40B4-BE49-F238E27FC236}">
                <a16:creationId xmlns:a16="http://schemas.microsoft.com/office/drawing/2014/main" id="{4E8A6368-6F01-410F-B4A6-1DA34E5FCDE1}"/>
              </a:ext>
            </a:extLst>
          </p:cNvPr>
          <p:cNvPicPr>
            <a:picLocks noChangeAspect="1"/>
          </p:cNvPicPr>
          <p:nvPr/>
        </p:nvPicPr>
        <p:blipFill>
          <a:blip r:embed="rId3"/>
          <a:stretch>
            <a:fillRect/>
          </a:stretch>
        </p:blipFill>
        <p:spPr>
          <a:xfrm>
            <a:off x="4567569" y="673980"/>
            <a:ext cx="4538955" cy="1913751"/>
          </a:xfrm>
          <a:prstGeom prst="rect">
            <a:avLst/>
          </a:prstGeom>
        </p:spPr>
      </p:pic>
      <p:pic>
        <p:nvPicPr>
          <p:cNvPr id="7" name="Picture 6">
            <a:extLst>
              <a:ext uri="{FF2B5EF4-FFF2-40B4-BE49-F238E27FC236}">
                <a16:creationId xmlns:a16="http://schemas.microsoft.com/office/drawing/2014/main" id="{3A0D003A-CD1B-4E4C-9D74-5A5E0BAE545F}"/>
              </a:ext>
            </a:extLst>
          </p:cNvPr>
          <p:cNvPicPr>
            <a:picLocks noChangeAspect="1"/>
          </p:cNvPicPr>
          <p:nvPr/>
        </p:nvPicPr>
        <p:blipFill>
          <a:blip r:embed="rId4"/>
          <a:stretch>
            <a:fillRect/>
          </a:stretch>
        </p:blipFill>
        <p:spPr>
          <a:xfrm>
            <a:off x="4567569" y="2678518"/>
            <a:ext cx="4488428" cy="2213548"/>
          </a:xfrm>
          <a:prstGeom prst="rect">
            <a:avLst/>
          </a:prstGeom>
        </p:spPr>
      </p:pic>
    </p:spTree>
    <p:extLst>
      <p:ext uri="{BB962C8B-B14F-4D97-AF65-F5344CB8AC3E}">
        <p14:creationId xmlns:p14="http://schemas.microsoft.com/office/powerpoint/2010/main" val="3333108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Configure un WPA2 Enterprise WLAN en el WLC</a:t>
            </a:r>
            <a:br>
              <a:rPr lang="en-US" dirty="0"/>
            </a:br>
            <a:r>
              <a:rPr lang="es-419" sz="2400"/>
              <a:t>Configure un WPA2 Enterprise WLAN (Cont.)</a:t>
            </a:r>
          </a:p>
        </p:txBody>
      </p:sp>
      <p:sp>
        <p:nvSpPr>
          <p:cNvPr id="4" name="Content Placeholder 3">
            <a:extLst>
              <a:ext uri="{FF2B5EF4-FFF2-40B4-BE49-F238E27FC236}">
                <a16:creationId xmlns:a16="http://schemas.microsoft.com/office/drawing/2014/main" id="{70BEA8AE-CDE1-48E3-876B-105EFD8ED2E4}"/>
              </a:ext>
            </a:extLst>
          </p:cNvPr>
          <p:cNvSpPr>
            <a:spLocks noGrp="1"/>
          </p:cNvSpPr>
          <p:nvPr>
            <p:ph idx="1"/>
          </p:nvPr>
        </p:nvSpPr>
        <p:spPr>
          <a:xfrm>
            <a:off x="474663" y="731838"/>
            <a:ext cx="3990132" cy="1839912"/>
          </a:xfrm>
        </p:spPr>
        <p:txBody>
          <a:bodyPr/>
          <a:lstStyle/>
          <a:p>
            <a:pPr marL="342900" indent="-342900" algn="l" rtl="0">
              <a:buFont typeface="+mj-lt"/>
              <a:buAutoNum type="arabicPeriod" startAt="5"/>
            </a:pPr>
            <a:r>
              <a:rPr lang="es-419" sz="1600" b="1">
                <a:solidFill>
                  <a:srgbClr val="000000"/>
                </a:solidFill>
              </a:rPr>
              <a:t>Configure el servidor RADIUS: </a:t>
            </a:r>
            <a:r>
              <a:rPr lang="es-419" sz="1600">
                <a:solidFill>
                  <a:srgbClr val="000000"/>
                </a:solidFill>
              </a:rPr>
              <a:t>para seleccionar el servidor RADIUS que se utilizará para autenticar a los usuarios de WLAN, haga clic en </a:t>
            </a:r>
            <a:r>
              <a:rPr lang="es-419" sz="1600" b="1">
                <a:solidFill>
                  <a:srgbClr val="000000"/>
                </a:solidFill>
              </a:rPr>
              <a:t>la pestaña Servidor AAA</a:t>
            </a:r>
            <a:r>
              <a:rPr lang="es-419" sz="1600">
                <a:solidFill>
                  <a:srgbClr val="000000"/>
                </a:solidFill>
              </a:rPr>
              <a:t> y en el cuadro desplegable, seleccione el servidor RADIUS que se configuró en el WLC anteriormente y luego</a:t>
            </a:r>
            <a:r>
              <a:rPr lang="es-419" sz="1600" b="1">
                <a:solidFill>
                  <a:srgbClr val="000000"/>
                </a:solidFill>
              </a:rPr>
              <a:t> aplique </a:t>
            </a:r>
            <a:r>
              <a:rPr lang="es-419" sz="1600">
                <a:solidFill>
                  <a:srgbClr val="000000"/>
                </a:solidFill>
              </a:rPr>
              <a:t>los cambios.</a:t>
            </a:r>
          </a:p>
          <a:p>
            <a:pPr marL="342900" indent="-342900" algn="l">
              <a:buFont typeface="+mj-lt"/>
              <a:buAutoNum type="arabicPeriod" startAt="5"/>
            </a:pPr>
            <a:endParaRPr lang="en-US" sz="1600" dirty="0">
              <a:solidFill>
                <a:srgbClr val="000000"/>
              </a:solidFill>
            </a:endParaRPr>
          </a:p>
          <a:p>
            <a:pPr marL="342900" indent="-342900" algn="l" rtl="0">
              <a:buFont typeface="+mj-lt"/>
              <a:buAutoNum type="arabicPeriod" startAt="6"/>
            </a:pPr>
            <a:r>
              <a:rPr lang="es-419" sz="1600" b="1">
                <a:solidFill>
                  <a:srgbClr val="000000"/>
                </a:solidFill>
              </a:rPr>
              <a:t>Verifique que la nueva WLAN esté disponible: </a:t>
            </a:r>
            <a:r>
              <a:rPr lang="es-419" sz="1600">
                <a:solidFill>
                  <a:srgbClr val="000000"/>
                </a:solidFill>
              </a:rPr>
              <a:t>Para verificar que la nueva WLAN esté listada y habilitada, haga clic en el sub-menú </a:t>
            </a:r>
            <a:r>
              <a:rPr lang="es-419" sz="1600" b="1">
                <a:solidFill>
                  <a:srgbClr val="000000"/>
                </a:solidFill>
              </a:rPr>
              <a:t> WLAN.</a:t>
            </a:r>
          </a:p>
        </p:txBody>
      </p:sp>
      <p:pic>
        <p:nvPicPr>
          <p:cNvPr id="6" name="Picture 5">
            <a:extLst>
              <a:ext uri="{FF2B5EF4-FFF2-40B4-BE49-F238E27FC236}">
                <a16:creationId xmlns:a16="http://schemas.microsoft.com/office/drawing/2014/main" id="{E86ED0FB-7D8D-4147-869C-1C0F66020A0C}"/>
              </a:ext>
            </a:extLst>
          </p:cNvPr>
          <p:cNvPicPr>
            <a:picLocks noChangeAspect="1"/>
          </p:cNvPicPr>
          <p:nvPr/>
        </p:nvPicPr>
        <p:blipFill>
          <a:blip r:embed="rId3"/>
          <a:stretch>
            <a:fillRect/>
          </a:stretch>
        </p:blipFill>
        <p:spPr>
          <a:xfrm>
            <a:off x="4544465" y="680406"/>
            <a:ext cx="4582927" cy="2027063"/>
          </a:xfrm>
          <a:prstGeom prst="rect">
            <a:avLst/>
          </a:prstGeom>
        </p:spPr>
      </p:pic>
      <p:pic>
        <p:nvPicPr>
          <p:cNvPr id="7" name="Picture 6">
            <a:extLst>
              <a:ext uri="{FF2B5EF4-FFF2-40B4-BE49-F238E27FC236}">
                <a16:creationId xmlns:a16="http://schemas.microsoft.com/office/drawing/2014/main" id="{19CF0D25-40CA-4A3C-A5AA-91992AFC8AEE}"/>
              </a:ext>
            </a:extLst>
          </p:cNvPr>
          <p:cNvPicPr>
            <a:picLocks noChangeAspect="1"/>
          </p:cNvPicPr>
          <p:nvPr/>
        </p:nvPicPr>
        <p:blipFill>
          <a:blip r:embed="rId4"/>
          <a:stretch>
            <a:fillRect/>
          </a:stretch>
        </p:blipFill>
        <p:spPr>
          <a:xfrm>
            <a:off x="4544465" y="2991647"/>
            <a:ext cx="4572000" cy="1101487"/>
          </a:xfrm>
          <a:prstGeom prst="rect">
            <a:avLst/>
          </a:prstGeom>
        </p:spPr>
      </p:pic>
    </p:spTree>
    <p:extLst>
      <p:ext uri="{BB962C8B-B14F-4D97-AF65-F5344CB8AC3E}">
        <p14:creationId xmlns:p14="http://schemas.microsoft.com/office/powerpoint/2010/main" val="1559280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55657"/>
            <a:ext cx="8345488" cy="731837"/>
          </a:xfrm>
        </p:spPr>
        <p:txBody>
          <a:bodyPr/>
          <a:lstStyle/>
          <a:p>
            <a:pPr rtl="0"/>
            <a:r>
              <a:rPr lang="es-419" sz="1600"/>
              <a:t>Configure un WPA2 Enterprise WLAN en el WLC</a:t>
            </a:r>
            <a:br>
              <a:rPr lang="en-US" dirty="0"/>
            </a:br>
            <a:r>
              <a:rPr lang="es-419" sz="2400"/>
              <a:t>Packet Tracer - Configure un WPA2 Enterprise WLAN en el WLC</a:t>
            </a:r>
          </a:p>
        </p:txBody>
      </p:sp>
      <p:sp>
        <p:nvSpPr>
          <p:cNvPr id="4" name="Content Placeholder 3">
            <a:extLst>
              <a:ext uri="{FF2B5EF4-FFF2-40B4-BE49-F238E27FC236}">
                <a16:creationId xmlns:a16="http://schemas.microsoft.com/office/drawing/2014/main" id="{70BEA8AE-CDE1-48E3-876B-105EFD8ED2E4}"/>
              </a:ext>
            </a:extLst>
          </p:cNvPr>
          <p:cNvSpPr>
            <a:spLocks noGrp="1"/>
          </p:cNvSpPr>
          <p:nvPr>
            <p:ph idx="1"/>
          </p:nvPr>
        </p:nvSpPr>
        <p:spPr>
          <a:xfrm>
            <a:off x="474662" y="970059"/>
            <a:ext cx="8280057" cy="3451675"/>
          </a:xfrm>
        </p:spPr>
        <p:txBody>
          <a:bodyPr/>
          <a:lstStyle/>
          <a:p>
            <a:pPr marL="0" indent="0" algn="l" rtl="0"/>
            <a:r>
              <a:rPr lang="es-419" sz="1600">
                <a:solidFill>
                  <a:srgbClr val="000000"/>
                </a:solidFill>
              </a:rPr>
              <a:t>En esta actividad de Packet Tracer, configurará una nueva WLAN en un controlador de LAN inalámbrica (WLC), incluida la interfaz VLAN que utilizará. Usted va a configurar la WLAN para que use un servidor RADIUS y WPA2-Enterprise para autenticar usuarios. Configure también el WLC para usar un servidor SNMP.</a:t>
            </a:r>
          </a:p>
          <a:p>
            <a:pPr marL="285750" indent="-285750" algn="l" rtl="0">
              <a:buFont typeface="Arial" panose="020B0604020202020204" pitchFamily="34" charset="0"/>
              <a:buChar char="•"/>
            </a:pPr>
            <a:r>
              <a:rPr lang="es-419" sz="1400">
                <a:solidFill>
                  <a:srgbClr val="000000"/>
                </a:solidFill>
              </a:rPr>
              <a:t>Configure una nueva interfaz VLAN en un WLC.</a:t>
            </a:r>
          </a:p>
          <a:p>
            <a:pPr marL="285750" indent="-285750" algn="l" rtl="0">
              <a:buFont typeface="Arial" panose="020B0604020202020204" pitchFamily="34" charset="0"/>
              <a:buChar char="•"/>
            </a:pPr>
            <a:r>
              <a:rPr lang="es-419" sz="1400">
                <a:solidFill>
                  <a:srgbClr val="000000"/>
                </a:solidFill>
              </a:rPr>
              <a:t>Configure una nueva WLAN en un WLC.</a:t>
            </a:r>
          </a:p>
          <a:p>
            <a:pPr marL="285750" indent="-285750" algn="l" rtl="0">
              <a:buFont typeface="Arial" panose="020B0604020202020204" pitchFamily="34" charset="0"/>
              <a:buChar char="•"/>
            </a:pPr>
            <a:r>
              <a:rPr lang="es-419" sz="1400">
                <a:solidFill>
                  <a:srgbClr val="000000"/>
                </a:solidFill>
              </a:rPr>
              <a:t>Configure un nuevo alcance en el servidor DHCP interno del WLC.</a:t>
            </a:r>
          </a:p>
          <a:p>
            <a:pPr marL="285750" indent="-285750" algn="l" rtl="0">
              <a:buFont typeface="Arial" panose="020B0604020202020204" pitchFamily="34" charset="0"/>
              <a:buChar char="•"/>
            </a:pPr>
            <a:r>
              <a:rPr lang="es-419" sz="1400">
                <a:solidFill>
                  <a:srgbClr val="000000"/>
                </a:solidFill>
              </a:rPr>
              <a:t>Configure el WLC con la configuración de SNMP.</a:t>
            </a:r>
          </a:p>
          <a:p>
            <a:pPr marL="285750" indent="-285750" algn="l" rtl="0">
              <a:buFont typeface="Arial" panose="020B0604020202020204" pitchFamily="34" charset="0"/>
              <a:buChar char="•"/>
            </a:pPr>
            <a:r>
              <a:rPr lang="es-419" sz="1400">
                <a:solidFill>
                  <a:srgbClr val="000000"/>
                </a:solidFill>
              </a:rPr>
              <a:t>Configure el WLC para usar un servidor RADIUS para autenticar a los usuarios de WLAN.</a:t>
            </a:r>
          </a:p>
          <a:p>
            <a:pPr marL="285750" indent="-285750" algn="l" rtl="0">
              <a:buFont typeface="Arial" panose="020B0604020202020204" pitchFamily="34" charset="0"/>
              <a:buChar char="•"/>
            </a:pPr>
            <a:r>
              <a:rPr lang="es-419" sz="1400">
                <a:solidFill>
                  <a:srgbClr val="000000"/>
                </a:solidFill>
              </a:rPr>
              <a:t>Asegure una WLAN con WPA2-Enterprise.</a:t>
            </a:r>
          </a:p>
          <a:p>
            <a:pPr marL="285750" indent="-285750" algn="l" rtl="0">
              <a:buFont typeface="Arial" panose="020B0604020202020204" pitchFamily="34" charset="0"/>
              <a:buChar char="•"/>
            </a:pPr>
            <a:r>
              <a:rPr lang="es-419" sz="1400">
                <a:solidFill>
                  <a:srgbClr val="000000"/>
                </a:solidFill>
              </a:rPr>
              <a:t>Conecte el hosts a la nueva WLC.</a:t>
            </a: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7558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13.4 - Solucionar problemas de WLAN</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de WLAN</a:t>
            </a:r>
            <a:br>
              <a:rPr lang="en-US" dirty="0"/>
            </a:br>
            <a:r>
              <a:rPr lang="es-419" sz="2400"/>
              <a:t>Enfoques de solución de problemas</a:t>
            </a:r>
          </a:p>
        </p:txBody>
      </p:sp>
      <p:sp>
        <p:nvSpPr>
          <p:cNvPr id="6" name="Content Placeholder 5">
            <a:extLst>
              <a:ext uri="{FF2B5EF4-FFF2-40B4-BE49-F238E27FC236}">
                <a16:creationId xmlns:a16="http://schemas.microsoft.com/office/drawing/2014/main" id="{AF0D3419-545B-B24A-9B1C-EA3F67EB84C2}"/>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Los problemas de red pueden ser simples o complejos, y pueden ser el resultado de una combinación de problemas de hardware, software y conectividad. </a:t>
            </a:r>
          </a:p>
          <a:p>
            <a:pPr marL="285750" indent="-285750" algn="l" rtl="0">
              <a:buFont typeface="Arial" panose="020B0604020202020204" pitchFamily="34" charset="0"/>
              <a:buChar char="•"/>
            </a:pPr>
            <a:r>
              <a:rPr lang="es-419" sz="1400">
                <a:solidFill>
                  <a:srgbClr val="000000"/>
                </a:solidFill>
              </a:rPr>
              <a:t>Los técnicos informáticos deben ser capaces de analizar el problema y determinar la causa del error para poder reparar el problema de red. </a:t>
            </a:r>
          </a:p>
          <a:p>
            <a:pPr marL="285750" indent="-285750" algn="l" rtl="0">
              <a:buFont typeface="Arial" panose="020B0604020202020204" pitchFamily="34" charset="0"/>
              <a:buChar char="•"/>
            </a:pPr>
            <a:r>
              <a:rPr lang="es-419" sz="1400">
                <a:solidFill>
                  <a:srgbClr val="000000"/>
                </a:solidFill>
              </a:rPr>
              <a:t>Este proceso se denomina “solución de problemas”.</a:t>
            </a:r>
          </a:p>
          <a:p>
            <a:pPr marL="0" indent="0" algn="l"/>
            <a:endParaRPr lang="en-US" sz="1600" dirty="0">
              <a:solidFill>
                <a:srgbClr val="000000"/>
              </a:solidFill>
            </a:endParaRPr>
          </a:p>
          <a:p>
            <a:pPr marL="0" indent="0" algn="l" rtl="0"/>
            <a:r>
              <a:rPr lang="es-419" sz="1600">
                <a:solidFill>
                  <a:srgbClr val="000000"/>
                </a:solidFill>
              </a:rPr>
              <a:t>La resolución de cualquier tipo de problemas de red debe seguir un método sistemático. </a:t>
            </a:r>
          </a:p>
          <a:p>
            <a:pPr marL="0" indent="0" algn="l"/>
            <a:endParaRPr lang="en-US" sz="1600" dirty="0">
              <a:solidFill>
                <a:srgbClr val="000000"/>
              </a:solidFill>
            </a:endParaRPr>
          </a:p>
          <a:p>
            <a:pPr marL="0" indent="0" algn="l" rtl="0"/>
            <a:r>
              <a:rPr lang="es-419" sz="1600">
                <a:solidFill>
                  <a:srgbClr val="000000"/>
                </a:solidFill>
              </a:rPr>
              <a:t>Una metodología de solución de problemas común y eficiente se basa en el método científico y puede dividirse en los seis pasos principales que se muestran en la tabla de la siguiente diapositiva.</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de WLAN</a:t>
            </a:r>
            <a:br>
              <a:rPr lang="en-US" dirty="0"/>
            </a:br>
            <a:r>
              <a:rPr lang="es-419" sz="2400"/>
              <a:t>Enfoques de solución de problemas (Cont.)</a:t>
            </a:r>
          </a:p>
        </p:txBody>
      </p:sp>
      <p:graphicFrame>
        <p:nvGraphicFramePr>
          <p:cNvPr id="2" name="Table 3">
            <a:extLst>
              <a:ext uri="{FF2B5EF4-FFF2-40B4-BE49-F238E27FC236}">
                <a16:creationId xmlns:a16="http://schemas.microsoft.com/office/drawing/2014/main" id="{C250B5B8-7192-4B28-A96C-ECC48481D5DA}"/>
              </a:ext>
            </a:extLst>
          </p:cNvPr>
          <p:cNvGraphicFramePr>
            <a:graphicFrameLocks noGrp="1"/>
          </p:cNvGraphicFramePr>
          <p:nvPr>
            <p:extLst>
              <p:ext uri="{D42A27DB-BD31-4B8C-83A1-F6EECF244321}">
                <p14:modId xmlns:p14="http://schemas.microsoft.com/office/powerpoint/2010/main" val="1192897557"/>
              </p:ext>
            </p:extLst>
          </p:nvPr>
        </p:nvGraphicFramePr>
        <p:xfrm>
          <a:off x="474662" y="731837"/>
          <a:ext cx="8194676" cy="3888359"/>
        </p:xfrm>
        <a:graphic>
          <a:graphicData uri="http://schemas.openxmlformats.org/drawingml/2006/table">
            <a:tbl>
              <a:tblPr firstRow="1" bandRow="1">
                <a:tableStyleId>{5C22544A-7EE6-4342-B048-85BDC9FD1C3A}</a:tableStyleId>
              </a:tblPr>
              <a:tblGrid>
                <a:gridCol w="415884">
                  <a:extLst>
                    <a:ext uri="{9D8B030D-6E8A-4147-A177-3AD203B41FA5}">
                      <a16:colId xmlns:a16="http://schemas.microsoft.com/office/drawing/2014/main" val="1172171524"/>
                    </a:ext>
                  </a:extLst>
                </a:gridCol>
                <a:gridCol w="2409245">
                  <a:extLst>
                    <a:ext uri="{9D8B030D-6E8A-4147-A177-3AD203B41FA5}">
                      <a16:colId xmlns:a16="http://schemas.microsoft.com/office/drawing/2014/main" val="3464308579"/>
                    </a:ext>
                  </a:extLst>
                </a:gridCol>
                <a:gridCol w="5369547">
                  <a:extLst>
                    <a:ext uri="{9D8B030D-6E8A-4147-A177-3AD203B41FA5}">
                      <a16:colId xmlns:a16="http://schemas.microsoft.com/office/drawing/2014/main" val="182078566"/>
                    </a:ext>
                  </a:extLst>
                </a:gridCol>
              </a:tblGrid>
              <a:tr h="377956">
                <a:tc>
                  <a:txBody>
                    <a:bodyPr/>
                    <a:lstStyle/>
                    <a:p>
                      <a:pPr algn="l" rtl="0" fontAlgn="ctr"/>
                      <a:r>
                        <a:rPr lang="es-419" sz="1100" b="1">
                          <a:effectLst/>
                        </a:rPr>
                        <a:t>Paso</a:t>
                      </a:r>
                    </a:p>
                  </a:txBody>
                  <a:tcPr marL="47625" marR="47625" marT="47625" marB="47625" anchor="ctr"/>
                </a:tc>
                <a:tc>
                  <a:txBody>
                    <a:bodyPr/>
                    <a:lstStyle/>
                    <a:p>
                      <a:pPr algn="l" rtl="0" fontAlgn="ctr"/>
                      <a:r>
                        <a:rPr lang="es-419" sz="1100" b="1">
                          <a:effectLst/>
                        </a:rPr>
                        <a:t>Título</a:t>
                      </a:r>
                    </a:p>
                  </a:txBody>
                  <a:tcPr marL="47625" marR="47625" marT="47625" marB="47625" anchor="ctr"/>
                </a:tc>
                <a:tc>
                  <a:txBody>
                    <a:bodyPr/>
                    <a:lstStyle/>
                    <a:p>
                      <a:pPr algn="l" rtl="0" fontAlgn="ctr"/>
                      <a:r>
                        <a:rPr lang="es-419" sz="1100" b="1">
                          <a:effectLst/>
                        </a:rPr>
                        <a:t>Descripción</a:t>
                      </a:r>
                    </a:p>
                  </a:txBody>
                  <a:tcPr marL="47625" marR="47625" marT="47625" marB="47625" anchor="ctr"/>
                </a:tc>
                <a:extLst>
                  <a:ext uri="{0D108BD9-81ED-4DB2-BD59-A6C34878D82A}">
                    <a16:rowId xmlns:a16="http://schemas.microsoft.com/office/drawing/2014/main" val="4180620315"/>
                  </a:ext>
                </a:extLst>
              </a:tr>
              <a:tr h="527889">
                <a:tc>
                  <a:txBody>
                    <a:bodyPr/>
                    <a:lstStyle/>
                    <a:p>
                      <a:pPr rtl="0" fontAlgn="ctr"/>
                      <a:r>
                        <a:rPr lang="es-419" sz="1100" b="0">
                          <a:effectLst/>
                        </a:rPr>
                        <a:t>1</a:t>
                      </a:r>
                    </a:p>
                  </a:txBody>
                  <a:tcPr marL="47625" marR="47625" marT="47625" marB="47625" anchor="ctr"/>
                </a:tc>
                <a:tc>
                  <a:txBody>
                    <a:bodyPr/>
                    <a:lstStyle/>
                    <a:p>
                      <a:pPr rtl="0" fontAlgn="ctr"/>
                      <a:r>
                        <a:rPr lang="es-419" sz="1100" b="0">
                          <a:effectLst/>
                        </a:rPr>
                        <a:t>Identificación del problema</a:t>
                      </a:r>
                    </a:p>
                  </a:txBody>
                  <a:tcPr marL="47625" marR="47625" marT="47625" marB="47625" anchor="ctr"/>
                </a:tc>
                <a:tc>
                  <a:txBody>
                    <a:bodyPr/>
                    <a:lstStyle/>
                    <a:p>
                      <a:pPr rtl="0" fontAlgn="ctr"/>
                      <a:r>
                        <a:rPr lang="es-419" sz="1100" b="0">
                          <a:effectLst/>
                        </a:rPr>
                        <a:t>El primer paso del proceso de solución de problemas consiste en identificar el problema. Aunque se pueden usar herramientas en este paso, una conversación con el usuario suele ser muy útil.</a:t>
                      </a:r>
                    </a:p>
                  </a:txBody>
                  <a:tcPr marL="47625" marR="47625" marT="47625" marB="47625" anchor="ctr"/>
                </a:tc>
                <a:extLst>
                  <a:ext uri="{0D108BD9-81ED-4DB2-BD59-A6C34878D82A}">
                    <a16:rowId xmlns:a16="http://schemas.microsoft.com/office/drawing/2014/main" val="2333838573"/>
                  </a:ext>
                </a:extLst>
              </a:tr>
              <a:tr h="527889">
                <a:tc>
                  <a:txBody>
                    <a:bodyPr/>
                    <a:lstStyle/>
                    <a:p>
                      <a:pPr rtl="0" fontAlgn="ctr"/>
                      <a:r>
                        <a:rPr lang="es-419" sz="1100" b="0">
                          <a:effectLst/>
                        </a:rPr>
                        <a:t>2</a:t>
                      </a:r>
                    </a:p>
                  </a:txBody>
                  <a:tcPr marL="47625" marR="47625" marT="47625" marB="47625" anchor="ctr"/>
                </a:tc>
                <a:tc>
                  <a:txBody>
                    <a:bodyPr/>
                    <a:lstStyle/>
                    <a:p>
                      <a:pPr rtl="0" fontAlgn="ctr"/>
                      <a:r>
                        <a:rPr lang="es-419" sz="1100" b="0">
                          <a:effectLst/>
                        </a:rPr>
                        <a:t>Establecer una teoría de causas probables</a:t>
                      </a:r>
                    </a:p>
                  </a:txBody>
                  <a:tcPr marL="47625" marR="47625" marT="47625" marB="47625" anchor="ctr"/>
                </a:tc>
                <a:tc>
                  <a:txBody>
                    <a:bodyPr/>
                    <a:lstStyle/>
                    <a:p>
                      <a:pPr rtl="0" fontAlgn="ctr"/>
                      <a:r>
                        <a:rPr lang="es-419" sz="1100" b="0">
                          <a:effectLst/>
                        </a:rPr>
                        <a:t>Después de hablar con el usuario e identificar el problema, puede probar y establecer una teoría de causas probables. Este paso generalmente permite ver más causas probables del problema.</a:t>
                      </a:r>
                    </a:p>
                  </a:txBody>
                  <a:tcPr marL="47625" marR="47625" marT="47625" marB="47625" anchor="ctr"/>
                </a:tc>
                <a:extLst>
                  <a:ext uri="{0D108BD9-81ED-4DB2-BD59-A6C34878D82A}">
                    <a16:rowId xmlns:a16="http://schemas.microsoft.com/office/drawing/2014/main" val="1370803285"/>
                  </a:ext>
                </a:extLst>
              </a:tr>
              <a:tr h="827755">
                <a:tc>
                  <a:txBody>
                    <a:bodyPr/>
                    <a:lstStyle/>
                    <a:p>
                      <a:pPr rtl="0" fontAlgn="ctr"/>
                      <a:r>
                        <a:rPr lang="es-419" sz="1100" b="0">
                          <a:effectLst/>
                        </a:rPr>
                        <a:t>3</a:t>
                      </a:r>
                    </a:p>
                  </a:txBody>
                  <a:tcPr marL="47625" marR="47625" marT="47625" marB="47625" anchor="ctr"/>
                </a:tc>
                <a:tc>
                  <a:txBody>
                    <a:bodyPr/>
                    <a:lstStyle/>
                    <a:p>
                      <a:pPr rtl="0" fontAlgn="ctr"/>
                      <a:r>
                        <a:rPr lang="es-419" sz="1100" b="0">
                          <a:effectLst/>
                        </a:rPr>
                        <a:t>Prueba la teoría para determinar la causa</a:t>
                      </a:r>
                    </a:p>
                  </a:txBody>
                  <a:tcPr marL="47625" marR="47625" marT="47625" marB="47625" anchor="ctr"/>
                </a:tc>
                <a:tc>
                  <a:txBody>
                    <a:bodyPr/>
                    <a:lstStyle/>
                    <a:p>
                      <a:pPr rtl="0" fontAlgn="ctr"/>
                      <a:r>
                        <a:rPr lang="es-419" sz="1100" b="0">
                          <a:effectLst/>
                        </a:rPr>
                        <a:t>Según las causas probables, pruebe sus teorías para determinar cuál es la causa del problema. El técnico aplica a menudo un procedimiento rápido para probar y ver si resuelve el problema. Si el problema no se corrige con un procedimiento rápido, quizá deba continuar investigando el problema para establecer la causa exacta.</a:t>
                      </a:r>
                    </a:p>
                  </a:txBody>
                  <a:tcPr marL="47625" marR="47625" marT="47625" marB="47625" anchor="ctr"/>
                </a:tc>
                <a:extLst>
                  <a:ext uri="{0D108BD9-81ED-4DB2-BD59-A6C34878D82A}">
                    <a16:rowId xmlns:a16="http://schemas.microsoft.com/office/drawing/2014/main" val="1313660528"/>
                  </a:ext>
                </a:extLst>
              </a:tr>
              <a:tr h="527889">
                <a:tc>
                  <a:txBody>
                    <a:bodyPr/>
                    <a:lstStyle/>
                    <a:p>
                      <a:pPr rtl="0" fontAlgn="ctr"/>
                      <a:r>
                        <a:rPr lang="es-419" sz="1100" b="0">
                          <a:effectLst/>
                        </a:rPr>
                        <a:t>4</a:t>
                      </a:r>
                    </a:p>
                  </a:txBody>
                  <a:tcPr marL="47625" marR="47625" marT="47625" marB="47625" anchor="ctr"/>
                </a:tc>
                <a:tc>
                  <a:txBody>
                    <a:bodyPr/>
                    <a:lstStyle/>
                    <a:p>
                      <a:pPr rtl="0" fontAlgn="ctr"/>
                      <a:r>
                        <a:rPr lang="es-419" sz="1100" b="0">
                          <a:effectLst/>
                        </a:rPr>
                        <a:t>Establecer un plan de acción para resolver el problema e implementar la solución</a:t>
                      </a:r>
                    </a:p>
                  </a:txBody>
                  <a:tcPr marL="47625" marR="47625" marT="47625" marB="47625" anchor="ctr"/>
                </a:tc>
                <a:tc>
                  <a:txBody>
                    <a:bodyPr/>
                    <a:lstStyle/>
                    <a:p>
                      <a:pPr rtl="0" fontAlgn="ctr"/>
                      <a:r>
                        <a:rPr lang="es-419" sz="1100" b="0">
                          <a:effectLst/>
                        </a:rPr>
                        <a:t>Una vez que haya determinado la causa exacta del problema, establezca un plan de acción para resolver el problema e implementar la solución.</a:t>
                      </a:r>
                    </a:p>
                  </a:txBody>
                  <a:tcPr marL="47625" marR="47625" marT="47625" marB="47625" anchor="ctr"/>
                </a:tc>
                <a:extLst>
                  <a:ext uri="{0D108BD9-81ED-4DB2-BD59-A6C34878D82A}">
                    <a16:rowId xmlns:a16="http://schemas.microsoft.com/office/drawing/2014/main" val="2026619238"/>
                  </a:ext>
                </a:extLst>
              </a:tr>
              <a:tr h="527889">
                <a:tc>
                  <a:txBody>
                    <a:bodyPr/>
                    <a:lstStyle/>
                    <a:p>
                      <a:pPr rtl="0" fontAlgn="ctr"/>
                      <a:r>
                        <a:rPr lang="es-419" sz="1100" b="0">
                          <a:effectLst/>
                        </a:rPr>
                        <a:t>5</a:t>
                      </a:r>
                    </a:p>
                  </a:txBody>
                  <a:tcPr marL="47625" marR="47625" marT="47625" marB="47625" anchor="ctr"/>
                </a:tc>
                <a:tc>
                  <a:txBody>
                    <a:bodyPr/>
                    <a:lstStyle/>
                    <a:p>
                      <a:pPr rtl="0" fontAlgn="ctr"/>
                      <a:r>
                        <a:rPr lang="es-419" sz="1100" b="0">
                          <a:effectLst/>
                        </a:rPr>
                        <a:t>Verificar la funcionalidad total del sistema e implementar medidas preventivas</a:t>
                      </a:r>
                    </a:p>
                  </a:txBody>
                  <a:tcPr marL="47625" marR="47625" marT="47625" marB="47625" anchor="ctr"/>
                </a:tc>
                <a:tc>
                  <a:txBody>
                    <a:bodyPr/>
                    <a:lstStyle/>
                    <a:p>
                      <a:pPr rtl="0" fontAlgn="ctr"/>
                      <a:r>
                        <a:rPr lang="es-419" sz="1100" b="0">
                          <a:effectLst/>
                        </a:rPr>
                        <a:t>Una vez que haya corregido el problema, verifique la funcionalidad total y, si corresponde, implemente medidas preventivas.</a:t>
                      </a:r>
                    </a:p>
                  </a:txBody>
                  <a:tcPr marL="47625" marR="47625" marT="47625" marB="47625" anchor="ctr"/>
                </a:tc>
                <a:extLst>
                  <a:ext uri="{0D108BD9-81ED-4DB2-BD59-A6C34878D82A}">
                    <a16:rowId xmlns:a16="http://schemas.microsoft.com/office/drawing/2014/main" val="1889553315"/>
                  </a:ext>
                </a:extLst>
              </a:tr>
              <a:tr h="385487">
                <a:tc>
                  <a:txBody>
                    <a:bodyPr/>
                    <a:lstStyle/>
                    <a:p>
                      <a:pPr rtl="0" fontAlgn="ctr"/>
                      <a:r>
                        <a:rPr lang="es-419" sz="1100" b="0">
                          <a:effectLst/>
                        </a:rPr>
                        <a:t>6</a:t>
                      </a:r>
                    </a:p>
                  </a:txBody>
                  <a:tcPr marL="47625" marR="47625" marT="47625" marB="47625" anchor="ctr"/>
                </a:tc>
                <a:tc>
                  <a:txBody>
                    <a:bodyPr/>
                    <a:lstStyle/>
                    <a:p>
                      <a:pPr rtl="0" fontAlgn="ctr"/>
                      <a:r>
                        <a:rPr lang="es-419" sz="1100" b="0">
                          <a:effectLst/>
                        </a:rPr>
                        <a:t>Registrar hallazgos, acciones y resultados</a:t>
                      </a:r>
                    </a:p>
                  </a:txBody>
                  <a:tcPr marL="47625" marR="47625" marT="47625" marB="47625" anchor="ctr"/>
                </a:tc>
                <a:tc>
                  <a:txBody>
                    <a:bodyPr/>
                    <a:lstStyle/>
                    <a:p>
                      <a:pPr rtl="0" fontAlgn="ctr"/>
                      <a:r>
                        <a:rPr lang="es-419" sz="1100" b="0">
                          <a:effectLst/>
                        </a:rPr>
                        <a:t>El último paso del proceso de solución de problemas consiste en registrar los hallazgos, las acciones y los resultados. Esto es muy importante para referencia futura.</a:t>
                      </a:r>
                    </a:p>
                  </a:txBody>
                  <a:tcPr marL="47625" marR="47625" marT="47625" marB="47625" anchor="ctr"/>
                </a:tc>
                <a:extLst>
                  <a:ext uri="{0D108BD9-81ED-4DB2-BD59-A6C34878D82A}">
                    <a16:rowId xmlns:a16="http://schemas.microsoft.com/office/drawing/2014/main" val="281972123"/>
                  </a:ext>
                </a:extLst>
              </a:tr>
            </a:tbl>
          </a:graphicData>
        </a:graphic>
      </p:graphicFrame>
    </p:spTree>
    <p:extLst>
      <p:ext uri="{BB962C8B-B14F-4D97-AF65-F5344CB8AC3E}">
        <p14:creationId xmlns:p14="http://schemas.microsoft.com/office/powerpoint/2010/main" val="433712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de WLAN</a:t>
            </a:r>
            <a:br>
              <a:rPr lang="en-US" dirty="0"/>
            </a:br>
            <a:r>
              <a:rPr lang="es-419" sz="2400"/>
              <a:t>El cliente inalámbrico no se conecta</a:t>
            </a:r>
          </a:p>
        </p:txBody>
      </p:sp>
      <p:sp>
        <p:nvSpPr>
          <p:cNvPr id="5" name="Content Placeholder 4">
            <a:extLst>
              <a:ext uri="{FF2B5EF4-FFF2-40B4-BE49-F238E27FC236}">
                <a16:creationId xmlns:a16="http://schemas.microsoft.com/office/drawing/2014/main" id="{77420209-1313-435F-B8D4-106AF64B55C0}"/>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Si no hay conectividad, compruebe lo siguiente:</a:t>
            </a:r>
          </a:p>
          <a:p>
            <a:pPr marL="415985" lvl="1" indent="-342900" rtl="0">
              <a:spcBef>
                <a:spcPts val="0"/>
              </a:spcBef>
              <a:buFont typeface="Arial" panose="020B0604020202020204" pitchFamily="34" charset="0"/>
              <a:buChar char="•"/>
            </a:pPr>
            <a:r>
              <a:rPr lang="es-419">
                <a:solidFill>
                  <a:srgbClr val="000000"/>
                </a:solidFill>
              </a:rPr>
              <a:t>Confirme la configuración de red en la PC usando el comando </a:t>
            </a:r>
            <a:r>
              <a:rPr lang="es-419" b="1">
                <a:solidFill>
                  <a:srgbClr val="000000"/>
                </a:solidFill>
              </a:rPr>
              <a:t>ipconfig</a:t>
            </a:r>
            <a:r>
              <a:rPr lang="es-419">
                <a:solidFill>
                  <a:srgbClr val="000000"/>
                </a:solidFill>
              </a:rPr>
              <a:t>.</a:t>
            </a:r>
          </a:p>
          <a:p>
            <a:pPr marL="415985" lvl="1" indent="-342900" rtl="0">
              <a:spcBef>
                <a:spcPts val="0"/>
              </a:spcBef>
              <a:buFont typeface="Arial" panose="020B0604020202020204" pitchFamily="34" charset="0"/>
              <a:buChar char="•"/>
            </a:pPr>
            <a:r>
              <a:rPr lang="es-419">
                <a:solidFill>
                  <a:srgbClr val="000000"/>
                </a:solidFill>
              </a:rPr>
              <a:t>Confirme que el dispositivo puede conectarse a una red conectada por cable. Haga ping a una dirección IP conocida.</a:t>
            </a:r>
          </a:p>
          <a:p>
            <a:pPr marL="415985" lvl="1" indent="-342900" rtl="0">
              <a:spcBef>
                <a:spcPts val="0"/>
              </a:spcBef>
              <a:buFont typeface="Arial" panose="020B0604020202020204" pitchFamily="34" charset="0"/>
              <a:buChar char="•"/>
            </a:pPr>
            <a:r>
              <a:rPr lang="es-419">
                <a:solidFill>
                  <a:srgbClr val="000000"/>
                </a:solidFill>
              </a:rPr>
              <a:t>Si es necesario, vuelva a cargar los controladores según corresponda para el cliente o pruebe con una NIC inalámbrica diferente.</a:t>
            </a:r>
          </a:p>
          <a:p>
            <a:pPr marL="415985" lvl="1" indent="-342900" rtl="0">
              <a:spcBef>
                <a:spcPts val="0"/>
              </a:spcBef>
              <a:buFont typeface="Arial" panose="020B0604020202020204" pitchFamily="34" charset="0"/>
              <a:buChar char="•"/>
            </a:pPr>
            <a:r>
              <a:rPr lang="es-419">
                <a:solidFill>
                  <a:srgbClr val="000000"/>
                </a:solidFill>
              </a:rPr>
              <a:t>Si la NIC inalámbrica del cliente funciona, compruebe el modo seguridad y la configuración de encriptación en el cliente. </a:t>
            </a:r>
          </a:p>
          <a:p>
            <a:pPr marL="0" indent="0" algn="l"/>
            <a:endParaRPr lang="en-US" sz="1600" dirty="0">
              <a:solidFill>
                <a:srgbClr val="000000"/>
              </a:solidFill>
            </a:endParaRPr>
          </a:p>
          <a:p>
            <a:pPr marL="0" indent="0" algn="l" rtl="0"/>
            <a:r>
              <a:rPr lang="es-419" sz="1600">
                <a:solidFill>
                  <a:srgbClr val="000000"/>
                </a:solidFill>
              </a:rPr>
              <a:t>Si la computadora funciona pero la conexión inalámbrica funciona de manera deficiente, revise lo siguiente:</a:t>
            </a:r>
          </a:p>
          <a:p>
            <a:pPr marL="415985" lvl="1" indent="-342900" rtl="0">
              <a:buFont typeface="Arial" panose="020B0604020202020204" pitchFamily="34" charset="0"/>
              <a:buChar char="•"/>
            </a:pPr>
            <a:r>
              <a:rPr lang="es-419">
                <a:solidFill>
                  <a:srgbClr val="000000"/>
                </a:solidFill>
              </a:rPr>
              <a:t>¿La computadora está fuera del área de cobertura planificada (BSA)?</a:t>
            </a:r>
          </a:p>
          <a:p>
            <a:pPr marL="415985" lvl="1" indent="-342900" rtl="0">
              <a:buFont typeface="Arial" panose="020B0604020202020204" pitchFamily="34" charset="0"/>
              <a:buChar char="•"/>
            </a:pPr>
            <a:r>
              <a:rPr lang="es-419">
                <a:solidFill>
                  <a:srgbClr val="000000"/>
                </a:solidFill>
              </a:rPr>
              <a:t>Revise la configuración de canales en el cliente inalámbrico. </a:t>
            </a:r>
          </a:p>
          <a:p>
            <a:pPr marL="415985" lvl="1" indent="-342900" rtl="0">
              <a:buFont typeface="Arial" panose="020B0604020202020204" pitchFamily="34" charset="0"/>
              <a:buChar char="•"/>
            </a:pPr>
            <a:r>
              <a:rPr lang="es-419">
                <a:solidFill>
                  <a:srgbClr val="000000"/>
                </a:solidFill>
              </a:rPr>
              <a:t>Verifique la interferencia con la banda de 2.4 GHz.</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512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de WLAN</a:t>
            </a:r>
            <a:br>
              <a:rPr lang="en-US" dirty="0"/>
            </a:br>
            <a:r>
              <a:rPr lang="es-419" sz="2400"/>
              <a:t>Cliente Inalámbrico no se esta conectando (Cont.)</a:t>
            </a:r>
          </a:p>
        </p:txBody>
      </p:sp>
      <p:sp>
        <p:nvSpPr>
          <p:cNvPr id="5" name="Content Placeholder 4">
            <a:extLst>
              <a:ext uri="{FF2B5EF4-FFF2-40B4-BE49-F238E27FC236}">
                <a16:creationId xmlns:a16="http://schemas.microsoft.com/office/drawing/2014/main" id="{77420209-1313-435F-B8D4-106AF64B55C0}"/>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A continuación, asegúrese de que todos los dispositivos estén realmente en su lugar. </a:t>
            </a:r>
          </a:p>
          <a:p>
            <a:pPr marL="285750" indent="-285750" algn="l" rtl="0">
              <a:buFont typeface="Arial" panose="020B0604020202020204" pitchFamily="34" charset="0"/>
              <a:buChar char="•"/>
            </a:pPr>
            <a:r>
              <a:rPr lang="es-419" sz="1400">
                <a:solidFill>
                  <a:srgbClr val="000000"/>
                </a:solidFill>
              </a:rPr>
              <a:t>Considere un posible problema de seguridad física. </a:t>
            </a:r>
          </a:p>
          <a:p>
            <a:pPr marL="285750" indent="-285750" algn="l" rtl="0">
              <a:buFont typeface="Arial" panose="020B0604020202020204" pitchFamily="34" charset="0"/>
              <a:buChar char="•"/>
            </a:pPr>
            <a:r>
              <a:rPr lang="es-419" sz="1400">
                <a:solidFill>
                  <a:srgbClr val="000000"/>
                </a:solidFill>
              </a:rPr>
              <a:t>¿Hay alimentación para todos los dispositivos, y estos están encendidos?</a:t>
            </a:r>
          </a:p>
          <a:p>
            <a:pPr marL="342900" indent="-342900" algn="l">
              <a:buFont typeface="Arial" panose="020B0604020202020204" pitchFamily="34" charset="0"/>
              <a:buChar char="•"/>
            </a:pPr>
            <a:endParaRPr lang="en-US" sz="1400" dirty="0">
              <a:solidFill>
                <a:srgbClr val="000000"/>
              </a:solidFill>
            </a:endParaRPr>
          </a:p>
          <a:p>
            <a:pPr marL="0" indent="0" algn="l" rtl="0"/>
            <a:r>
              <a:rPr lang="es-419" sz="1600">
                <a:solidFill>
                  <a:srgbClr val="000000"/>
                </a:solidFill>
              </a:rPr>
              <a:t>Por último, inspeccione los enlaces entre los dispositivos conectados por cable para detectar conectores defectuosos o dañados o cables faltantes. </a:t>
            </a:r>
          </a:p>
          <a:p>
            <a:pPr marL="285750" indent="-285750" algn="l" rtl="0">
              <a:buFont typeface="Arial" panose="020B0604020202020204" pitchFamily="34" charset="0"/>
              <a:buChar char="•"/>
            </a:pPr>
            <a:r>
              <a:rPr lang="es-419" sz="1400">
                <a:solidFill>
                  <a:srgbClr val="000000"/>
                </a:solidFill>
              </a:rPr>
              <a:t>Si la planta física está en su lugar, haga ping a los dispositivos, incluido el AP, para verificar la LAN conectada por cable. </a:t>
            </a:r>
          </a:p>
          <a:p>
            <a:pPr marL="285750" indent="-285750" algn="l" rtl="0">
              <a:buFont typeface="Arial" panose="020B0604020202020204" pitchFamily="34" charset="0"/>
              <a:buChar char="•"/>
            </a:pPr>
            <a:r>
              <a:rPr lang="es-419" sz="1400">
                <a:solidFill>
                  <a:srgbClr val="000000"/>
                </a:solidFill>
              </a:rPr>
              <a:t>Si la conectividad sigue fallando en este momento, tal vez haya algún error en el AP o en su configuración.</a:t>
            </a:r>
          </a:p>
          <a:p>
            <a:pPr marL="285750" indent="-285750" algn="l" rtl="0">
              <a:buFont typeface="Arial" panose="020B0604020202020204" pitchFamily="34" charset="0"/>
              <a:buChar char="•"/>
            </a:pPr>
            <a:r>
              <a:rPr lang="es-419" sz="1400">
                <a:solidFill>
                  <a:srgbClr val="000000"/>
                </a:solidFill>
              </a:rPr>
              <a:t>Cuando se descarte la computadora del usuario como origen del problema y se confirme el estado físico de los dispositivos, comience a investigar el rendimiento del AP. </a:t>
            </a:r>
          </a:p>
          <a:p>
            <a:pPr marL="285750" indent="-285750" algn="l" rtl="0">
              <a:buFont typeface="Arial" panose="020B0604020202020204" pitchFamily="34" charset="0"/>
              <a:buChar char="•"/>
            </a:pPr>
            <a:r>
              <a:rPr lang="es-419" sz="1400">
                <a:solidFill>
                  <a:srgbClr val="000000"/>
                </a:solidFill>
              </a:rPr>
              <a:t>Revise el estado de la alimentación del AP.</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5757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de WLAN</a:t>
            </a:r>
            <a:br>
              <a:rPr lang="en-US" dirty="0"/>
            </a:br>
            <a:r>
              <a:rPr lang="es-419" sz="2400"/>
              <a:t>Solución de problemas cuando la red es lenta</a:t>
            </a:r>
          </a:p>
        </p:txBody>
      </p:sp>
      <p:sp>
        <p:nvSpPr>
          <p:cNvPr id="4" name="Content Placeholder 3">
            <a:extLst>
              <a:ext uri="{FF2B5EF4-FFF2-40B4-BE49-F238E27FC236}">
                <a16:creationId xmlns:a16="http://schemas.microsoft.com/office/drawing/2014/main" id="{94A65A22-F1FC-4732-AA65-BE40C7BA15FA}"/>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Para optimizar e incrementar el ancho de banda de los routers y puntos de acceso de banda doble 802.11 pruebe:</a:t>
            </a:r>
          </a:p>
          <a:p>
            <a:pPr marL="342900" indent="-342900" algn="l" rtl="0">
              <a:buFont typeface="Arial" panose="020B0604020202020204" pitchFamily="34" charset="0"/>
              <a:buChar char="•"/>
            </a:pPr>
            <a:r>
              <a:rPr lang="es-419" sz="1400" b="1">
                <a:solidFill>
                  <a:srgbClr val="000000"/>
                </a:solidFill>
              </a:rPr>
              <a:t>Actualiza tus clientes inalámbricos</a:t>
            </a:r>
            <a:r>
              <a:rPr lang="es-419" sz="1400">
                <a:solidFill>
                  <a:srgbClr val="000000"/>
                </a:solidFill>
              </a:rPr>
              <a:t>- Los dispositivos más antiguos 802.11b, 802.11g e incluso 802.11n pueden ralentizar toda la WLAN. Para lograr el mejor rendimiento, todos los dispositivos inalámbricos deben admitir el mismo estándar más alto aceptable.</a:t>
            </a:r>
            <a:r>
              <a:rPr lang="es-419" sz="1400" b="1">
                <a:solidFill>
                  <a:srgbClr val="000000"/>
                </a:solidFill>
              </a:rPr>
              <a:t> </a:t>
            </a:r>
          </a:p>
          <a:p>
            <a:pPr marL="342900" indent="-342900" algn="l" rtl="0">
              <a:buFont typeface="Arial" panose="020B0604020202020204" pitchFamily="34" charset="0"/>
              <a:buChar char="•"/>
            </a:pPr>
            <a:r>
              <a:rPr lang="es-419" sz="1400" b="1">
                <a:solidFill>
                  <a:srgbClr val="000000"/>
                </a:solidFill>
              </a:rPr>
              <a:t>Dividir el tráfico</a:t>
            </a:r>
            <a:r>
              <a:rPr lang="es-419" sz="1400">
                <a:solidFill>
                  <a:srgbClr val="000000"/>
                </a:solidFill>
              </a:rPr>
              <a:t>- La forma más fácil de mejorar el rendimiento inalámbrico es dividir el tráfico inalámbrico entre la banda 802.11n 2.4 GHz y la banda 5 GHz. Por lo tanto, IEEE 802.11n (o superior) puede usar las dos bandas como dos redes inalámbricas separadas para ayudar a administrar el tráfico.</a:t>
            </a:r>
          </a:p>
          <a:p>
            <a:pPr marL="0" indent="0" algn="l"/>
            <a:endParaRPr lang="en-US" sz="1400" dirty="0">
              <a:solidFill>
                <a:srgbClr val="000000"/>
              </a:solidFill>
            </a:endParaRPr>
          </a:p>
          <a:p>
            <a:pPr marL="0" indent="0" algn="l" rtl="0"/>
            <a:r>
              <a:rPr lang="es-419" sz="1600">
                <a:solidFill>
                  <a:srgbClr val="000000"/>
                </a:solidFill>
              </a:rPr>
              <a:t>Existen varios motivos para usar un método de división del tráfico:</a:t>
            </a:r>
          </a:p>
          <a:p>
            <a:pPr marL="415985" lvl="1" indent="-342900" rtl="0">
              <a:buFont typeface="Arial" panose="020B0604020202020204" pitchFamily="34" charset="0"/>
              <a:buChar char="•"/>
            </a:pPr>
            <a:r>
              <a:rPr lang="es-419">
                <a:solidFill>
                  <a:srgbClr val="000000"/>
                </a:solidFill>
              </a:rPr>
              <a:t>La banda de 2,4GHz puede ser adecuada para el tráfico de Internet básico que no depende del factor tiempo.</a:t>
            </a:r>
          </a:p>
          <a:p>
            <a:pPr marL="415985" lvl="1" indent="-342900" rtl="0">
              <a:buFont typeface="Arial" panose="020B0604020202020204" pitchFamily="34" charset="0"/>
              <a:buChar char="•"/>
            </a:pPr>
            <a:r>
              <a:rPr lang="es-419">
                <a:solidFill>
                  <a:srgbClr val="000000"/>
                </a:solidFill>
              </a:rPr>
              <a:t>El ancho de banda aún se puede compartir con otras WLAN cercanas.</a:t>
            </a:r>
          </a:p>
          <a:p>
            <a:pPr marL="415985" lvl="1" indent="-342900" rtl="0">
              <a:buFont typeface="Arial" panose="020B0604020202020204" pitchFamily="34" charset="0"/>
              <a:buChar char="•"/>
            </a:pPr>
            <a:r>
              <a:rPr lang="es-419">
                <a:solidFill>
                  <a:srgbClr val="000000"/>
                </a:solidFill>
              </a:rPr>
              <a:t>La banda de 5GHz está mucho menos poblada que la banda de 2,4GHz, ideal para la transmisión de multimedios.</a:t>
            </a:r>
          </a:p>
          <a:p>
            <a:pPr marL="415985" lvl="1" indent="-342900" rtl="0">
              <a:buFont typeface="Arial" panose="020B0604020202020204" pitchFamily="34" charset="0"/>
              <a:buChar char="•"/>
            </a:pPr>
            <a:r>
              <a:rPr lang="es-419">
                <a:solidFill>
                  <a:srgbClr val="000000"/>
                </a:solidFill>
              </a:rPr>
              <a:t>La banda de 5GHz tiene más canales; por lo tanto, es más probable que el canal que se elija no tenga interferencia.</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13709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de WLAN</a:t>
            </a:r>
            <a:br>
              <a:rPr lang="en-US" dirty="0"/>
            </a:br>
            <a:r>
              <a:rPr lang="es-419" sz="2400"/>
              <a:t>Resolución de Problemas cuando la red esta lenta(Cont.)</a:t>
            </a:r>
          </a:p>
        </p:txBody>
      </p:sp>
      <p:sp>
        <p:nvSpPr>
          <p:cNvPr id="4" name="Content Placeholder 3">
            <a:extLst>
              <a:ext uri="{FF2B5EF4-FFF2-40B4-BE49-F238E27FC236}">
                <a16:creationId xmlns:a16="http://schemas.microsoft.com/office/drawing/2014/main" id="{94A65A22-F1FC-4732-AA65-BE40C7BA15FA}"/>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Los routers y APs de doble banda usan el mismo nombre de red tanto en la banda de 2.4 Ghz como en la de 5 Ghz de manera predeterminada. </a:t>
            </a:r>
          </a:p>
          <a:p>
            <a:pPr marL="285750" indent="-285750" algn="l" rtl="0">
              <a:buFont typeface="Arial" panose="020B0604020202020204" pitchFamily="34" charset="0"/>
              <a:buChar char="•"/>
            </a:pPr>
            <a:r>
              <a:rPr lang="es-419" sz="1400">
                <a:solidFill>
                  <a:srgbClr val="000000"/>
                </a:solidFill>
              </a:rPr>
              <a:t>Puede ser útil segmentar el tráfico.</a:t>
            </a:r>
          </a:p>
          <a:p>
            <a:pPr marL="285750" indent="-285750" algn="l" rtl="0">
              <a:buFont typeface="Arial" panose="020B0604020202020204" pitchFamily="34" charset="0"/>
              <a:buChar char="•"/>
            </a:pPr>
            <a:r>
              <a:rPr lang="es-419" sz="1400">
                <a:solidFill>
                  <a:srgbClr val="000000"/>
                </a:solidFill>
              </a:rPr>
              <a:t>La manera mas sencilla de segmentar el trafico es renombrar una de las redes inalámbricas.</a:t>
            </a:r>
          </a:p>
          <a:p>
            <a:pPr marL="0" indent="0" algn="l"/>
            <a:endParaRPr lang="en-US" sz="1600" dirty="0">
              <a:solidFill>
                <a:srgbClr val="000000"/>
              </a:solidFill>
            </a:endParaRPr>
          </a:p>
          <a:p>
            <a:pPr marL="0" indent="0" algn="l" rtl="0"/>
            <a:r>
              <a:rPr lang="es-419" sz="1600">
                <a:solidFill>
                  <a:srgbClr val="000000"/>
                </a:solidFill>
              </a:rPr>
              <a:t>Para mejorar el rango de una red inalámbrica, asegúrese de que la ubicación del router inalámbrico o AP se encuentre libre de obstrucciones como muebles, accesorios y electrodomésticos altos. </a:t>
            </a:r>
          </a:p>
          <a:p>
            <a:pPr marL="285750" indent="-285750" algn="l" rtl="0">
              <a:buFont typeface="Arial" panose="020B0604020202020204" pitchFamily="34" charset="0"/>
              <a:buChar char="•"/>
            </a:pPr>
            <a:r>
              <a:rPr lang="es-419" sz="1400">
                <a:solidFill>
                  <a:srgbClr val="000000"/>
                </a:solidFill>
              </a:rPr>
              <a:t>Estos bloquean la señal, lo que reduce el alcance de la WLAN. </a:t>
            </a:r>
          </a:p>
          <a:p>
            <a:pPr marL="285750" indent="-285750" algn="l" rtl="0">
              <a:buFont typeface="Arial" panose="020B0604020202020204" pitchFamily="34" charset="0"/>
              <a:buChar char="•"/>
            </a:pPr>
            <a:r>
              <a:rPr lang="es-419" sz="1400">
                <a:solidFill>
                  <a:srgbClr val="000000"/>
                </a:solidFill>
              </a:rPr>
              <a:t>Si esto tampoco resuelve el problema, se puede usar un extensor de alcance de Wi-Fi o la tecnología inalámbrica de red por línea eléctrica.</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056084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Solucionar problemas de WLAN</a:t>
            </a:r>
            <a:br>
              <a:rPr lang="en-US" dirty="0"/>
            </a:br>
            <a:r>
              <a:rPr lang="es-419" sz="2400"/>
              <a:t>Actualización de firmware</a:t>
            </a:r>
          </a:p>
        </p:txBody>
      </p:sp>
      <p:sp>
        <p:nvSpPr>
          <p:cNvPr id="5" name="Content Placeholder 4">
            <a:extLst>
              <a:ext uri="{FF2B5EF4-FFF2-40B4-BE49-F238E27FC236}">
                <a16:creationId xmlns:a16="http://schemas.microsoft.com/office/drawing/2014/main" id="{CDE8D717-80B9-42DF-92A9-3B2A07D3B449}"/>
              </a:ext>
            </a:extLst>
          </p:cNvPr>
          <p:cNvSpPr>
            <a:spLocks noGrp="1"/>
          </p:cNvSpPr>
          <p:nvPr>
            <p:ph idx="1"/>
          </p:nvPr>
        </p:nvSpPr>
        <p:spPr>
          <a:xfrm>
            <a:off x="474662" y="731837"/>
            <a:ext cx="8345487" cy="2399649"/>
          </a:xfrm>
        </p:spPr>
        <p:txBody>
          <a:bodyPr/>
          <a:lstStyle/>
          <a:p>
            <a:pPr marL="0" indent="0" algn="l" rtl="0"/>
            <a:r>
              <a:rPr lang="es-419" sz="1600">
                <a:solidFill>
                  <a:srgbClr val="000000"/>
                </a:solidFill>
              </a:rPr>
              <a:t>La mayoría de los enrutadores inalámbricos y AP ofrecen firmware actualizable que debe verificarse periódicamente.</a:t>
            </a:r>
          </a:p>
          <a:p>
            <a:pPr marL="0" indent="0" algn="l"/>
            <a:endParaRPr lang="en-US" sz="1600" dirty="0">
              <a:solidFill>
                <a:srgbClr val="000000"/>
              </a:solidFill>
            </a:endParaRPr>
          </a:p>
          <a:p>
            <a:pPr marL="0" indent="0" algn="l" rtl="0"/>
            <a:r>
              <a:rPr lang="es-419" sz="1600">
                <a:solidFill>
                  <a:srgbClr val="000000"/>
                </a:solidFill>
              </a:rPr>
              <a:t>En un WLC, es muy posible que se pueda actualizar el firmware de todos los APs que son controlados por el WLC. </a:t>
            </a:r>
          </a:p>
        </p:txBody>
      </p:sp>
      <p:pic>
        <p:nvPicPr>
          <p:cNvPr id="6" name="Picture 5">
            <a:extLst>
              <a:ext uri="{FF2B5EF4-FFF2-40B4-BE49-F238E27FC236}">
                <a16:creationId xmlns:a16="http://schemas.microsoft.com/office/drawing/2014/main" id="{10726CF3-B789-4939-AC67-FDFB156B26D7}"/>
              </a:ext>
            </a:extLst>
          </p:cNvPr>
          <p:cNvPicPr>
            <a:picLocks noChangeAspect="1"/>
          </p:cNvPicPr>
          <p:nvPr/>
        </p:nvPicPr>
        <p:blipFill>
          <a:blip r:embed="rId3"/>
          <a:stretch>
            <a:fillRect/>
          </a:stretch>
        </p:blipFill>
        <p:spPr>
          <a:xfrm>
            <a:off x="4464150" y="2198179"/>
            <a:ext cx="4451238" cy="1662445"/>
          </a:xfrm>
          <a:prstGeom prst="rect">
            <a:avLst/>
          </a:prstGeom>
        </p:spPr>
      </p:pic>
      <p:sp>
        <p:nvSpPr>
          <p:cNvPr id="7" name="Content Placeholder 4">
            <a:extLst>
              <a:ext uri="{FF2B5EF4-FFF2-40B4-BE49-F238E27FC236}">
                <a16:creationId xmlns:a16="http://schemas.microsoft.com/office/drawing/2014/main" id="{9C82116E-9605-4877-B74B-B1697AE82851}"/>
              </a:ext>
            </a:extLst>
          </p:cNvPr>
          <p:cNvSpPr txBox="1">
            <a:spLocks/>
          </p:cNvSpPr>
          <p:nvPr/>
        </p:nvSpPr>
        <p:spPr>
          <a:xfrm>
            <a:off x="474663" y="2169335"/>
            <a:ext cx="3838783" cy="191708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rtl="0">
              <a:buFont typeface="Arial" panose="020B0604020202020204" pitchFamily="34" charset="0"/>
              <a:buChar char="•"/>
            </a:pPr>
            <a:r>
              <a:rPr lang="es-419" sz="1400">
                <a:solidFill>
                  <a:srgbClr val="000000"/>
                </a:solidFill>
              </a:rPr>
              <a:t>En la figura, se descarga la imagen de firmware que se utilizará para actualizar todos los AP. </a:t>
            </a:r>
          </a:p>
          <a:p>
            <a:pPr marL="285750" indent="-285750" algn="l" rtl="0">
              <a:buFont typeface="Arial" panose="020B0604020202020204" pitchFamily="34" charset="0"/>
              <a:buChar char="•"/>
            </a:pPr>
            <a:r>
              <a:rPr lang="es-419" sz="1400">
                <a:solidFill>
                  <a:srgbClr val="000000"/>
                </a:solidFill>
              </a:rPr>
              <a:t>En un controlador inalámbrico Cisco 3504, haga clic en </a:t>
            </a:r>
            <a:r>
              <a:rPr lang="es-419" sz="1400" b="1">
                <a:solidFill>
                  <a:srgbClr val="000000"/>
                </a:solidFill>
              </a:rPr>
              <a:t>WIRELESS &gt; Access Points</a:t>
            </a:r>
            <a:r>
              <a:rPr lang="es-419" sz="1400">
                <a:solidFill>
                  <a:srgbClr val="000000"/>
                </a:solidFill>
              </a:rPr>
              <a:t> &gt; </a:t>
            </a:r>
            <a:r>
              <a:rPr lang="es-419" sz="1400" b="1">
                <a:solidFill>
                  <a:srgbClr val="000000"/>
                </a:solidFill>
              </a:rPr>
              <a:t>Global Configuration</a:t>
            </a:r>
            <a:r>
              <a:rPr lang="es-419" sz="1400">
                <a:solidFill>
                  <a:srgbClr val="000000"/>
                </a:solidFill>
              </a:rPr>
              <a:t> y luego desplácese hasta la parte inferior de la página para ver la sección de pre-descarga de imagen AP.</a:t>
            </a:r>
          </a:p>
          <a:p>
            <a:pPr marL="0" indent="0" algn="l"/>
            <a:br>
              <a:rPr lang="en-CA" sz="1600" dirty="0">
                <a:solidFill>
                  <a:srgbClr val="000000"/>
                </a:solidFill>
              </a:rPr>
            </a:br>
            <a:endParaRPr lang="en-CA" sz="1600" dirty="0">
              <a:solidFill>
                <a:srgbClr val="000000"/>
              </a:solidFill>
            </a:endParaRPr>
          </a:p>
        </p:txBody>
      </p:sp>
    </p:spTree>
    <p:extLst>
      <p:ext uri="{BB962C8B-B14F-4D97-AF65-F5344CB8AC3E}">
        <p14:creationId xmlns:p14="http://schemas.microsoft.com/office/powerpoint/2010/main" val="286343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Solucione problemas de WLAN</a:t>
            </a:r>
            <a:br>
              <a:rPr lang="en-US" dirty="0"/>
            </a:br>
            <a:r>
              <a:rPr lang="es-419" sz="2400"/>
              <a:t>Packet Tracer: solucione problemas de WLAN</a:t>
            </a:r>
          </a:p>
        </p:txBody>
      </p:sp>
      <p:sp>
        <p:nvSpPr>
          <p:cNvPr id="5" name="Content Placeholder 4">
            <a:extLst>
              <a:ext uri="{FF2B5EF4-FFF2-40B4-BE49-F238E27FC236}">
                <a16:creationId xmlns:a16="http://schemas.microsoft.com/office/drawing/2014/main" id="{CDE8D717-80B9-42DF-92A9-3B2A07D3B449}"/>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En esta actividad de Packet Tracer, cumplirá los siguientes objetivos:</a:t>
            </a:r>
          </a:p>
          <a:p>
            <a:pPr marL="285750" indent="-285750" algn="l" rtl="0">
              <a:buFont typeface="Arial" panose="020B0604020202020204" pitchFamily="34" charset="0"/>
              <a:buChar char="•"/>
            </a:pPr>
            <a:r>
              <a:rPr lang="es-419" sz="1400">
                <a:solidFill>
                  <a:srgbClr val="000000"/>
                </a:solidFill>
              </a:rPr>
              <a:t>Solucionar problemas de conectividad en la LAN inalámbrica en una red doméstica.</a:t>
            </a:r>
          </a:p>
          <a:p>
            <a:pPr marL="285750" indent="-285750" algn="l" rtl="0">
              <a:buFont typeface="Arial" panose="020B0604020202020204" pitchFamily="34" charset="0"/>
              <a:buChar char="•"/>
            </a:pPr>
            <a:r>
              <a:rPr lang="es-419" sz="1400">
                <a:solidFill>
                  <a:srgbClr val="000000"/>
                </a:solidFill>
              </a:rPr>
              <a:t>Solucionar problemas de conectividad en la LAN inalámbrica en una red doméstica.</a:t>
            </a:r>
            <a:br>
              <a:rPr lang="en-US" sz="1400" dirty="0">
                <a:solidFill>
                  <a:srgbClr val="000000"/>
                </a:solidFill>
              </a:rPr>
            </a:br>
            <a:endParaRPr lang="en-US" sz="1400" dirty="0">
              <a:solidFill>
                <a:srgbClr val="000000"/>
              </a:solidFill>
            </a:endParaRPr>
          </a:p>
        </p:txBody>
      </p:sp>
    </p:spTree>
    <p:extLst>
      <p:ext uri="{BB962C8B-B14F-4D97-AF65-F5344CB8AC3E}">
        <p14:creationId xmlns:p14="http://schemas.microsoft.com/office/powerpoint/2010/main" val="147052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13.5 - Práctica y Resumen del Módulo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Práctica del módulo y cuestionario</a:t>
            </a:r>
            <a:br>
              <a:rPr lang="en-US" sz="1600" dirty="0"/>
            </a:br>
            <a:r>
              <a:rPr lang="es-419" sz="2400"/>
              <a:t>Packet Tracer –Configuración de WLAN</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En esta actividad de Packet Tracer, configurará un enrutador doméstico inalámbrico y una red basada en WLC. Va a implementar seguridad tanto WPA2-PSK como WPA2-Enterprise.</a:t>
            </a:r>
          </a:p>
          <a:p>
            <a:pPr marL="285750" indent="-285750" algn="l" rtl="0">
              <a:buFont typeface="Arial" panose="020B0604020202020204" pitchFamily="34" charset="0"/>
              <a:buChar char="•"/>
            </a:pPr>
            <a:r>
              <a:rPr lang="es-419" sz="1400">
                <a:solidFill>
                  <a:srgbClr val="000000"/>
                </a:solidFill>
              </a:rPr>
              <a:t>Configure un router doméstico para proporcionar conectividad Wi-Fi a una variedad de dispositivos.</a:t>
            </a:r>
          </a:p>
          <a:p>
            <a:pPr marL="285750" indent="-285750" algn="l" rtl="0">
              <a:buFont typeface="Arial" panose="020B0604020202020204" pitchFamily="34" charset="0"/>
              <a:buChar char="•"/>
            </a:pPr>
            <a:r>
              <a:rPr lang="es-419" sz="1400">
                <a:solidFill>
                  <a:srgbClr val="000000"/>
                </a:solidFill>
              </a:rPr>
              <a:t>Configure la seguridad WPA2-PSK en un router doméstico.</a:t>
            </a:r>
          </a:p>
          <a:p>
            <a:pPr marL="285750" indent="-285750" algn="l" rtl="0">
              <a:buFont typeface="Arial" panose="020B0604020202020204" pitchFamily="34" charset="0"/>
              <a:buChar char="•"/>
            </a:pPr>
            <a:r>
              <a:rPr lang="es-419" sz="1400">
                <a:solidFill>
                  <a:srgbClr val="000000"/>
                </a:solidFill>
              </a:rPr>
              <a:t>Configure las interfaces en un WLC.</a:t>
            </a:r>
          </a:p>
          <a:p>
            <a:pPr marL="285750" indent="-285750" algn="l" rtl="0">
              <a:buFont typeface="Arial" panose="020B0604020202020204" pitchFamily="34" charset="0"/>
              <a:buChar char="•"/>
            </a:pPr>
            <a:r>
              <a:rPr lang="es-419" sz="1400">
                <a:solidFill>
                  <a:srgbClr val="000000"/>
                </a:solidFill>
              </a:rPr>
              <a:t>Configure la seguridad WPA2-PSK en una WLAN y conecte hosts a la WLAN.</a:t>
            </a:r>
          </a:p>
          <a:p>
            <a:pPr marL="285750" indent="-285750" algn="l" rtl="0">
              <a:buFont typeface="Arial" panose="020B0604020202020204" pitchFamily="34" charset="0"/>
              <a:buChar char="•"/>
            </a:pPr>
            <a:r>
              <a:rPr lang="es-419" sz="1400">
                <a:solidFill>
                  <a:srgbClr val="000000"/>
                </a:solidFill>
              </a:rPr>
              <a:t>Configure WPA2-Enterprise en una WLAN y conecte hosts a la WLAN.</a:t>
            </a:r>
          </a:p>
          <a:p>
            <a:pPr marL="285750" indent="-285750" algn="l" rtl="0">
              <a:buFont typeface="Arial" panose="020B0604020202020204" pitchFamily="34" charset="0"/>
              <a:buChar char="•"/>
            </a:pPr>
            <a:r>
              <a:rPr lang="es-419" sz="1400">
                <a:solidFill>
                  <a:srgbClr val="000000"/>
                </a:solidFill>
              </a:rPr>
              <a:t>Verifique la conectividad.</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0" indent="0" algn="l"/>
            <a:br>
              <a:rPr lang="en-US" sz="1400" dirty="0">
                <a:solidFill>
                  <a:srgbClr val="000000"/>
                </a:solidFill>
              </a:rPr>
            </a:br>
            <a:endParaRPr lang="en-US" sz="1400" dirty="0">
              <a:solidFill>
                <a:srgbClr val="000000"/>
              </a:solidFill>
            </a:endParaRPr>
          </a:p>
        </p:txBody>
      </p:sp>
    </p:spTree>
    <p:extLst>
      <p:ext uri="{BB962C8B-B14F-4D97-AF65-F5344CB8AC3E}">
        <p14:creationId xmlns:p14="http://schemas.microsoft.com/office/powerpoint/2010/main" val="649655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a:t>Los trabajadores remotos, las oficinas sucursales pequeñas y las redes caseras a menudo usan un router inalámbrico, el cual típicamente incluye un switch para clientes cableados, un puerto para la conexión a Internet (a veces llamado "WAN") y componentes inalámbricos para el acceso de clientes inalámbricos. </a:t>
            </a:r>
          </a:p>
          <a:p>
            <a:pPr rtl="0">
              <a:spcBef>
                <a:spcPts val="0"/>
              </a:spcBef>
              <a:spcAft>
                <a:spcPts val="0"/>
              </a:spcAft>
              <a:buFont typeface="Arial" panose="020B0604020202020204" pitchFamily="34" charset="0"/>
              <a:buChar char="•"/>
            </a:pPr>
            <a:r>
              <a:rPr lang="es-419" sz="1400"/>
              <a:t>La mayoría de los routers inalámbricos están preconfigurados para conectarse a la red y proporcionar servicios. El router inalámbrico utiliza el DHCP para proporcionar automáticamente información de asignación de direcciones a los dispositivos conectados. </a:t>
            </a:r>
          </a:p>
          <a:p>
            <a:pPr rtl="0">
              <a:spcBef>
                <a:spcPts val="0"/>
              </a:spcBef>
              <a:spcAft>
                <a:spcPts val="0"/>
              </a:spcAft>
              <a:buFont typeface="Arial" panose="020B0604020202020204" pitchFamily="34" charset="0"/>
              <a:buChar char="•"/>
            </a:pPr>
            <a:r>
              <a:rPr lang="es-419" sz="1400"/>
              <a:t>Su primera prioridad debe ser cambiar el nombre de usuario y contraseña de su router inalámbrico. </a:t>
            </a:r>
          </a:p>
          <a:p>
            <a:pPr rtl="0">
              <a:spcBef>
                <a:spcPts val="0"/>
              </a:spcBef>
              <a:spcAft>
                <a:spcPts val="0"/>
              </a:spcAft>
              <a:buFont typeface="Arial" panose="020B0604020202020204" pitchFamily="34" charset="0"/>
              <a:buChar char="•"/>
            </a:pPr>
            <a:r>
              <a:rPr lang="es-419" sz="1400"/>
              <a:t>Sin embargo, si desea extender el rango más allá de aproximadamente 45 metros en el interior y 90 metros en el exterior, puede agregar puntos de acceso inalámbricos. </a:t>
            </a:r>
          </a:p>
          <a:p>
            <a:pPr rtl="0">
              <a:spcBef>
                <a:spcPts val="0"/>
              </a:spcBef>
              <a:spcAft>
                <a:spcPts val="0"/>
              </a:spcAft>
              <a:buFont typeface="Arial" panose="020B0604020202020204" pitchFamily="34" charset="0"/>
              <a:buChar char="•"/>
            </a:pPr>
            <a:r>
              <a:rPr lang="es-419" sz="1400"/>
              <a:t>El router utilizará un proceso llamado Traducción de direcciones de red (NAT) para convertir las direcciones IPv4 privadas en direcciones IPv4 enrutables por Internet. </a:t>
            </a:r>
          </a:p>
          <a:p>
            <a:pPr rtl="0">
              <a:spcBef>
                <a:spcPts val="0"/>
              </a:spcBef>
              <a:spcAft>
                <a:spcPts val="0"/>
              </a:spcAft>
              <a:buFont typeface="Arial" panose="020B0604020202020204" pitchFamily="34" charset="0"/>
              <a:buChar char="•"/>
            </a:pPr>
            <a:r>
              <a:rPr lang="es-419" sz="1400"/>
              <a:t>Al configurar la QoS, puede garantizar que ciertos tipos de tráfico, como voz y video, tengan prioridad respecto del tráfico sin plazos, como el correo electrónico y la navegación web.</a:t>
            </a:r>
          </a:p>
          <a:p>
            <a:pPr rtl="0">
              <a:spcBef>
                <a:spcPts val="0"/>
              </a:spcBef>
              <a:spcAft>
                <a:spcPts val="0"/>
              </a:spcAft>
              <a:buFont typeface="Arial" panose="020B0604020202020204" pitchFamily="34" charset="0"/>
              <a:buChar char="•"/>
            </a:pPr>
            <a:r>
              <a:rPr lang="es-419" sz="1400"/>
              <a:t>Los puntos de acceso APs usan el Protocolo Lightweight Access Point Protocol (LWAPP) para comunicarse con el controlador WLAN (WLC). </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a:t>Configurar un controlador de LAN inalámbrico (WLC) es similar a configurar un router inalámbrico excepto porque un WLC controla los puntos de acceso y provee más capacidades de administración y servicios. Use la interfaz del WLC para ver un panorama completo del sistema de información y desempeño de los puntos de acceso, para accesar la configuración avanzada y para configurar una WLAN.</a:t>
            </a:r>
          </a:p>
          <a:p>
            <a:pPr rtl="0">
              <a:spcBef>
                <a:spcPts val="0"/>
              </a:spcBef>
              <a:spcAft>
                <a:spcPts val="0"/>
              </a:spcAft>
              <a:buFont typeface="Arial" panose="020B0604020202020204" pitchFamily="34" charset="0"/>
              <a:buChar char="•"/>
            </a:pPr>
            <a:r>
              <a:rPr lang="es-419" sz="1400"/>
              <a:t>SNMP se utiliza para monitorear la red El administrador de la red desea que el WLC re-envíe mensajes de registro de SNMP, llamados traps, al servidor SNMP. </a:t>
            </a:r>
          </a:p>
          <a:p>
            <a:pPr rtl="0">
              <a:spcBef>
                <a:spcPts val="0"/>
              </a:spcBef>
              <a:spcAft>
                <a:spcPts val="0"/>
              </a:spcAft>
              <a:buFont typeface="Arial" panose="020B0604020202020204" pitchFamily="34" charset="0"/>
              <a:buChar char="•"/>
            </a:pPr>
            <a:r>
              <a:rPr lang="es-419" sz="1400"/>
              <a:t>Además, para la autenticación con el WLAN, el administrador de la red desea usar el servidor RADIUS para los servicios de autenticación, autorización y contabilidad (AAA). Acceso de un usuario puede ser seguido y auditado. </a:t>
            </a:r>
          </a:p>
          <a:p>
            <a:pPr rtl="0">
              <a:spcBef>
                <a:spcPts val="0"/>
              </a:spcBef>
              <a:spcAft>
                <a:spcPts val="0"/>
              </a:spcAft>
              <a:buFont typeface="Arial" panose="020B0604020202020204" pitchFamily="34" charset="0"/>
              <a:buChar char="•"/>
            </a:pPr>
            <a:r>
              <a:rPr lang="es-419" sz="1400"/>
              <a:t>Use la interfaz del WLC para configurar el servidor SNMP y la información del servidor RADIUS, las interfaces VLAN, el ámbito DHCP y la WLAN WPA2 Enterprise.</a:t>
            </a:r>
          </a:p>
          <a:p>
            <a:pPr rtl="0">
              <a:spcBef>
                <a:spcPts val="0"/>
              </a:spcBef>
              <a:spcAft>
                <a:spcPts val="0"/>
              </a:spcAft>
              <a:buFont typeface="Arial" panose="020B0604020202020204" pitchFamily="34" charset="0"/>
              <a:buChar char="•"/>
            </a:pPr>
            <a:r>
              <a:rPr lang="es-419" sz="1400"/>
              <a:t>El proceso de solución de problemas consta de seis pasos. </a:t>
            </a:r>
          </a:p>
          <a:p>
            <a:pPr rtl="0">
              <a:spcBef>
                <a:spcPts val="0"/>
              </a:spcBef>
              <a:spcAft>
                <a:spcPts val="0"/>
              </a:spcAft>
              <a:buFont typeface="Arial" panose="020B0604020202020204" pitchFamily="34" charset="0"/>
              <a:buChar char="•"/>
            </a:pPr>
            <a:r>
              <a:rPr lang="es-419" sz="1400"/>
              <a:t>Cuando se realiza la resolución de problemas de una WLAN, se recomienda un proceso de eliminación. Algunos problemas comunes son: falta de conectividad y pobre desempeño de la conexión inalámbrica cuando la PC esta operando. </a:t>
            </a:r>
          </a:p>
          <a:p>
            <a:pPr rtl="0">
              <a:spcBef>
                <a:spcPts val="0"/>
              </a:spcBef>
              <a:spcAft>
                <a:spcPts val="0"/>
              </a:spcAft>
              <a:buFont typeface="Arial" panose="020B0604020202020204" pitchFamily="34" charset="0"/>
              <a:buChar char="•"/>
            </a:pPr>
            <a:r>
              <a:rPr lang="es-419" sz="1400"/>
              <a:t>Para optimizar e incrementar el ancho de banda de los routers y puntos de acceso de banda doble 802.11 pruebe: actualizar sus clientes inalámbricos o dividir el tráfico. </a:t>
            </a:r>
          </a:p>
          <a:p>
            <a:pPr rtl="0">
              <a:spcBef>
                <a:spcPts val="0"/>
              </a:spcBef>
              <a:spcAft>
                <a:spcPts val="0"/>
              </a:spcAft>
              <a:buFont typeface="Arial" panose="020B0604020202020204" pitchFamily="34" charset="0"/>
              <a:buChar char="•"/>
            </a:pPr>
            <a:r>
              <a:rPr lang="es-419" sz="1400"/>
              <a:t>La mayoría de los routers y puntos de acceso inalámbricos ofrecen firmware actualizable. Las versiones de firmware pueden contener correcciones de problemas comunes informados por los clientes así como las vulnerabilidades de seguridad. Revise periódicamente el sitio web del fabricante para ver el firmware actualizado.</a:t>
            </a:r>
          </a:p>
        </p:txBody>
      </p:sp>
    </p:spTree>
    <p:custDataLst>
      <p:tags r:id="rId1"/>
    </p:custDataLst>
    <p:extLst>
      <p:ext uri="{BB962C8B-B14F-4D97-AF65-F5344CB8AC3E}">
        <p14:creationId xmlns:p14="http://schemas.microsoft.com/office/powerpoint/2010/main" val="1159225910"/>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es-419" sz="1400">
                <a:latin typeface="Arial" charset="0"/>
              </a:rPr>
              <a:t>Module 13: WLAN Configuration</a:t>
            </a:r>
            <a:br>
              <a:rPr lang="en-US" dirty="0">
                <a:latin typeface="Arial" charset="0"/>
              </a:rPr>
            </a:br>
            <a:r>
              <a:rPr lang="es-419">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069589" cy="4155319"/>
          </a:xfrm>
        </p:spPr>
        <p:txBody>
          <a:bodyPr/>
          <a:lstStyle/>
          <a:p>
            <a:pPr rtl="0">
              <a:buFont typeface="Arial" panose="020B0604020202020204" pitchFamily="34" charset="0"/>
              <a:buChar char="•"/>
            </a:pPr>
            <a:r>
              <a:rPr lang="es-419" sz="1400"/>
              <a:t>Network Address Translation (NAT)</a:t>
            </a:r>
            <a:r>
              <a:rPr lang="es-419" sz="1400" b="1"/>
              <a:t> </a:t>
            </a:r>
          </a:p>
          <a:p>
            <a:pPr rtl="0">
              <a:buFont typeface="Arial" panose="020B0604020202020204" pitchFamily="34" charset="0"/>
              <a:buChar char="•"/>
            </a:pPr>
            <a:r>
              <a:rPr lang="es-419" sz="1400"/>
              <a:t>Wireless Mesh Network (WMN)</a:t>
            </a:r>
          </a:p>
          <a:p>
            <a:pPr rtl="0">
              <a:buFont typeface="Arial" panose="020B0604020202020204" pitchFamily="34" charset="0"/>
              <a:buChar char="•"/>
            </a:pPr>
            <a:r>
              <a:rPr lang="es-419" sz="1400"/>
              <a:t>Port Forwarding</a:t>
            </a:r>
          </a:p>
          <a:p>
            <a:pPr rtl="0">
              <a:buFont typeface="Arial" panose="020B0604020202020204" pitchFamily="34" charset="0"/>
              <a:buChar char="•"/>
            </a:pPr>
            <a:r>
              <a:rPr lang="es-419" sz="1400"/>
              <a:t>Port Triggering</a:t>
            </a:r>
          </a:p>
        </p:txBody>
      </p:sp>
      <p:sp>
        <p:nvSpPr>
          <p:cNvPr id="6" name="Content Placeholder 2">
            <a:extLst>
              <a:ext uri="{FF2B5EF4-FFF2-40B4-BE49-F238E27FC236}">
                <a16:creationId xmlns:a16="http://schemas.microsoft.com/office/drawing/2014/main" id="{B1627BFE-6B32-CC4C-95DE-D9696B38972C}"/>
              </a:ext>
            </a:extLst>
          </p:cNvPr>
          <p:cNvSpPr txBox="1">
            <a:spLocks/>
          </p:cNvSpPr>
          <p:nvPr/>
        </p:nvSpPr>
        <p:spPr bwMode="auto">
          <a:xfrm>
            <a:off x="4324972" y="798944"/>
            <a:ext cx="4069589"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es-419" sz="1200" b="1"/>
              <a:t> </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7224</TotalTime>
  <Words>7374</Words>
  <Application>Microsoft Office PowerPoint</Application>
  <PresentationFormat>Presentación en pantalla (16:9)</PresentationFormat>
  <Paragraphs>700</Paragraphs>
  <Slides>66</Slides>
  <Notes>66</Notes>
  <HiddenSlides>1</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66</vt:i4>
      </vt:variant>
    </vt:vector>
  </HeadingPairs>
  <TitlesOfParts>
    <vt:vector size="71" baseType="lpstr">
      <vt:lpstr>Arial</vt:lpstr>
      <vt:lpstr>Calibri</vt:lpstr>
      <vt:lpstr>CiscoSans ExtraLight</vt:lpstr>
      <vt:lpstr>Wingdings</vt:lpstr>
      <vt:lpstr>Default Theme</vt:lpstr>
      <vt:lpstr>Módulo 13: Configuraciones de redes inalámbricas WLAN</vt:lpstr>
      <vt:lpstr>Objetivos del módulo</vt:lpstr>
      <vt:lpstr>13.1 - Configuración de WLAN de sitio remoto</vt:lpstr>
      <vt:lpstr>Configuración de WLAN de sitio remoto  Video – Configure una Red Inalámbrica</vt:lpstr>
      <vt:lpstr>Configuración de WLAN de sitio remoto El router inalámbrico </vt:lpstr>
      <vt:lpstr>Configuración de WLAN de sitio remoto Inicie sesión en el router inalámbrico</vt:lpstr>
      <vt:lpstr>Sitio remoto Configuración de WLAN Configuración de red básica</vt:lpstr>
      <vt:lpstr>Sitio remoto Configuración de WLAN Configuración de red básica</vt:lpstr>
      <vt:lpstr>Configuración de WLAN de sitio remoto Configurar una red de malla inalámbrica</vt:lpstr>
      <vt:lpstr>Configuración de WLAN del sitio remoto NAT para IPv4</vt:lpstr>
      <vt:lpstr>Configuración de WLAN del sitio remoto Calidad de servicio</vt:lpstr>
      <vt:lpstr>Configuración de WLAN de sitio remoto Reenvío de puerto </vt:lpstr>
      <vt:lpstr>Configuración de WLAN de sitio remoto Packet Tracer – Configure una red inalámbrica</vt:lpstr>
      <vt:lpstr>Configuración de WLAN de sitio remoto Lab – Configure una red inalámbrica</vt:lpstr>
      <vt:lpstr>13.2 - Configure una WLAN básica en el WLC.</vt:lpstr>
      <vt:lpstr>Configure una WLAN básica en el WLC Video – Configure una WLAN básica en el WLC</vt:lpstr>
      <vt:lpstr>Configure una WLAN básica en el WLC Topología de WLC</vt:lpstr>
      <vt:lpstr>Configure una WLAN básica en el WLC Inicie sesión en el WLC</vt:lpstr>
      <vt:lpstr>Configure una WLAN básica en el WLC Ver información AP</vt:lpstr>
      <vt:lpstr>Configure una WLAN básica en el WLC  Configuraciones Avanzadas </vt:lpstr>
      <vt:lpstr>Configure una WLAN básica en el WLC Configurar una WLAN</vt:lpstr>
      <vt:lpstr>Configure una WLAN básica en el WLC Configurar una WLAN (Cont.)</vt:lpstr>
      <vt:lpstr>Configure una WLAN básica en el WLC Configurar una WLAN (Cont.)</vt:lpstr>
      <vt:lpstr>Configure una WLAN básica en el WLC Configurar una WLAN (Cont.)</vt:lpstr>
      <vt:lpstr>Configure una WLAN básica en el WLC Configurar una WLAN (Cont.)</vt:lpstr>
      <vt:lpstr>Configure una WLAN básica en el WLC Configurar una WLAN (Cont.)</vt:lpstr>
      <vt:lpstr>Configure una WLAN básica en el WLC Packet Tracer – Configure una WLAN básica en el WLC</vt:lpstr>
      <vt:lpstr>13.3 - Configure una red inalámbrica WLAN WPA2 Enterprise en el WLC</vt:lpstr>
      <vt:lpstr>Configure una red inalámbrica WLAN WPA2 Enterprise en el WLC Video – Defina un servidor SNMP y RADIUS en el WLC</vt:lpstr>
      <vt:lpstr>Configure un WPA2 Enterprise WLAN en el WLC SNMP y RADIUS</vt:lpstr>
      <vt:lpstr>Configure un WPA2 Enterprise WLAN en el WLC Configurar la información del servidor SNMP</vt:lpstr>
      <vt:lpstr>Configure un WPA2 Enterprise WLAN en el WLC Configure la información del servidor RADIUS </vt:lpstr>
      <vt:lpstr>Configure un WPA2 Enterprise WLAN en el WLC Configure la información del servidor RADIUS (Cont.)</vt:lpstr>
      <vt:lpstr>Configure un WPA2 Enterprise WLAN en el WLC Video – Configurar una VLAN para una nueva WLAN</vt:lpstr>
      <vt:lpstr>Configure un WPA2 Enterprise WLAN en el WLC  Topología con direccionamiento VLAN 5 </vt:lpstr>
      <vt:lpstr>Configure un WPA2 Enterprise WLAN en el WLC Configure una nueva interfaz</vt:lpstr>
      <vt:lpstr>Configure un WPA2 Enterprise WLAN en el WLC Configure una nueva interfaz(Cont.)</vt:lpstr>
      <vt:lpstr>Configure un WPA2 Enterprise WLAN en el WLC Configure una nueva interfaz(Cont.)</vt:lpstr>
      <vt:lpstr>Configure un WPA2 Enterprise WLAN en el WLC Configure una nueva interfaz(Cont.)</vt:lpstr>
      <vt:lpstr>Configure un WPA2 Enterprise WLAN en el WLC Configure una nueva interfaz(Cont.)</vt:lpstr>
      <vt:lpstr>Configure un WPA2 Enterprise WLAN en el WLC Video – Configurar un DHCP Scope</vt:lpstr>
      <vt:lpstr>Configure un WPA2 Enterprise WLAN en el WLC Video – Configurar un DHCP Scope</vt:lpstr>
      <vt:lpstr>Configure un WPA2 Enterprise WLAN en el WLC Video – Configurar DHCP Scope(Cont.)</vt:lpstr>
      <vt:lpstr>Configure un WPA2 Enterprise WLAN en el WLC Video – Configurar un DHCP Scope (Cont.)</vt:lpstr>
      <vt:lpstr>Configure un WPA2 Enterprise WLAN en el WLC Video – Configurar un DHCP Scope (Cont.)</vt:lpstr>
      <vt:lpstr>Configure a WPA2 Enterprise WLAN on the WLC Video – Configurar una WLAN empresarial WPA2</vt:lpstr>
      <vt:lpstr>Configure un WPA2 Enterprise WLAN en el WLC Configure un WPA2 Enterprise WLAN</vt:lpstr>
      <vt:lpstr>Configure un WPA2 Enterprise WLAN en el WLC Configure un WPA2 Enterprise WLAN (Cont.)</vt:lpstr>
      <vt:lpstr>Configure un WPA2 Enterprise WLAN en el WLC Configure un WPA2 Enterprise WLAN (Cont.)</vt:lpstr>
      <vt:lpstr>Configure un WPA2 Enterprise WLAN en el WLC Configure un WPA2 Enterprise WLAN (Cont.)</vt:lpstr>
      <vt:lpstr>Configure un WPA2 Enterprise WLAN en el WLC Packet Tracer - Configure un WPA2 Enterprise WLAN en el WLC</vt:lpstr>
      <vt:lpstr>13.4 - Solucionar problemas de WLAN</vt:lpstr>
      <vt:lpstr>Solucionar problemas de WLAN Enfoques de solución de problemas</vt:lpstr>
      <vt:lpstr>Solucionar problemas de WLAN Enfoques de solución de problemas (Cont.)</vt:lpstr>
      <vt:lpstr>Solucionar problemas de WLAN El cliente inalámbrico no se conecta</vt:lpstr>
      <vt:lpstr>Solucionar problemas de WLAN Cliente Inalámbrico no se esta conectando (Cont.)</vt:lpstr>
      <vt:lpstr>Solucionar problemas de WLAN Solución de problemas cuando la red es lenta</vt:lpstr>
      <vt:lpstr>Solucionar problemas de WLAN Resolución de Problemas cuando la red esta lenta(Cont.)</vt:lpstr>
      <vt:lpstr>Solucionar problemas de WLAN Actualización de firmware</vt:lpstr>
      <vt:lpstr>Solucione problemas de WLAN Packet Tracer: solucione problemas de WLAN</vt:lpstr>
      <vt:lpstr>13.5 - Práctica y Resumen del Módulo</vt:lpstr>
      <vt:lpstr>Práctica del módulo y cuestionario Packet Tracer –Configuración de WLAN</vt:lpstr>
      <vt:lpstr>Práctica del módulo y cuestionario ¿Qué aprendí en este módulo?</vt:lpstr>
      <vt:lpstr>Práctica del módulo y cuestionario  ¿Qué aprendí en este módulo? (continuación)</vt:lpstr>
      <vt:lpstr>Module 13: WLAN Configuration New Terms and Commands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Lex Marber Padilla Santos</cp:lastModifiedBy>
  <cp:revision>367</cp:revision>
  <dcterms:created xsi:type="dcterms:W3CDTF">2019-10-18T06:21:22Z</dcterms:created>
  <dcterms:modified xsi:type="dcterms:W3CDTF">2024-07-31T01:27:31Z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