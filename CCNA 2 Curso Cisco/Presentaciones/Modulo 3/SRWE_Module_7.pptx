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6"/>
  </p:notesMasterIdLst>
  <p:sldIdLst>
    <p:sldId id="876" r:id="rId2"/>
    <p:sldId id="860" r:id="rId3"/>
    <p:sldId id="759" r:id="rId4"/>
    <p:sldId id="1108" r:id="rId5"/>
    <p:sldId id="1207" r:id="rId6"/>
    <p:sldId id="1177" r:id="rId7"/>
    <p:sldId id="1178" r:id="rId8"/>
    <p:sldId id="1179" r:id="rId9"/>
    <p:sldId id="1103" r:id="rId10"/>
    <p:sldId id="1172" r:id="rId11"/>
    <p:sldId id="1180" r:id="rId12"/>
    <p:sldId id="1196" r:id="rId13"/>
    <p:sldId id="1181" r:id="rId14"/>
    <p:sldId id="1182" r:id="rId15"/>
    <p:sldId id="1183" r:id="rId16"/>
    <p:sldId id="1184" r:id="rId17"/>
    <p:sldId id="1186" r:id="rId18"/>
    <p:sldId id="1185" r:id="rId19"/>
    <p:sldId id="1187" r:id="rId20"/>
    <p:sldId id="1188" r:id="rId21"/>
    <p:sldId id="1189" r:id="rId22"/>
    <p:sldId id="1190" r:id="rId23"/>
    <p:sldId id="1191" r:id="rId24"/>
    <p:sldId id="1171" r:id="rId25"/>
    <p:sldId id="1173" r:id="rId26"/>
    <p:sldId id="1192" r:id="rId27"/>
    <p:sldId id="1193" r:id="rId28"/>
    <p:sldId id="957" r:id="rId29"/>
    <p:sldId id="1176" r:id="rId30"/>
    <p:sldId id="1175" r:id="rId31"/>
    <p:sldId id="1194" r:id="rId32"/>
    <p:sldId id="1208" r:id="rId33"/>
    <p:sldId id="874" r:id="rId34"/>
    <p:sldId id="291" r:id="rId35"/>
  </p:sldIdLst>
  <p:sldSz cx="9144000" cy="5143500" type="screen16x9"/>
  <p:notesSz cx="6858000" cy="9144000"/>
  <p:custDataLst>
    <p:tags r:id="rId3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75AF69-D5A8-FE57-EBCE-C652710C6C60}" v="8" dt="2024-08-10T19:34:20.7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49" autoAdjust="0"/>
    <p:restoredTop sz="82538" autoAdjust="0"/>
  </p:normalViewPr>
  <p:slideViewPr>
    <p:cSldViewPr snapToGrid="0" showGuides="1">
      <p:cViewPr varScale="1">
        <p:scale>
          <a:sx n="71" d="100"/>
          <a:sy n="71" d="100"/>
        </p:scale>
        <p:origin x="96" y="89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x Marber Padilla Santos" userId="ad61f224-958b-4aef-825b-8bf86e91b6d0" providerId="ADAL" clId="{AC3A9E30-404B-4172-BF01-BF8886B42E5F}"/>
    <pc:docChg chg="delSld">
      <pc:chgData name="Lex Marber Padilla Santos" userId="ad61f224-958b-4aef-825b-8bf86e91b6d0" providerId="ADAL" clId="{AC3A9E30-404B-4172-BF01-BF8886B42E5F}" dt="2024-07-30T23:43:24.930" v="0" actId="47"/>
      <pc:docMkLst>
        <pc:docMk/>
      </pc:docMkLst>
      <pc:sldChg chg="del">
        <pc:chgData name="Lex Marber Padilla Santos" userId="ad61f224-958b-4aef-825b-8bf86e91b6d0" providerId="ADAL" clId="{AC3A9E30-404B-4172-BF01-BF8886B42E5F}" dt="2024-07-30T23:43:24.930" v="0" actId="47"/>
        <pc:sldMkLst>
          <pc:docMk/>
          <pc:sldMk cId="2929623157" sldId="1138"/>
        </pc:sldMkLst>
      </pc:sldChg>
    </pc:docChg>
  </pc:docChgLst>
  <pc:docChgLst>
    <pc:chgData name="Lex Marber Padilla Santos" userId="S::lpadilla@itla.edu.do::ad61f224-958b-4aef-825b-8bf86e91b6d0" providerId="AD" clId="Web-{BD75AF69-D5A8-FE57-EBCE-C652710C6C60}"/>
    <pc:docChg chg="delSld">
      <pc:chgData name="Lex Marber Padilla Santos" userId="S::lpadilla@itla.edu.do::ad61f224-958b-4aef-825b-8bf86e91b6d0" providerId="AD" clId="Web-{BD75AF69-D5A8-FE57-EBCE-C652710C6C60}" dt="2024-08-10T19:34:20.709" v="7"/>
      <pc:docMkLst>
        <pc:docMk/>
      </pc:docMkLst>
      <pc:sldChg chg="del">
        <pc:chgData name="Lex Marber Padilla Santos" userId="S::lpadilla@itla.edu.do::ad61f224-958b-4aef-825b-8bf86e91b6d0" providerId="AD" clId="Web-{BD75AF69-D5A8-FE57-EBCE-C652710C6C60}" dt="2024-08-10T19:34:20.709" v="7"/>
        <pc:sldMkLst>
          <pc:docMk/>
          <pc:sldMk cId="343650477" sldId="513"/>
        </pc:sldMkLst>
      </pc:sldChg>
      <pc:sldChg chg="del">
        <pc:chgData name="Lex Marber Padilla Santos" userId="S::lpadilla@itla.edu.do::ad61f224-958b-4aef-825b-8bf86e91b6d0" providerId="AD" clId="Web-{BD75AF69-D5A8-FE57-EBCE-C652710C6C60}" dt="2024-08-10T19:34:20.693" v="6"/>
        <pc:sldMkLst>
          <pc:docMk/>
          <pc:sldMk cId="3599581950" sldId="730"/>
        </pc:sldMkLst>
      </pc:sldChg>
      <pc:sldChg chg="del">
        <pc:chgData name="Lex Marber Padilla Santos" userId="S::lpadilla@itla.edu.do::ad61f224-958b-4aef-825b-8bf86e91b6d0" providerId="AD" clId="Web-{BD75AF69-D5A8-FE57-EBCE-C652710C6C60}" dt="2024-08-10T19:34:20.693" v="2"/>
        <pc:sldMkLst>
          <pc:docMk/>
          <pc:sldMk cId="2145273728" sldId="763"/>
        </pc:sldMkLst>
      </pc:sldChg>
      <pc:sldChg chg="del">
        <pc:chgData name="Lex Marber Padilla Santos" userId="S::lpadilla@itla.edu.do::ad61f224-958b-4aef-825b-8bf86e91b6d0" providerId="AD" clId="Web-{BD75AF69-D5A8-FE57-EBCE-C652710C6C60}" dt="2024-08-10T19:34:20.693" v="1"/>
        <pc:sldMkLst>
          <pc:docMk/>
          <pc:sldMk cId="2109317603" sldId="1052"/>
        </pc:sldMkLst>
      </pc:sldChg>
      <pc:sldChg chg="del">
        <pc:chgData name="Lex Marber Padilla Santos" userId="S::lpadilla@itla.edu.do::ad61f224-958b-4aef-825b-8bf86e91b6d0" providerId="AD" clId="Web-{BD75AF69-D5A8-FE57-EBCE-C652710C6C60}" dt="2024-08-10T19:34:20.693" v="0"/>
        <pc:sldMkLst>
          <pc:docMk/>
          <pc:sldMk cId="1129576059" sldId="1069"/>
        </pc:sldMkLst>
      </pc:sldChg>
      <pc:sldChg chg="del">
        <pc:chgData name="Lex Marber Padilla Santos" userId="S::lpadilla@itla.edu.do::ad61f224-958b-4aef-825b-8bf86e91b6d0" providerId="AD" clId="Web-{BD75AF69-D5A8-FE57-EBCE-C652710C6C60}" dt="2024-08-10T19:34:20.693" v="5"/>
        <pc:sldMkLst>
          <pc:docMk/>
          <pc:sldMk cId="2964064672" sldId="1070"/>
        </pc:sldMkLst>
      </pc:sldChg>
      <pc:sldChg chg="del">
        <pc:chgData name="Lex Marber Padilla Santos" userId="S::lpadilla@itla.edu.do::ad61f224-958b-4aef-825b-8bf86e91b6d0" providerId="AD" clId="Web-{BD75AF69-D5A8-FE57-EBCE-C652710C6C60}" dt="2024-08-10T19:34:20.693" v="4"/>
        <pc:sldMkLst>
          <pc:docMk/>
          <pc:sldMk cId="2273670160" sldId="1071"/>
        </pc:sldMkLst>
      </pc:sldChg>
      <pc:sldChg chg="del">
        <pc:chgData name="Lex Marber Padilla Santos" userId="S::lpadilla@itla.edu.do::ad61f224-958b-4aef-825b-8bf86e91b6d0" providerId="AD" clId="Web-{BD75AF69-D5A8-FE57-EBCE-C652710C6C60}" dt="2024-08-10T19:34:20.693" v="3"/>
        <pc:sldMkLst>
          <pc:docMk/>
          <pc:sldMk cId="2962775925" sldId="12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8/10/2024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Programa Cisco Networking Academy</a:t>
            </a:r>
            <a:br>
              <a:rPr lang="en-US" dirty="0"/>
            </a:br>
            <a:r>
              <a:rPr lang="es-419"/>
              <a:t>Switching, Routing y Wireless Essentials v7.0 (SRWE)</a:t>
            </a:r>
          </a:p>
          <a:p>
            <a:pPr rtl="0"/>
            <a:r>
              <a:rPr lang="es-419"/>
              <a:t>Módulo 7 — DHCPv4</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10</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dirty="0"/>
              <a:t>7.0 Introducción</a:t>
            </a:r>
          </a:p>
          <a:p>
            <a:pPr rtl="0">
              <a:buFontTx/>
              <a:buNone/>
            </a:pPr>
            <a:r>
              <a:rPr lang="es-419" dirty="0"/>
              <a:t>7.0.2 –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DHCPv4</a:t>
            </a:r>
          </a:p>
          <a:p>
            <a:pPr rtl="0"/>
            <a:r>
              <a:rPr lang="es-419"/>
              <a:t>7.1 — Conceptos DHCPv4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7.1 – Conceptos DHCPv4</a:t>
            </a:r>
          </a:p>
          <a:p>
            <a:pPr rtl="0"/>
            <a:r>
              <a:rPr lang="es-419"/>
              <a:t>7.1.1 — Servidor y cliente DHCPv4</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7.1 – Conceptos DHCPv4</a:t>
            </a:r>
          </a:p>
          <a:p>
            <a:pPr rtl="0"/>
            <a:r>
              <a:rPr lang="es-419"/>
              <a:t>7.1.1 — Servidor y cliente DHCPv4</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552341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7.1 – Conceptos DHCPv4</a:t>
            </a:r>
          </a:p>
          <a:p>
            <a:pPr rtl="0"/>
            <a:r>
              <a:rPr lang="es-419"/>
              <a:t>7.1.2 — Operación DHCPv4</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917139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7.1 – Conceptos DHCPv4</a:t>
            </a:r>
          </a:p>
          <a:p>
            <a:pPr rtl="0"/>
            <a:r>
              <a:rPr lang="es-419"/>
              <a:t>7.1.3 — Pasos para obtener un arriendo</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2898321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7.1 – Conceptos DHCPv4</a:t>
            </a:r>
          </a:p>
          <a:p>
            <a:pPr rtl="0"/>
            <a:r>
              <a:rPr lang="es-419"/>
              <a:t>7.1.4 — Pasos para renovar un arrendamiento</a:t>
            </a:r>
          </a:p>
          <a:p>
            <a:pPr rtl="0"/>
            <a:r>
              <a:rPr lang="es-419"/>
              <a:t>7.1.5 — Compruebe su comprensión — DHCPv4 Conceptos</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198587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DHCPv4</a:t>
            </a:r>
          </a:p>
          <a:p>
            <a:pPr rtl="0"/>
            <a:r>
              <a:rPr lang="es-419"/>
              <a:t>7.2 — Configurar un servidor DHCPv4 del IOS de Cisco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7.2.1 – Configure un servidor DHCPv4 del IOS de Cisco</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3729660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7.2.2 — </a:t>
            </a:r>
            <a:r>
              <a:rPr lang="es-419" sz="1200"/>
              <a:t>Pasos para configurar un servidor DHCPv4 del IOS de Cisco</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630810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7.2.2 — </a:t>
            </a:r>
            <a:r>
              <a:rPr lang="es-419" sz="1200"/>
              <a:t>Pasos para configurar un servidor DHCPv4 del IOS de Cisco (Cont.) </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1388959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7.2.3 — Ejemplo de Configuración</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4004864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7.2.4 — Verificación DHCPv4</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920806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7.2.5 — Verifique que DHCPv4 esté operativo</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2955144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7.2.5 — Verifique que DHCPv4 esté operativo (cont.)</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148579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7.2.5 — Verifique que DHCPv4 esté operativo (cont.)</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367613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7.2.5 — Verifique que DHCPv4 esté operativo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a:t>7.2.6 — Comprobador de sintaxis — Configurar DHCPv4</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967274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7.2.7 — Desactive el servidor DHCPv4 del IOS de Cisco</a:t>
            </a:r>
          </a:p>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18484205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7.2.8 — Relé DHCPv4</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31913948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7.2.8 – DHCPv4 Relay (Cont.)</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5109318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7.2.9 — </a:t>
            </a:r>
            <a:r>
              <a:rPr lang="es-419" sz="1200"/>
              <a:t>Otras transmisiones de servicios retransmitidas</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2612065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7.2 – Configure un servidor DHCPv4 del IOS de Cisco</a:t>
            </a:r>
          </a:p>
          <a:p>
            <a:pPr rtl="0"/>
            <a:r>
              <a:rPr lang="es-419"/>
              <a:t>7.2.10 — Rastreador de paquetes — Configurar DHCPv4</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5270142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DHCPv4</a:t>
            </a:r>
          </a:p>
          <a:p>
            <a:pPr rtl="0"/>
            <a:r>
              <a:rPr lang="es-419"/>
              <a:t>7.3 — Configurar un cliente DHCPv4</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1968480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7.3 — Configurar un cliente DHCPv4</a:t>
            </a:r>
          </a:p>
          <a:p>
            <a:pPr rtl="0"/>
            <a:r>
              <a:rPr lang="es-419"/>
              <a:t>7.3.1 - Router Cisco como cliente DHCPv4</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40211151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7.3 — Configurar un cliente DHCPv4</a:t>
            </a:r>
          </a:p>
          <a:p>
            <a:pPr rtl="0"/>
            <a:r>
              <a:rPr lang="es-419"/>
              <a:t>7.3.2 — Ejemplo de Configuración</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1564195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 DHCPv4</a:t>
            </a:r>
          </a:p>
          <a:p>
            <a:pPr rtl="0"/>
            <a:r>
              <a:rPr lang="es-419"/>
              <a:t>7.3 — Configurar un cliente DHCPv4</a:t>
            </a:r>
          </a:p>
          <a:p>
            <a:pPr rtl="0"/>
            <a:r>
              <a:rPr lang="es-419"/>
              <a:t>7.3.3 — </a:t>
            </a:r>
            <a:r>
              <a:rPr lang="es-419" sz="1200"/>
              <a:t>Router doméstico como cliente DHCPv4</a:t>
            </a:r>
          </a:p>
          <a:p>
            <a:pPr rtl="0"/>
            <a:r>
              <a:rPr lang="es-419" sz="1200"/>
              <a:t>7.3.4 — Comprobador de sintaxis — Configurar un router Cisco IOS como cliente DHCP</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5170118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7- DHCPv4</a:t>
            </a:r>
          </a:p>
          <a:p>
            <a:pPr rtl="0"/>
            <a:r>
              <a:rPr lang="es-419"/>
              <a:t>7.4 – Práctica del módulo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7.4.2 — Laboratorio — Implementar DHCPv4</a:t>
            </a:r>
          </a:p>
        </p:txBody>
      </p:sp>
    </p:spTree>
    <p:extLst>
      <p:ext uri="{BB962C8B-B14F-4D97-AF65-F5344CB8AC3E}">
        <p14:creationId xmlns:p14="http://schemas.microsoft.com/office/powerpoint/2010/main" val="2573239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7.4.3 – ¿Qué aprendí en este módulo?</a:t>
            </a:r>
          </a:p>
        </p:txBody>
      </p:sp>
    </p:spTree>
    <p:extLst>
      <p:ext uri="{BB962C8B-B14F-4D97-AF65-F5344CB8AC3E}">
        <p14:creationId xmlns:p14="http://schemas.microsoft.com/office/powerpoint/2010/main" val="22533629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39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7.4.3 – ¿Qué aprendí en este módulo?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7.4.4 — Cuestionario del módulo — DHCPv4</a:t>
            </a:r>
          </a:p>
        </p:txBody>
      </p:sp>
    </p:spTree>
    <p:extLst>
      <p:ext uri="{BB962C8B-B14F-4D97-AF65-F5344CB8AC3E}">
        <p14:creationId xmlns:p14="http://schemas.microsoft.com/office/powerpoint/2010/main" val="23599295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7 — DHCPv4</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7.4.3 – ¿Qué aprendí en este módulo?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7.4.4 — Cuestionario del módulo — DHCPv4</a:t>
            </a:r>
          </a:p>
        </p:txBody>
      </p:sp>
    </p:spTree>
    <p:extLst>
      <p:ext uri="{BB962C8B-B14F-4D97-AF65-F5344CB8AC3E}">
        <p14:creationId xmlns:p14="http://schemas.microsoft.com/office/powerpoint/2010/main" val="3875437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41</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v7.0 (SRWE)</a:t>
            </a:r>
          </a:p>
          <a:p>
            <a:endParaRPr lang="en-US" dirty="0"/>
          </a:p>
        </p:txBody>
      </p:sp>
      <p:sp>
        <p:nvSpPr>
          <p:cNvPr id="6" name="Title 5"/>
          <p:cNvSpPr>
            <a:spLocks noGrp="1"/>
          </p:cNvSpPr>
          <p:nvPr>
            <p:ph type="ctrTitle"/>
          </p:nvPr>
        </p:nvSpPr>
        <p:spPr>
          <a:xfrm>
            <a:off x="469497" y="2031678"/>
            <a:ext cx="6672708" cy="1080143"/>
          </a:xfrm>
        </p:spPr>
        <p:txBody>
          <a:bodyPr anchor="ctr"/>
          <a:lstStyle/>
          <a:p>
            <a:pPr rtl="0"/>
            <a:r>
              <a:rPr lang="es-419" dirty="0">
                <a:solidFill>
                  <a:schemeClr val="accent5">
                    <a:lumMod val="40000"/>
                    <a:lumOff val="60000"/>
                  </a:schemeClr>
                </a:solidFill>
              </a:rPr>
              <a:t>Módulo 7: DHCPv4</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dirty="0"/>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1223820"/>
          </a:xfrm>
        </p:spPr>
        <p:txBody>
          <a:bodyPr/>
          <a:lstStyle/>
          <a:p>
            <a:pPr marL="0" lvl="0" indent="0" defTabSz="914400" rtl="0" eaLnBrk="0" hangingPunct="0">
              <a:spcBef>
                <a:spcPct val="0"/>
              </a:spcBef>
              <a:spcAft>
                <a:spcPct val="0"/>
              </a:spcAft>
              <a:buClrTx/>
              <a:buSzTx/>
              <a:buNone/>
            </a:pPr>
            <a:endParaRPr lang="es-419" sz="1400" b="1" dirty="0">
              <a:solidFill>
                <a:schemeClr val="tx1"/>
              </a:solidFill>
              <a:ea typeface="Calibri" panose="020F0502020204030204" pitchFamily="34" charset="0"/>
              <a:cs typeface="Calibri" panose="020F0502020204030204" pitchFamily="34" charset="0"/>
            </a:endParaRPr>
          </a:p>
          <a:p>
            <a:pPr marL="0" lvl="0" indent="0" defTabSz="914400" rtl="0" eaLnBrk="0" hangingPunct="0">
              <a:spcBef>
                <a:spcPct val="0"/>
              </a:spcBef>
              <a:spcAft>
                <a:spcPct val="0"/>
              </a:spcAft>
              <a:buClrTx/>
              <a:buSzTx/>
              <a:buNone/>
            </a:pPr>
            <a:r>
              <a:rPr lang="es-419" sz="1400" b="1" dirty="0">
                <a:solidFill>
                  <a:schemeClr val="tx1"/>
                </a:solidFill>
                <a:ea typeface="Calibri" panose="020F0502020204030204" pitchFamily="34" charset="0"/>
                <a:cs typeface="Calibri" panose="020F0502020204030204" pitchFamily="34" charset="0"/>
              </a:rPr>
              <a:t>Título del módulo: </a:t>
            </a:r>
            <a:r>
              <a:rPr lang="es-419" sz="1400" dirty="0">
                <a:solidFill>
                  <a:schemeClr val="tx1">
                    <a:lumMod val="50000"/>
                  </a:schemeClr>
                </a:solidFill>
                <a:ea typeface="Calibri" panose="020F0502020204030204" pitchFamily="34" charset="0"/>
                <a:cs typeface="Calibri" panose="020F0502020204030204" pitchFamily="34" charset="0"/>
              </a:rPr>
              <a:t>DHCPv4</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es-419" sz="1400" b="1" dirty="0">
                <a:solidFill>
                  <a:schemeClr val="tx1"/>
                </a:solidFill>
                <a:ea typeface="Calibri" panose="020F0502020204030204" pitchFamily="34" charset="0"/>
                <a:cs typeface="Calibri" panose="020F0502020204030204" pitchFamily="34" charset="0"/>
              </a:rPr>
              <a:t>Objetivo del módulo</a:t>
            </a:r>
            <a:r>
              <a:rPr lang="es-419" sz="1400" dirty="0">
                <a:solidFill>
                  <a:schemeClr val="tx1"/>
                </a:solidFill>
                <a:ea typeface="Calibri" panose="020F0502020204030204" pitchFamily="34" charset="0"/>
                <a:cs typeface="Calibri" panose="020F0502020204030204" pitchFamily="34" charset="0"/>
              </a:rPr>
              <a:t>: </a:t>
            </a:r>
            <a:r>
              <a:rPr lang="es-419" dirty="0"/>
              <a:t> </a:t>
            </a:r>
            <a:r>
              <a:rPr lang="es-419" dirty="0">
                <a:solidFill>
                  <a:schemeClr val="tx1">
                    <a:lumMod val="50000"/>
                  </a:schemeClr>
                </a:solidFill>
              </a:rPr>
              <a:t>Implemente DHCPv4 para operar en varias LAN.</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3547799278"/>
              </p:ext>
            </p:extLst>
          </p:nvPr>
        </p:nvGraphicFramePr>
        <p:xfrm>
          <a:off x="793165" y="2314046"/>
          <a:ext cx="7555085" cy="178562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es-419" b="1" dirty="0">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1" dirty="0">
                          <a:solidFill>
                            <a:schemeClr val="bg1"/>
                          </a:solidFill>
                          <a:effectLst/>
                        </a:rPr>
                        <a:t>Conceptos DHCP4</a:t>
                      </a:r>
                    </a:p>
                  </a:txBody>
                  <a:tcPr marL="47625" marR="47625" marT="47625" marB="47625" anchor="ctr">
                    <a:solidFill>
                      <a:schemeClr val="accent1"/>
                    </a:solidFill>
                  </a:tcPr>
                </a:tc>
                <a:tc>
                  <a:txBody>
                    <a:bodyPr/>
                    <a:lstStyle/>
                    <a:p>
                      <a:pPr rtl="0" fontAlgn="ctr"/>
                      <a:r>
                        <a:rPr lang="es-419" b="0" dirty="0">
                          <a:effectLst/>
                        </a:rPr>
                        <a:t>Explicar la forma en la que funciona DHCPv4 en la red de una pequeña o mediana empresa.</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dirty="0">
                          <a:solidFill>
                            <a:schemeClr val="bg1"/>
                          </a:solidFill>
                          <a:effectLst/>
                        </a:rPr>
                        <a:t>Configurar un servidor DHCP4 del IOS de Cisco</a:t>
                      </a:r>
                    </a:p>
                  </a:txBody>
                  <a:tcPr marL="47625" marR="47625" marT="47625" marB="47625" anchor="ctr">
                    <a:solidFill>
                      <a:schemeClr val="accent1"/>
                    </a:solidFill>
                  </a:tcPr>
                </a:tc>
                <a:tc>
                  <a:txBody>
                    <a:bodyPr/>
                    <a:lstStyle/>
                    <a:p>
                      <a:pPr rtl="0" fontAlgn="ctr"/>
                      <a:r>
                        <a:rPr lang="es-419" b="0" dirty="0">
                          <a:effectLst/>
                        </a:rPr>
                        <a:t>Configurar un </a:t>
                      </a:r>
                      <a:r>
                        <a:rPr lang="es-419" b="0" dirty="0" err="1">
                          <a:effectLst/>
                        </a:rPr>
                        <a:t>router</a:t>
                      </a:r>
                      <a:r>
                        <a:rPr lang="es-419" b="0" dirty="0">
                          <a:effectLst/>
                        </a:rPr>
                        <a:t> como servidor DHCPv4.</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1" dirty="0">
                          <a:solidFill>
                            <a:schemeClr val="bg1"/>
                          </a:solidFill>
                          <a:effectLst/>
                        </a:rPr>
                        <a:t>Configurar un cliente DHCP4</a:t>
                      </a:r>
                    </a:p>
                  </a:txBody>
                  <a:tcPr marL="47625" marR="47625" marT="47625" marB="47625" anchor="ctr">
                    <a:solidFill>
                      <a:schemeClr val="accent1"/>
                    </a:solidFill>
                  </a:tcPr>
                </a:tc>
                <a:tc>
                  <a:txBody>
                    <a:bodyPr/>
                    <a:lstStyle/>
                    <a:p>
                      <a:pPr rtl="0" fontAlgn="ctr"/>
                      <a:r>
                        <a:rPr lang="es-419" b="0" dirty="0">
                          <a:effectLst/>
                        </a:rPr>
                        <a:t>Configurar un </a:t>
                      </a:r>
                      <a:r>
                        <a:rPr lang="es-419" b="0" dirty="0" err="1">
                          <a:effectLst/>
                        </a:rPr>
                        <a:t>router</a:t>
                      </a:r>
                      <a:r>
                        <a:rPr lang="es-419" b="0" dirty="0">
                          <a:effectLst/>
                        </a:rPr>
                        <a:t> como cliente DHCPv4.</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902690"/>
            <a:ext cx="7598042" cy="815109"/>
          </a:xfrm>
        </p:spPr>
        <p:txBody>
          <a:bodyPr/>
          <a:lstStyle/>
          <a:p>
            <a:pPr rtl="0"/>
            <a:r>
              <a:rPr lang="es-419" dirty="0">
                <a:solidFill>
                  <a:schemeClr val="accent5">
                    <a:lumMod val="40000"/>
                    <a:lumOff val="60000"/>
                  </a:schemeClr>
                </a:solidFill>
              </a:rPr>
              <a:t>7.1 Conceptos DHCPv4</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1265381"/>
          </a:xfrm>
        </p:spPr>
        <p:txBody>
          <a:bodyPr/>
          <a:lstStyle/>
          <a:p>
            <a:r>
              <a:rPr lang="es-419" sz="1600" dirty="0"/>
              <a:t>Conceptos DHCPv4</a:t>
            </a:r>
            <a:br>
              <a:rPr lang="en-US" dirty="0"/>
            </a:br>
            <a:r>
              <a:rPr lang="es-419" sz="2400" dirty="0"/>
              <a:t>Servidor y cliente</a:t>
            </a:r>
          </a:p>
        </p:txBody>
      </p:sp>
      <p:sp>
        <p:nvSpPr>
          <p:cNvPr id="4" name="Content Placeholder 3">
            <a:extLst>
              <a:ext uri="{FF2B5EF4-FFF2-40B4-BE49-F238E27FC236}">
                <a16:creationId xmlns:a16="http://schemas.microsoft.com/office/drawing/2014/main" id="{8E952AC5-0C8E-4632-AC30-2EBF64451CC7}"/>
              </a:ext>
            </a:extLst>
          </p:cNvPr>
          <p:cNvSpPr>
            <a:spLocks noGrp="1"/>
          </p:cNvSpPr>
          <p:nvPr>
            <p:ph idx="1"/>
          </p:nvPr>
        </p:nvSpPr>
        <p:spPr>
          <a:xfrm>
            <a:off x="133004" y="932873"/>
            <a:ext cx="8877991" cy="3689897"/>
          </a:xfrm>
        </p:spPr>
        <p:txBody>
          <a:bodyPr/>
          <a:lstStyle/>
          <a:p>
            <a:pPr marL="342900" indent="-342900" algn="l" rtl="0">
              <a:buFont typeface="Arial" panose="020B0604020202020204" pitchFamily="34" charset="0"/>
              <a:buChar char="•"/>
            </a:pPr>
            <a:endParaRPr lang="es-419" sz="1600" dirty="0">
              <a:solidFill>
                <a:srgbClr val="000000"/>
              </a:solidFill>
            </a:endParaRPr>
          </a:p>
          <a:p>
            <a:pPr marL="342900" indent="-342900" algn="l" rtl="0">
              <a:buFont typeface="Arial" panose="020B0604020202020204" pitchFamily="34" charset="0"/>
              <a:buChar char="•"/>
            </a:pPr>
            <a:r>
              <a:rPr lang="es-419" sz="1600" dirty="0">
                <a:solidFill>
                  <a:srgbClr val="000000"/>
                </a:solidFill>
              </a:rPr>
              <a:t>Dynamic Host </a:t>
            </a:r>
            <a:r>
              <a:rPr lang="es-419" sz="1600" dirty="0" err="1">
                <a:solidFill>
                  <a:srgbClr val="000000"/>
                </a:solidFill>
              </a:rPr>
              <a:t>Configuration</a:t>
            </a:r>
            <a:r>
              <a:rPr lang="es-419" sz="1600" dirty="0">
                <a:solidFill>
                  <a:srgbClr val="000000"/>
                </a:solidFill>
              </a:rPr>
              <a:t> </a:t>
            </a:r>
            <a:r>
              <a:rPr lang="es-419" sz="1600" dirty="0" err="1">
                <a:solidFill>
                  <a:srgbClr val="000000"/>
                </a:solidFill>
              </a:rPr>
              <a:t>Protocol</a:t>
            </a:r>
            <a:r>
              <a:rPr lang="es-419" sz="1600" dirty="0">
                <a:solidFill>
                  <a:srgbClr val="000000"/>
                </a:solidFill>
              </a:rPr>
              <a:t> v4 (DHCPv4) asigna direcciones IPv4 y otra información de configuración de red dinámicamente. Dado que los clientes de escritorio suelen componer gran parte de los nodos de red, DHCPv4 es una herramienta extremadamente útil para los administradores de red y que ahorra mucho tiempo.</a:t>
            </a:r>
          </a:p>
          <a:p>
            <a:pPr marL="342900" indent="-342900" algn="l" rtl="0">
              <a:buFont typeface="Arial" panose="020B0604020202020204" pitchFamily="34" charset="0"/>
              <a:buChar char="•"/>
            </a:pPr>
            <a:endParaRPr lang="es-419" sz="1600" dirty="0">
              <a:solidFill>
                <a:srgbClr val="000000"/>
              </a:solidFill>
            </a:endParaRPr>
          </a:p>
          <a:p>
            <a:pPr marL="342900" indent="-342900" algn="l" rtl="0">
              <a:buFont typeface="Arial" panose="020B0604020202020204" pitchFamily="34" charset="0"/>
              <a:buChar char="•"/>
            </a:pPr>
            <a:r>
              <a:rPr lang="es-419" sz="1600" dirty="0">
                <a:solidFill>
                  <a:srgbClr val="000000"/>
                </a:solidFill>
              </a:rPr>
              <a:t>Un servidor de DHCPv4 dedicado es escalable y relativamente fácil de administrar. Sin embargo, en una sucursal pequeña o ubicación SOHO, se puede configurar un </a:t>
            </a:r>
            <a:r>
              <a:rPr lang="es-419" sz="1600" dirty="0" err="1">
                <a:solidFill>
                  <a:srgbClr val="000000"/>
                </a:solidFill>
              </a:rPr>
              <a:t>router</a:t>
            </a:r>
            <a:r>
              <a:rPr lang="es-419" sz="1600" dirty="0">
                <a:solidFill>
                  <a:srgbClr val="000000"/>
                </a:solidFill>
              </a:rPr>
              <a:t> Cisco para proporcionar servicios DHCPv4 sin necesidad de un servidor dedicado. El software Cisco IOS admite un servidor DHCPv4 con funciones completas opcional.</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228436"/>
          </a:xfrm>
        </p:spPr>
        <p:txBody>
          <a:bodyPr/>
          <a:lstStyle/>
          <a:p>
            <a:r>
              <a:rPr lang="es-419" sz="1600" dirty="0"/>
              <a:t>Conceptos DHCPv4</a:t>
            </a:r>
            <a:br>
              <a:rPr lang="en-US" dirty="0"/>
            </a:br>
            <a:r>
              <a:rPr lang="es-419" sz="2400" dirty="0"/>
              <a:t>Servidor y cliente (Cont.) </a:t>
            </a:r>
          </a:p>
        </p:txBody>
      </p:sp>
      <p:sp>
        <p:nvSpPr>
          <p:cNvPr id="4" name="Content Placeholder 3">
            <a:extLst>
              <a:ext uri="{FF2B5EF4-FFF2-40B4-BE49-F238E27FC236}">
                <a16:creationId xmlns:a16="http://schemas.microsoft.com/office/drawing/2014/main" id="{8E952AC5-0C8E-4632-AC30-2EBF64451CC7}"/>
              </a:ext>
            </a:extLst>
          </p:cNvPr>
          <p:cNvSpPr>
            <a:spLocks noGrp="1"/>
          </p:cNvSpPr>
          <p:nvPr>
            <p:ph idx="1"/>
          </p:nvPr>
        </p:nvSpPr>
        <p:spPr>
          <a:xfrm>
            <a:off x="133004" y="932873"/>
            <a:ext cx="8877991" cy="3689897"/>
          </a:xfrm>
        </p:spPr>
        <p:txBody>
          <a:bodyPr/>
          <a:lstStyle/>
          <a:p>
            <a:pPr marL="342900" indent="-342900" algn="l">
              <a:buFont typeface="Arial" panose="020B0604020202020204" pitchFamily="34" charset="0"/>
              <a:buChar char="•"/>
            </a:pPr>
            <a:endParaRPr lang="es-419" sz="1600" dirty="0">
              <a:solidFill>
                <a:srgbClr val="000000"/>
              </a:solidFill>
            </a:endParaRPr>
          </a:p>
          <a:p>
            <a:pPr marL="342900" indent="-342900" algn="l">
              <a:buFont typeface="Arial" panose="020B0604020202020204" pitchFamily="34" charset="0"/>
              <a:buChar char="•"/>
            </a:pPr>
            <a:r>
              <a:rPr lang="es-419" sz="1600" dirty="0">
                <a:solidFill>
                  <a:srgbClr val="000000"/>
                </a:solidFill>
              </a:rPr>
              <a:t>El servidor DHCPv4 asigna dinámicamente, o arrienda, una dirección IPv4 de un conjunto de direcciones durante un período limitado elegido por el servidor o hasta que el cliente ya no necesite la dirección.</a:t>
            </a:r>
          </a:p>
          <a:p>
            <a:pPr marL="342900" indent="-342900" algn="l">
              <a:buFont typeface="Arial" panose="020B0604020202020204" pitchFamily="34" charset="0"/>
              <a:buChar char="•"/>
            </a:pPr>
            <a:endParaRPr lang="es-419" sz="1600" dirty="0">
              <a:solidFill>
                <a:srgbClr val="000000"/>
              </a:solidFill>
            </a:endParaRPr>
          </a:p>
          <a:p>
            <a:pPr marL="342900" indent="-342900" algn="l">
              <a:buFont typeface="Arial" panose="020B0604020202020204" pitchFamily="34" charset="0"/>
              <a:buChar char="•"/>
            </a:pPr>
            <a:r>
              <a:rPr lang="es-419" sz="1600" dirty="0">
                <a:solidFill>
                  <a:srgbClr val="000000"/>
                </a:solidFill>
              </a:rPr>
              <a:t>Los clientes arriendan la información del servidor durante un período definido administrativamente. Los administradores configuran los servidores de DHCPv4 para establecer los arrendamientos, a fin de que caduquen a distintos intervalos. El arrendamiento típicamente dura de 24 horas a una semana o más. Cuando caduca el arrendamiento, el cliente debe solicitar otra dirección, aunque generalmente se le vuelve a asignar la misma.</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5493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256145"/>
          </a:xfrm>
        </p:spPr>
        <p:txBody>
          <a:bodyPr/>
          <a:lstStyle/>
          <a:p>
            <a:pPr rtl="0"/>
            <a:r>
              <a:rPr lang="es-419" sz="1600" dirty="0"/>
              <a:t>Conceptos DHCPv4</a:t>
            </a:r>
            <a:br>
              <a:rPr lang="es-419" sz="1600" dirty="0"/>
            </a:br>
            <a:r>
              <a:rPr lang="es-419" sz="2400" dirty="0"/>
              <a:t>OperaciónDHCPv4</a:t>
            </a:r>
          </a:p>
        </p:txBody>
      </p:sp>
      <p:sp>
        <p:nvSpPr>
          <p:cNvPr id="5" name="Content Placeholder 4">
            <a:extLst>
              <a:ext uri="{FF2B5EF4-FFF2-40B4-BE49-F238E27FC236}">
                <a16:creationId xmlns:a16="http://schemas.microsoft.com/office/drawing/2014/main" id="{C5FC0476-2379-4FAD-BD06-94F54CF2573A}"/>
              </a:ext>
            </a:extLst>
          </p:cNvPr>
          <p:cNvSpPr>
            <a:spLocks noGrp="1"/>
          </p:cNvSpPr>
          <p:nvPr>
            <p:ph idx="1"/>
          </p:nvPr>
        </p:nvSpPr>
        <p:spPr>
          <a:xfrm>
            <a:off x="431971" y="988291"/>
            <a:ext cx="8280057" cy="3689897"/>
          </a:xfrm>
        </p:spPr>
        <p:txBody>
          <a:bodyPr/>
          <a:lstStyle/>
          <a:p>
            <a:pPr marL="0" indent="0" algn="l" rtl="0"/>
            <a:endParaRPr lang="es-419" sz="1600" dirty="0">
              <a:solidFill>
                <a:srgbClr val="000000"/>
              </a:solidFill>
            </a:endParaRPr>
          </a:p>
          <a:p>
            <a:pPr marL="0" indent="0" algn="l" rtl="0"/>
            <a:r>
              <a:rPr lang="es-419" sz="1600" dirty="0">
                <a:solidFill>
                  <a:srgbClr val="000000"/>
                </a:solidFill>
              </a:rPr>
              <a:t>DHCPv4 funciona en un modo cliente/servidor. Cuando un cliente se comunica con un servidor de DHCPv4, el servidor asigna o arrienda una dirección IPv4 a ese cliente. </a:t>
            </a:r>
          </a:p>
          <a:p>
            <a:pPr marL="0" indent="0" algn="l" rtl="0"/>
            <a:endParaRPr lang="es-419" sz="1600" dirty="0">
              <a:solidFill>
                <a:srgbClr val="000000"/>
              </a:solidFill>
            </a:endParaRPr>
          </a:p>
          <a:p>
            <a:pPr marL="285750" indent="-285750" algn="l" rtl="0">
              <a:buFont typeface="Arial" panose="020B0604020202020204" pitchFamily="34" charset="0"/>
              <a:buChar char="•"/>
            </a:pPr>
            <a:r>
              <a:rPr lang="es-419" sz="1600" dirty="0">
                <a:solidFill>
                  <a:srgbClr val="000000"/>
                </a:solidFill>
              </a:rPr>
              <a:t>El cliente se conecta a la red con esa dirección IPv4 arrendada hasta que caduque el arrendamiento. El cliente debe ponerse en contacto con el servidor de DHCP periódicamente para extender el arrendamiento. </a:t>
            </a:r>
          </a:p>
          <a:p>
            <a:pPr marL="285750" indent="-285750" algn="l" rtl="0">
              <a:buFont typeface="Arial" panose="020B0604020202020204" pitchFamily="34" charset="0"/>
              <a:buChar char="•"/>
            </a:pPr>
            <a:r>
              <a:rPr lang="es-419" sz="1600" dirty="0">
                <a:solidFill>
                  <a:srgbClr val="000000"/>
                </a:solidFill>
              </a:rPr>
              <a:t>Este mecanismo de arrendamiento asegura que los clientes que se trasladan o se desconectan no mantengan las direcciones que ya no necesitan. </a:t>
            </a:r>
          </a:p>
          <a:p>
            <a:pPr marL="285750" indent="-285750" algn="l" rtl="0">
              <a:buFont typeface="Arial" panose="020B0604020202020204" pitchFamily="34" charset="0"/>
              <a:buChar char="•"/>
            </a:pPr>
            <a:r>
              <a:rPr lang="es-419" sz="1600" dirty="0">
                <a:solidFill>
                  <a:srgbClr val="000000"/>
                </a:solidFill>
              </a:rPr>
              <a:t>Cuando caduca un arrendamiento, el servidor de DHCP devuelve la dirección al conjunto, donde se puede volver a asignar según sea necesario.</a:t>
            </a:r>
          </a:p>
        </p:txBody>
      </p:sp>
    </p:spTree>
    <p:custDataLst>
      <p:tags r:id="rId1"/>
    </p:custDataLst>
    <p:extLst>
      <p:ext uri="{BB962C8B-B14F-4D97-AF65-F5344CB8AC3E}">
        <p14:creationId xmlns:p14="http://schemas.microsoft.com/office/powerpoint/2010/main" val="22889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942109"/>
          </a:xfrm>
        </p:spPr>
        <p:txBody>
          <a:bodyPr/>
          <a:lstStyle/>
          <a:p>
            <a:pPr rtl="0"/>
            <a:r>
              <a:rPr lang="es-419" sz="1600" dirty="0"/>
              <a:t>Conceptos DHCPv4</a:t>
            </a:r>
            <a:br>
              <a:rPr lang="en-US" dirty="0"/>
            </a:br>
            <a:r>
              <a:rPr lang="es-419" sz="2400" dirty="0"/>
              <a:t>Pasos para obtener una concesión</a:t>
            </a:r>
          </a:p>
        </p:txBody>
      </p:sp>
      <p:sp>
        <p:nvSpPr>
          <p:cNvPr id="7" name="TextBox 6">
            <a:extLst>
              <a:ext uri="{FF2B5EF4-FFF2-40B4-BE49-F238E27FC236}">
                <a16:creationId xmlns:a16="http://schemas.microsoft.com/office/drawing/2014/main" id="{6F9234A2-E0F1-4518-996D-48D6934C6664}"/>
              </a:ext>
            </a:extLst>
          </p:cNvPr>
          <p:cNvSpPr txBox="1"/>
          <p:nvPr/>
        </p:nvSpPr>
        <p:spPr>
          <a:xfrm>
            <a:off x="186117" y="820849"/>
            <a:ext cx="2996774" cy="3724096"/>
          </a:xfrm>
          <a:prstGeom prst="rect">
            <a:avLst/>
          </a:prstGeom>
          <a:noFill/>
        </p:spPr>
        <p:txBody>
          <a:bodyPr wrap="square" rtlCol="0">
            <a:spAutoFit/>
          </a:bodyPr>
          <a:lstStyle/>
          <a:p>
            <a:pPr rtl="0"/>
            <a:r>
              <a:rPr lang="es-419" sz="1600" dirty="0">
                <a:solidFill>
                  <a:srgbClr val="000000"/>
                </a:solidFill>
              </a:rPr>
              <a:t>Cuando el cliente arranca (o quiere unirse a una red), comienza un proceso de cuatro pasos para obtener un arrendamiento:</a:t>
            </a:r>
          </a:p>
          <a:p>
            <a:pPr rtl="0"/>
            <a:endParaRPr lang="es-419" sz="1600" dirty="0">
              <a:solidFill>
                <a:srgbClr val="000000"/>
              </a:solidFill>
            </a:endParaRPr>
          </a:p>
          <a:p>
            <a:pPr marL="228600" indent="-228600" rtl="0">
              <a:buFont typeface="+mj-lt"/>
              <a:buAutoNum type="arabicPeriod"/>
            </a:pPr>
            <a:r>
              <a:rPr lang="es-419" sz="1600" b="1" dirty="0">
                <a:solidFill>
                  <a:srgbClr val="000000"/>
                </a:solidFill>
              </a:rPr>
              <a:t>Detección de DHCP (DHCPDISCOVER)</a:t>
            </a:r>
          </a:p>
          <a:p>
            <a:pPr marL="228600" indent="-228600" rtl="0">
              <a:buFont typeface="+mj-lt"/>
              <a:buAutoNum type="arabicPeriod"/>
            </a:pPr>
            <a:r>
              <a:rPr lang="es-419" sz="1600" b="1" dirty="0">
                <a:solidFill>
                  <a:srgbClr val="000000"/>
                </a:solidFill>
              </a:rPr>
              <a:t>Oferta de DHCP (DHCPOFFER)</a:t>
            </a:r>
          </a:p>
          <a:p>
            <a:pPr marL="228600" indent="-228600" rtl="0">
              <a:buFont typeface="+mj-lt"/>
              <a:buAutoNum type="arabicPeriod"/>
            </a:pPr>
            <a:r>
              <a:rPr lang="es-419" sz="1600" b="1" dirty="0">
                <a:solidFill>
                  <a:srgbClr val="000000"/>
                </a:solidFill>
              </a:rPr>
              <a:t>Solicitud de DHCP (DHCPREQUEST)</a:t>
            </a:r>
          </a:p>
          <a:p>
            <a:pPr marL="228600" indent="-228600" rtl="0">
              <a:buFont typeface="+mj-lt"/>
              <a:buAutoNum type="arabicPeriod"/>
            </a:pPr>
            <a:r>
              <a:rPr lang="es-419" sz="1600" b="1" dirty="0">
                <a:solidFill>
                  <a:srgbClr val="000000"/>
                </a:solidFill>
              </a:rPr>
              <a:t>Acuse de recibo de DHCP (DHCPACK)</a:t>
            </a:r>
          </a:p>
          <a:p>
            <a:endParaRPr lang="en-US" sz="1200" dirty="0">
              <a:solidFill>
                <a:srgbClr val="000000"/>
              </a:solidFill>
            </a:endParaRPr>
          </a:p>
        </p:txBody>
      </p:sp>
      <p:pic>
        <p:nvPicPr>
          <p:cNvPr id="6" name="Content Placeholder 5">
            <a:extLst>
              <a:ext uri="{FF2B5EF4-FFF2-40B4-BE49-F238E27FC236}">
                <a16:creationId xmlns:a16="http://schemas.microsoft.com/office/drawing/2014/main" id="{12FBBEC9-755B-498B-AF2B-6626C0401C21}"/>
              </a:ext>
            </a:extLst>
          </p:cNvPr>
          <p:cNvPicPr>
            <a:picLocks noGrp="1" noChangeAspect="1"/>
          </p:cNvPicPr>
          <p:nvPr>
            <p:ph idx="1"/>
          </p:nvPr>
        </p:nvPicPr>
        <p:blipFill>
          <a:blip r:embed="rId4"/>
          <a:stretch>
            <a:fillRect/>
          </a:stretch>
        </p:blipFill>
        <p:spPr>
          <a:xfrm>
            <a:off x="3304131" y="731837"/>
            <a:ext cx="5653752" cy="3917707"/>
          </a:xfrm>
          <a:prstGeom prst="rect">
            <a:avLst/>
          </a:prstGeom>
        </p:spPr>
      </p:pic>
    </p:spTree>
    <p:custDataLst>
      <p:tags r:id="rId1"/>
    </p:custDataLst>
    <p:extLst>
      <p:ext uri="{BB962C8B-B14F-4D97-AF65-F5344CB8AC3E}">
        <p14:creationId xmlns:p14="http://schemas.microsoft.com/office/powerpoint/2010/main" val="83296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965448"/>
          </a:xfrm>
        </p:spPr>
        <p:txBody>
          <a:bodyPr/>
          <a:lstStyle/>
          <a:p>
            <a:pPr rtl="0"/>
            <a:r>
              <a:rPr lang="es-419" sz="1600" dirty="0"/>
              <a:t>Conceptos DHCPv4</a:t>
            </a:r>
            <a:br>
              <a:rPr lang="en-US" dirty="0"/>
            </a:br>
            <a:r>
              <a:rPr lang="es-419" sz="2400" dirty="0"/>
              <a:t>Pasos para renovar una concesión</a:t>
            </a:r>
          </a:p>
        </p:txBody>
      </p:sp>
      <p:sp>
        <p:nvSpPr>
          <p:cNvPr id="7" name="TextBox 6">
            <a:extLst>
              <a:ext uri="{FF2B5EF4-FFF2-40B4-BE49-F238E27FC236}">
                <a16:creationId xmlns:a16="http://schemas.microsoft.com/office/drawing/2014/main" id="{6F9234A2-E0F1-4518-996D-48D6934C6664}"/>
              </a:ext>
            </a:extLst>
          </p:cNvPr>
          <p:cNvSpPr txBox="1"/>
          <p:nvPr/>
        </p:nvSpPr>
        <p:spPr>
          <a:xfrm>
            <a:off x="193999" y="731837"/>
            <a:ext cx="4378001" cy="3893374"/>
          </a:xfrm>
          <a:prstGeom prst="rect">
            <a:avLst/>
          </a:prstGeom>
          <a:noFill/>
        </p:spPr>
        <p:txBody>
          <a:bodyPr wrap="square" rtlCol="0">
            <a:spAutoFit/>
          </a:bodyPr>
          <a:lstStyle/>
          <a:p>
            <a:pPr rtl="0"/>
            <a:r>
              <a:rPr lang="es-419" sz="1300" dirty="0">
                <a:solidFill>
                  <a:srgbClr val="000000"/>
                </a:solidFill>
              </a:rPr>
              <a:t>Antes de la expiración de la concesión, el cliente inicia un proceso de dos pasos para renovar la concesión con el servidor DHCPv4, como se muestra en la figura:</a:t>
            </a:r>
          </a:p>
          <a:p>
            <a:endParaRPr lang="en-US" sz="1300" dirty="0">
              <a:solidFill>
                <a:srgbClr val="000000"/>
              </a:solidFill>
            </a:endParaRPr>
          </a:p>
          <a:p>
            <a:pPr rtl="0"/>
            <a:r>
              <a:rPr lang="es-419" sz="1300" b="1" dirty="0">
                <a:solidFill>
                  <a:srgbClr val="000000"/>
                </a:solidFill>
              </a:rPr>
              <a:t>1.Solicitud de DHCP (DHCPREQUEST)</a:t>
            </a:r>
          </a:p>
          <a:p>
            <a:pPr rtl="0"/>
            <a:r>
              <a:rPr lang="es-419" sz="1300" dirty="0">
                <a:solidFill>
                  <a:srgbClr val="000000"/>
                </a:solidFill>
              </a:rPr>
              <a:t>Antes de que caduque el arrendamiento, el cliente envía un mensaje DHCPREQUEST directamente al servidor de DHCPv4 que ofreció la dirección IPv4 en primera instancia. Si no se recibe un mensaje DHCPACK dentro de una cantidad de tiempo especificada, el cliente transmite otro mensaje DHCPREQUEST de modo que uno de los otros servidores de DHCPv4 pueda extender el arrendamiento.</a:t>
            </a:r>
          </a:p>
          <a:p>
            <a:endParaRPr lang="en-US" sz="1300" dirty="0">
              <a:solidFill>
                <a:srgbClr val="000000"/>
              </a:solidFill>
            </a:endParaRPr>
          </a:p>
          <a:p>
            <a:pPr rtl="0"/>
            <a:r>
              <a:rPr lang="es-419" sz="1300" b="1" dirty="0">
                <a:solidFill>
                  <a:srgbClr val="000000"/>
                </a:solidFill>
              </a:rPr>
              <a:t>2.Acuse de recibo de DHCP (DHCPACK)</a:t>
            </a:r>
          </a:p>
          <a:p>
            <a:pPr rtl="0"/>
            <a:r>
              <a:rPr lang="es-419" sz="1300" dirty="0">
                <a:solidFill>
                  <a:srgbClr val="000000"/>
                </a:solidFill>
              </a:rPr>
              <a:t>Al recibir el mensaje DHCPREQUEST, el servidor verifica la información del arrendamiento al devolver un DHCPACK.</a:t>
            </a:r>
          </a:p>
          <a:p>
            <a:endParaRPr lang="en-US" sz="1300" dirty="0">
              <a:solidFill>
                <a:srgbClr val="000000"/>
              </a:solidFill>
            </a:endParaRPr>
          </a:p>
        </p:txBody>
      </p:sp>
      <p:pic>
        <p:nvPicPr>
          <p:cNvPr id="5" name="Content Placeholder 4">
            <a:extLst>
              <a:ext uri="{FF2B5EF4-FFF2-40B4-BE49-F238E27FC236}">
                <a16:creationId xmlns:a16="http://schemas.microsoft.com/office/drawing/2014/main" id="{D4AC536C-5805-4F87-AD6B-AF8190594F2F}"/>
              </a:ext>
            </a:extLst>
          </p:cNvPr>
          <p:cNvPicPr>
            <a:picLocks noGrp="1" noChangeAspect="1"/>
          </p:cNvPicPr>
          <p:nvPr>
            <p:ph idx="1"/>
          </p:nvPr>
        </p:nvPicPr>
        <p:blipFill>
          <a:blip r:embed="rId4"/>
          <a:stretch>
            <a:fillRect/>
          </a:stretch>
        </p:blipFill>
        <p:spPr>
          <a:xfrm>
            <a:off x="4572000" y="1217533"/>
            <a:ext cx="4197020" cy="1736159"/>
          </a:xfrm>
          <a:prstGeom prst="rect">
            <a:avLst/>
          </a:prstGeom>
        </p:spPr>
      </p:pic>
      <p:sp>
        <p:nvSpPr>
          <p:cNvPr id="2" name="Rectangle 1">
            <a:extLst>
              <a:ext uri="{FF2B5EF4-FFF2-40B4-BE49-F238E27FC236}">
                <a16:creationId xmlns:a16="http://schemas.microsoft.com/office/drawing/2014/main" id="{6BC24396-2A31-466F-BA99-B4647CAF2357}"/>
              </a:ext>
            </a:extLst>
          </p:cNvPr>
          <p:cNvSpPr/>
          <p:nvPr/>
        </p:nvSpPr>
        <p:spPr>
          <a:xfrm>
            <a:off x="4447309" y="3439388"/>
            <a:ext cx="4802418" cy="738664"/>
          </a:xfrm>
          <a:prstGeom prst="rect">
            <a:avLst/>
          </a:prstGeom>
        </p:spPr>
        <p:txBody>
          <a:bodyPr wrap="square">
            <a:spAutoFit/>
          </a:bodyPr>
          <a:lstStyle/>
          <a:p>
            <a:pPr rtl="0"/>
            <a:r>
              <a:rPr lang="es-419" sz="1400" dirty="0">
                <a:solidFill>
                  <a:srgbClr val="000000"/>
                </a:solidFill>
              </a:rPr>
              <a:t>Nota</a:t>
            </a:r>
            <a:r>
              <a:rPr lang="es-419" sz="1400" b="1" dirty="0">
                <a:solidFill>
                  <a:srgbClr val="000000"/>
                </a:solidFill>
              </a:rPr>
              <a:t>: Estos mensajes (principalmente DHCPOFFER y DHCPACK) se pueden enviar como unidifusión o difusión según la IETF RFC 2131.</a:t>
            </a:r>
          </a:p>
        </p:txBody>
      </p:sp>
    </p:spTree>
    <p:custDataLst>
      <p:tags r:id="rId1"/>
    </p:custDataLst>
    <p:extLst>
      <p:ext uri="{BB962C8B-B14F-4D97-AF65-F5344CB8AC3E}">
        <p14:creationId xmlns:p14="http://schemas.microsoft.com/office/powerpoint/2010/main" val="336853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7828" y="1889356"/>
            <a:ext cx="7848344" cy="1364788"/>
          </a:xfrm>
        </p:spPr>
        <p:txBody>
          <a:bodyPr anchor="ctr"/>
          <a:lstStyle/>
          <a:p>
            <a:pPr rtl="0"/>
            <a:r>
              <a:rPr lang="es-419" dirty="0">
                <a:solidFill>
                  <a:schemeClr val="accent5">
                    <a:lumMod val="40000"/>
                    <a:lumOff val="60000"/>
                  </a:schemeClr>
                </a:solidFill>
              </a:rPr>
              <a:t>7.2 Configurar un servidor DHCPv4 del IOS de Cisco</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201466"/>
          </a:xfrm>
        </p:spPr>
        <p:txBody>
          <a:bodyPr/>
          <a:lstStyle/>
          <a:p>
            <a:r>
              <a:rPr lang="es-CR" sz="1600" dirty="0"/>
              <a:t>Configurar un servidor DHCPv4 del IOS de Cisco </a:t>
            </a:r>
            <a:br>
              <a:rPr lang="es-CR" sz="1600" dirty="0"/>
            </a:br>
            <a:r>
              <a:rPr lang="es-419" sz="2400" dirty="0"/>
              <a:t>Servidor DHCPv4</a:t>
            </a:r>
            <a:endParaRPr lang="es-419" sz="1600" dirty="0"/>
          </a:p>
        </p:txBody>
      </p:sp>
      <p:sp>
        <p:nvSpPr>
          <p:cNvPr id="4" name="Content Placeholder 3">
            <a:extLst>
              <a:ext uri="{FF2B5EF4-FFF2-40B4-BE49-F238E27FC236}">
                <a16:creationId xmlns:a16="http://schemas.microsoft.com/office/drawing/2014/main" id="{7BC7BF0D-8C8B-4F73-8AEF-C93C8E218CAF}"/>
              </a:ext>
            </a:extLst>
          </p:cNvPr>
          <p:cNvSpPr>
            <a:spLocks noGrp="1"/>
          </p:cNvSpPr>
          <p:nvPr>
            <p:ph idx="1"/>
          </p:nvPr>
        </p:nvSpPr>
        <p:spPr>
          <a:xfrm>
            <a:off x="474662" y="731838"/>
            <a:ext cx="8280057" cy="1201466"/>
          </a:xfrm>
        </p:spPr>
        <p:txBody>
          <a:bodyPr/>
          <a:lstStyle/>
          <a:p>
            <a:pPr marL="0" indent="0" algn="l" rtl="0"/>
            <a:endParaRPr lang="es-419" sz="1600" dirty="0">
              <a:solidFill>
                <a:srgbClr val="000000"/>
              </a:solidFill>
            </a:endParaRPr>
          </a:p>
          <a:p>
            <a:pPr marL="0" indent="0" algn="l" rtl="0"/>
            <a:r>
              <a:rPr lang="es-419" sz="1600" dirty="0">
                <a:solidFill>
                  <a:srgbClr val="000000"/>
                </a:solidFill>
              </a:rPr>
              <a:t>Ahora usted tiene una comprensión básica de cómo funciona DHCPv4 y cómo puede hacer su trabajo un poco más fácil. Un </a:t>
            </a:r>
            <a:r>
              <a:rPr lang="es-419" sz="1600" dirty="0" err="1">
                <a:solidFill>
                  <a:srgbClr val="000000"/>
                </a:solidFill>
              </a:rPr>
              <a:t>router</a:t>
            </a:r>
            <a:r>
              <a:rPr lang="es-419" sz="1600" dirty="0">
                <a:solidFill>
                  <a:srgbClr val="000000"/>
                </a:solidFill>
              </a:rPr>
              <a:t> Cisco que ejecuta el software IOS de Cisco puede configurarse para que funcione como servidor de DHCPv4. El servidor de DHCPv4 que utiliza IOS de Cisco asigna y administra direcciones IPv4 de conjuntos de direcciones especificados dentro del </a:t>
            </a:r>
            <a:r>
              <a:rPr lang="es-419" sz="1600" dirty="0" err="1">
                <a:solidFill>
                  <a:srgbClr val="000000"/>
                </a:solidFill>
              </a:rPr>
              <a:t>router</a:t>
            </a:r>
            <a:r>
              <a:rPr lang="es-419" sz="1600" dirty="0">
                <a:solidFill>
                  <a:srgbClr val="000000"/>
                </a:solidFill>
              </a:rPr>
              <a:t> para los clientes DHCPv4.</a:t>
            </a:r>
          </a:p>
        </p:txBody>
      </p:sp>
      <p:pic>
        <p:nvPicPr>
          <p:cNvPr id="2" name="Picture 1">
            <a:extLst>
              <a:ext uri="{FF2B5EF4-FFF2-40B4-BE49-F238E27FC236}">
                <a16:creationId xmlns:a16="http://schemas.microsoft.com/office/drawing/2014/main" id="{4C20E8DC-078E-4FFB-8F79-760ABADAD249}"/>
              </a:ext>
            </a:extLst>
          </p:cNvPr>
          <p:cNvPicPr>
            <a:picLocks noChangeAspect="1"/>
          </p:cNvPicPr>
          <p:nvPr/>
        </p:nvPicPr>
        <p:blipFill>
          <a:blip r:embed="rId4"/>
          <a:stretch>
            <a:fillRect/>
          </a:stretch>
        </p:blipFill>
        <p:spPr>
          <a:xfrm>
            <a:off x="1933903" y="2347227"/>
            <a:ext cx="5276193" cy="2334715"/>
          </a:xfrm>
          <a:prstGeom prst="rect">
            <a:avLst/>
          </a:prstGeom>
        </p:spPr>
      </p:pic>
    </p:spTree>
    <p:custDataLst>
      <p:tags r:id="rId1"/>
    </p:custDataLst>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191491"/>
          </a:xfrm>
        </p:spPr>
        <p:txBody>
          <a:bodyPr/>
          <a:lstStyle/>
          <a:p>
            <a:r>
              <a:rPr lang="es-CR" sz="1600" dirty="0"/>
              <a:t>Configurar un servidor DHCPv4 del IOS de Cisco</a:t>
            </a:r>
            <a:br>
              <a:rPr lang="es-CR" sz="1600" dirty="0"/>
            </a:br>
            <a:r>
              <a:rPr lang="es-419" sz="2400" dirty="0"/>
              <a:t>Pasos para configurar un servidor DHCPv4 de Cisco IOS</a:t>
            </a:r>
          </a:p>
        </p:txBody>
      </p:sp>
      <p:sp>
        <p:nvSpPr>
          <p:cNvPr id="6" name="Content Placeholder 5">
            <a:extLst>
              <a:ext uri="{FF2B5EF4-FFF2-40B4-BE49-F238E27FC236}">
                <a16:creationId xmlns:a16="http://schemas.microsoft.com/office/drawing/2014/main" id="{8C0E4483-A663-4DD0-B550-6C6E46A4233D}"/>
              </a:ext>
            </a:extLst>
          </p:cNvPr>
          <p:cNvSpPr>
            <a:spLocks noGrp="1"/>
          </p:cNvSpPr>
          <p:nvPr>
            <p:ph idx="1"/>
          </p:nvPr>
        </p:nvSpPr>
        <p:spPr>
          <a:xfrm>
            <a:off x="474662" y="731837"/>
            <a:ext cx="8280057" cy="3689897"/>
          </a:xfrm>
        </p:spPr>
        <p:txBody>
          <a:bodyPr/>
          <a:lstStyle/>
          <a:p>
            <a:pPr marL="0" indent="0" algn="l" rtl="0"/>
            <a:endParaRPr lang="es-419" sz="1600" dirty="0">
              <a:solidFill>
                <a:srgbClr val="000000"/>
              </a:solidFill>
            </a:endParaRPr>
          </a:p>
          <a:p>
            <a:pPr marL="0" indent="0" algn="l" rtl="0"/>
            <a:r>
              <a:rPr lang="es-419" sz="1600" dirty="0">
                <a:solidFill>
                  <a:srgbClr val="000000"/>
                </a:solidFill>
              </a:rPr>
              <a:t>Utilice los siguientes pasos para configurar un servidor DHCPv4 del IOS de Cisco:</a:t>
            </a:r>
          </a:p>
          <a:p>
            <a:pPr marL="0" indent="0" algn="l" rtl="0"/>
            <a:endParaRPr lang="es-419" sz="1600" dirty="0">
              <a:solidFill>
                <a:srgbClr val="000000"/>
              </a:solidFill>
            </a:endParaRPr>
          </a:p>
          <a:p>
            <a:pPr marL="171450" indent="-171450" algn="l" rtl="0">
              <a:buFont typeface="Arial" panose="020B0604020202020204" pitchFamily="34" charset="0"/>
              <a:buChar char="•"/>
            </a:pPr>
            <a:r>
              <a:rPr lang="es-419" sz="1600" b="1" dirty="0">
                <a:solidFill>
                  <a:srgbClr val="000000"/>
                </a:solidFill>
              </a:rPr>
              <a:t>Paso 1</a:t>
            </a:r>
            <a:r>
              <a:rPr lang="es-419" sz="1600" dirty="0">
                <a:solidFill>
                  <a:srgbClr val="000000"/>
                </a:solidFill>
              </a:rPr>
              <a:t>. Excluir direcciones IPv4 Se puede excluir una única dirección o un rango de direcciones especificando la </a:t>
            </a:r>
            <a:r>
              <a:rPr lang="es-419" sz="1600" i="1" dirty="0">
                <a:solidFill>
                  <a:srgbClr val="000000"/>
                </a:solidFill>
              </a:rPr>
              <a:t>dirección más baja</a:t>
            </a:r>
            <a:r>
              <a:rPr lang="es-419" sz="1600" dirty="0">
                <a:solidFill>
                  <a:srgbClr val="000000"/>
                </a:solidFill>
              </a:rPr>
              <a:t> y </a:t>
            </a:r>
            <a:r>
              <a:rPr lang="es-419" sz="1600" i="1" dirty="0">
                <a:solidFill>
                  <a:srgbClr val="000000"/>
                </a:solidFill>
              </a:rPr>
              <a:t>la dirección más alta</a:t>
            </a:r>
            <a:r>
              <a:rPr lang="es-419" sz="1600" dirty="0">
                <a:solidFill>
                  <a:srgbClr val="000000"/>
                </a:solidFill>
              </a:rPr>
              <a:t> del rango. Las direcciones excluidas deben incluir las direcciones asignadas a los </a:t>
            </a:r>
            <a:r>
              <a:rPr lang="es-419" sz="1600" dirty="0" err="1">
                <a:solidFill>
                  <a:srgbClr val="000000"/>
                </a:solidFill>
              </a:rPr>
              <a:t>routers</a:t>
            </a:r>
            <a:r>
              <a:rPr lang="es-419" sz="1600" dirty="0">
                <a:solidFill>
                  <a:srgbClr val="000000"/>
                </a:solidFill>
              </a:rPr>
              <a:t>, a los servidores, a las impresoras y a los demás dispositivos que se configuraron o se configurarán manualmente. También puede introducir el comando varias veces. El comando es </a:t>
            </a:r>
            <a:r>
              <a:rPr lang="es-419" sz="1600" b="1" dirty="0" err="1">
                <a:solidFill>
                  <a:srgbClr val="000000"/>
                </a:solidFill>
                <a:cs typeface="Courier New" panose="02070309020205020404" pitchFamily="49" charset="0"/>
              </a:rPr>
              <a:t>ip</a:t>
            </a:r>
            <a:r>
              <a:rPr lang="es-419" sz="1600" b="1" dirty="0">
                <a:solidFill>
                  <a:srgbClr val="000000"/>
                </a:solidFill>
                <a:cs typeface="Courier New" panose="02070309020205020404" pitchFamily="49" charset="0"/>
              </a:rPr>
              <a:t> </a:t>
            </a:r>
            <a:r>
              <a:rPr lang="es-419" sz="1600" b="1" dirty="0" err="1">
                <a:solidFill>
                  <a:srgbClr val="000000"/>
                </a:solidFill>
                <a:cs typeface="Courier New" panose="02070309020205020404" pitchFamily="49" charset="0"/>
              </a:rPr>
              <a:t>dhcp</a:t>
            </a:r>
            <a:r>
              <a:rPr lang="es-419" sz="1600" b="1" dirty="0">
                <a:solidFill>
                  <a:srgbClr val="000000"/>
                </a:solidFill>
                <a:cs typeface="Courier New" panose="02070309020205020404" pitchFamily="49" charset="0"/>
              </a:rPr>
              <a:t> </a:t>
            </a:r>
            <a:r>
              <a:rPr lang="es-419" sz="1600" b="1" dirty="0" err="1">
                <a:solidFill>
                  <a:srgbClr val="000000"/>
                </a:solidFill>
                <a:cs typeface="Courier New" panose="02070309020205020404" pitchFamily="49" charset="0"/>
              </a:rPr>
              <a:t>excluded-address</a:t>
            </a:r>
            <a:r>
              <a:rPr lang="es-419" sz="1600" b="1" dirty="0">
                <a:solidFill>
                  <a:srgbClr val="000000"/>
                </a:solidFill>
                <a:cs typeface="Courier New" panose="02070309020205020404" pitchFamily="49" charset="0"/>
              </a:rPr>
              <a:t> </a:t>
            </a:r>
            <a:r>
              <a:rPr lang="es-419" sz="1600" b="1" i="1" dirty="0" err="1">
                <a:solidFill>
                  <a:srgbClr val="000000"/>
                </a:solidFill>
                <a:cs typeface="Courier New" panose="02070309020205020404" pitchFamily="49" charset="0"/>
              </a:rPr>
              <a:t>low-address</a:t>
            </a:r>
            <a:r>
              <a:rPr lang="es-419" sz="1600" b="1" i="1" dirty="0">
                <a:solidFill>
                  <a:srgbClr val="000000"/>
                </a:solidFill>
                <a:cs typeface="Courier New" panose="02070309020205020404" pitchFamily="49" charset="0"/>
              </a:rPr>
              <a:t> [</a:t>
            </a:r>
            <a:r>
              <a:rPr lang="es-419" sz="1600" b="1" i="1" dirty="0" err="1">
                <a:solidFill>
                  <a:srgbClr val="000000"/>
                </a:solidFill>
                <a:cs typeface="Courier New" panose="02070309020205020404" pitchFamily="49" charset="0"/>
              </a:rPr>
              <a:t>high-address</a:t>
            </a:r>
            <a:r>
              <a:rPr lang="es-419" sz="1600" b="1" i="1" dirty="0">
                <a:solidFill>
                  <a:srgbClr val="000000"/>
                </a:solidFill>
                <a:cs typeface="Courier New" panose="02070309020205020404" pitchFamily="49" charset="0"/>
              </a:rPr>
              <a:t>]</a:t>
            </a:r>
          </a:p>
          <a:p>
            <a:pPr marL="171450" indent="-171450" algn="l" rtl="0">
              <a:buFont typeface="Arial" panose="020B0604020202020204" pitchFamily="34" charset="0"/>
              <a:buChar char="•"/>
            </a:pPr>
            <a:endParaRPr lang="es-419" sz="1600" b="1" i="1" dirty="0">
              <a:solidFill>
                <a:srgbClr val="000000"/>
              </a:solidFill>
              <a:cs typeface="Courier New" panose="02070309020205020404" pitchFamily="49" charset="0"/>
            </a:endParaRPr>
          </a:p>
          <a:p>
            <a:pPr marL="171450" indent="-171450" algn="l" rtl="0">
              <a:buFont typeface="Arial" panose="020B0604020202020204" pitchFamily="34" charset="0"/>
              <a:buChar char="•"/>
            </a:pPr>
            <a:r>
              <a:rPr lang="es-419" sz="1600" b="1" dirty="0">
                <a:solidFill>
                  <a:srgbClr val="000000"/>
                </a:solidFill>
              </a:rPr>
              <a:t>Paso 2</a:t>
            </a:r>
            <a:r>
              <a:rPr lang="es-419" sz="1600" dirty="0">
                <a:solidFill>
                  <a:srgbClr val="000000"/>
                </a:solidFill>
              </a:rPr>
              <a:t>. Defina un nombre de grupo DHCPv4. El comando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dhcp</a:t>
            </a:r>
            <a:r>
              <a:rPr lang="es-419" sz="1600" b="1" dirty="0">
                <a:solidFill>
                  <a:srgbClr val="000000"/>
                </a:solidFill>
              </a:rPr>
              <a:t> pool</a:t>
            </a:r>
            <a:r>
              <a:rPr lang="es-419" sz="1600" dirty="0">
                <a:solidFill>
                  <a:srgbClr val="000000"/>
                </a:solidFill>
              </a:rPr>
              <a:t> </a:t>
            </a:r>
            <a:r>
              <a:rPr lang="es-419" sz="1600" b="1" i="1" dirty="0">
                <a:solidFill>
                  <a:srgbClr val="000000"/>
                </a:solidFill>
              </a:rPr>
              <a:t>pool-</a:t>
            </a:r>
            <a:r>
              <a:rPr lang="es-419" sz="1600" b="1" i="1" dirty="0" err="1">
                <a:solidFill>
                  <a:srgbClr val="000000"/>
                </a:solidFill>
              </a:rPr>
              <a:t>name</a:t>
            </a:r>
            <a:r>
              <a:rPr lang="es-419" sz="1600" dirty="0">
                <a:solidFill>
                  <a:srgbClr val="000000"/>
                </a:solidFill>
              </a:rPr>
              <a:t> crea un conjunto con el nombre especificado y coloca al </a:t>
            </a:r>
            <a:r>
              <a:rPr lang="es-419" sz="1600" dirty="0" err="1">
                <a:solidFill>
                  <a:srgbClr val="000000"/>
                </a:solidFill>
              </a:rPr>
              <a:t>router</a:t>
            </a:r>
            <a:r>
              <a:rPr lang="es-419" sz="1600" dirty="0">
                <a:solidFill>
                  <a:srgbClr val="000000"/>
                </a:solidFill>
              </a:rPr>
              <a:t> en el modo de configuración de DHCPv4, que se identifica con el indicador </a:t>
            </a:r>
            <a:r>
              <a:rPr lang="es-419" sz="1600" b="1" dirty="0" err="1">
                <a:solidFill>
                  <a:srgbClr val="000000"/>
                </a:solidFill>
              </a:rPr>
              <a:t>Router</a:t>
            </a:r>
            <a:r>
              <a:rPr lang="es-419" sz="1600" b="1" dirty="0">
                <a:solidFill>
                  <a:srgbClr val="000000"/>
                </a:solidFill>
              </a:rPr>
              <a:t>(</a:t>
            </a:r>
            <a:r>
              <a:rPr lang="es-419" sz="1600" b="1" dirty="0" err="1">
                <a:solidFill>
                  <a:srgbClr val="000000"/>
                </a:solidFill>
              </a:rPr>
              <a:t>dhcp-config</a:t>
            </a:r>
            <a:r>
              <a:rPr lang="es-419" sz="1600" b="1" dirty="0">
                <a:solidFill>
                  <a:srgbClr val="000000"/>
                </a:solidFill>
              </a:rPr>
              <a:t>)#.</a:t>
            </a:r>
          </a:p>
          <a:p>
            <a:pPr marL="0" indent="0" algn="l"/>
            <a:endParaRPr lang="en-US" sz="1200" dirty="0">
              <a:solidFill>
                <a:srgbClr val="000000"/>
              </a:solidFill>
            </a:endParaRPr>
          </a:p>
          <a:p>
            <a:pPr marL="342900" indent="-342900" algn="l">
              <a:buFont typeface="Arial" panose="020B0604020202020204" pitchFamily="34" charset="0"/>
              <a:buChar char="•"/>
            </a:pPr>
            <a:endParaRPr lang="en-US" sz="1200" dirty="0">
              <a:solidFill>
                <a:srgbClr val="000000"/>
              </a:solidFill>
            </a:endParaRPr>
          </a:p>
        </p:txBody>
      </p:sp>
    </p:spTree>
    <p:custDataLst>
      <p:tags r:id="rId1"/>
    </p:custDataLst>
    <p:extLst>
      <p:ext uri="{BB962C8B-B14F-4D97-AF65-F5344CB8AC3E}">
        <p14:creationId xmlns:p14="http://schemas.microsoft.com/office/powerpoint/2010/main" val="3988541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042400" cy="877455"/>
          </a:xfrm>
        </p:spPr>
        <p:txBody>
          <a:bodyPr/>
          <a:lstStyle/>
          <a:p>
            <a:r>
              <a:rPr lang="es-CR" sz="1600" dirty="0"/>
              <a:t>Configurar un servidor DHCPv4 del IOS de Cisco </a:t>
            </a:r>
            <a:br>
              <a:rPr lang="es-CR" sz="1600" dirty="0"/>
            </a:br>
            <a:r>
              <a:rPr lang="es-419" sz="2400" dirty="0"/>
              <a:t>Pasos para configurar un servidor DHCPv4 de Cisco IOS (Cont.) </a:t>
            </a:r>
          </a:p>
        </p:txBody>
      </p:sp>
      <p:sp>
        <p:nvSpPr>
          <p:cNvPr id="6" name="Content Placeholder 5">
            <a:extLst>
              <a:ext uri="{FF2B5EF4-FFF2-40B4-BE49-F238E27FC236}">
                <a16:creationId xmlns:a16="http://schemas.microsoft.com/office/drawing/2014/main" id="{8C0E4483-A663-4DD0-B550-6C6E46A4233D}"/>
              </a:ext>
            </a:extLst>
          </p:cNvPr>
          <p:cNvSpPr>
            <a:spLocks noGrp="1"/>
          </p:cNvSpPr>
          <p:nvPr>
            <p:ph idx="1"/>
          </p:nvPr>
        </p:nvSpPr>
        <p:spPr>
          <a:xfrm>
            <a:off x="235132" y="731838"/>
            <a:ext cx="8519588" cy="1027294"/>
          </a:xfrm>
        </p:spPr>
        <p:txBody>
          <a:bodyPr/>
          <a:lstStyle/>
          <a:p>
            <a:pPr marL="171450" indent="-171450" algn="l" rtl="0">
              <a:buFont typeface="Arial" panose="020B0604020202020204" pitchFamily="34" charset="0"/>
              <a:buChar char="•"/>
            </a:pPr>
            <a:r>
              <a:rPr lang="es-419" sz="1600" b="1" dirty="0">
                <a:solidFill>
                  <a:srgbClr val="000000"/>
                </a:solidFill>
              </a:rPr>
              <a:t>Paso 3</a:t>
            </a:r>
            <a:r>
              <a:rPr lang="es-419" sz="1600" dirty="0">
                <a:solidFill>
                  <a:srgbClr val="000000"/>
                </a:solidFill>
              </a:rPr>
              <a:t>. Configure el grupo DHCPv4. El conjunto de direcciones y el </a:t>
            </a:r>
            <a:r>
              <a:rPr lang="es-419" sz="1600" dirty="0" err="1">
                <a:solidFill>
                  <a:srgbClr val="000000"/>
                </a:solidFill>
              </a:rPr>
              <a:t>router</a:t>
            </a:r>
            <a:r>
              <a:rPr lang="es-419" sz="1600" dirty="0">
                <a:solidFill>
                  <a:srgbClr val="000000"/>
                </a:solidFill>
              </a:rPr>
              <a:t> de </a:t>
            </a:r>
            <a:r>
              <a:rPr lang="es-419" sz="1600" dirty="0" err="1">
                <a:solidFill>
                  <a:srgbClr val="000000"/>
                </a:solidFill>
              </a:rPr>
              <a:t>gateway</a:t>
            </a:r>
            <a:r>
              <a:rPr lang="es-419" sz="1600" dirty="0">
                <a:solidFill>
                  <a:srgbClr val="000000"/>
                </a:solidFill>
              </a:rPr>
              <a:t> predeterminado deben estar configurados. Utilice la instrucción </a:t>
            </a:r>
            <a:r>
              <a:rPr lang="es-419" sz="1600" b="1" dirty="0" err="1">
                <a:solidFill>
                  <a:srgbClr val="000000"/>
                </a:solidFill>
              </a:rPr>
              <a:t>network</a:t>
            </a:r>
            <a:r>
              <a:rPr lang="es-419" sz="1600" dirty="0">
                <a:solidFill>
                  <a:srgbClr val="000000"/>
                </a:solidFill>
              </a:rPr>
              <a:t> para definir el rango de direcciones disponibles. Utilice el comando </a:t>
            </a:r>
            <a:r>
              <a:rPr lang="es-419" sz="1600" b="1" dirty="0">
                <a:solidFill>
                  <a:srgbClr val="000000"/>
                </a:solidFill>
              </a:rPr>
              <a:t>default-</a:t>
            </a:r>
            <a:r>
              <a:rPr lang="es-419" sz="1600" b="1" dirty="0" err="1">
                <a:solidFill>
                  <a:srgbClr val="000000"/>
                </a:solidFill>
              </a:rPr>
              <a:t>router</a:t>
            </a:r>
            <a:r>
              <a:rPr lang="es-419" sz="1600" dirty="0">
                <a:solidFill>
                  <a:srgbClr val="000000"/>
                </a:solidFill>
              </a:rPr>
              <a:t> para definir el </a:t>
            </a:r>
            <a:r>
              <a:rPr lang="es-419" sz="1600" dirty="0" err="1">
                <a:solidFill>
                  <a:srgbClr val="000000"/>
                </a:solidFill>
              </a:rPr>
              <a:t>router</a:t>
            </a:r>
            <a:r>
              <a:rPr lang="es-419" sz="1600" dirty="0">
                <a:solidFill>
                  <a:srgbClr val="000000"/>
                </a:solidFill>
              </a:rPr>
              <a:t> de </a:t>
            </a:r>
            <a:r>
              <a:rPr lang="es-419" sz="1600" dirty="0" err="1">
                <a:solidFill>
                  <a:srgbClr val="000000"/>
                </a:solidFill>
              </a:rPr>
              <a:t>gateway</a:t>
            </a:r>
            <a:r>
              <a:rPr lang="es-419" sz="1600" dirty="0">
                <a:solidFill>
                  <a:srgbClr val="000000"/>
                </a:solidFill>
              </a:rPr>
              <a:t> predeterminado. Estos comandos y otros comandos opcionales se muestran en la tabla. </a:t>
            </a:r>
          </a:p>
          <a:p>
            <a:pPr marL="342900" indent="-342900" algn="l">
              <a:buFont typeface="Arial" panose="020B0604020202020204" pitchFamily="34" charset="0"/>
              <a:buChar char="•"/>
            </a:pPr>
            <a:endParaRPr lang="en-US" sz="1200" dirty="0">
              <a:solidFill>
                <a:srgbClr val="000000"/>
              </a:solidFill>
            </a:endParaRPr>
          </a:p>
          <a:p>
            <a:pPr marL="342900" indent="-342900" algn="l">
              <a:buFont typeface="Arial" panose="020B0604020202020204" pitchFamily="34" charset="0"/>
              <a:buChar char="•"/>
            </a:pPr>
            <a:endParaRPr lang="en-US" sz="1200" dirty="0">
              <a:solidFill>
                <a:srgbClr val="000000"/>
              </a:solidFill>
            </a:endParaRPr>
          </a:p>
        </p:txBody>
      </p:sp>
      <p:graphicFrame>
        <p:nvGraphicFramePr>
          <p:cNvPr id="8" name="Table 8">
            <a:extLst>
              <a:ext uri="{FF2B5EF4-FFF2-40B4-BE49-F238E27FC236}">
                <a16:creationId xmlns:a16="http://schemas.microsoft.com/office/drawing/2014/main" id="{8160675C-1F4E-46AB-AAC6-BAA24635C806}"/>
              </a:ext>
            </a:extLst>
          </p:cNvPr>
          <p:cNvGraphicFramePr>
            <a:graphicFrameLocks noGrp="1"/>
          </p:cNvGraphicFramePr>
          <p:nvPr>
            <p:extLst>
              <p:ext uri="{D42A27DB-BD31-4B8C-83A1-F6EECF244321}">
                <p14:modId xmlns:p14="http://schemas.microsoft.com/office/powerpoint/2010/main" val="3098063064"/>
              </p:ext>
            </p:extLst>
          </p:nvPr>
        </p:nvGraphicFramePr>
        <p:xfrm>
          <a:off x="923950" y="2092433"/>
          <a:ext cx="7141952" cy="2728397"/>
        </p:xfrm>
        <a:graphic>
          <a:graphicData uri="http://schemas.openxmlformats.org/drawingml/2006/table">
            <a:tbl>
              <a:tblPr firstRow="1" bandRow="1">
                <a:tableStyleId>{5C22544A-7EE6-4342-B048-85BDC9FD1C3A}</a:tableStyleId>
              </a:tblPr>
              <a:tblGrid>
                <a:gridCol w="2999188">
                  <a:extLst>
                    <a:ext uri="{9D8B030D-6E8A-4147-A177-3AD203B41FA5}">
                      <a16:colId xmlns:a16="http://schemas.microsoft.com/office/drawing/2014/main" val="3365508779"/>
                    </a:ext>
                  </a:extLst>
                </a:gridCol>
                <a:gridCol w="4142764">
                  <a:extLst>
                    <a:ext uri="{9D8B030D-6E8A-4147-A177-3AD203B41FA5}">
                      <a16:colId xmlns:a16="http://schemas.microsoft.com/office/drawing/2014/main" val="2426411092"/>
                    </a:ext>
                  </a:extLst>
                </a:gridCol>
              </a:tblGrid>
              <a:tr h="389771">
                <a:tc>
                  <a:txBody>
                    <a:bodyPr/>
                    <a:lstStyle/>
                    <a:p>
                      <a:pPr algn="l" rtl="0" fontAlgn="ctr"/>
                      <a:r>
                        <a:rPr lang="es-419" sz="1000" b="1" dirty="0">
                          <a:effectLst/>
                        </a:rPr>
                        <a:t>Tarea</a:t>
                      </a:r>
                    </a:p>
                  </a:txBody>
                  <a:tcPr marL="47625" marR="47625" marT="47625" marB="47625" anchor="ctr"/>
                </a:tc>
                <a:tc>
                  <a:txBody>
                    <a:bodyPr/>
                    <a:lstStyle/>
                    <a:p>
                      <a:pPr algn="l" rtl="0" fontAlgn="ctr"/>
                      <a:r>
                        <a:rPr lang="es-419" sz="1000" b="1">
                          <a:effectLst/>
                        </a:rPr>
                        <a:t>Comando de IOS</a:t>
                      </a:r>
                    </a:p>
                  </a:txBody>
                  <a:tcPr marL="47625" marR="47625" marT="47625" marB="47625" anchor="ctr"/>
                </a:tc>
                <a:extLst>
                  <a:ext uri="{0D108BD9-81ED-4DB2-BD59-A6C34878D82A}">
                    <a16:rowId xmlns:a16="http://schemas.microsoft.com/office/drawing/2014/main" val="592760898"/>
                  </a:ext>
                </a:extLst>
              </a:tr>
              <a:tr h="389771">
                <a:tc>
                  <a:txBody>
                    <a:bodyPr/>
                    <a:lstStyle/>
                    <a:p>
                      <a:pPr rtl="0" fontAlgn="ctr"/>
                      <a:r>
                        <a:rPr lang="es-419" sz="1000" b="1">
                          <a:solidFill>
                            <a:schemeClr val="tx1">
                              <a:lumMod val="50000"/>
                            </a:schemeClr>
                          </a:solidFill>
                          <a:effectLst/>
                        </a:rPr>
                        <a:t>Definir el conjunto de direcciones.</a:t>
                      </a:r>
                    </a:p>
                  </a:txBody>
                  <a:tcPr marL="47625" marR="47625" marT="47625" marB="47625" anchor="ctr"/>
                </a:tc>
                <a:tc>
                  <a:txBody>
                    <a:bodyPr/>
                    <a:lstStyle/>
                    <a:p>
                      <a:pPr rtl="0" fontAlgn="ctr"/>
                      <a:r>
                        <a:rPr lang="es-419" sz="1000" b="1">
                          <a:effectLst/>
                        </a:rPr>
                        <a:t>network</a:t>
                      </a:r>
                      <a:r>
                        <a:rPr lang="es-419" sz="1000" b="0">
                          <a:effectLst/>
                        </a:rPr>
                        <a:t> </a:t>
                      </a:r>
                      <a:r>
                        <a:rPr lang="es-419" sz="1000" b="0" i="1">
                          <a:effectLst/>
                        </a:rPr>
                        <a:t>network-number</a:t>
                      </a:r>
                      <a:r>
                        <a:rPr lang="es-419" sz="1000" b="0">
                          <a:effectLst/>
                        </a:rPr>
                        <a:t> [</a:t>
                      </a:r>
                      <a:r>
                        <a:rPr lang="es-419" sz="1000" b="0" i="1">
                          <a:effectLst/>
                        </a:rPr>
                        <a:t>mask</a:t>
                      </a:r>
                      <a:r>
                        <a:rPr lang="es-419" sz="1000" b="0">
                          <a:effectLst/>
                        </a:rPr>
                        <a:t> | / </a:t>
                      </a:r>
                      <a:r>
                        <a:rPr lang="es-419" sz="1000" b="0" i="1">
                          <a:effectLst/>
                        </a:rPr>
                        <a:t>prefix-length</a:t>
                      </a:r>
                      <a:r>
                        <a:rPr lang="es-419" sz="1000" b="0">
                          <a:effectLst/>
                        </a:rPr>
                        <a:t>]</a:t>
                      </a:r>
                    </a:p>
                  </a:txBody>
                  <a:tcPr marL="47625" marR="47625" marT="47625" marB="47625" anchor="ctr"/>
                </a:tc>
                <a:extLst>
                  <a:ext uri="{0D108BD9-81ED-4DB2-BD59-A6C34878D82A}">
                    <a16:rowId xmlns:a16="http://schemas.microsoft.com/office/drawing/2014/main" val="3973781449"/>
                  </a:ext>
                </a:extLst>
              </a:tr>
              <a:tr h="389771">
                <a:tc>
                  <a:txBody>
                    <a:bodyPr/>
                    <a:lstStyle/>
                    <a:p>
                      <a:pPr rtl="0" fontAlgn="ctr"/>
                      <a:r>
                        <a:rPr lang="es-419" sz="1000" b="1">
                          <a:solidFill>
                            <a:schemeClr val="tx1">
                              <a:lumMod val="50000"/>
                            </a:schemeClr>
                          </a:solidFill>
                          <a:effectLst/>
                        </a:rPr>
                        <a:t>Definir el router o gateway predeterminado.</a:t>
                      </a:r>
                    </a:p>
                  </a:txBody>
                  <a:tcPr marL="47625" marR="47625" marT="47625" marB="47625" anchor="ctr"/>
                </a:tc>
                <a:tc>
                  <a:txBody>
                    <a:bodyPr/>
                    <a:lstStyle/>
                    <a:p>
                      <a:pPr rtl="0" fontAlgn="ctr"/>
                      <a:r>
                        <a:rPr lang="es-419" sz="1000" b="1">
                          <a:effectLst/>
                        </a:rPr>
                        <a:t>default-router</a:t>
                      </a:r>
                      <a:r>
                        <a:rPr lang="es-419" sz="1000" b="0">
                          <a:effectLst/>
                        </a:rPr>
                        <a:t> address [ </a:t>
                      </a:r>
                      <a:r>
                        <a:rPr lang="es-419" sz="1000" b="0" i="1">
                          <a:effectLst/>
                        </a:rPr>
                        <a:t>address2….address8</a:t>
                      </a:r>
                      <a:r>
                        <a:rPr lang="es-419" sz="1000" b="0">
                          <a:effectLst/>
                        </a:rPr>
                        <a:t>]</a:t>
                      </a:r>
                    </a:p>
                  </a:txBody>
                  <a:tcPr marL="47625" marR="47625" marT="47625" marB="47625" anchor="ctr"/>
                </a:tc>
                <a:extLst>
                  <a:ext uri="{0D108BD9-81ED-4DB2-BD59-A6C34878D82A}">
                    <a16:rowId xmlns:a16="http://schemas.microsoft.com/office/drawing/2014/main" val="883745937"/>
                  </a:ext>
                </a:extLst>
              </a:tr>
              <a:tr h="389771">
                <a:tc>
                  <a:txBody>
                    <a:bodyPr/>
                    <a:lstStyle/>
                    <a:p>
                      <a:pPr rtl="0" fontAlgn="ctr"/>
                      <a:r>
                        <a:rPr lang="es-419" sz="1000" b="1" dirty="0">
                          <a:solidFill>
                            <a:schemeClr val="tx1">
                              <a:lumMod val="50000"/>
                            </a:schemeClr>
                          </a:solidFill>
                          <a:effectLst/>
                        </a:rPr>
                        <a:t>Definir un servidor DNS.</a:t>
                      </a:r>
                    </a:p>
                  </a:txBody>
                  <a:tcPr marL="47625" marR="47625" marT="47625" marB="47625" anchor="ctr"/>
                </a:tc>
                <a:tc>
                  <a:txBody>
                    <a:bodyPr/>
                    <a:lstStyle/>
                    <a:p>
                      <a:pPr rtl="0" fontAlgn="ctr"/>
                      <a:r>
                        <a:rPr lang="es-419" sz="1000" b="1">
                          <a:effectLst/>
                        </a:rPr>
                        <a:t>dns-server</a:t>
                      </a:r>
                      <a:r>
                        <a:rPr lang="es-419" sz="1000" b="0">
                          <a:effectLst/>
                        </a:rPr>
                        <a:t> </a:t>
                      </a:r>
                      <a:r>
                        <a:rPr lang="es-419" sz="1000" b="0" i="1">
                          <a:effectLst/>
                        </a:rPr>
                        <a:t>address</a:t>
                      </a:r>
                      <a:r>
                        <a:rPr lang="es-419" sz="1000" b="0">
                          <a:effectLst/>
                        </a:rPr>
                        <a:t> [ </a:t>
                      </a:r>
                      <a:r>
                        <a:rPr lang="es-419" sz="1000" b="0" i="1">
                          <a:effectLst/>
                        </a:rPr>
                        <a:t>address2…address8</a:t>
                      </a:r>
                      <a:r>
                        <a:rPr lang="es-419" sz="1000" b="0">
                          <a:effectLst/>
                        </a:rPr>
                        <a:t>]</a:t>
                      </a:r>
                    </a:p>
                  </a:txBody>
                  <a:tcPr marL="47625" marR="47625" marT="47625" marB="47625" anchor="ctr"/>
                </a:tc>
                <a:extLst>
                  <a:ext uri="{0D108BD9-81ED-4DB2-BD59-A6C34878D82A}">
                    <a16:rowId xmlns:a16="http://schemas.microsoft.com/office/drawing/2014/main" val="2884302629"/>
                  </a:ext>
                </a:extLst>
              </a:tr>
              <a:tr h="389771">
                <a:tc>
                  <a:txBody>
                    <a:bodyPr/>
                    <a:lstStyle/>
                    <a:p>
                      <a:pPr rtl="0" fontAlgn="ctr"/>
                      <a:r>
                        <a:rPr lang="es-419" sz="1000" b="1">
                          <a:solidFill>
                            <a:schemeClr val="tx1">
                              <a:lumMod val="50000"/>
                            </a:schemeClr>
                          </a:solidFill>
                          <a:effectLst/>
                        </a:rPr>
                        <a:t>Definir el nombre de dominio.</a:t>
                      </a:r>
                    </a:p>
                  </a:txBody>
                  <a:tcPr marL="47625" marR="47625" marT="47625" marB="47625" anchor="ctr"/>
                </a:tc>
                <a:tc>
                  <a:txBody>
                    <a:bodyPr/>
                    <a:lstStyle/>
                    <a:p>
                      <a:pPr rtl="0" fontAlgn="ctr"/>
                      <a:r>
                        <a:rPr lang="es-419" sz="1000" b="1">
                          <a:effectLst/>
                        </a:rPr>
                        <a:t>domain-name</a:t>
                      </a:r>
                      <a:r>
                        <a:rPr lang="es-419" sz="1000" b="0">
                          <a:effectLst/>
                        </a:rPr>
                        <a:t> </a:t>
                      </a:r>
                      <a:r>
                        <a:rPr lang="es-419" sz="1000" b="0" i="1">
                          <a:effectLst/>
                        </a:rPr>
                        <a:t>domain</a:t>
                      </a:r>
                    </a:p>
                  </a:txBody>
                  <a:tcPr marL="47625" marR="47625" marT="47625" marB="47625" anchor="ctr"/>
                </a:tc>
                <a:extLst>
                  <a:ext uri="{0D108BD9-81ED-4DB2-BD59-A6C34878D82A}">
                    <a16:rowId xmlns:a16="http://schemas.microsoft.com/office/drawing/2014/main" val="830131601"/>
                  </a:ext>
                </a:extLst>
              </a:tr>
              <a:tr h="389771">
                <a:tc>
                  <a:txBody>
                    <a:bodyPr/>
                    <a:lstStyle/>
                    <a:p>
                      <a:pPr rtl="0" fontAlgn="ctr"/>
                      <a:r>
                        <a:rPr lang="es-419" sz="1000" b="1">
                          <a:solidFill>
                            <a:schemeClr val="tx1">
                              <a:lumMod val="50000"/>
                            </a:schemeClr>
                          </a:solidFill>
                          <a:effectLst/>
                        </a:rPr>
                        <a:t>Definir la duración de la concesión DHCP.</a:t>
                      </a:r>
                    </a:p>
                  </a:txBody>
                  <a:tcPr marL="47625" marR="47625" marT="47625" marB="47625" anchor="ctr"/>
                </a:tc>
                <a:tc>
                  <a:txBody>
                    <a:bodyPr/>
                    <a:lstStyle/>
                    <a:p>
                      <a:pPr rtl="0" fontAlgn="ctr"/>
                      <a:r>
                        <a:rPr lang="es-419" sz="1000" b="1">
                          <a:effectLst/>
                        </a:rPr>
                        <a:t>lease</a:t>
                      </a:r>
                      <a:r>
                        <a:rPr lang="es-419" sz="1000" b="0">
                          <a:effectLst/>
                        </a:rPr>
                        <a:t> {</a:t>
                      </a:r>
                      <a:r>
                        <a:rPr lang="es-419" sz="1000" b="0" i="1">
                          <a:effectLst/>
                        </a:rPr>
                        <a:t>days</a:t>
                      </a:r>
                      <a:r>
                        <a:rPr lang="es-419" sz="1000" b="0">
                          <a:effectLst/>
                        </a:rPr>
                        <a:t> [</a:t>
                      </a:r>
                      <a:r>
                        <a:rPr lang="es-419" sz="1000" b="0" i="1">
                          <a:effectLst/>
                        </a:rPr>
                        <a:t>hours</a:t>
                      </a:r>
                      <a:r>
                        <a:rPr lang="es-419" sz="1000" b="0">
                          <a:effectLst/>
                        </a:rPr>
                        <a:t> [ </a:t>
                      </a:r>
                      <a:r>
                        <a:rPr lang="es-419" sz="1000" b="0" i="1">
                          <a:effectLst/>
                        </a:rPr>
                        <a:t>minutes</a:t>
                      </a:r>
                      <a:r>
                        <a:rPr lang="es-419" sz="1000" b="0">
                          <a:effectLst/>
                        </a:rPr>
                        <a:t>]] | </a:t>
                      </a:r>
                      <a:r>
                        <a:rPr lang="es-419" sz="1000" b="1">
                          <a:effectLst/>
                        </a:rPr>
                        <a:t>infinite</a:t>
                      </a:r>
                      <a:r>
                        <a:rPr lang="es-419" sz="1000" b="0">
                          <a:effectLst/>
                        </a:rPr>
                        <a:t>}</a:t>
                      </a:r>
                    </a:p>
                  </a:txBody>
                  <a:tcPr marL="47625" marR="47625" marT="47625" marB="47625" anchor="ctr"/>
                </a:tc>
                <a:extLst>
                  <a:ext uri="{0D108BD9-81ED-4DB2-BD59-A6C34878D82A}">
                    <a16:rowId xmlns:a16="http://schemas.microsoft.com/office/drawing/2014/main" val="633431326"/>
                  </a:ext>
                </a:extLst>
              </a:tr>
              <a:tr h="389771">
                <a:tc>
                  <a:txBody>
                    <a:bodyPr/>
                    <a:lstStyle/>
                    <a:p>
                      <a:pPr rtl="0" fontAlgn="ctr"/>
                      <a:r>
                        <a:rPr lang="es-419" sz="1000" b="1" dirty="0">
                          <a:solidFill>
                            <a:schemeClr val="tx1">
                              <a:lumMod val="50000"/>
                            </a:schemeClr>
                          </a:solidFill>
                          <a:effectLst/>
                        </a:rPr>
                        <a:t>Definir el servidor WINS con NetBIOS.</a:t>
                      </a:r>
                    </a:p>
                  </a:txBody>
                  <a:tcPr marL="47625" marR="47625" marT="47625" marB="47625" anchor="ctr"/>
                </a:tc>
                <a:tc>
                  <a:txBody>
                    <a:bodyPr/>
                    <a:lstStyle/>
                    <a:p>
                      <a:pPr rtl="0" fontAlgn="ctr"/>
                      <a:r>
                        <a:rPr lang="es-419" sz="1000" b="1" dirty="0" err="1">
                          <a:effectLst/>
                        </a:rPr>
                        <a:t>netbios</a:t>
                      </a:r>
                      <a:r>
                        <a:rPr lang="es-419" sz="1000" b="1" dirty="0">
                          <a:effectLst/>
                        </a:rPr>
                        <a:t>-</a:t>
                      </a:r>
                      <a:r>
                        <a:rPr lang="es-419" sz="1000" b="1" dirty="0" err="1">
                          <a:effectLst/>
                        </a:rPr>
                        <a:t>name</a:t>
                      </a:r>
                      <a:r>
                        <a:rPr lang="es-419" sz="1000" b="1" dirty="0">
                          <a:effectLst/>
                        </a:rPr>
                        <a:t>-server</a:t>
                      </a:r>
                      <a:r>
                        <a:rPr lang="es-419" sz="1000" b="0" dirty="0">
                          <a:effectLst/>
                        </a:rPr>
                        <a:t> </a:t>
                      </a:r>
                      <a:r>
                        <a:rPr lang="es-419" sz="1000" b="0" i="1" dirty="0" err="1">
                          <a:effectLst/>
                        </a:rPr>
                        <a:t>address</a:t>
                      </a:r>
                      <a:r>
                        <a:rPr lang="es-419" sz="1000" b="0" dirty="0">
                          <a:effectLst/>
                        </a:rPr>
                        <a:t> [ </a:t>
                      </a:r>
                      <a:r>
                        <a:rPr lang="es-419" sz="1000" b="0" i="1" dirty="0">
                          <a:effectLst/>
                        </a:rPr>
                        <a:t>address2…address8</a:t>
                      </a:r>
                      <a:r>
                        <a:rPr lang="es-419" sz="1000" b="0" dirty="0">
                          <a:effectLst/>
                        </a:rPr>
                        <a:t>]</a:t>
                      </a:r>
                    </a:p>
                  </a:txBody>
                  <a:tcPr marL="47625" marR="47625" marT="47625" marB="47625" anchor="ctr"/>
                </a:tc>
                <a:extLst>
                  <a:ext uri="{0D108BD9-81ED-4DB2-BD59-A6C34878D82A}">
                    <a16:rowId xmlns:a16="http://schemas.microsoft.com/office/drawing/2014/main" val="3889799977"/>
                  </a:ext>
                </a:extLst>
              </a:tr>
            </a:tbl>
          </a:graphicData>
        </a:graphic>
      </p:graphicFrame>
    </p:spTree>
    <p:custDataLst>
      <p:tags r:id="rId1"/>
    </p:custDataLst>
    <p:extLst>
      <p:ext uri="{BB962C8B-B14F-4D97-AF65-F5344CB8AC3E}">
        <p14:creationId xmlns:p14="http://schemas.microsoft.com/office/powerpoint/2010/main" val="28772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682182" cy="731837"/>
          </a:xfrm>
        </p:spPr>
        <p:txBody>
          <a:bodyPr/>
          <a:lstStyle/>
          <a:p>
            <a:r>
              <a:rPr lang="es-419" sz="2400" dirty="0"/>
              <a:t>Ejemplo de configuración de servidor DHCPv4 de Cisco IOS</a:t>
            </a:r>
            <a:endParaRPr lang="es-419" sz="1600" dirty="0"/>
          </a:p>
        </p:txBody>
      </p:sp>
      <p:pic>
        <p:nvPicPr>
          <p:cNvPr id="7" name="Picture 6">
            <a:extLst>
              <a:ext uri="{FF2B5EF4-FFF2-40B4-BE49-F238E27FC236}">
                <a16:creationId xmlns:a16="http://schemas.microsoft.com/office/drawing/2014/main" id="{B994A58F-8A09-4952-B612-5385EE543AC3}"/>
              </a:ext>
            </a:extLst>
          </p:cNvPr>
          <p:cNvPicPr>
            <a:picLocks noChangeAspect="1"/>
          </p:cNvPicPr>
          <p:nvPr/>
        </p:nvPicPr>
        <p:blipFill>
          <a:blip r:embed="rId4"/>
          <a:stretch>
            <a:fillRect/>
          </a:stretch>
        </p:blipFill>
        <p:spPr>
          <a:xfrm>
            <a:off x="3160497" y="828442"/>
            <a:ext cx="5276193" cy="2334715"/>
          </a:xfrm>
          <a:prstGeom prst="rect">
            <a:avLst/>
          </a:prstGeom>
        </p:spPr>
      </p:pic>
      <p:pic>
        <p:nvPicPr>
          <p:cNvPr id="5" name="Picture 4">
            <a:extLst>
              <a:ext uri="{FF2B5EF4-FFF2-40B4-BE49-F238E27FC236}">
                <a16:creationId xmlns:a16="http://schemas.microsoft.com/office/drawing/2014/main" id="{48A352A4-12D1-4C7B-9C59-DE39C85BE918}"/>
              </a:ext>
            </a:extLst>
          </p:cNvPr>
          <p:cNvPicPr>
            <a:picLocks noChangeAspect="1"/>
          </p:cNvPicPr>
          <p:nvPr/>
        </p:nvPicPr>
        <p:blipFill>
          <a:blip r:embed="rId5"/>
          <a:stretch>
            <a:fillRect/>
          </a:stretch>
        </p:blipFill>
        <p:spPr>
          <a:xfrm>
            <a:off x="707310" y="2404288"/>
            <a:ext cx="4953000" cy="2114550"/>
          </a:xfrm>
          <a:prstGeom prst="rect">
            <a:avLst/>
          </a:prstGeom>
        </p:spPr>
      </p:pic>
    </p:spTree>
    <p:custDataLst>
      <p:tags r:id="rId1"/>
    </p:custDataLst>
    <p:extLst>
      <p:ext uri="{BB962C8B-B14F-4D97-AF65-F5344CB8AC3E}">
        <p14:creationId xmlns:p14="http://schemas.microsoft.com/office/powerpoint/2010/main" val="145978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193323"/>
          </a:xfrm>
        </p:spPr>
        <p:txBody>
          <a:bodyPr/>
          <a:lstStyle/>
          <a:p>
            <a:r>
              <a:rPr lang="es-CR" sz="1600" dirty="0"/>
              <a:t>Configurar un servidor DHCPv4 del IOS de Cisco </a:t>
            </a:r>
            <a:br>
              <a:rPr lang="es-CR" sz="1600" dirty="0"/>
            </a:br>
            <a:r>
              <a:rPr lang="es-419" sz="2400" dirty="0"/>
              <a:t>Verifique que DHCPv4 esté activo</a:t>
            </a:r>
            <a:endParaRPr lang="es-419" sz="1600" dirty="0"/>
          </a:p>
        </p:txBody>
      </p:sp>
      <p:sp>
        <p:nvSpPr>
          <p:cNvPr id="9" name="Rectangle 8">
            <a:extLst>
              <a:ext uri="{FF2B5EF4-FFF2-40B4-BE49-F238E27FC236}">
                <a16:creationId xmlns:a16="http://schemas.microsoft.com/office/drawing/2014/main" id="{44134660-1FDB-493B-BCA0-5294308F4A83}"/>
              </a:ext>
            </a:extLst>
          </p:cNvPr>
          <p:cNvSpPr/>
          <p:nvPr/>
        </p:nvSpPr>
        <p:spPr>
          <a:xfrm>
            <a:off x="257628" y="900929"/>
            <a:ext cx="8625115" cy="830997"/>
          </a:xfrm>
          <a:prstGeom prst="rect">
            <a:avLst/>
          </a:prstGeom>
        </p:spPr>
        <p:txBody>
          <a:bodyPr wrap="square">
            <a:spAutoFit/>
          </a:bodyPr>
          <a:lstStyle/>
          <a:p>
            <a:pPr rtl="0"/>
            <a:endParaRPr lang="es-419" sz="1600" dirty="0">
              <a:solidFill>
                <a:srgbClr val="58585B"/>
              </a:solidFill>
              <a:latin typeface="+mn-lt"/>
            </a:endParaRPr>
          </a:p>
          <a:p>
            <a:pPr rtl="0"/>
            <a:r>
              <a:rPr lang="es-419" sz="1600" dirty="0">
                <a:solidFill>
                  <a:schemeClr val="tx1">
                    <a:lumMod val="50000"/>
                  </a:schemeClr>
                </a:solidFill>
                <a:latin typeface="+mn-lt"/>
              </a:rPr>
              <a:t>Utilice los comandos de la tabla para verificar que el servidor DHCPv4 del IOS de Cisco esté operativo</a:t>
            </a:r>
            <a:r>
              <a:rPr lang="es-419" sz="1400" dirty="0">
                <a:solidFill>
                  <a:schemeClr val="tx1">
                    <a:lumMod val="50000"/>
                  </a:schemeClr>
                </a:solidFill>
                <a:latin typeface="+mn-lt"/>
              </a:rPr>
              <a:t>. </a:t>
            </a:r>
          </a:p>
        </p:txBody>
      </p:sp>
      <p:graphicFrame>
        <p:nvGraphicFramePr>
          <p:cNvPr id="5" name="Table 6">
            <a:extLst>
              <a:ext uri="{FF2B5EF4-FFF2-40B4-BE49-F238E27FC236}">
                <a16:creationId xmlns:a16="http://schemas.microsoft.com/office/drawing/2014/main" id="{0CBE9299-9C7A-4D00-8629-7BFEA1C39AD1}"/>
              </a:ext>
            </a:extLst>
          </p:cNvPr>
          <p:cNvGraphicFramePr>
            <a:graphicFrameLocks noGrp="1"/>
          </p:cNvGraphicFramePr>
          <p:nvPr>
            <p:ph idx="1"/>
            <p:extLst>
              <p:ext uri="{D42A27DB-BD31-4B8C-83A1-F6EECF244321}">
                <p14:modId xmlns:p14="http://schemas.microsoft.com/office/powerpoint/2010/main" val="4288151053"/>
              </p:ext>
            </p:extLst>
          </p:nvPr>
        </p:nvGraphicFramePr>
        <p:xfrm>
          <a:off x="257628" y="2140412"/>
          <a:ext cx="8454572" cy="1809765"/>
        </p:xfrm>
        <a:graphic>
          <a:graphicData uri="http://schemas.openxmlformats.org/drawingml/2006/table">
            <a:tbl>
              <a:tblPr firstRow="1" bandRow="1">
                <a:tableStyleId>{5C22544A-7EE6-4342-B048-85BDC9FD1C3A}</a:tableStyleId>
              </a:tblPr>
              <a:tblGrid>
                <a:gridCol w="3265985">
                  <a:extLst>
                    <a:ext uri="{9D8B030D-6E8A-4147-A177-3AD203B41FA5}">
                      <a16:colId xmlns:a16="http://schemas.microsoft.com/office/drawing/2014/main" val="4044248977"/>
                    </a:ext>
                  </a:extLst>
                </a:gridCol>
                <a:gridCol w="5188587">
                  <a:extLst>
                    <a:ext uri="{9D8B030D-6E8A-4147-A177-3AD203B41FA5}">
                      <a16:colId xmlns:a16="http://schemas.microsoft.com/office/drawing/2014/main" val="2025141453"/>
                    </a:ext>
                  </a:extLst>
                </a:gridCol>
              </a:tblGrid>
              <a:tr h="0">
                <a:tc>
                  <a:txBody>
                    <a:bodyPr/>
                    <a:lstStyle/>
                    <a:p>
                      <a:pPr algn="l" rtl="0" fontAlgn="ctr"/>
                      <a:r>
                        <a:rPr lang="es-419" sz="1200" b="1">
                          <a:effectLst/>
                        </a:rPr>
                        <a:t>Comando</a:t>
                      </a:r>
                    </a:p>
                  </a:txBody>
                  <a:tcPr marL="47625" marR="47625" marT="47625" marB="47625" anchor="ctr"/>
                </a:tc>
                <a:tc>
                  <a:txBody>
                    <a:bodyPr/>
                    <a:lstStyle/>
                    <a:p>
                      <a:pPr algn="l" rtl="0" fontAlgn="ctr"/>
                      <a:r>
                        <a:rPr lang="es-419" sz="1200" b="1">
                          <a:effectLst/>
                        </a:rPr>
                        <a:t>Descripción</a:t>
                      </a:r>
                    </a:p>
                  </a:txBody>
                  <a:tcPr marL="47625" marR="47625" marT="47625" marB="47625" anchor="ctr"/>
                </a:tc>
                <a:extLst>
                  <a:ext uri="{0D108BD9-81ED-4DB2-BD59-A6C34878D82A}">
                    <a16:rowId xmlns:a16="http://schemas.microsoft.com/office/drawing/2014/main" val="3423516778"/>
                  </a:ext>
                </a:extLst>
              </a:tr>
              <a:tr h="439329">
                <a:tc>
                  <a:txBody>
                    <a:bodyPr/>
                    <a:lstStyle/>
                    <a:p>
                      <a:pPr rtl="0" fontAlgn="ctr"/>
                      <a:r>
                        <a:rPr lang="es-419" sz="1200" b="1" dirty="0">
                          <a:solidFill>
                            <a:schemeClr val="tx1">
                              <a:lumMod val="50000"/>
                            </a:schemeClr>
                          </a:solidFill>
                          <a:effectLst/>
                        </a:rPr>
                        <a:t>show running-</a:t>
                      </a:r>
                      <a:r>
                        <a:rPr lang="es-419" sz="1200" b="1" dirty="0" err="1">
                          <a:solidFill>
                            <a:schemeClr val="tx1">
                              <a:lumMod val="50000"/>
                            </a:schemeClr>
                          </a:solidFill>
                          <a:effectLst/>
                        </a:rPr>
                        <a:t>config</a:t>
                      </a:r>
                      <a:r>
                        <a:rPr lang="es-419" sz="1200" b="1" dirty="0">
                          <a:solidFill>
                            <a:schemeClr val="tx1">
                              <a:lumMod val="50000"/>
                            </a:schemeClr>
                          </a:solidFill>
                          <a:effectLst/>
                        </a:rPr>
                        <a:t> | </a:t>
                      </a:r>
                      <a:r>
                        <a:rPr lang="es-419" sz="1200" b="1" dirty="0" err="1">
                          <a:solidFill>
                            <a:schemeClr val="tx1">
                              <a:lumMod val="50000"/>
                            </a:schemeClr>
                          </a:solidFill>
                          <a:effectLst/>
                        </a:rPr>
                        <a:t>section</a:t>
                      </a:r>
                      <a:r>
                        <a:rPr lang="es-419" sz="1200" b="1" dirty="0">
                          <a:solidFill>
                            <a:schemeClr val="tx1">
                              <a:lumMod val="50000"/>
                            </a:schemeClr>
                          </a:solidFill>
                          <a:effectLst/>
                        </a:rPr>
                        <a:t> </a:t>
                      </a:r>
                      <a:r>
                        <a:rPr lang="es-419" sz="1200" b="1" dirty="0" err="1">
                          <a:solidFill>
                            <a:schemeClr val="tx1">
                              <a:lumMod val="50000"/>
                            </a:schemeClr>
                          </a:solidFill>
                          <a:effectLst/>
                        </a:rPr>
                        <a:t>dhcp</a:t>
                      </a:r>
                      <a:endParaRPr lang="es-419" sz="1200" b="1" dirty="0">
                        <a:solidFill>
                          <a:schemeClr val="tx1">
                            <a:lumMod val="50000"/>
                          </a:schemeClr>
                        </a:solidFill>
                        <a:effectLst/>
                      </a:endParaRPr>
                    </a:p>
                  </a:txBody>
                  <a:tcPr marL="47625" marR="47625" marT="47625" marB="47625" anchor="ctr"/>
                </a:tc>
                <a:tc>
                  <a:txBody>
                    <a:bodyPr/>
                    <a:lstStyle/>
                    <a:p>
                      <a:pPr rtl="0" fontAlgn="ctr"/>
                      <a:r>
                        <a:rPr lang="es-419" sz="1200" b="0">
                          <a:effectLst/>
                        </a:rPr>
                        <a:t>Muestra los comandos DHCPv4 configurados en el router.</a:t>
                      </a:r>
                    </a:p>
                  </a:txBody>
                  <a:tcPr marL="47625" marR="47625" marT="47625" marB="47625" anchor="ctr"/>
                </a:tc>
                <a:extLst>
                  <a:ext uri="{0D108BD9-81ED-4DB2-BD59-A6C34878D82A}">
                    <a16:rowId xmlns:a16="http://schemas.microsoft.com/office/drawing/2014/main" val="1819816803"/>
                  </a:ext>
                </a:extLst>
              </a:tr>
              <a:tr h="546153">
                <a:tc>
                  <a:txBody>
                    <a:bodyPr/>
                    <a:lstStyle/>
                    <a:p>
                      <a:pPr rtl="0" fontAlgn="ctr"/>
                      <a:r>
                        <a:rPr lang="es-419" sz="1200" b="1" dirty="0">
                          <a:solidFill>
                            <a:schemeClr val="tx1">
                              <a:lumMod val="50000"/>
                            </a:schemeClr>
                          </a:solidFill>
                          <a:effectLst/>
                        </a:rPr>
                        <a:t>show </a:t>
                      </a:r>
                      <a:r>
                        <a:rPr lang="es-419" sz="1200" b="1" dirty="0" err="1">
                          <a:solidFill>
                            <a:schemeClr val="tx1">
                              <a:lumMod val="50000"/>
                            </a:schemeClr>
                          </a:solidFill>
                          <a:effectLst/>
                        </a:rPr>
                        <a:t>ip</a:t>
                      </a:r>
                      <a:r>
                        <a:rPr lang="es-419" sz="1200" b="1" dirty="0">
                          <a:solidFill>
                            <a:schemeClr val="tx1">
                              <a:lumMod val="50000"/>
                            </a:schemeClr>
                          </a:solidFill>
                          <a:effectLst/>
                        </a:rPr>
                        <a:t> </a:t>
                      </a:r>
                      <a:r>
                        <a:rPr lang="es-419" sz="1200" b="1" dirty="0" err="1">
                          <a:solidFill>
                            <a:schemeClr val="tx1">
                              <a:lumMod val="50000"/>
                            </a:schemeClr>
                          </a:solidFill>
                          <a:effectLst/>
                        </a:rPr>
                        <a:t>dhcp</a:t>
                      </a:r>
                      <a:r>
                        <a:rPr lang="es-419" sz="1200" b="1" dirty="0">
                          <a:solidFill>
                            <a:schemeClr val="tx1">
                              <a:lumMod val="50000"/>
                            </a:schemeClr>
                          </a:solidFill>
                          <a:effectLst/>
                        </a:rPr>
                        <a:t> </a:t>
                      </a:r>
                      <a:r>
                        <a:rPr lang="es-419" sz="1200" b="1" dirty="0" err="1">
                          <a:solidFill>
                            <a:schemeClr val="tx1">
                              <a:lumMod val="50000"/>
                            </a:schemeClr>
                          </a:solidFill>
                          <a:effectLst/>
                        </a:rPr>
                        <a:t>binding</a:t>
                      </a:r>
                      <a:endParaRPr lang="es-419" sz="1200" b="1" dirty="0">
                        <a:solidFill>
                          <a:schemeClr val="tx1">
                            <a:lumMod val="50000"/>
                          </a:schemeClr>
                        </a:solidFill>
                        <a:effectLst/>
                      </a:endParaRPr>
                    </a:p>
                  </a:txBody>
                  <a:tcPr marL="47625" marR="47625" marT="47625" marB="47625" anchor="ctr"/>
                </a:tc>
                <a:tc>
                  <a:txBody>
                    <a:bodyPr/>
                    <a:lstStyle/>
                    <a:p>
                      <a:pPr rtl="0" fontAlgn="ctr"/>
                      <a:r>
                        <a:rPr lang="es-419" sz="1200" b="0" dirty="0">
                          <a:effectLst/>
                        </a:rPr>
                        <a:t>Muestra una lista de todos los </a:t>
                      </a:r>
                      <a:r>
                        <a:rPr lang="es-ES" sz="1200" dirty="0"/>
                        <a:t>enlaces de dirección IPv4 a dirección MAC proporcionadas</a:t>
                      </a:r>
                      <a:r>
                        <a:rPr lang="es-419" sz="1200" b="0" dirty="0">
                          <a:effectLst/>
                        </a:rPr>
                        <a:t> por el servicio de DHCPv4.</a:t>
                      </a:r>
                    </a:p>
                  </a:txBody>
                  <a:tcPr marL="47625" marR="47625" marT="47625" marB="47625" anchor="ctr"/>
                </a:tc>
                <a:extLst>
                  <a:ext uri="{0D108BD9-81ED-4DB2-BD59-A6C34878D82A}">
                    <a16:rowId xmlns:a16="http://schemas.microsoft.com/office/drawing/2014/main" val="1655001922"/>
                  </a:ext>
                </a:extLst>
              </a:tr>
              <a:tr h="546153">
                <a:tc>
                  <a:txBody>
                    <a:bodyPr/>
                    <a:lstStyle/>
                    <a:p>
                      <a:pPr rtl="0" fontAlgn="ctr"/>
                      <a:r>
                        <a:rPr lang="es-419" sz="1200" b="1" dirty="0">
                          <a:solidFill>
                            <a:schemeClr val="tx1">
                              <a:lumMod val="50000"/>
                            </a:schemeClr>
                          </a:solidFill>
                          <a:effectLst/>
                        </a:rPr>
                        <a:t>show </a:t>
                      </a:r>
                      <a:r>
                        <a:rPr lang="es-419" sz="1200" b="1" dirty="0" err="1">
                          <a:solidFill>
                            <a:schemeClr val="tx1">
                              <a:lumMod val="50000"/>
                            </a:schemeClr>
                          </a:solidFill>
                          <a:effectLst/>
                        </a:rPr>
                        <a:t>ip</a:t>
                      </a:r>
                      <a:r>
                        <a:rPr lang="es-419" sz="1200" b="1" dirty="0">
                          <a:solidFill>
                            <a:schemeClr val="tx1">
                              <a:lumMod val="50000"/>
                            </a:schemeClr>
                          </a:solidFill>
                          <a:effectLst/>
                        </a:rPr>
                        <a:t> </a:t>
                      </a:r>
                      <a:r>
                        <a:rPr lang="es-419" sz="1200" b="1" dirty="0" err="1">
                          <a:solidFill>
                            <a:schemeClr val="tx1">
                              <a:lumMod val="50000"/>
                            </a:schemeClr>
                          </a:solidFill>
                          <a:effectLst/>
                        </a:rPr>
                        <a:t>dhcp</a:t>
                      </a:r>
                      <a:r>
                        <a:rPr lang="es-419" sz="1200" b="1" dirty="0">
                          <a:solidFill>
                            <a:schemeClr val="tx1">
                              <a:lumMod val="50000"/>
                            </a:schemeClr>
                          </a:solidFill>
                          <a:effectLst/>
                        </a:rPr>
                        <a:t> server </a:t>
                      </a:r>
                      <a:r>
                        <a:rPr lang="es-419" sz="1200" b="1" dirty="0" err="1">
                          <a:solidFill>
                            <a:schemeClr val="tx1">
                              <a:lumMod val="50000"/>
                            </a:schemeClr>
                          </a:solidFill>
                          <a:effectLst/>
                        </a:rPr>
                        <a:t>statistics</a:t>
                      </a:r>
                      <a:endParaRPr lang="es-419" sz="1200" b="1" dirty="0">
                        <a:solidFill>
                          <a:schemeClr val="tx1">
                            <a:lumMod val="50000"/>
                          </a:schemeClr>
                        </a:solidFill>
                        <a:effectLst/>
                      </a:endParaRPr>
                    </a:p>
                  </a:txBody>
                  <a:tcPr marL="47625" marR="47625" marT="47625" marB="47625" anchor="ctr"/>
                </a:tc>
                <a:tc>
                  <a:txBody>
                    <a:bodyPr/>
                    <a:lstStyle/>
                    <a:p>
                      <a:pPr rtl="0" fontAlgn="ctr"/>
                      <a:r>
                        <a:rPr lang="es-419" sz="1200" b="0" dirty="0">
                          <a:effectLst/>
                        </a:rPr>
                        <a:t>Muestra información relacionada al numero de mensajes DHCPv4 que han sido mandados y recibidos.</a:t>
                      </a:r>
                    </a:p>
                  </a:txBody>
                  <a:tcPr marL="47625" marR="47625" marT="47625" marB="47625" anchor="ctr"/>
                </a:tc>
                <a:extLst>
                  <a:ext uri="{0D108BD9-81ED-4DB2-BD59-A6C34878D82A}">
                    <a16:rowId xmlns:a16="http://schemas.microsoft.com/office/drawing/2014/main" val="334081493"/>
                  </a:ext>
                </a:extLst>
              </a:tr>
            </a:tbl>
          </a:graphicData>
        </a:graphic>
      </p:graphicFrame>
    </p:spTree>
    <p:custDataLst>
      <p:tags r:id="rId1"/>
    </p:custDataLst>
    <p:extLst>
      <p:ext uri="{BB962C8B-B14F-4D97-AF65-F5344CB8AC3E}">
        <p14:creationId xmlns:p14="http://schemas.microsoft.com/office/powerpoint/2010/main" val="1818229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200727"/>
          </a:xfrm>
        </p:spPr>
        <p:txBody>
          <a:bodyPr/>
          <a:lstStyle/>
          <a:p>
            <a:r>
              <a:rPr lang="es-419" sz="1600" dirty="0"/>
              <a:t>Configurar un servidor DHCPv4 del IOS de Cisco</a:t>
            </a:r>
            <a:br>
              <a:rPr lang="en-US" dirty="0"/>
            </a:br>
            <a:r>
              <a:rPr lang="es-419" sz="2400" dirty="0"/>
              <a:t>Verifique la configuración DHCPv4 </a:t>
            </a:r>
          </a:p>
        </p:txBody>
      </p:sp>
      <p:sp>
        <p:nvSpPr>
          <p:cNvPr id="4" name="Content Placeholder 3">
            <a:extLst>
              <a:ext uri="{FF2B5EF4-FFF2-40B4-BE49-F238E27FC236}">
                <a16:creationId xmlns:a16="http://schemas.microsoft.com/office/drawing/2014/main" id="{B4C3649A-1CC4-4545-9ECB-0D52ABAB99FD}"/>
              </a:ext>
            </a:extLst>
          </p:cNvPr>
          <p:cNvSpPr>
            <a:spLocks noGrp="1"/>
          </p:cNvSpPr>
          <p:nvPr>
            <p:ph idx="1"/>
          </p:nvPr>
        </p:nvSpPr>
        <p:spPr>
          <a:xfrm>
            <a:off x="474662" y="731838"/>
            <a:ext cx="8280057" cy="1070836"/>
          </a:xfrm>
        </p:spPr>
        <p:txBody>
          <a:bodyPr/>
          <a:lstStyle/>
          <a:p>
            <a:pPr marL="0" indent="0" algn="l" rtl="0"/>
            <a:endParaRPr lang="es-419" sz="1600" b="1" dirty="0">
              <a:solidFill>
                <a:srgbClr val="000000"/>
              </a:solidFill>
            </a:endParaRPr>
          </a:p>
          <a:p>
            <a:pPr marL="0" indent="0" algn="l" rtl="0"/>
            <a:r>
              <a:rPr lang="es-419" sz="1600" dirty="0">
                <a:solidFill>
                  <a:srgbClr val="000000"/>
                </a:solidFill>
              </a:rPr>
              <a:t>Como se muestra en el ejemplo, la salida del comando </a:t>
            </a:r>
            <a:r>
              <a:rPr lang="es-419" sz="1600" b="1" dirty="0">
                <a:solidFill>
                  <a:srgbClr val="000000"/>
                </a:solidFill>
              </a:rPr>
              <a:t>show running-</a:t>
            </a:r>
            <a:r>
              <a:rPr lang="es-419" sz="1600" b="1" dirty="0" err="1">
                <a:solidFill>
                  <a:srgbClr val="000000"/>
                </a:solidFill>
              </a:rPr>
              <a:t>config</a:t>
            </a:r>
            <a:r>
              <a:rPr lang="es-419" sz="1600" b="1" dirty="0">
                <a:solidFill>
                  <a:srgbClr val="000000"/>
                </a:solidFill>
              </a:rPr>
              <a:t> | </a:t>
            </a:r>
            <a:r>
              <a:rPr lang="es-419" sz="1600" b="1" dirty="0" err="1">
                <a:solidFill>
                  <a:srgbClr val="000000"/>
                </a:solidFill>
              </a:rPr>
              <a:t>section</a:t>
            </a:r>
            <a:r>
              <a:rPr lang="es-419" sz="1600" b="1" dirty="0">
                <a:solidFill>
                  <a:srgbClr val="000000"/>
                </a:solidFill>
              </a:rPr>
              <a:t> </a:t>
            </a:r>
            <a:r>
              <a:rPr lang="es-419" sz="1600" b="1" dirty="0" err="1">
                <a:solidFill>
                  <a:srgbClr val="000000"/>
                </a:solidFill>
              </a:rPr>
              <a:t>dhcp</a:t>
            </a:r>
            <a:r>
              <a:rPr lang="es-419" sz="1600" dirty="0">
                <a:solidFill>
                  <a:srgbClr val="000000"/>
                </a:solidFill>
              </a:rPr>
              <a:t>  muestra los comandos DHCPv4 configurados en R1. EL </a:t>
            </a:r>
            <a:r>
              <a:rPr lang="es-419" sz="1600" b="1" dirty="0">
                <a:solidFill>
                  <a:srgbClr val="000000"/>
                </a:solidFill>
              </a:rPr>
              <a:t>parámetro | </a:t>
            </a:r>
            <a:r>
              <a:rPr lang="es-419" sz="1600" b="1" dirty="0" err="1">
                <a:solidFill>
                  <a:srgbClr val="000000"/>
                </a:solidFill>
              </a:rPr>
              <a:t>section</a:t>
            </a:r>
            <a:r>
              <a:rPr lang="es-419" sz="1600" dirty="0">
                <a:solidFill>
                  <a:srgbClr val="000000"/>
                </a:solidFill>
              </a:rPr>
              <a:t> muestra solamente los comandos asociados a la configuración de DHCPv4.</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F86EBC52-F8CB-4958-AF40-6045FA0BA5F7}"/>
              </a:ext>
            </a:extLst>
          </p:cNvPr>
          <p:cNvPicPr>
            <a:picLocks noChangeAspect="1"/>
          </p:cNvPicPr>
          <p:nvPr/>
        </p:nvPicPr>
        <p:blipFill>
          <a:blip r:embed="rId4"/>
          <a:stretch>
            <a:fillRect/>
          </a:stretch>
        </p:blipFill>
        <p:spPr>
          <a:xfrm>
            <a:off x="2124152" y="2146324"/>
            <a:ext cx="4895695" cy="2389005"/>
          </a:xfrm>
          <a:prstGeom prst="rect">
            <a:avLst/>
          </a:prstGeom>
        </p:spPr>
      </p:pic>
    </p:spTree>
    <p:custDataLst>
      <p:tags r:id="rId1"/>
    </p:custDataLst>
    <p:extLst>
      <p:ext uri="{BB962C8B-B14F-4D97-AF65-F5344CB8AC3E}">
        <p14:creationId xmlns:p14="http://schemas.microsoft.com/office/powerpoint/2010/main" val="31351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219200"/>
          </a:xfrm>
        </p:spPr>
        <p:txBody>
          <a:bodyPr/>
          <a:lstStyle/>
          <a:p>
            <a:r>
              <a:rPr lang="es-419" sz="1600" dirty="0"/>
              <a:t>Configurar un servidor DHCPv4 del IOS de Cisco</a:t>
            </a:r>
            <a:br>
              <a:rPr lang="en-US" dirty="0"/>
            </a:br>
            <a:r>
              <a:rPr lang="es-419" sz="2400" dirty="0"/>
              <a:t>Verifique los enlaces DHCPv4 </a:t>
            </a:r>
          </a:p>
        </p:txBody>
      </p:sp>
      <p:sp>
        <p:nvSpPr>
          <p:cNvPr id="4" name="Content Placeholder 3">
            <a:extLst>
              <a:ext uri="{FF2B5EF4-FFF2-40B4-BE49-F238E27FC236}">
                <a16:creationId xmlns:a16="http://schemas.microsoft.com/office/drawing/2014/main" id="{B4C3649A-1CC4-4545-9ECB-0D52ABAB99FD}"/>
              </a:ext>
            </a:extLst>
          </p:cNvPr>
          <p:cNvSpPr>
            <a:spLocks noGrp="1"/>
          </p:cNvSpPr>
          <p:nvPr>
            <p:ph idx="1"/>
          </p:nvPr>
        </p:nvSpPr>
        <p:spPr>
          <a:xfrm>
            <a:off x="474662" y="731838"/>
            <a:ext cx="8280057" cy="861832"/>
          </a:xfrm>
        </p:spPr>
        <p:txBody>
          <a:bodyPr/>
          <a:lstStyle/>
          <a:p>
            <a:pPr marL="0" indent="0" algn="l" rtl="0"/>
            <a:endParaRPr lang="es-419" sz="1600" b="1" dirty="0">
              <a:solidFill>
                <a:srgbClr val="000000"/>
              </a:solidFill>
            </a:endParaRPr>
          </a:p>
          <a:p>
            <a:pPr marL="0" indent="0" algn="l" rtl="0"/>
            <a:r>
              <a:rPr lang="es-419" sz="1600" dirty="0">
                <a:solidFill>
                  <a:srgbClr val="000000"/>
                </a:solidFill>
              </a:rPr>
              <a:t>Como se muestra en el ejemplo, el funcionamiento de DHCPv4 se puede verificar utilizando e comando </a:t>
            </a:r>
            <a:r>
              <a:rPr lang="es-419" sz="1600" b="1" dirty="0">
                <a:solidFill>
                  <a:srgbClr val="000000"/>
                </a:solidFill>
              </a:rPr>
              <a:t>show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dhcp</a:t>
            </a:r>
            <a:r>
              <a:rPr lang="es-419" sz="1600" b="1" dirty="0">
                <a:solidFill>
                  <a:srgbClr val="000000"/>
                </a:solidFill>
              </a:rPr>
              <a:t> </a:t>
            </a:r>
            <a:r>
              <a:rPr lang="es-419" sz="1600" b="1" dirty="0" err="1">
                <a:solidFill>
                  <a:srgbClr val="000000"/>
                </a:solidFill>
              </a:rPr>
              <a:t>binding</a:t>
            </a:r>
            <a:r>
              <a:rPr lang="es-419" sz="1600" dirty="0">
                <a:solidFill>
                  <a:srgbClr val="000000"/>
                </a:solidFill>
              </a:rPr>
              <a:t> . Este comando muestra una lista de todas las vinculaciones de la dirección IPv4 con la dirección MAC que fueron proporcionadas por el servicio DHCPv4.</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BD5D6C03-2202-48EC-800E-9A50526482C0}"/>
              </a:ext>
            </a:extLst>
          </p:cNvPr>
          <p:cNvPicPr>
            <a:picLocks noChangeAspect="1"/>
          </p:cNvPicPr>
          <p:nvPr/>
        </p:nvPicPr>
        <p:blipFill>
          <a:blip r:embed="rId4"/>
          <a:stretch>
            <a:fillRect/>
          </a:stretch>
        </p:blipFill>
        <p:spPr>
          <a:xfrm>
            <a:off x="557212" y="2325508"/>
            <a:ext cx="8029575" cy="1724025"/>
          </a:xfrm>
          <a:prstGeom prst="rect">
            <a:avLst/>
          </a:prstGeom>
        </p:spPr>
      </p:pic>
    </p:spTree>
    <p:custDataLst>
      <p:tags r:id="rId1"/>
    </p:custDataLst>
    <p:extLst>
      <p:ext uri="{BB962C8B-B14F-4D97-AF65-F5344CB8AC3E}">
        <p14:creationId xmlns:p14="http://schemas.microsoft.com/office/powerpoint/2010/main" val="40834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219200"/>
          </a:xfrm>
        </p:spPr>
        <p:txBody>
          <a:bodyPr/>
          <a:lstStyle/>
          <a:p>
            <a:r>
              <a:rPr lang="es-419" sz="1600" dirty="0"/>
              <a:t>Configurar un servidor DHCPv4 del IOS de Cisco</a:t>
            </a:r>
            <a:br>
              <a:rPr lang="en-US" dirty="0"/>
            </a:br>
            <a:r>
              <a:rPr lang="es-419" sz="2400" dirty="0"/>
              <a:t>Verifique las estadísticas de DHCPv4</a:t>
            </a:r>
          </a:p>
        </p:txBody>
      </p:sp>
      <p:sp>
        <p:nvSpPr>
          <p:cNvPr id="6" name="Content Placeholder 5">
            <a:extLst>
              <a:ext uri="{FF2B5EF4-FFF2-40B4-BE49-F238E27FC236}">
                <a16:creationId xmlns:a16="http://schemas.microsoft.com/office/drawing/2014/main" id="{3FAFF9D8-0045-439D-9855-1D9957EBC531}"/>
              </a:ext>
            </a:extLst>
          </p:cNvPr>
          <p:cNvSpPr>
            <a:spLocks noGrp="1"/>
          </p:cNvSpPr>
          <p:nvPr>
            <p:ph idx="1"/>
          </p:nvPr>
        </p:nvSpPr>
        <p:spPr>
          <a:xfrm>
            <a:off x="195572" y="1114961"/>
            <a:ext cx="5007956" cy="3463791"/>
          </a:xfrm>
        </p:spPr>
        <p:txBody>
          <a:bodyPr/>
          <a:lstStyle/>
          <a:p>
            <a:pPr marL="0" indent="0" algn="l" rtl="0"/>
            <a:r>
              <a:rPr lang="es-419" sz="1600" dirty="0">
                <a:solidFill>
                  <a:srgbClr val="000000"/>
                </a:solidFill>
              </a:rPr>
              <a:t>La salida de  </a:t>
            </a:r>
            <a:r>
              <a:rPr lang="es-419" sz="1600" b="1" dirty="0">
                <a:solidFill>
                  <a:srgbClr val="000000"/>
                </a:solidFill>
              </a:rPr>
              <a:t>show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dhcp</a:t>
            </a:r>
            <a:r>
              <a:rPr lang="es-419" sz="1600" b="1" dirty="0">
                <a:solidFill>
                  <a:srgbClr val="000000"/>
                </a:solidFill>
              </a:rPr>
              <a:t> server </a:t>
            </a:r>
            <a:r>
              <a:rPr lang="es-419" sz="1600" b="1" dirty="0" err="1">
                <a:solidFill>
                  <a:srgbClr val="000000"/>
                </a:solidFill>
              </a:rPr>
              <a:t>statistics</a:t>
            </a:r>
            <a:r>
              <a:rPr lang="es-419" sz="1600" dirty="0">
                <a:solidFill>
                  <a:srgbClr val="000000"/>
                </a:solidFill>
              </a:rPr>
              <a:t> e utiliza para verificar que los mensajes están siendo recibidos o enviados por el </a:t>
            </a:r>
            <a:r>
              <a:rPr lang="es-419" sz="1600" dirty="0" err="1">
                <a:solidFill>
                  <a:srgbClr val="000000"/>
                </a:solidFill>
              </a:rPr>
              <a:t>router</a:t>
            </a:r>
            <a:r>
              <a:rPr lang="es-419" sz="1600" dirty="0">
                <a:solidFill>
                  <a:srgbClr val="000000"/>
                </a:solidFill>
              </a:rPr>
              <a:t>. Este comando muestra información de conteo con respecto a la cantidad de mensajes DHCPv4 que se enviaron y recibieron.</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C51AAFB8-3CA2-4650-94B3-16337A1A7BBF}"/>
              </a:ext>
            </a:extLst>
          </p:cNvPr>
          <p:cNvPicPr>
            <a:picLocks noChangeAspect="1"/>
          </p:cNvPicPr>
          <p:nvPr/>
        </p:nvPicPr>
        <p:blipFill>
          <a:blip r:embed="rId4"/>
          <a:stretch>
            <a:fillRect/>
          </a:stretch>
        </p:blipFill>
        <p:spPr>
          <a:xfrm>
            <a:off x="5399099" y="531091"/>
            <a:ext cx="2946389" cy="4135390"/>
          </a:xfrm>
          <a:prstGeom prst="rect">
            <a:avLst/>
          </a:prstGeom>
        </p:spPr>
      </p:pic>
    </p:spTree>
    <p:custDataLst>
      <p:tags r:id="rId1"/>
    </p:custDataLst>
    <p:extLst>
      <p:ext uri="{BB962C8B-B14F-4D97-AF65-F5344CB8AC3E}">
        <p14:creationId xmlns:p14="http://schemas.microsoft.com/office/powerpoint/2010/main" val="3619727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9144000" cy="1237673"/>
          </a:xfrm>
        </p:spPr>
        <p:txBody>
          <a:bodyPr/>
          <a:lstStyle/>
          <a:p>
            <a:r>
              <a:rPr lang="es-419" sz="1600" dirty="0"/>
              <a:t>Configurar un servidor DHCPv4 del IOS de Cisco</a:t>
            </a:r>
            <a:br>
              <a:rPr lang="en-US" dirty="0"/>
            </a:br>
            <a:r>
              <a:rPr lang="es-CR" sz="2400" dirty="0"/>
              <a:t>Verificar el direccionamiento IPv4 recibido del cliente DHCPv4 </a:t>
            </a:r>
            <a:endParaRPr lang="es-419" sz="2400" dirty="0"/>
          </a:p>
        </p:txBody>
      </p:sp>
      <p:sp>
        <p:nvSpPr>
          <p:cNvPr id="9" name="Content Placeholder 8">
            <a:extLst>
              <a:ext uri="{FF2B5EF4-FFF2-40B4-BE49-F238E27FC236}">
                <a16:creationId xmlns:a16="http://schemas.microsoft.com/office/drawing/2014/main" id="{2457F7C7-C14C-4B3D-8D4A-D99B875C7C0D}"/>
              </a:ext>
            </a:extLst>
          </p:cNvPr>
          <p:cNvSpPr>
            <a:spLocks noGrp="1"/>
          </p:cNvSpPr>
          <p:nvPr>
            <p:ph idx="1"/>
          </p:nvPr>
        </p:nvSpPr>
        <p:spPr>
          <a:xfrm>
            <a:off x="95794" y="1016000"/>
            <a:ext cx="3793034" cy="4302034"/>
          </a:xfrm>
        </p:spPr>
        <p:txBody>
          <a:bodyPr/>
          <a:lstStyle/>
          <a:p>
            <a:pPr marL="0" indent="0" algn="l"/>
            <a:r>
              <a:rPr lang="es-419" sz="1500" dirty="0">
                <a:solidFill>
                  <a:srgbClr val="000000"/>
                </a:solidFill>
              </a:rPr>
              <a:t>El comando </a:t>
            </a:r>
            <a:r>
              <a:rPr lang="es-419" sz="1500" dirty="0" err="1">
                <a:solidFill>
                  <a:srgbClr val="000000"/>
                </a:solidFill>
              </a:rPr>
              <a:t>ipconfig</a:t>
            </a:r>
            <a:r>
              <a:rPr lang="es-419" sz="1500" dirty="0">
                <a:solidFill>
                  <a:srgbClr val="000000"/>
                </a:solidFill>
              </a:rPr>
              <a:t> /</a:t>
            </a:r>
            <a:r>
              <a:rPr lang="es-419" sz="1500" dirty="0" err="1">
                <a:solidFill>
                  <a:srgbClr val="000000"/>
                </a:solidFill>
              </a:rPr>
              <a:t>all</a:t>
            </a:r>
            <a:r>
              <a:rPr lang="es-419" sz="1500" dirty="0">
                <a:solidFill>
                  <a:srgbClr val="000000"/>
                </a:solidFill>
              </a:rPr>
              <a:t>, cuando se emite en PC1, muestra los parámetros TCP/IP, como se muestra en el ejemplo. Dado que la PC1 se conectó al segmento de red 192.168.10.0/24, recibió automáticamente un sufijo DNS, una dirección IPv4, una máscara de subred, un </a:t>
            </a:r>
            <a:r>
              <a:rPr lang="es-419" sz="1500" dirty="0" err="1">
                <a:solidFill>
                  <a:srgbClr val="000000"/>
                </a:solidFill>
              </a:rPr>
              <a:t>gateway</a:t>
            </a:r>
            <a:r>
              <a:rPr lang="es-419" sz="1500" dirty="0">
                <a:solidFill>
                  <a:srgbClr val="000000"/>
                </a:solidFill>
              </a:rPr>
              <a:t> predeterminado y una dirección del servidor DNS de ese pool. No se requiere ninguna configuración de interfaz del </a:t>
            </a:r>
            <a:r>
              <a:rPr lang="es-419" sz="1500" dirty="0" err="1">
                <a:solidFill>
                  <a:srgbClr val="000000"/>
                </a:solidFill>
              </a:rPr>
              <a:t>router</a:t>
            </a:r>
            <a:r>
              <a:rPr lang="es-419" sz="1500" dirty="0">
                <a:solidFill>
                  <a:srgbClr val="000000"/>
                </a:solidFill>
              </a:rPr>
              <a:t> específica de DHCP. </a:t>
            </a:r>
            <a:r>
              <a:rPr lang="es-CR" sz="1500" dirty="0">
                <a:solidFill>
                  <a:srgbClr val="000000"/>
                </a:solidFill>
              </a:rPr>
              <a:t>Si una computadora está conectada a un segmento de red que tiene un pool de DHCPv4 disponible, la computadora puede obtener una dirección IPv4 del pool adecuado de manera automática.</a:t>
            </a:r>
          </a:p>
          <a:p>
            <a:pPr marL="0" indent="0" algn="l" rtl="0"/>
            <a:endParaRPr lang="en-US" sz="1200" dirty="0">
              <a:solidFill>
                <a:srgbClr val="000000"/>
              </a:solidFill>
            </a:endParaRPr>
          </a:p>
        </p:txBody>
      </p:sp>
      <p:pic>
        <p:nvPicPr>
          <p:cNvPr id="10" name="Picture 9">
            <a:extLst>
              <a:ext uri="{FF2B5EF4-FFF2-40B4-BE49-F238E27FC236}">
                <a16:creationId xmlns:a16="http://schemas.microsoft.com/office/drawing/2014/main" id="{BBDA6BC5-079E-408E-B22F-EFCAE218B3AD}"/>
              </a:ext>
            </a:extLst>
          </p:cNvPr>
          <p:cNvPicPr>
            <a:picLocks noChangeAspect="1"/>
          </p:cNvPicPr>
          <p:nvPr/>
        </p:nvPicPr>
        <p:blipFill>
          <a:blip r:embed="rId4"/>
          <a:stretch>
            <a:fillRect/>
          </a:stretch>
        </p:blipFill>
        <p:spPr>
          <a:xfrm>
            <a:off x="3888828" y="1173018"/>
            <a:ext cx="4969422" cy="3473848"/>
          </a:xfrm>
          <a:prstGeom prst="rect">
            <a:avLst/>
          </a:prstGeom>
        </p:spPr>
      </p:pic>
    </p:spTree>
    <p:custDataLst>
      <p:tags r:id="rId1"/>
    </p:custDataLst>
    <p:extLst>
      <p:ext uri="{BB962C8B-B14F-4D97-AF65-F5344CB8AC3E}">
        <p14:creationId xmlns:p14="http://schemas.microsoft.com/office/powerpoint/2010/main" val="27548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163782"/>
          </a:xfrm>
        </p:spPr>
        <p:txBody>
          <a:bodyPr/>
          <a:lstStyle/>
          <a:p>
            <a:r>
              <a:rPr lang="es-419" sz="1600" dirty="0"/>
              <a:t>Configurar un servidor DHCPv4 del IOS de Cisco </a:t>
            </a:r>
            <a:br>
              <a:rPr lang="es-419" sz="1600" dirty="0"/>
            </a:br>
            <a:r>
              <a:rPr lang="es-419" sz="2400" dirty="0"/>
              <a:t>Desactivar el servidor DHCPv4</a:t>
            </a:r>
          </a:p>
        </p:txBody>
      </p:sp>
      <p:pic>
        <p:nvPicPr>
          <p:cNvPr id="2" name="Picture 1">
            <a:extLst>
              <a:ext uri="{FF2B5EF4-FFF2-40B4-BE49-F238E27FC236}">
                <a16:creationId xmlns:a16="http://schemas.microsoft.com/office/drawing/2014/main" id="{4269E1DD-0F11-4AAA-948F-9DF1A674D18A}"/>
              </a:ext>
            </a:extLst>
          </p:cNvPr>
          <p:cNvPicPr>
            <a:picLocks noChangeAspect="1"/>
          </p:cNvPicPr>
          <p:nvPr/>
        </p:nvPicPr>
        <p:blipFill>
          <a:blip r:embed="rId4"/>
          <a:stretch>
            <a:fillRect/>
          </a:stretch>
        </p:blipFill>
        <p:spPr>
          <a:xfrm>
            <a:off x="4779097" y="2095499"/>
            <a:ext cx="3952875" cy="952500"/>
          </a:xfrm>
          <a:prstGeom prst="rect">
            <a:avLst/>
          </a:prstGeom>
        </p:spPr>
      </p:pic>
      <p:sp>
        <p:nvSpPr>
          <p:cNvPr id="4" name="Rectángulo 3">
            <a:extLst>
              <a:ext uri="{FF2B5EF4-FFF2-40B4-BE49-F238E27FC236}">
                <a16:creationId xmlns:a16="http://schemas.microsoft.com/office/drawing/2014/main" id="{6E27BD1B-9F7B-47CB-BA6A-78250F0D50C5}"/>
              </a:ext>
            </a:extLst>
          </p:cNvPr>
          <p:cNvSpPr/>
          <p:nvPr/>
        </p:nvSpPr>
        <p:spPr>
          <a:xfrm>
            <a:off x="412028" y="786645"/>
            <a:ext cx="3992192" cy="3570208"/>
          </a:xfrm>
          <a:prstGeom prst="rect">
            <a:avLst/>
          </a:prstGeom>
        </p:spPr>
        <p:txBody>
          <a:bodyPr wrap="square">
            <a:spAutoFit/>
          </a:bodyPr>
          <a:lstStyle/>
          <a:p>
            <a:br>
              <a:rPr lang="es-CR" dirty="0"/>
            </a:br>
            <a:r>
              <a:rPr lang="es-CR" sz="1600" dirty="0">
                <a:solidFill>
                  <a:srgbClr val="222222"/>
                </a:solidFill>
                <a:latin typeface="arial" panose="020B0604020202020204" pitchFamily="34" charset="0"/>
              </a:rPr>
              <a:t>El servicio DHCPv4 está habilitado de manera predeterminada. Para deshabilitar el servicio, use el comando </a:t>
            </a:r>
            <a:r>
              <a:rPr lang="es-CR" sz="1600" b="1" dirty="0">
                <a:solidFill>
                  <a:srgbClr val="222222"/>
                </a:solidFill>
                <a:latin typeface="arial" panose="020B0604020202020204" pitchFamily="34" charset="0"/>
              </a:rPr>
              <a:t>no </a:t>
            </a:r>
            <a:r>
              <a:rPr lang="es-CR" sz="1600" b="1" dirty="0" err="1">
                <a:solidFill>
                  <a:srgbClr val="222222"/>
                </a:solidFill>
                <a:latin typeface="arial" panose="020B0604020202020204" pitchFamily="34" charset="0"/>
              </a:rPr>
              <a:t>service</a:t>
            </a:r>
            <a:r>
              <a:rPr lang="es-CR" sz="1600" b="1" dirty="0">
                <a:solidFill>
                  <a:srgbClr val="222222"/>
                </a:solidFill>
                <a:latin typeface="arial" panose="020B0604020202020204" pitchFamily="34" charset="0"/>
              </a:rPr>
              <a:t> </a:t>
            </a:r>
            <a:r>
              <a:rPr lang="es-CR" sz="1600" b="1" dirty="0" err="1">
                <a:solidFill>
                  <a:srgbClr val="222222"/>
                </a:solidFill>
                <a:latin typeface="arial" panose="020B0604020202020204" pitchFamily="34" charset="0"/>
              </a:rPr>
              <a:t>dhcp</a:t>
            </a:r>
            <a:r>
              <a:rPr lang="es-CR" sz="1600" dirty="0">
                <a:solidFill>
                  <a:srgbClr val="222222"/>
                </a:solidFill>
                <a:latin typeface="arial" panose="020B0604020202020204" pitchFamily="34" charset="0"/>
              </a:rPr>
              <a:t> global </a:t>
            </a:r>
            <a:r>
              <a:rPr lang="es-CR" sz="1600" dirty="0" err="1">
                <a:solidFill>
                  <a:srgbClr val="222222"/>
                </a:solidFill>
                <a:latin typeface="arial" panose="020B0604020202020204" pitchFamily="34" charset="0"/>
              </a:rPr>
              <a:t>configuration</a:t>
            </a:r>
            <a:r>
              <a:rPr lang="es-CR" sz="1600" dirty="0">
                <a:solidFill>
                  <a:srgbClr val="222222"/>
                </a:solidFill>
                <a:latin typeface="arial" panose="020B0604020202020204" pitchFamily="34" charset="0"/>
              </a:rPr>
              <a:t> </a:t>
            </a:r>
            <a:r>
              <a:rPr lang="es-CR" sz="1600" dirty="0" err="1">
                <a:solidFill>
                  <a:srgbClr val="222222"/>
                </a:solidFill>
                <a:latin typeface="arial" panose="020B0604020202020204" pitchFamily="34" charset="0"/>
              </a:rPr>
              <a:t>mode</a:t>
            </a:r>
            <a:r>
              <a:rPr lang="es-CR" sz="1600" dirty="0">
                <a:solidFill>
                  <a:srgbClr val="222222"/>
                </a:solidFill>
                <a:latin typeface="arial" panose="020B0604020202020204" pitchFamily="34" charset="0"/>
              </a:rPr>
              <a:t>. Utilice el comando del modo de configuración del </a:t>
            </a:r>
            <a:r>
              <a:rPr lang="es-419" sz="1600" dirty="0">
                <a:solidFill>
                  <a:srgbClr val="000000"/>
                </a:solidFill>
              </a:rPr>
              <a:t>global </a:t>
            </a:r>
            <a:r>
              <a:rPr lang="es-419" sz="1600" b="1" dirty="0" err="1">
                <a:solidFill>
                  <a:srgbClr val="000000"/>
                </a:solidFill>
              </a:rPr>
              <a:t>service</a:t>
            </a:r>
            <a:r>
              <a:rPr lang="es-419" sz="1600" b="1" dirty="0">
                <a:solidFill>
                  <a:srgbClr val="000000"/>
                </a:solidFill>
              </a:rPr>
              <a:t> </a:t>
            </a:r>
            <a:r>
              <a:rPr lang="es-419" sz="1600" b="1" dirty="0" err="1">
                <a:solidFill>
                  <a:srgbClr val="000000"/>
                </a:solidFill>
              </a:rPr>
              <a:t>dhcp</a:t>
            </a:r>
            <a:r>
              <a:rPr lang="es-419" sz="1600" dirty="0">
                <a:solidFill>
                  <a:srgbClr val="000000"/>
                </a:solidFill>
              </a:rPr>
              <a:t> </a:t>
            </a:r>
            <a:r>
              <a:rPr lang="es-CR" sz="1600" dirty="0">
                <a:solidFill>
                  <a:srgbClr val="222222"/>
                </a:solidFill>
                <a:latin typeface="arial" panose="020B0604020202020204" pitchFamily="34" charset="0"/>
              </a:rPr>
              <a:t>para volver a activar el proceso del servidor de DHCPv4. Si los parámetros no se configuran, active el servicio no tiene ningún efecto. </a:t>
            </a:r>
          </a:p>
          <a:p>
            <a:r>
              <a:rPr lang="es-CR" sz="1600" b="1" dirty="0">
                <a:solidFill>
                  <a:srgbClr val="222222"/>
                </a:solidFill>
                <a:latin typeface="arial" panose="020B0604020202020204" pitchFamily="34" charset="0"/>
              </a:rPr>
              <a:t>Nota: </a:t>
            </a:r>
            <a:r>
              <a:rPr lang="es-CR" sz="1600" dirty="0">
                <a:solidFill>
                  <a:srgbClr val="222222"/>
                </a:solidFill>
                <a:latin typeface="arial" panose="020B0604020202020204" pitchFamily="34" charset="0"/>
              </a:rPr>
              <a:t>Si se borra los enlaces DHCP o se detiene y reinicia el servicio DHCP, se pueden asignar direcciones IP duplicadas en la red.</a:t>
            </a:r>
            <a:endParaRPr lang="es-CR" sz="1600" dirty="0"/>
          </a:p>
        </p:txBody>
      </p:sp>
    </p:spTree>
    <p:custDataLst>
      <p:tags r:id="rId1"/>
    </p:custDataLst>
    <p:extLst>
      <p:ext uri="{BB962C8B-B14F-4D97-AF65-F5344CB8AC3E}">
        <p14:creationId xmlns:p14="http://schemas.microsoft.com/office/powerpoint/2010/main" val="1999304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923636"/>
          </a:xfrm>
        </p:spPr>
        <p:txBody>
          <a:bodyPr/>
          <a:lstStyle/>
          <a:p>
            <a:r>
              <a:rPr lang="es-419" sz="1600" dirty="0"/>
              <a:t>Configurar un servidor DHCPv4 del IOS de Cisco</a:t>
            </a:r>
            <a:br>
              <a:rPr lang="en-US" dirty="0"/>
            </a:br>
            <a:r>
              <a:rPr lang="es-419" sz="2400" dirty="0" err="1"/>
              <a:t>Relay</a:t>
            </a:r>
            <a:r>
              <a:rPr lang="es-419" sz="2400" dirty="0"/>
              <a:t> DHCPv4</a:t>
            </a:r>
          </a:p>
        </p:txBody>
      </p:sp>
      <p:sp>
        <p:nvSpPr>
          <p:cNvPr id="5" name="Content Placeholder 4">
            <a:extLst>
              <a:ext uri="{FF2B5EF4-FFF2-40B4-BE49-F238E27FC236}">
                <a16:creationId xmlns:a16="http://schemas.microsoft.com/office/drawing/2014/main" id="{B6E09C11-E0C2-42E1-B7FE-DA2CDC296F8F}"/>
              </a:ext>
            </a:extLst>
          </p:cNvPr>
          <p:cNvSpPr>
            <a:spLocks noGrp="1"/>
          </p:cNvSpPr>
          <p:nvPr>
            <p:ph idx="1"/>
          </p:nvPr>
        </p:nvSpPr>
        <p:spPr>
          <a:xfrm>
            <a:off x="69670" y="770947"/>
            <a:ext cx="8685050" cy="1454014"/>
          </a:xfrm>
        </p:spPr>
        <p:txBody>
          <a:bodyPr/>
          <a:lstStyle/>
          <a:p>
            <a:pPr marL="342900" indent="-342900" algn="l" rtl="0">
              <a:buFont typeface="Arial" panose="020B0604020202020204" pitchFamily="34" charset="0"/>
              <a:buChar char="•"/>
            </a:pPr>
            <a:r>
              <a:rPr lang="es-419" sz="1400" dirty="0">
                <a:solidFill>
                  <a:srgbClr val="000000"/>
                </a:solidFill>
              </a:rPr>
              <a:t>En una red jerárquica compleja, los servidores empresariales suelen estar ubicados en una central. Estos servidores pueden proporcionar servicios DHCP, DNS, TFTP y FTP para la red. Generalmente, los clientes de red no se encuentran en la misma subred que esos servidores. Para ubicar los servidores y recibir servicios, los clientes con frecuencia utilizan mensajes de difusión.</a:t>
            </a:r>
          </a:p>
          <a:p>
            <a:pPr marL="342900" indent="-342900" algn="l" rtl="0">
              <a:buFont typeface="Arial" panose="020B0604020202020204" pitchFamily="34" charset="0"/>
              <a:buChar char="•"/>
            </a:pPr>
            <a:r>
              <a:rPr lang="es-419" sz="1400" dirty="0">
                <a:solidFill>
                  <a:srgbClr val="000000"/>
                </a:solidFill>
              </a:rPr>
              <a:t>En la figura, la PC1 intenta adquirir una dirección IPv4 de un servidor de DHCPv4 mediante un mensaje de difusión. En esta situación, el </a:t>
            </a:r>
            <a:r>
              <a:rPr lang="es-419" sz="1400" dirty="0" err="1">
                <a:solidFill>
                  <a:srgbClr val="000000"/>
                </a:solidFill>
              </a:rPr>
              <a:t>router</a:t>
            </a:r>
            <a:r>
              <a:rPr lang="es-419" sz="1400" dirty="0">
                <a:solidFill>
                  <a:srgbClr val="000000"/>
                </a:solidFill>
              </a:rPr>
              <a:t> R1 no está configurado como servidor de DHCPv4 y no reenvía el mensaje de difusión. Dado que el servidor de DHCPv4 está ubicado en una red diferente, la PC1 no puede recibir una dirección IP mediante DHCP. R1 debe configurarse para retransmitir mensajes DHCPv4 al servidor DHCPv4.</a:t>
            </a:r>
          </a:p>
          <a:p>
            <a:pPr marL="342900" indent="-342900" algn="l">
              <a:buFont typeface="Arial" panose="020B0604020202020204" pitchFamily="34" charset="0"/>
              <a:buChar char="•"/>
            </a:pPr>
            <a:endParaRPr lang="en-US" sz="1200" dirty="0">
              <a:solidFill>
                <a:srgbClr val="000000"/>
              </a:solidFill>
            </a:endParaRPr>
          </a:p>
        </p:txBody>
      </p:sp>
      <p:pic>
        <p:nvPicPr>
          <p:cNvPr id="6" name="Picture 5">
            <a:extLst>
              <a:ext uri="{FF2B5EF4-FFF2-40B4-BE49-F238E27FC236}">
                <a16:creationId xmlns:a16="http://schemas.microsoft.com/office/drawing/2014/main" id="{143C2444-5112-4369-B834-C7BFAA5D7C33}"/>
              </a:ext>
            </a:extLst>
          </p:cNvPr>
          <p:cNvPicPr>
            <a:picLocks noChangeAspect="1"/>
          </p:cNvPicPr>
          <p:nvPr/>
        </p:nvPicPr>
        <p:blipFill>
          <a:blip r:embed="rId4"/>
          <a:stretch>
            <a:fillRect/>
          </a:stretch>
        </p:blipFill>
        <p:spPr>
          <a:xfrm>
            <a:off x="1933657" y="2918540"/>
            <a:ext cx="5276685" cy="2272536"/>
          </a:xfrm>
          <a:prstGeom prst="rect">
            <a:avLst/>
          </a:prstGeom>
        </p:spPr>
      </p:pic>
    </p:spTree>
    <p:custDataLst>
      <p:tags r:id="rId1"/>
    </p:custDataLst>
    <p:extLst>
      <p:ext uri="{BB962C8B-B14F-4D97-AF65-F5344CB8AC3E}">
        <p14:creationId xmlns:p14="http://schemas.microsoft.com/office/powerpoint/2010/main" val="1757643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914400"/>
          </a:xfrm>
        </p:spPr>
        <p:txBody>
          <a:bodyPr/>
          <a:lstStyle/>
          <a:p>
            <a:r>
              <a:rPr lang="es-419" sz="1600" dirty="0"/>
              <a:t>Configurar un servidor DHCPv4 del IOS de Cisco</a:t>
            </a:r>
            <a:br>
              <a:rPr lang="en-US" dirty="0"/>
            </a:br>
            <a:r>
              <a:rPr lang="es-419" sz="2400" dirty="0" err="1"/>
              <a:t>Relay</a:t>
            </a:r>
            <a:r>
              <a:rPr lang="es-419" sz="2400" dirty="0"/>
              <a:t> DHCPv4</a:t>
            </a:r>
          </a:p>
        </p:txBody>
      </p:sp>
      <p:sp>
        <p:nvSpPr>
          <p:cNvPr id="4" name="Content Placeholder 3">
            <a:extLst>
              <a:ext uri="{FF2B5EF4-FFF2-40B4-BE49-F238E27FC236}">
                <a16:creationId xmlns:a16="http://schemas.microsoft.com/office/drawing/2014/main" id="{B80CB5D6-5ECD-4631-A8B6-534033273036}"/>
              </a:ext>
            </a:extLst>
          </p:cNvPr>
          <p:cNvSpPr>
            <a:spLocks noGrp="1"/>
          </p:cNvSpPr>
          <p:nvPr>
            <p:ph idx="1"/>
          </p:nvPr>
        </p:nvSpPr>
        <p:spPr>
          <a:xfrm>
            <a:off x="0" y="731837"/>
            <a:ext cx="4764087" cy="4059237"/>
          </a:xfrm>
        </p:spPr>
        <p:txBody>
          <a:bodyPr/>
          <a:lstStyle/>
          <a:p>
            <a:pPr marL="342900" indent="-342900" algn="l" rtl="0">
              <a:buFont typeface="Arial" panose="020B0604020202020204" pitchFamily="34" charset="0"/>
              <a:buChar char="•"/>
            </a:pPr>
            <a:r>
              <a:rPr lang="es-419" sz="1600" dirty="0">
                <a:solidFill>
                  <a:srgbClr val="000000"/>
                </a:solidFill>
              </a:rPr>
              <a:t>Configure R1 con el comando de configuración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helper-address</a:t>
            </a:r>
            <a:r>
              <a:rPr lang="es-419" sz="1600" b="1" dirty="0">
                <a:solidFill>
                  <a:srgbClr val="000000"/>
                </a:solidFill>
              </a:rPr>
              <a:t> </a:t>
            </a:r>
            <a:r>
              <a:rPr lang="es-419" sz="1600" i="1" dirty="0" err="1">
                <a:solidFill>
                  <a:srgbClr val="000000"/>
                </a:solidFill>
              </a:rPr>
              <a:t>address</a:t>
            </a:r>
            <a:r>
              <a:rPr lang="es-419" sz="1600" dirty="0">
                <a:solidFill>
                  <a:srgbClr val="000000"/>
                </a:solidFill>
              </a:rPr>
              <a:t> interface. Esto hará que R1 retransmita transmisiones DHCPv4 al servidor DHCPv4. Como se muestra en el ejemplo, la interfaz en R1 que recibe la difusión desde PC1 está configurada para retransmitir la dirección DHCPv4 al servidor DHCPv4 en 192.168.11.6.</a:t>
            </a:r>
          </a:p>
          <a:p>
            <a:pPr marL="342900" indent="-342900" algn="l" rtl="0">
              <a:buFont typeface="Arial" panose="020B0604020202020204" pitchFamily="34" charset="0"/>
              <a:buChar char="•"/>
            </a:pPr>
            <a:r>
              <a:rPr lang="es-419" sz="1600" dirty="0">
                <a:solidFill>
                  <a:srgbClr val="000000"/>
                </a:solidFill>
              </a:rPr>
              <a:t>Cuando se configura el R1 como agente de retransmisión DHCPv4, acepta solicitudes de difusión para el servicio DHCPv4 y, a continuación, reenvía dichas solicitudes en forma de unidifusión a la dirección IPv4 192.168.11.6. El administrador de red puede utilizar el comando </a:t>
            </a:r>
            <a:r>
              <a:rPr lang="es-419" sz="1600" b="1" dirty="0">
                <a:solidFill>
                  <a:srgbClr val="000000"/>
                </a:solidFill>
              </a:rPr>
              <a:t>show </a:t>
            </a:r>
            <a:r>
              <a:rPr lang="es-419" sz="1600" b="1" dirty="0" err="1">
                <a:solidFill>
                  <a:srgbClr val="000000"/>
                </a:solidFill>
              </a:rPr>
              <a:t>ip</a:t>
            </a:r>
            <a:r>
              <a:rPr lang="es-419" sz="1600" b="1" dirty="0">
                <a:solidFill>
                  <a:srgbClr val="000000"/>
                </a:solidFill>
              </a:rPr>
              <a:t> interface</a:t>
            </a:r>
            <a:r>
              <a:rPr lang="es-419" sz="1600" dirty="0">
                <a:solidFill>
                  <a:srgbClr val="000000"/>
                </a:solidFill>
              </a:rPr>
              <a:t> para verificar la configuración.</a:t>
            </a:r>
          </a:p>
        </p:txBody>
      </p:sp>
      <p:pic>
        <p:nvPicPr>
          <p:cNvPr id="7" name="Picture 6">
            <a:extLst>
              <a:ext uri="{FF2B5EF4-FFF2-40B4-BE49-F238E27FC236}">
                <a16:creationId xmlns:a16="http://schemas.microsoft.com/office/drawing/2014/main" id="{4C2BCC5F-EC54-4C13-B73D-BD162833666B}"/>
              </a:ext>
            </a:extLst>
          </p:cNvPr>
          <p:cNvPicPr>
            <a:picLocks noChangeAspect="1"/>
          </p:cNvPicPr>
          <p:nvPr/>
        </p:nvPicPr>
        <p:blipFill>
          <a:blip r:embed="rId4"/>
          <a:stretch>
            <a:fillRect/>
          </a:stretch>
        </p:blipFill>
        <p:spPr>
          <a:xfrm>
            <a:off x="5140231" y="3283244"/>
            <a:ext cx="3205257" cy="1013061"/>
          </a:xfrm>
          <a:prstGeom prst="rect">
            <a:avLst/>
          </a:prstGeom>
        </p:spPr>
      </p:pic>
      <p:pic>
        <p:nvPicPr>
          <p:cNvPr id="8" name="Picture 7">
            <a:extLst>
              <a:ext uri="{FF2B5EF4-FFF2-40B4-BE49-F238E27FC236}">
                <a16:creationId xmlns:a16="http://schemas.microsoft.com/office/drawing/2014/main" id="{94E9B43E-1199-40D4-95EE-4955AF297B97}"/>
              </a:ext>
            </a:extLst>
          </p:cNvPr>
          <p:cNvPicPr>
            <a:picLocks noChangeAspect="1"/>
          </p:cNvPicPr>
          <p:nvPr/>
        </p:nvPicPr>
        <p:blipFill>
          <a:blip r:embed="rId5"/>
          <a:stretch>
            <a:fillRect/>
          </a:stretch>
        </p:blipFill>
        <p:spPr>
          <a:xfrm>
            <a:off x="4856909" y="847195"/>
            <a:ext cx="3771900" cy="1876425"/>
          </a:xfrm>
          <a:prstGeom prst="rect">
            <a:avLst/>
          </a:prstGeom>
        </p:spPr>
      </p:pic>
    </p:spTree>
    <p:custDataLst>
      <p:tags r:id="rId1"/>
    </p:custDataLst>
    <p:extLst>
      <p:ext uri="{BB962C8B-B14F-4D97-AF65-F5344CB8AC3E}">
        <p14:creationId xmlns:p14="http://schemas.microsoft.com/office/powerpoint/2010/main" val="3496042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108364"/>
          </a:xfrm>
        </p:spPr>
        <p:txBody>
          <a:bodyPr/>
          <a:lstStyle/>
          <a:p>
            <a:r>
              <a:rPr lang="es-419" sz="1600" dirty="0"/>
              <a:t>Configurar un servidor DHCPv4 del IOS de Cisco  </a:t>
            </a:r>
            <a:br>
              <a:rPr lang="en-US" dirty="0"/>
            </a:br>
            <a:r>
              <a:rPr lang="es-419" sz="2400" dirty="0"/>
              <a:t>Otras transmisiones de servicio retransmitidas</a:t>
            </a:r>
          </a:p>
        </p:txBody>
      </p:sp>
      <p:sp>
        <p:nvSpPr>
          <p:cNvPr id="5" name="Content Placeholder 4">
            <a:extLst>
              <a:ext uri="{FF2B5EF4-FFF2-40B4-BE49-F238E27FC236}">
                <a16:creationId xmlns:a16="http://schemas.microsoft.com/office/drawing/2014/main" id="{95D01B9E-FC90-4A46-9EBA-0917DA93EECC}"/>
              </a:ext>
            </a:extLst>
          </p:cNvPr>
          <p:cNvSpPr>
            <a:spLocks noGrp="1"/>
          </p:cNvSpPr>
          <p:nvPr>
            <p:ph idx="1"/>
          </p:nvPr>
        </p:nvSpPr>
        <p:spPr>
          <a:xfrm>
            <a:off x="474662" y="731837"/>
            <a:ext cx="8280057" cy="3689897"/>
          </a:xfrm>
        </p:spPr>
        <p:txBody>
          <a:bodyPr/>
          <a:lstStyle/>
          <a:p>
            <a:pPr marL="0" indent="0" algn="l" rtl="0"/>
            <a:endParaRPr lang="es-419" sz="1600" dirty="0">
              <a:solidFill>
                <a:srgbClr val="000000"/>
              </a:solidFill>
            </a:endParaRPr>
          </a:p>
          <a:p>
            <a:pPr marL="0" indent="0" algn="l" rtl="0"/>
            <a:r>
              <a:rPr lang="es-419" sz="1600" dirty="0">
                <a:solidFill>
                  <a:srgbClr val="000000"/>
                </a:solidFill>
              </a:rPr>
              <a:t>DHCPv4 no es el único servicio que puede configurarse para que retransmita el </a:t>
            </a:r>
            <a:r>
              <a:rPr lang="es-419" sz="1600" dirty="0" err="1">
                <a:solidFill>
                  <a:srgbClr val="000000"/>
                </a:solidFill>
              </a:rPr>
              <a:t>router</a:t>
            </a:r>
            <a:r>
              <a:rPr lang="es-419" sz="1600" dirty="0">
                <a:solidFill>
                  <a:srgbClr val="000000"/>
                </a:solidFill>
              </a:rPr>
              <a:t>. De manera predeterminada, el comando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helper-address</a:t>
            </a:r>
            <a:r>
              <a:rPr lang="es-419" sz="1600" dirty="0">
                <a:solidFill>
                  <a:srgbClr val="000000"/>
                </a:solidFill>
              </a:rPr>
              <a:t> reenvía los siguientes ocho siguientes servicios UDP:</a:t>
            </a:r>
          </a:p>
          <a:p>
            <a:pPr marL="342900" indent="-342900" algn="l" rtl="0">
              <a:buFont typeface="Arial" panose="020B0604020202020204" pitchFamily="34" charset="0"/>
              <a:buChar char="•"/>
            </a:pPr>
            <a:r>
              <a:rPr lang="es-419" sz="1600" b="1" dirty="0">
                <a:solidFill>
                  <a:srgbClr val="000000"/>
                </a:solidFill>
              </a:rPr>
              <a:t>Puerto 37: </a:t>
            </a:r>
            <a:r>
              <a:rPr lang="es-419" sz="1600" dirty="0">
                <a:solidFill>
                  <a:srgbClr val="000000"/>
                </a:solidFill>
              </a:rPr>
              <a:t>Tiempo</a:t>
            </a:r>
          </a:p>
          <a:p>
            <a:pPr marL="342900" indent="-342900" algn="l" rtl="0">
              <a:buFont typeface="Arial" panose="020B0604020202020204" pitchFamily="34" charset="0"/>
              <a:buChar char="•"/>
            </a:pPr>
            <a:r>
              <a:rPr lang="es-419" sz="1600" b="1" dirty="0">
                <a:solidFill>
                  <a:srgbClr val="000000"/>
                </a:solidFill>
              </a:rPr>
              <a:t>Puerto 49: </a:t>
            </a:r>
            <a:r>
              <a:rPr lang="es-419" sz="1600" dirty="0">
                <a:solidFill>
                  <a:srgbClr val="000000"/>
                </a:solidFill>
              </a:rPr>
              <a:t>TACACS</a:t>
            </a:r>
          </a:p>
          <a:p>
            <a:pPr marL="342900" indent="-342900" algn="l" rtl="0">
              <a:buFont typeface="Arial" panose="020B0604020202020204" pitchFamily="34" charset="0"/>
              <a:buChar char="•"/>
            </a:pPr>
            <a:r>
              <a:rPr lang="es-419" sz="1600" b="1" dirty="0">
                <a:solidFill>
                  <a:srgbClr val="000000"/>
                </a:solidFill>
              </a:rPr>
              <a:t>Puerto 53: </a:t>
            </a:r>
            <a:r>
              <a:rPr lang="es-419" sz="1600" dirty="0">
                <a:solidFill>
                  <a:srgbClr val="000000"/>
                </a:solidFill>
              </a:rPr>
              <a:t>DNS</a:t>
            </a:r>
          </a:p>
          <a:p>
            <a:pPr marL="342900" indent="-342900" algn="l" rtl="0">
              <a:buFont typeface="Arial" panose="020B0604020202020204" pitchFamily="34" charset="0"/>
              <a:buChar char="•"/>
            </a:pPr>
            <a:r>
              <a:rPr lang="es-419" sz="1600" b="1" dirty="0">
                <a:solidFill>
                  <a:srgbClr val="000000"/>
                </a:solidFill>
              </a:rPr>
              <a:t>Puerto 67: </a:t>
            </a:r>
            <a:r>
              <a:rPr lang="es-419" sz="1600" dirty="0">
                <a:solidFill>
                  <a:srgbClr val="000000"/>
                </a:solidFill>
              </a:rPr>
              <a:t>servidor de DHCP/BOOTP</a:t>
            </a:r>
          </a:p>
          <a:p>
            <a:pPr marL="342900" indent="-342900" algn="l" rtl="0">
              <a:buFont typeface="Arial" panose="020B0604020202020204" pitchFamily="34" charset="0"/>
              <a:buChar char="•"/>
            </a:pPr>
            <a:r>
              <a:rPr lang="es-419" sz="1600" b="1" dirty="0">
                <a:solidFill>
                  <a:srgbClr val="000000"/>
                </a:solidFill>
              </a:rPr>
              <a:t>Puerto 68: </a:t>
            </a:r>
            <a:r>
              <a:rPr lang="es-419" sz="1600" dirty="0">
                <a:solidFill>
                  <a:srgbClr val="000000"/>
                </a:solidFill>
              </a:rPr>
              <a:t>cliente DHCP/BOOTP</a:t>
            </a:r>
          </a:p>
          <a:p>
            <a:pPr marL="342900" indent="-342900" algn="l" rtl="0">
              <a:buFont typeface="Arial" panose="020B0604020202020204" pitchFamily="34" charset="0"/>
              <a:buChar char="•"/>
            </a:pPr>
            <a:r>
              <a:rPr lang="es-419" sz="1600" b="1" dirty="0">
                <a:solidFill>
                  <a:srgbClr val="000000"/>
                </a:solidFill>
              </a:rPr>
              <a:t>Puerto 69: </a:t>
            </a:r>
            <a:r>
              <a:rPr lang="es-419" sz="1600" dirty="0">
                <a:solidFill>
                  <a:srgbClr val="000000"/>
                </a:solidFill>
              </a:rPr>
              <a:t>TFTP</a:t>
            </a:r>
          </a:p>
          <a:p>
            <a:pPr marL="342900" indent="-342900" algn="l" rtl="0">
              <a:buFont typeface="Arial" panose="020B0604020202020204" pitchFamily="34" charset="0"/>
              <a:buChar char="•"/>
            </a:pPr>
            <a:r>
              <a:rPr lang="es-419" sz="1600" b="1" dirty="0">
                <a:solidFill>
                  <a:srgbClr val="000000"/>
                </a:solidFill>
              </a:rPr>
              <a:t>Puerto 137: </a:t>
            </a:r>
            <a:r>
              <a:rPr lang="es-419" sz="1600" dirty="0">
                <a:solidFill>
                  <a:srgbClr val="000000"/>
                </a:solidFill>
              </a:rPr>
              <a:t>servicio de nombres NetBIOS</a:t>
            </a:r>
          </a:p>
          <a:p>
            <a:pPr marL="342900" indent="-342900" algn="l" rtl="0">
              <a:buFont typeface="Arial" panose="020B0604020202020204" pitchFamily="34" charset="0"/>
              <a:buChar char="•"/>
            </a:pPr>
            <a:r>
              <a:rPr lang="es-419" sz="1600" b="1" dirty="0">
                <a:solidFill>
                  <a:srgbClr val="000000"/>
                </a:solidFill>
              </a:rPr>
              <a:t>Puerto 138:</a:t>
            </a:r>
            <a:r>
              <a:rPr lang="es-419" sz="1600" dirty="0">
                <a:solidFill>
                  <a:srgbClr val="000000"/>
                </a:solidFill>
              </a:rPr>
              <a:t> servicio de datagrama NetBIOS</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1296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1145309"/>
          </a:xfrm>
        </p:spPr>
        <p:txBody>
          <a:bodyPr/>
          <a:lstStyle/>
          <a:p>
            <a:r>
              <a:rPr lang="es-419" sz="1600" dirty="0"/>
              <a:t>Configurar un servidor DHCPv4 del IOS de Cisco </a:t>
            </a:r>
            <a:br>
              <a:rPr lang="es-419" sz="1600" dirty="0"/>
            </a:br>
            <a:r>
              <a:rPr lang="es-419" sz="2400" dirty="0"/>
              <a:t>Configurar un rastreador de paquetes de servidor DHCPv4</a:t>
            </a:r>
          </a:p>
        </p:txBody>
      </p:sp>
      <p:sp>
        <p:nvSpPr>
          <p:cNvPr id="4" name="Content Placeholder 3">
            <a:extLst>
              <a:ext uri="{FF2B5EF4-FFF2-40B4-BE49-F238E27FC236}">
                <a16:creationId xmlns:a16="http://schemas.microsoft.com/office/drawing/2014/main" id="{FC459A8E-0490-4278-8D7B-549688222939}"/>
              </a:ext>
            </a:extLst>
          </p:cNvPr>
          <p:cNvSpPr>
            <a:spLocks noGrp="1"/>
          </p:cNvSpPr>
          <p:nvPr>
            <p:ph idx="1"/>
          </p:nvPr>
        </p:nvSpPr>
        <p:spPr>
          <a:xfrm>
            <a:off x="474662" y="731837"/>
            <a:ext cx="8280057" cy="3689897"/>
          </a:xfrm>
        </p:spPr>
        <p:txBody>
          <a:bodyPr/>
          <a:lstStyle/>
          <a:p>
            <a:pPr marL="0" indent="0" algn="l" rtl="0"/>
            <a:endParaRPr lang="es-419" sz="1600" dirty="0">
              <a:solidFill>
                <a:srgbClr val="000000"/>
              </a:solidFill>
            </a:endParaRPr>
          </a:p>
          <a:p>
            <a:pPr marL="0" indent="0" algn="l" rtl="0"/>
            <a:r>
              <a:rPr lang="es-419" sz="1600" dirty="0">
                <a:solidFill>
                  <a:srgbClr val="000000"/>
                </a:solidFill>
              </a:rPr>
              <a:t>En esta actividad de </a:t>
            </a:r>
            <a:r>
              <a:rPr lang="es-419" sz="1600" dirty="0" err="1">
                <a:solidFill>
                  <a:srgbClr val="000000"/>
                </a:solidFill>
              </a:rPr>
              <a:t>Packet</a:t>
            </a:r>
            <a:r>
              <a:rPr lang="es-419" sz="1600" dirty="0">
                <a:solidFill>
                  <a:srgbClr val="000000"/>
                </a:solidFill>
              </a:rPr>
              <a:t> </a:t>
            </a:r>
            <a:r>
              <a:rPr lang="es-419" sz="1600" dirty="0" err="1">
                <a:solidFill>
                  <a:srgbClr val="000000"/>
                </a:solidFill>
              </a:rPr>
              <a:t>Tracer</a:t>
            </a:r>
            <a:r>
              <a:rPr lang="es-419" sz="1600" dirty="0">
                <a:solidFill>
                  <a:srgbClr val="000000"/>
                </a:solidFill>
              </a:rPr>
              <a:t>, completará los siguientes objetivos:</a:t>
            </a:r>
          </a:p>
          <a:p>
            <a:pPr marL="0" indent="0" algn="l" rtl="0"/>
            <a:endParaRPr lang="es-419" sz="1600" dirty="0">
              <a:solidFill>
                <a:srgbClr val="000000"/>
              </a:solidFill>
            </a:endParaRPr>
          </a:p>
          <a:p>
            <a:pPr marL="342900" indent="-342900" algn="l" rtl="0">
              <a:buFont typeface="Arial" panose="020B0604020202020204" pitchFamily="34" charset="0"/>
              <a:buChar char="•"/>
            </a:pPr>
            <a:r>
              <a:rPr lang="es-419" sz="1600" b="1" dirty="0">
                <a:solidFill>
                  <a:srgbClr val="000000"/>
                </a:solidFill>
              </a:rPr>
              <a:t>Parte 1: </a:t>
            </a:r>
            <a:r>
              <a:rPr lang="es-419" sz="1600" dirty="0">
                <a:solidFill>
                  <a:srgbClr val="000000"/>
                </a:solidFill>
              </a:rPr>
              <a:t>Configurar un </a:t>
            </a:r>
            <a:r>
              <a:rPr lang="es-419" sz="1600" dirty="0" err="1">
                <a:solidFill>
                  <a:srgbClr val="000000"/>
                </a:solidFill>
              </a:rPr>
              <a:t>router</a:t>
            </a:r>
            <a:r>
              <a:rPr lang="es-419" sz="1600" dirty="0">
                <a:solidFill>
                  <a:srgbClr val="000000"/>
                </a:solidFill>
              </a:rPr>
              <a:t> como servidor de DHCP</a:t>
            </a:r>
          </a:p>
          <a:p>
            <a:pPr marL="342900" indent="-342900" algn="l" rtl="0">
              <a:buFont typeface="Arial" panose="020B0604020202020204" pitchFamily="34" charset="0"/>
              <a:buChar char="•"/>
            </a:pPr>
            <a:r>
              <a:rPr lang="es-419" sz="1600" b="1" dirty="0">
                <a:solidFill>
                  <a:srgbClr val="000000"/>
                </a:solidFill>
              </a:rPr>
              <a:t>Parte 2: </a:t>
            </a:r>
            <a:r>
              <a:rPr lang="es-419" sz="1600" dirty="0">
                <a:solidFill>
                  <a:srgbClr val="000000"/>
                </a:solidFill>
              </a:rPr>
              <a:t>Configurar la retransmisión de DHCP</a:t>
            </a:r>
          </a:p>
          <a:p>
            <a:pPr marL="342900" indent="-342900" algn="l" rtl="0">
              <a:buFont typeface="Arial" panose="020B0604020202020204" pitchFamily="34" charset="0"/>
              <a:buChar char="•"/>
            </a:pPr>
            <a:r>
              <a:rPr lang="es-419" sz="1600" b="1" dirty="0">
                <a:solidFill>
                  <a:srgbClr val="000000"/>
                </a:solidFill>
              </a:rPr>
              <a:t>Parte 3: </a:t>
            </a:r>
            <a:r>
              <a:rPr lang="es-419" sz="1600" dirty="0">
                <a:solidFill>
                  <a:srgbClr val="000000"/>
                </a:solidFill>
              </a:rPr>
              <a:t>Configurar un </a:t>
            </a:r>
            <a:r>
              <a:rPr lang="es-419" sz="1600" dirty="0" err="1">
                <a:solidFill>
                  <a:srgbClr val="000000"/>
                </a:solidFill>
              </a:rPr>
              <a:t>router</a:t>
            </a:r>
            <a:r>
              <a:rPr lang="es-419" sz="1600" dirty="0">
                <a:solidFill>
                  <a:srgbClr val="000000"/>
                </a:solidFill>
              </a:rPr>
              <a:t> como cliente DHCP</a:t>
            </a:r>
          </a:p>
          <a:p>
            <a:pPr marL="342900" indent="-342900" algn="l" rtl="0">
              <a:buFont typeface="Arial" panose="020B0604020202020204" pitchFamily="34" charset="0"/>
              <a:buChar char="•"/>
            </a:pPr>
            <a:r>
              <a:rPr lang="es-419" sz="1600" b="1" dirty="0">
                <a:solidFill>
                  <a:srgbClr val="000000"/>
                </a:solidFill>
              </a:rPr>
              <a:t>Parte 4: </a:t>
            </a:r>
            <a:r>
              <a:rPr lang="es-419" sz="1600" dirty="0">
                <a:solidFill>
                  <a:srgbClr val="000000"/>
                </a:solidFill>
              </a:rPr>
              <a:t>Verificar DHCP y la conectividad</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273642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7828" y="1873250"/>
            <a:ext cx="7848344" cy="1397000"/>
          </a:xfrm>
        </p:spPr>
        <p:txBody>
          <a:bodyPr/>
          <a:lstStyle/>
          <a:p>
            <a:pPr rtl="0"/>
            <a:r>
              <a:rPr lang="es-419" dirty="0">
                <a:solidFill>
                  <a:schemeClr val="accent5">
                    <a:lumMod val="40000"/>
                    <a:lumOff val="60000"/>
                  </a:schemeClr>
                </a:solidFill>
              </a:rPr>
              <a:t>7.3 Configurar un cliente DHCPv4</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Configurar un cliente DHCPv4</a:t>
            </a:r>
            <a:br>
              <a:rPr lang="en-US" dirty="0"/>
            </a:br>
            <a:r>
              <a:rPr lang="es-419" sz="2400" dirty="0" err="1"/>
              <a:t>Router</a:t>
            </a:r>
            <a:r>
              <a:rPr lang="es-419" sz="2400" dirty="0"/>
              <a:t> Cisco como cliente DHCPv4.</a:t>
            </a:r>
            <a:r>
              <a:rPr lang="es-CR" sz="2400" dirty="0"/>
              <a:t> </a:t>
            </a:r>
            <a:endParaRPr lang="es-419" sz="2400" dirty="0"/>
          </a:p>
        </p:txBody>
      </p:sp>
      <p:sp>
        <p:nvSpPr>
          <p:cNvPr id="4" name="Content Placeholder 3">
            <a:extLst>
              <a:ext uri="{FF2B5EF4-FFF2-40B4-BE49-F238E27FC236}">
                <a16:creationId xmlns:a16="http://schemas.microsoft.com/office/drawing/2014/main" id="{3AA97A66-55E7-4FFE-B490-8C78D35AE189}"/>
              </a:ext>
            </a:extLst>
          </p:cNvPr>
          <p:cNvSpPr>
            <a:spLocks noGrp="1"/>
          </p:cNvSpPr>
          <p:nvPr>
            <p:ph idx="1"/>
          </p:nvPr>
        </p:nvSpPr>
        <p:spPr>
          <a:xfrm>
            <a:off x="474662" y="731837"/>
            <a:ext cx="8280057" cy="2533877"/>
          </a:xfrm>
        </p:spPr>
        <p:txBody>
          <a:bodyPr/>
          <a:lstStyle/>
          <a:p>
            <a:pPr marL="0" indent="0" algn="l" rtl="0"/>
            <a:r>
              <a:rPr lang="es-419" sz="1400" dirty="0">
                <a:solidFill>
                  <a:srgbClr val="000000"/>
                </a:solidFill>
              </a:rPr>
              <a:t>Hay escenarios en los que puede tener acceso a un servidor DHCP a través de su ISP. En estos casos, puede configurar un </a:t>
            </a:r>
            <a:r>
              <a:rPr lang="es-419" sz="1400" dirty="0" err="1">
                <a:solidFill>
                  <a:srgbClr val="000000"/>
                </a:solidFill>
              </a:rPr>
              <a:t>router</a:t>
            </a:r>
            <a:r>
              <a:rPr lang="es-419" sz="1400" dirty="0">
                <a:solidFill>
                  <a:srgbClr val="000000"/>
                </a:solidFill>
              </a:rPr>
              <a:t> Cisco IOS como cliente DHCPv4. </a:t>
            </a:r>
          </a:p>
          <a:p>
            <a:pPr marL="342900" indent="-342900" algn="l" rtl="0">
              <a:buFont typeface="Arial" panose="020B0604020202020204" pitchFamily="34" charset="0"/>
              <a:buChar char="•"/>
            </a:pPr>
            <a:r>
              <a:rPr lang="es-419" sz="1400" dirty="0">
                <a:solidFill>
                  <a:srgbClr val="000000"/>
                </a:solidFill>
              </a:rPr>
              <a:t>En ocasiones, los </a:t>
            </a:r>
            <a:r>
              <a:rPr lang="es-419" sz="1400" dirty="0" err="1">
                <a:solidFill>
                  <a:srgbClr val="000000"/>
                </a:solidFill>
              </a:rPr>
              <a:t>routers</a:t>
            </a:r>
            <a:r>
              <a:rPr lang="es-419" sz="1400" dirty="0">
                <a:solidFill>
                  <a:srgbClr val="000000"/>
                </a:solidFill>
              </a:rPr>
              <a:t> Cisco en oficinas pequeñas y oficinas domésticas (SOHO) y en los sitios de sucursales deben configurarse como clientes DHCPv4 de manera similar a los equipos cliente. El método específico utilizado depende del ISP. Sin embargo, en su configuración más simple, se utiliza la interfaz Ethernet para conectarse a un cable módem o a un módem DSL.</a:t>
            </a:r>
          </a:p>
          <a:p>
            <a:pPr marL="342900" indent="-342900" algn="l" rtl="0">
              <a:buFont typeface="Arial" panose="020B0604020202020204" pitchFamily="34" charset="0"/>
              <a:buChar char="•"/>
            </a:pPr>
            <a:r>
              <a:rPr lang="es-419" sz="1400" dirty="0">
                <a:solidFill>
                  <a:srgbClr val="000000"/>
                </a:solidFill>
              </a:rPr>
              <a:t>Para configurar una interfaz Ethernet como cliente DHCP, utilice el comando del modo de configuración de interfaz </a:t>
            </a:r>
            <a:r>
              <a:rPr lang="es-419" sz="1400" b="1" dirty="0" err="1">
                <a:solidFill>
                  <a:srgbClr val="000000"/>
                </a:solidFill>
              </a:rPr>
              <a:t>ip</a:t>
            </a:r>
            <a:r>
              <a:rPr lang="es-419" sz="1400" b="1" dirty="0">
                <a:solidFill>
                  <a:srgbClr val="000000"/>
                </a:solidFill>
              </a:rPr>
              <a:t> </a:t>
            </a:r>
            <a:r>
              <a:rPr lang="es-419" sz="1400" b="1" dirty="0" err="1">
                <a:solidFill>
                  <a:srgbClr val="000000"/>
                </a:solidFill>
              </a:rPr>
              <a:t>address</a:t>
            </a:r>
            <a:r>
              <a:rPr lang="es-419" sz="1400" b="1" dirty="0">
                <a:solidFill>
                  <a:srgbClr val="000000"/>
                </a:solidFill>
              </a:rPr>
              <a:t> </a:t>
            </a:r>
            <a:r>
              <a:rPr lang="es-419" sz="1400" b="1" dirty="0" err="1">
                <a:solidFill>
                  <a:srgbClr val="000000"/>
                </a:solidFill>
              </a:rPr>
              <a:t>dhcp</a:t>
            </a:r>
            <a:r>
              <a:rPr lang="es-419" sz="1400" dirty="0">
                <a:solidFill>
                  <a:srgbClr val="000000"/>
                </a:solidFill>
              </a:rPr>
              <a:t>.</a:t>
            </a:r>
          </a:p>
          <a:p>
            <a:pPr marL="342900" indent="-342900" algn="l" rtl="0">
              <a:buFont typeface="Arial" panose="020B0604020202020204" pitchFamily="34" charset="0"/>
              <a:buChar char="•"/>
            </a:pPr>
            <a:r>
              <a:rPr lang="es-419" sz="1400" dirty="0">
                <a:solidFill>
                  <a:srgbClr val="000000"/>
                </a:solidFill>
              </a:rPr>
              <a:t>En la figura, suponga que un ISP ha sido configurado para proporcionar a clientes seleccionados direcciones IP del rango de red 209.165.201.0/27 después de que la interfaz G0/0/1 es configurada con el comando </a:t>
            </a:r>
            <a:r>
              <a:rPr lang="es-419" sz="1400" b="1" dirty="0" err="1">
                <a:solidFill>
                  <a:srgbClr val="000000"/>
                </a:solidFill>
              </a:rPr>
              <a:t>ip</a:t>
            </a:r>
            <a:r>
              <a:rPr lang="es-419" sz="1400" b="1" dirty="0">
                <a:solidFill>
                  <a:srgbClr val="000000"/>
                </a:solidFill>
              </a:rPr>
              <a:t> </a:t>
            </a:r>
            <a:r>
              <a:rPr lang="es-419" sz="1400" b="1" dirty="0" err="1">
                <a:solidFill>
                  <a:srgbClr val="000000"/>
                </a:solidFill>
              </a:rPr>
              <a:t>address</a:t>
            </a:r>
            <a:r>
              <a:rPr lang="es-419" sz="1400" b="1" dirty="0">
                <a:solidFill>
                  <a:srgbClr val="000000"/>
                </a:solidFill>
              </a:rPr>
              <a:t> </a:t>
            </a:r>
            <a:r>
              <a:rPr lang="es-419" sz="1400" b="1" dirty="0" err="1">
                <a:solidFill>
                  <a:srgbClr val="000000"/>
                </a:solidFill>
              </a:rPr>
              <a:t>dhcp</a:t>
            </a:r>
            <a:r>
              <a:rPr lang="es-419" sz="1400" dirty="0">
                <a:solidFill>
                  <a:srgbClr val="000000"/>
                </a:solidFill>
              </a:rPr>
              <a:t> .</a:t>
            </a:r>
          </a:p>
          <a:p>
            <a:pPr marL="342900" indent="-342900" algn="l">
              <a:buFont typeface="Arial" panose="020B0604020202020204" pitchFamily="34" charset="0"/>
              <a:buChar char="•"/>
            </a:pPr>
            <a:endParaRPr lang="en-US" sz="1200" dirty="0">
              <a:solidFill>
                <a:srgbClr val="000000"/>
              </a:solidFill>
            </a:endParaRPr>
          </a:p>
        </p:txBody>
      </p:sp>
      <p:pic>
        <p:nvPicPr>
          <p:cNvPr id="2" name="Picture 1">
            <a:extLst>
              <a:ext uri="{FF2B5EF4-FFF2-40B4-BE49-F238E27FC236}">
                <a16:creationId xmlns:a16="http://schemas.microsoft.com/office/drawing/2014/main" id="{0E35BA5D-F27E-4FFB-B005-BEF1BC520951}"/>
              </a:ext>
            </a:extLst>
          </p:cNvPr>
          <p:cNvPicPr>
            <a:picLocks noChangeAspect="1"/>
          </p:cNvPicPr>
          <p:nvPr/>
        </p:nvPicPr>
        <p:blipFill>
          <a:blip r:embed="rId4"/>
          <a:stretch>
            <a:fillRect/>
          </a:stretch>
        </p:blipFill>
        <p:spPr>
          <a:xfrm>
            <a:off x="1219027" y="3464519"/>
            <a:ext cx="6791325" cy="1200150"/>
          </a:xfrm>
          <a:prstGeom prst="rect">
            <a:avLst/>
          </a:prstGeom>
        </p:spPr>
      </p:pic>
    </p:spTree>
    <p:custDataLst>
      <p:tags r:id="rId1"/>
    </p:custDataLst>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Configurar un cliente DHCPv4</a:t>
            </a:r>
            <a:br>
              <a:rPr lang="es-419" sz="1600" dirty="0"/>
            </a:br>
            <a:r>
              <a:rPr lang="es-CR" sz="2400" dirty="0"/>
              <a:t>Ejemplo de Configuración de Cliente DHCPv4</a:t>
            </a:r>
            <a:endParaRPr lang="es-419" sz="1600" dirty="0"/>
          </a:p>
        </p:txBody>
      </p:sp>
      <p:sp>
        <p:nvSpPr>
          <p:cNvPr id="6" name="Content Placeholder 5">
            <a:extLst>
              <a:ext uri="{FF2B5EF4-FFF2-40B4-BE49-F238E27FC236}">
                <a16:creationId xmlns:a16="http://schemas.microsoft.com/office/drawing/2014/main" id="{B5DCDAED-929A-4A10-9785-D92ED0BA4D22}"/>
              </a:ext>
            </a:extLst>
          </p:cNvPr>
          <p:cNvSpPr>
            <a:spLocks noGrp="1"/>
          </p:cNvSpPr>
          <p:nvPr>
            <p:ph idx="1"/>
          </p:nvPr>
        </p:nvSpPr>
        <p:spPr>
          <a:xfrm>
            <a:off x="0" y="731837"/>
            <a:ext cx="8754719" cy="1201239"/>
          </a:xfrm>
        </p:spPr>
        <p:txBody>
          <a:bodyPr/>
          <a:lstStyle/>
          <a:p>
            <a:pPr marL="171450" indent="-171450" algn="l" rtl="0">
              <a:buFont typeface="Arial" panose="020B0604020202020204" pitchFamily="34" charset="0"/>
              <a:buChar char="•"/>
            </a:pPr>
            <a:r>
              <a:rPr lang="es-419" sz="1400" dirty="0">
                <a:solidFill>
                  <a:srgbClr val="000000"/>
                </a:solidFill>
              </a:rPr>
              <a:t>Para configurar una interfaz Ethernet como cliente DHCP, utilice comando del modo de configuración de interfaz </a:t>
            </a:r>
            <a:r>
              <a:rPr lang="es-419" sz="1400" b="1" dirty="0" err="1">
                <a:solidFill>
                  <a:srgbClr val="000000"/>
                </a:solidFill>
              </a:rPr>
              <a:t>ip</a:t>
            </a:r>
            <a:r>
              <a:rPr lang="es-419" sz="1400" b="1" dirty="0">
                <a:solidFill>
                  <a:srgbClr val="000000"/>
                </a:solidFill>
              </a:rPr>
              <a:t> </a:t>
            </a:r>
            <a:r>
              <a:rPr lang="es-419" sz="1400" b="1" dirty="0" err="1">
                <a:solidFill>
                  <a:srgbClr val="000000"/>
                </a:solidFill>
              </a:rPr>
              <a:t>address</a:t>
            </a:r>
            <a:r>
              <a:rPr lang="es-419" sz="1400" b="1" dirty="0">
                <a:solidFill>
                  <a:srgbClr val="000000"/>
                </a:solidFill>
              </a:rPr>
              <a:t> </a:t>
            </a:r>
            <a:r>
              <a:rPr lang="es-419" sz="1400" b="1" dirty="0" err="1">
                <a:solidFill>
                  <a:srgbClr val="000000"/>
                </a:solidFill>
              </a:rPr>
              <a:t>dhcp</a:t>
            </a:r>
            <a:r>
              <a:rPr lang="es-419" sz="1400" dirty="0">
                <a:solidFill>
                  <a:srgbClr val="000000"/>
                </a:solidFill>
              </a:rPr>
              <a:t> como se muestra en el ejemplo. Esta configuración supone que el ISP se ha configurado para proporcionar a los clientes seleccionados información de direcciones IPv4.</a:t>
            </a:r>
          </a:p>
          <a:p>
            <a:pPr marL="171450" indent="-171450" algn="l" rtl="0">
              <a:buFont typeface="Arial" panose="020B0604020202020204" pitchFamily="34" charset="0"/>
              <a:buChar char="•"/>
            </a:pPr>
            <a:r>
              <a:rPr lang="es-419" sz="1400" dirty="0">
                <a:solidFill>
                  <a:srgbClr val="000000"/>
                </a:solidFill>
              </a:rPr>
              <a:t>El comando </a:t>
            </a:r>
            <a:r>
              <a:rPr lang="es-419" sz="1400" b="1" dirty="0">
                <a:solidFill>
                  <a:srgbClr val="000000"/>
                </a:solidFill>
              </a:rPr>
              <a:t>show </a:t>
            </a:r>
            <a:r>
              <a:rPr lang="es-419" sz="1400" b="1" dirty="0" err="1">
                <a:solidFill>
                  <a:srgbClr val="000000"/>
                </a:solidFill>
              </a:rPr>
              <a:t>ip</a:t>
            </a:r>
            <a:r>
              <a:rPr lang="es-419" sz="1400" b="1" dirty="0">
                <a:solidFill>
                  <a:srgbClr val="000000"/>
                </a:solidFill>
              </a:rPr>
              <a:t> interface g0/1</a:t>
            </a:r>
            <a:r>
              <a:rPr lang="es-419" sz="1400" dirty="0">
                <a:solidFill>
                  <a:srgbClr val="000000"/>
                </a:solidFill>
              </a:rPr>
              <a:t> confirma que la interfaz está activa y que la dirección fue asignada por un servidor DHCPv4.</a:t>
            </a:r>
          </a:p>
        </p:txBody>
      </p:sp>
      <p:pic>
        <p:nvPicPr>
          <p:cNvPr id="7" name="Picture 6">
            <a:extLst>
              <a:ext uri="{FF2B5EF4-FFF2-40B4-BE49-F238E27FC236}">
                <a16:creationId xmlns:a16="http://schemas.microsoft.com/office/drawing/2014/main" id="{DEFC3214-9974-429A-A241-99DBB05E34CC}"/>
              </a:ext>
            </a:extLst>
          </p:cNvPr>
          <p:cNvPicPr>
            <a:picLocks noChangeAspect="1"/>
          </p:cNvPicPr>
          <p:nvPr/>
        </p:nvPicPr>
        <p:blipFill>
          <a:blip r:embed="rId4"/>
          <a:stretch>
            <a:fillRect/>
          </a:stretch>
        </p:blipFill>
        <p:spPr>
          <a:xfrm>
            <a:off x="552450" y="2034835"/>
            <a:ext cx="8020050" cy="1314450"/>
          </a:xfrm>
          <a:prstGeom prst="rect">
            <a:avLst/>
          </a:prstGeom>
        </p:spPr>
      </p:pic>
      <p:pic>
        <p:nvPicPr>
          <p:cNvPr id="8" name="Picture 7">
            <a:extLst>
              <a:ext uri="{FF2B5EF4-FFF2-40B4-BE49-F238E27FC236}">
                <a16:creationId xmlns:a16="http://schemas.microsoft.com/office/drawing/2014/main" id="{8F4168D1-B952-46D6-889F-A461B115FE3B}"/>
              </a:ext>
            </a:extLst>
          </p:cNvPr>
          <p:cNvPicPr>
            <a:picLocks noChangeAspect="1"/>
          </p:cNvPicPr>
          <p:nvPr/>
        </p:nvPicPr>
        <p:blipFill>
          <a:blip r:embed="rId5"/>
          <a:stretch>
            <a:fillRect/>
          </a:stretch>
        </p:blipFill>
        <p:spPr>
          <a:xfrm>
            <a:off x="561975" y="3236074"/>
            <a:ext cx="8029575" cy="1533525"/>
          </a:xfrm>
          <a:prstGeom prst="rect">
            <a:avLst/>
          </a:prstGeom>
        </p:spPr>
      </p:pic>
    </p:spTree>
    <p:custDataLst>
      <p:tags r:id="rId1"/>
    </p:custDataLst>
    <p:extLst>
      <p:ext uri="{BB962C8B-B14F-4D97-AF65-F5344CB8AC3E}">
        <p14:creationId xmlns:p14="http://schemas.microsoft.com/office/powerpoint/2010/main" val="264249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Configurar un cliente DHCPv4</a:t>
            </a:r>
            <a:br>
              <a:rPr lang="en-US" dirty="0"/>
            </a:br>
            <a:r>
              <a:rPr lang="es-419" sz="2400" dirty="0" err="1"/>
              <a:t>Router</a:t>
            </a:r>
            <a:r>
              <a:rPr lang="es-419" sz="2400" dirty="0"/>
              <a:t> Cisco como cliente DHCPv4.</a:t>
            </a:r>
          </a:p>
        </p:txBody>
      </p:sp>
      <p:sp>
        <p:nvSpPr>
          <p:cNvPr id="4" name="Content Placeholder 3">
            <a:extLst>
              <a:ext uri="{FF2B5EF4-FFF2-40B4-BE49-F238E27FC236}">
                <a16:creationId xmlns:a16="http://schemas.microsoft.com/office/drawing/2014/main" id="{F43964A3-7F8F-402C-AE56-0FE1A364CBBE}"/>
              </a:ext>
            </a:extLst>
          </p:cNvPr>
          <p:cNvSpPr>
            <a:spLocks noGrp="1"/>
          </p:cNvSpPr>
          <p:nvPr>
            <p:ph idx="1"/>
          </p:nvPr>
        </p:nvSpPr>
        <p:spPr>
          <a:xfrm>
            <a:off x="121920" y="731838"/>
            <a:ext cx="8632799" cy="1750106"/>
          </a:xfrm>
        </p:spPr>
        <p:txBody>
          <a:bodyPr/>
          <a:lstStyle/>
          <a:p>
            <a:pPr marL="0" indent="0" algn="l" rtl="0"/>
            <a:r>
              <a:rPr lang="es-419" sz="1500" dirty="0">
                <a:solidFill>
                  <a:srgbClr val="000000"/>
                </a:solidFill>
              </a:rPr>
              <a:t>Los </a:t>
            </a:r>
            <a:r>
              <a:rPr lang="es-419" sz="1500" dirty="0" err="1">
                <a:solidFill>
                  <a:srgbClr val="000000"/>
                </a:solidFill>
              </a:rPr>
              <a:t>routers</a:t>
            </a:r>
            <a:r>
              <a:rPr lang="es-419" sz="1500" dirty="0">
                <a:solidFill>
                  <a:srgbClr val="000000"/>
                </a:solidFill>
              </a:rPr>
              <a:t> de los hogares se configuran para recibir información de asignación de dirección IPv4 automáticamente desde el ISP. Esto es para que los clientes puedan configurar fácilmente el enrutador y conectarse a Internet.</a:t>
            </a:r>
          </a:p>
          <a:p>
            <a:pPr algn="l" rtl="0">
              <a:buFont typeface="Arial" panose="020B0604020202020204" pitchFamily="34" charset="0"/>
              <a:buChar char="•"/>
            </a:pPr>
            <a:r>
              <a:rPr lang="es-419" sz="1500" dirty="0">
                <a:solidFill>
                  <a:srgbClr val="000000"/>
                </a:solidFill>
              </a:rPr>
              <a:t>Por ejemplo, en la ilustración se muestra la página de configuración de WAN predeterminada para un </a:t>
            </a:r>
            <a:r>
              <a:rPr lang="es-419" sz="1500" dirty="0" err="1">
                <a:solidFill>
                  <a:srgbClr val="000000"/>
                </a:solidFill>
              </a:rPr>
              <a:t>router</a:t>
            </a:r>
            <a:r>
              <a:rPr lang="es-419" sz="1500" dirty="0">
                <a:solidFill>
                  <a:srgbClr val="000000"/>
                </a:solidFill>
              </a:rPr>
              <a:t> inalámbrico de </a:t>
            </a:r>
            <a:r>
              <a:rPr lang="es-419" sz="1500" dirty="0" err="1">
                <a:solidFill>
                  <a:srgbClr val="000000"/>
                </a:solidFill>
              </a:rPr>
              <a:t>Packet</a:t>
            </a:r>
            <a:r>
              <a:rPr lang="es-419" sz="1500" dirty="0">
                <a:solidFill>
                  <a:srgbClr val="000000"/>
                </a:solidFill>
              </a:rPr>
              <a:t> </a:t>
            </a:r>
            <a:r>
              <a:rPr lang="es-419" sz="1500" dirty="0" err="1">
                <a:solidFill>
                  <a:srgbClr val="000000"/>
                </a:solidFill>
              </a:rPr>
              <a:t>Tracer</a:t>
            </a:r>
            <a:r>
              <a:rPr lang="es-419" sz="1500" dirty="0">
                <a:solidFill>
                  <a:srgbClr val="000000"/>
                </a:solidFill>
              </a:rPr>
              <a:t>. </a:t>
            </a:r>
            <a:r>
              <a:rPr lang="es-419" sz="1500" dirty="0" err="1">
                <a:solidFill>
                  <a:srgbClr val="000000"/>
                </a:solidFill>
              </a:rPr>
              <a:t>Notice</a:t>
            </a:r>
            <a:r>
              <a:rPr lang="es-419" sz="1500" dirty="0">
                <a:solidFill>
                  <a:srgbClr val="000000"/>
                </a:solidFill>
              </a:rPr>
              <a:t> </a:t>
            </a:r>
            <a:r>
              <a:rPr lang="es-419" sz="1500" dirty="0" err="1">
                <a:solidFill>
                  <a:srgbClr val="000000"/>
                </a:solidFill>
              </a:rPr>
              <a:t>that</a:t>
            </a:r>
            <a:r>
              <a:rPr lang="es-419" sz="1500" dirty="0">
                <a:solidFill>
                  <a:srgbClr val="000000"/>
                </a:solidFill>
              </a:rPr>
              <a:t> </a:t>
            </a:r>
            <a:r>
              <a:rPr lang="es-419" sz="1500" dirty="0" err="1">
                <a:solidFill>
                  <a:srgbClr val="000000"/>
                </a:solidFill>
              </a:rPr>
              <a:t>the</a:t>
            </a:r>
            <a:r>
              <a:rPr lang="es-419" sz="1500" dirty="0">
                <a:solidFill>
                  <a:srgbClr val="000000"/>
                </a:solidFill>
              </a:rPr>
              <a:t> internet </a:t>
            </a:r>
            <a:r>
              <a:rPr lang="es-419" sz="1500" dirty="0" err="1">
                <a:solidFill>
                  <a:srgbClr val="000000"/>
                </a:solidFill>
              </a:rPr>
              <a:t>connection</a:t>
            </a:r>
            <a:r>
              <a:rPr lang="es-419" sz="1500" dirty="0">
                <a:solidFill>
                  <a:srgbClr val="000000"/>
                </a:solidFill>
              </a:rPr>
              <a:t> </a:t>
            </a:r>
            <a:r>
              <a:rPr lang="es-419" sz="1500" dirty="0" err="1">
                <a:solidFill>
                  <a:srgbClr val="000000"/>
                </a:solidFill>
              </a:rPr>
              <a:t>type</a:t>
            </a:r>
            <a:r>
              <a:rPr lang="es-419" sz="1500" dirty="0">
                <a:solidFill>
                  <a:srgbClr val="000000"/>
                </a:solidFill>
              </a:rPr>
              <a:t> </a:t>
            </a:r>
            <a:r>
              <a:rPr lang="es-419" sz="1500" dirty="0" err="1">
                <a:solidFill>
                  <a:srgbClr val="000000"/>
                </a:solidFill>
              </a:rPr>
              <a:t>is</a:t>
            </a:r>
            <a:r>
              <a:rPr lang="es-419" sz="1500" dirty="0">
                <a:solidFill>
                  <a:srgbClr val="000000"/>
                </a:solidFill>
              </a:rPr>
              <a:t> set </a:t>
            </a:r>
            <a:r>
              <a:rPr lang="es-419" sz="1500" dirty="0" err="1">
                <a:solidFill>
                  <a:srgbClr val="000000"/>
                </a:solidFill>
              </a:rPr>
              <a:t>to</a:t>
            </a:r>
            <a:r>
              <a:rPr lang="es-419" sz="1500" dirty="0">
                <a:solidFill>
                  <a:srgbClr val="000000"/>
                </a:solidFill>
              </a:rPr>
              <a:t> </a:t>
            </a:r>
            <a:r>
              <a:rPr lang="es-419" sz="1500" b="1" dirty="0" err="1">
                <a:solidFill>
                  <a:srgbClr val="000000"/>
                </a:solidFill>
              </a:rPr>
              <a:t>Automatic</a:t>
            </a:r>
            <a:r>
              <a:rPr lang="es-419" sz="1500" b="1" dirty="0">
                <a:solidFill>
                  <a:srgbClr val="000000"/>
                </a:solidFill>
              </a:rPr>
              <a:t> </a:t>
            </a:r>
            <a:r>
              <a:rPr lang="es-419" sz="1500" b="1" dirty="0" err="1">
                <a:solidFill>
                  <a:srgbClr val="000000"/>
                </a:solidFill>
              </a:rPr>
              <a:t>Configuration</a:t>
            </a:r>
            <a:r>
              <a:rPr lang="es-419" sz="1500" b="1" dirty="0">
                <a:solidFill>
                  <a:srgbClr val="000000"/>
                </a:solidFill>
              </a:rPr>
              <a:t> - DHCP</a:t>
            </a:r>
            <a:r>
              <a:rPr lang="es-419" sz="1500" dirty="0">
                <a:solidFill>
                  <a:srgbClr val="000000"/>
                </a:solidFill>
              </a:rPr>
              <a:t>. Se utiliza esta selección cuando el </a:t>
            </a:r>
            <a:r>
              <a:rPr lang="es-419" sz="1500" dirty="0" err="1">
                <a:solidFill>
                  <a:srgbClr val="000000"/>
                </a:solidFill>
              </a:rPr>
              <a:t>router</a:t>
            </a:r>
            <a:r>
              <a:rPr lang="es-419" sz="1500" dirty="0">
                <a:solidFill>
                  <a:srgbClr val="000000"/>
                </a:solidFill>
              </a:rPr>
              <a:t> se conecta a un cable módem o DSL y actúa como cliente DHCPv4 y solicita una dirección IPv4 del ISP.</a:t>
            </a:r>
          </a:p>
          <a:p>
            <a:pPr algn="l" rtl="0">
              <a:buFont typeface="Arial" panose="020B0604020202020204" pitchFamily="34" charset="0"/>
              <a:buChar char="•"/>
            </a:pPr>
            <a:r>
              <a:rPr lang="es-419" sz="1500" dirty="0">
                <a:solidFill>
                  <a:srgbClr val="000000"/>
                </a:solidFill>
              </a:rPr>
              <a:t>Varios fabricantes de enrutadores domésticos tendrán una configuración similar.</a:t>
            </a:r>
          </a:p>
          <a:p>
            <a:pPr marL="0" indent="0" algn="l"/>
            <a:br>
              <a:rPr lang="en-US" sz="1200" dirty="0">
                <a:solidFill>
                  <a:srgbClr val="000000"/>
                </a:solidFill>
              </a:rPr>
            </a:br>
            <a:endParaRPr lang="en-US" sz="1200" dirty="0">
              <a:solidFill>
                <a:srgbClr val="000000"/>
              </a:solidFill>
            </a:endParaRPr>
          </a:p>
        </p:txBody>
      </p:sp>
      <p:pic>
        <p:nvPicPr>
          <p:cNvPr id="5" name="Picture 4">
            <a:extLst>
              <a:ext uri="{FF2B5EF4-FFF2-40B4-BE49-F238E27FC236}">
                <a16:creationId xmlns:a16="http://schemas.microsoft.com/office/drawing/2014/main" id="{2860344C-FEBC-4700-AA2F-1A8E84416EF9}"/>
              </a:ext>
            </a:extLst>
          </p:cNvPr>
          <p:cNvPicPr>
            <a:picLocks noChangeAspect="1"/>
          </p:cNvPicPr>
          <p:nvPr/>
        </p:nvPicPr>
        <p:blipFill>
          <a:blip r:embed="rId4"/>
          <a:stretch>
            <a:fillRect/>
          </a:stretch>
        </p:blipFill>
        <p:spPr>
          <a:xfrm>
            <a:off x="1866538" y="2806386"/>
            <a:ext cx="5410924" cy="2239686"/>
          </a:xfrm>
          <a:prstGeom prst="rect">
            <a:avLst/>
          </a:prstGeom>
        </p:spPr>
      </p:pic>
    </p:spTree>
    <p:custDataLst>
      <p:tags r:id="rId1"/>
    </p:custDataLst>
    <p:extLst>
      <p:ext uri="{BB962C8B-B14F-4D97-AF65-F5344CB8AC3E}">
        <p14:creationId xmlns:p14="http://schemas.microsoft.com/office/powerpoint/2010/main" val="58035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1843" y="1887104"/>
            <a:ext cx="8280314" cy="1369291"/>
          </a:xfrm>
        </p:spPr>
        <p:txBody>
          <a:bodyPr/>
          <a:lstStyle/>
          <a:p>
            <a:pPr rtl="0"/>
            <a:r>
              <a:rPr lang="es-419" dirty="0">
                <a:solidFill>
                  <a:schemeClr val="accent5">
                    <a:lumMod val="40000"/>
                    <a:lumOff val="60000"/>
                  </a:schemeClr>
                </a:solidFill>
              </a:rPr>
              <a:t>7.4 - Módulo de práctica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0"/>
            <a:ext cx="9144000" cy="1173018"/>
          </a:xfrm>
        </p:spPr>
        <p:txBody>
          <a:bodyPr/>
          <a:lstStyle/>
          <a:p>
            <a:r>
              <a:rPr lang="es-CR" sz="1400" dirty="0">
                <a:latin typeface="Arial" charset="0"/>
              </a:rPr>
              <a:t>Módulo de práctica y cuestionario</a:t>
            </a:r>
            <a:br>
              <a:rPr lang="en-US" dirty="0">
                <a:latin typeface="Arial" charset="0"/>
              </a:rPr>
            </a:br>
            <a:r>
              <a:rPr lang="es-419" dirty="0">
                <a:latin typeface="Arial" charset="0"/>
              </a:rPr>
              <a:t>Laboratorio de Quiz — Implementar DHCPv4</a:t>
            </a:r>
          </a:p>
        </p:txBody>
      </p:sp>
      <p:sp>
        <p:nvSpPr>
          <p:cNvPr id="2" name="Content Placeholder 1">
            <a:extLst>
              <a:ext uri="{FF2B5EF4-FFF2-40B4-BE49-F238E27FC236}">
                <a16:creationId xmlns:a16="http://schemas.microsoft.com/office/drawing/2014/main" id="{999B7154-C13C-42B3-B8CB-E7FB157BAF51}"/>
              </a:ext>
            </a:extLst>
          </p:cNvPr>
          <p:cNvSpPr>
            <a:spLocks noGrp="1"/>
          </p:cNvSpPr>
          <p:nvPr>
            <p:ph idx="1"/>
          </p:nvPr>
        </p:nvSpPr>
        <p:spPr/>
        <p:txBody>
          <a:bodyPr/>
          <a:lstStyle/>
          <a:p>
            <a:pPr marL="0" indent="0" rtl="0">
              <a:buNone/>
            </a:pPr>
            <a:endParaRPr lang="es-419" dirty="0"/>
          </a:p>
          <a:p>
            <a:pPr marL="0" indent="0" rtl="0">
              <a:buNone/>
            </a:pPr>
            <a:r>
              <a:rPr lang="es-419" sz="1800" dirty="0"/>
              <a:t>En esta práctica de laboratorio se cumplirán los siguientes objetivos:</a:t>
            </a:r>
          </a:p>
          <a:p>
            <a:pPr rtl="0"/>
            <a:r>
              <a:rPr lang="es-419" sz="1800" b="1" dirty="0"/>
              <a:t>Parte 1: </a:t>
            </a:r>
            <a:r>
              <a:rPr lang="es-419" sz="1800" dirty="0"/>
              <a:t>armar la red y configurar los parámetros básicos de los dispositivos</a:t>
            </a:r>
          </a:p>
          <a:p>
            <a:pPr rtl="0"/>
            <a:r>
              <a:rPr lang="es-419" sz="1800" b="1" dirty="0"/>
              <a:t>Parte 2: </a:t>
            </a:r>
            <a:r>
              <a:rPr lang="es-419" sz="1800" dirty="0"/>
              <a:t>Configurar y verificar dos servidores DHCPv4 en R1</a:t>
            </a:r>
          </a:p>
          <a:p>
            <a:pPr rtl="0"/>
            <a:r>
              <a:rPr lang="es-419" sz="1800" b="1" dirty="0"/>
              <a:t>Parte 3: </a:t>
            </a:r>
            <a:r>
              <a:rPr lang="es-419" sz="1800" dirty="0"/>
              <a:t>Configurar y verificar una retransmisión DHCP en R2</a:t>
            </a:r>
          </a:p>
          <a:p>
            <a:endParaRPr lang="en-US" dirty="0"/>
          </a:p>
        </p:txBody>
      </p:sp>
    </p:spTree>
    <p:custDataLst>
      <p:tags r:id="rId1"/>
    </p:custDataLst>
    <p:extLst>
      <p:ext uri="{BB962C8B-B14F-4D97-AF65-F5344CB8AC3E}">
        <p14:creationId xmlns:p14="http://schemas.microsoft.com/office/powerpoint/2010/main" val="2123383469"/>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s-CR" sz="1400" dirty="0">
                <a:latin typeface="Arial" charset="0"/>
              </a:rPr>
              <a:t>Módulo de práctica y cuestionario</a:t>
            </a:r>
            <a:br>
              <a:rPr lang="en-US" dirty="0">
                <a:latin typeface="Arial" charset="0"/>
              </a:rPr>
            </a:br>
            <a:r>
              <a:rPr lang="es-419" dirty="0">
                <a:latin typeface="Arial" charset="0"/>
              </a:rPr>
              <a:t>¿Qué aprendí en este módulo?</a:t>
            </a:r>
          </a:p>
        </p:txBody>
      </p:sp>
      <p:sp>
        <p:nvSpPr>
          <p:cNvPr id="2" name="Content Placeholder 1">
            <a:extLst>
              <a:ext uri="{FF2B5EF4-FFF2-40B4-BE49-F238E27FC236}">
                <a16:creationId xmlns:a16="http://schemas.microsoft.com/office/drawing/2014/main" id="{13F29080-AAB4-4292-A230-784A1845CD7F}"/>
              </a:ext>
            </a:extLst>
          </p:cNvPr>
          <p:cNvSpPr>
            <a:spLocks noGrp="1"/>
          </p:cNvSpPr>
          <p:nvPr>
            <p:ph idx="1"/>
          </p:nvPr>
        </p:nvSpPr>
        <p:spPr/>
        <p:txBody>
          <a:bodyPr/>
          <a:lstStyle/>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El servidor DHCPv4 asigna dinámicamente, o arrienda, una dirección IPv4, a un cliente, de un conjunto de direcciones durante un período limitado elegido por el servidor o hasta que el cliente ya no necesite la dirección.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El proceso de concesión DHCPv4 comienza con el cliente que envía el mensaje solicitando los servicios de un servidor DHCP. Si hay un servidor DHCPv4 que recibe el mensaje, responderá con una dirección IPv4 y otra información de configuración de red posible.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El cliente debe ponerse en contacto con el servidor de DHCP periódicamente para extender el arrendamiento. Este mecanismo de arrendamiento asegura que los clientes que se trasladan o se desconectan no mantengan las direcciones que ya no necesitan. </a:t>
            </a:r>
          </a:p>
          <a:p>
            <a:pPr rtl="0">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Cuando el cliente arranca (o quiere unirse a una red), comienza un proceso de cuatro pasos para obtener un arrendamiento: DHCPDISCOVER, luego DHCPOFFER, luego DHCPREQUEST y finalmente DHCPACK. Antes de la expiración de la concesión, el cliente inicia un proceso de dos pasos para renovar la concesión con el servidor DHCPv4: DHCPREQUEST y luego DHCPACK.</a:t>
            </a:r>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0" y="0"/>
            <a:ext cx="9144000" cy="1025236"/>
          </a:xfrm>
        </p:spPr>
        <p:txBody>
          <a:bodyPr/>
          <a:lstStyle/>
          <a:p>
            <a:r>
              <a:rPr lang="es-CR" sz="1400" dirty="0">
                <a:latin typeface="Arial" charset="0"/>
              </a:rPr>
              <a:t>Módulo de práctica y cuestionario</a:t>
            </a:r>
            <a:br>
              <a:rPr lang="en-US" dirty="0">
                <a:latin typeface="Arial" charset="0"/>
              </a:rPr>
            </a:br>
            <a:r>
              <a:rPr lang="es-419" dirty="0">
                <a:latin typeface="Arial" charset="0"/>
              </a:rPr>
              <a:t> ¿Qué aprendí en este módulo? (continuación)</a:t>
            </a:r>
          </a:p>
        </p:txBody>
      </p:sp>
      <p:sp>
        <p:nvSpPr>
          <p:cNvPr id="2" name="Content Placeholder 1">
            <a:extLst>
              <a:ext uri="{FF2B5EF4-FFF2-40B4-BE49-F238E27FC236}">
                <a16:creationId xmlns:a16="http://schemas.microsoft.com/office/drawing/2014/main" id="{13F29080-AAB4-4292-A230-784A1845CD7F}"/>
              </a:ext>
            </a:extLst>
          </p:cNvPr>
          <p:cNvSpPr>
            <a:spLocks noGrp="1"/>
          </p:cNvSpPr>
          <p:nvPr>
            <p:ph idx="1"/>
          </p:nvPr>
        </p:nvSpPr>
        <p:spPr>
          <a:xfrm>
            <a:off x="0" y="722812"/>
            <a:ext cx="9143999" cy="4231452"/>
          </a:xfrm>
        </p:spPr>
        <p:txBody>
          <a:bodyPr/>
          <a:lstStyle/>
          <a:p>
            <a:pPr>
              <a:spcBef>
                <a:spcPts val="0"/>
              </a:spcBef>
              <a:spcAft>
                <a:spcPts val="0"/>
              </a:spcAft>
              <a:buFont typeface="Arial" panose="020B0604020202020204" pitchFamily="34" charset="0"/>
              <a:buChar char="•"/>
            </a:pPr>
            <a:endParaRPr lang="es-419" sz="1400" dirty="0"/>
          </a:p>
          <a:p>
            <a:pPr>
              <a:spcBef>
                <a:spcPts val="0"/>
              </a:spcBef>
              <a:spcAft>
                <a:spcPts val="0"/>
              </a:spcAft>
              <a:buFont typeface="Arial" panose="020B0604020202020204" pitchFamily="34" charset="0"/>
              <a:buChar char="•"/>
            </a:pPr>
            <a:r>
              <a:rPr lang="es-419" sz="1400" dirty="0"/>
              <a:t>Un </a:t>
            </a:r>
            <a:r>
              <a:rPr lang="es-419" sz="1400" dirty="0" err="1"/>
              <a:t>router</a:t>
            </a:r>
            <a:r>
              <a:rPr lang="es-419" sz="1400" dirty="0"/>
              <a:t> Cisco que ejecuta el software IOS de Cisco puede configurarse para que funcione como servidor de DHCPv4. </a:t>
            </a:r>
          </a:p>
          <a:p>
            <a:pPr>
              <a:spcBef>
                <a:spcPts val="0"/>
              </a:spcBef>
              <a:spcAft>
                <a:spcPts val="0"/>
              </a:spcAft>
              <a:buFont typeface="Arial" panose="020B0604020202020204" pitchFamily="34" charset="0"/>
              <a:buChar char="•"/>
            </a:pPr>
            <a:endParaRPr lang="es-419" sz="1400" dirty="0"/>
          </a:p>
          <a:p>
            <a:pPr>
              <a:spcBef>
                <a:spcPts val="0"/>
              </a:spcBef>
              <a:spcAft>
                <a:spcPts val="0"/>
              </a:spcAft>
              <a:buFont typeface="Arial" panose="020B0604020202020204" pitchFamily="34" charset="0"/>
              <a:buChar char="•"/>
            </a:pPr>
            <a:r>
              <a:rPr lang="es-419" sz="1400" dirty="0"/>
              <a:t>Siga los pasos siguientes para configurar un servidor DHCPv4 del IOS de Cisco: excluir direcciones IPv4, definir un nombre de grupo DHCPv4 y configurar el grupo DHCPv4. </a:t>
            </a:r>
          </a:p>
          <a:p>
            <a:pPr>
              <a:spcBef>
                <a:spcPts val="0"/>
              </a:spcBef>
              <a:spcAft>
                <a:spcPts val="0"/>
              </a:spcAft>
              <a:buFont typeface="Arial" panose="020B0604020202020204" pitchFamily="34" charset="0"/>
              <a:buChar char="•"/>
            </a:pPr>
            <a:endParaRPr lang="es-419" sz="1400" dirty="0"/>
          </a:p>
          <a:p>
            <a:pPr>
              <a:spcBef>
                <a:spcPts val="0"/>
              </a:spcBef>
              <a:spcAft>
                <a:spcPts val="0"/>
              </a:spcAft>
              <a:buFont typeface="Arial" panose="020B0604020202020204" pitchFamily="34" charset="0"/>
              <a:buChar char="•"/>
            </a:pPr>
            <a:r>
              <a:rPr lang="es-419" sz="1400" dirty="0"/>
              <a:t>Verifique su configuración utilizando los comandos </a:t>
            </a:r>
            <a:r>
              <a:rPr lang="es-419" sz="1400" b="1" dirty="0"/>
              <a:t>show running-</a:t>
            </a:r>
            <a:r>
              <a:rPr lang="es-419" sz="1400" b="1" dirty="0" err="1"/>
              <a:t>config</a:t>
            </a:r>
            <a:r>
              <a:rPr lang="es-419" sz="1400" b="1" dirty="0"/>
              <a:t> | </a:t>
            </a:r>
            <a:r>
              <a:rPr lang="es-419" sz="1400" b="1" dirty="0" err="1"/>
              <a:t>section</a:t>
            </a:r>
            <a:r>
              <a:rPr lang="es-419" sz="1400" b="1" dirty="0"/>
              <a:t> </a:t>
            </a:r>
            <a:r>
              <a:rPr lang="es-419" sz="1400" b="1" dirty="0" err="1"/>
              <a:t>dhcp</a:t>
            </a:r>
            <a:r>
              <a:rPr lang="es-419" sz="1400" dirty="0"/>
              <a:t>, </a:t>
            </a:r>
            <a:r>
              <a:rPr lang="es-419" sz="1400" b="1" dirty="0"/>
              <a:t>show </a:t>
            </a:r>
            <a:r>
              <a:rPr lang="es-419" sz="1400" b="1" dirty="0" err="1"/>
              <a:t>ip</a:t>
            </a:r>
            <a:r>
              <a:rPr lang="es-419" sz="1400" b="1" dirty="0"/>
              <a:t> </a:t>
            </a:r>
            <a:r>
              <a:rPr lang="es-419" sz="1400" b="1" dirty="0" err="1"/>
              <a:t>dhcp</a:t>
            </a:r>
            <a:r>
              <a:rPr lang="es-419" sz="1400" b="1" dirty="0"/>
              <a:t> </a:t>
            </a:r>
            <a:r>
              <a:rPr lang="es-419" sz="1400" b="1" dirty="0" err="1"/>
              <a:t>binding</a:t>
            </a:r>
            <a:r>
              <a:rPr lang="es-419" sz="1400" dirty="0" err="1"/>
              <a:t>y</a:t>
            </a:r>
            <a:r>
              <a:rPr lang="es-419" sz="1400" dirty="0"/>
              <a:t> </a:t>
            </a:r>
            <a:r>
              <a:rPr lang="es-419" sz="1400" b="1" dirty="0"/>
              <a:t>show </a:t>
            </a:r>
            <a:r>
              <a:rPr lang="es-419" sz="1400" b="1" dirty="0" err="1"/>
              <a:t>ip</a:t>
            </a:r>
            <a:r>
              <a:rPr lang="es-419" sz="1400" b="1" dirty="0"/>
              <a:t> </a:t>
            </a:r>
            <a:r>
              <a:rPr lang="es-419" sz="1400" b="1" dirty="0" err="1"/>
              <a:t>dhcp</a:t>
            </a:r>
            <a:r>
              <a:rPr lang="es-419" sz="1400" b="1" dirty="0"/>
              <a:t> server </a:t>
            </a:r>
            <a:r>
              <a:rPr lang="es-419" sz="1400" b="1" dirty="0" err="1"/>
              <a:t>statistics</a:t>
            </a:r>
            <a:r>
              <a:rPr lang="es-419" sz="1400" dirty="0"/>
              <a:t>. </a:t>
            </a:r>
          </a:p>
          <a:p>
            <a:pPr>
              <a:spcBef>
                <a:spcPts val="0"/>
              </a:spcBef>
              <a:spcAft>
                <a:spcPts val="0"/>
              </a:spcAft>
              <a:buFont typeface="Arial" panose="020B0604020202020204" pitchFamily="34" charset="0"/>
              <a:buChar char="•"/>
            </a:pPr>
            <a:endParaRPr lang="es-419" sz="1400" dirty="0"/>
          </a:p>
          <a:p>
            <a:pPr>
              <a:spcBef>
                <a:spcPts val="0"/>
              </a:spcBef>
              <a:spcAft>
                <a:spcPts val="0"/>
              </a:spcAft>
              <a:buFont typeface="Arial" panose="020B0604020202020204" pitchFamily="34" charset="0"/>
              <a:buChar char="•"/>
            </a:pPr>
            <a:r>
              <a:rPr lang="es-419" sz="1400" dirty="0"/>
              <a:t>El servicio DHCPv4 está habilitado de manera predeterminada. Para deshabilitar el servicio, utilice el comando del modo de configuración global </a:t>
            </a:r>
            <a:r>
              <a:rPr lang="es-419" sz="1400" b="1" dirty="0"/>
              <a:t>no </a:t>
            </a:r>
            <a:r>
              <a:rPr lang="es-419" sz="1400" b="1" dirty="0" err="1"/>
              <a:t>service</a:t>
            </a:r>
            <a:r>
              <a:rPr lang="es-419" sz="1400" b="1" dirty="0"/>
              <a:t> </a:t>
            </a:r>
            <a:r>
              <a:rPr lang="es-419" sz="1400" b="1" dirty="0" err="1"/>
              <a:t>dhcp</a:t>
            </a:r>
            <a:r>
              <a:rPr lang="es-419" sz="1400" dirty="0"/>
              <a:t>. </a:t>
            </a:r>
          </a:p>
          <a:p>
            <a:pPr>
              <a:spcBef>
                <a:spcPts val="0"/>
              </a:spcBef>
              <a:spcAft>
                <a:spcPts val="0"/>
              </a:spcAft>
              <a:buFont typeface="Arial" panose="020B0604020202020204" pitchFamily="34" charset="0"/>
              <a:buChar char="•"/>
            </a:pPr>
            <a:endParaRPr lang="es-419" sz="1400" dirty="0"/>
          </a:p>
          <a:p>
            <a:pPr rtl="0">
              <a:spcBef>
                <a:spcPts val="0"/>
              </a:spcBef>
              <a:spcAft>
                <a:spcPts val="0"/>
              </a:spcAft>
              <a:buFont typeface="Arial" panose="020B0604020202020204" pitchFamily="34" charset="0"/>
              <a:buChar char="•"/>
            </a:pPr>
            <a:r>
              <a:rPr lang="es-419" sz="1400" dirty="0"/>
              <a:t>Los clientes de red normalmente no se encuentran en la misma subred que los servidores de empresa que proporcionan servicios DHCP, DNS, TFTP y FTP para la red. Para ubicar los servidores y recibir servicios, los clientes con frecuencia utilizan mensajes de difusión. El </a:t>
            </a:r>
            <a:r>
              <a:rPr lang="es-419" sz="1400" dirty="0" err="1"/>
              <a:t>router</a:t>
            </a:r>
            <a:r>
              <a:rPr lang="es-419" sz="1400" dirty="0"/>
              <a:t> debe estar configurado para retransmitir mensajes DHCPv4 al servidor DHCPv4. </a:t>
            </a:r>
          </a:p>
          <a:p>
            <a:pPr rtl="0">
              <a:spcBef>
                <a:spcPts val="0"/>
              </a:spcBef>
              <a:spcAft>
                <a:spcPts val="0"/>
              </a:spcAft>
              <a:buFont typeface="Arial" panose="020B0604020202020204" pitchFamily="34" charset="0"/>
              <a:buChar char="•"/>
            </a:pPr>
            <a:endParaRPr lang="es-419" sz="1400" dirty="0"/>
          </a:p>
        </p:txBody>
      </p:sp>
    </p:spTree>
    <p:custDataLst>
      <p:tags r:id="rId1"/>
    </p:custDataLst>
    <p:extLst>
      <p:ext uri="{BB962C8B-B14F-4D97-AF65-F5344CB8AC3E}">
        <p14:creationId xmlns:p14="http://schemas.microsoft.com/office/powerpoint/2010/main" val="3300287508"/>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 y="1"/>
            <a:ext cx="9144000" cy="1006764"/>
          </a:xfrm>
        </p:spPr>
        <p:txBody>
          <a:bodyPr/>
          <a:lstStyle/>
          <a:p>
            <a:r>
              <a:rPr lang="es-CR" sz="1400" dirty="0">
                <a:latin typeface="Arial" charset="0"/>
              </a:rPr>
              <a:t>Módulo de práctica y cuestionario</a:t>
            </a:r>
            <a:br>
              <a:rPr lang="en-US" dirty="0">
                <a:latin typeface="Arial" charset="0"/>
              </a:rPr>
            </a:br>
            <a:r>
              <a:rPr lang="es-419" dirty="0">
                <a:latin typeface="Arial" charset="0"/>
              </a:rPr>
              <a:t> ¿Qué aprendí en este módulo? (continuación)</a:t>
            </a:r>
          </a:p>
        </p:txBody>
      </p:sp>
      <p:sp>
        <p:nvSpPr>
          <p:cNvPr id="2" name="Content Placeholder 1">
            <a:extLst>
              <a:ext uri="{FF2B5EF4-FFF2-40B4-BE49-F238E27FC236}">
                <a16:creationId xmlns:a16="http://schemas.microsoft.com/office/drawing/2014/main" id="{13F29080-AAB4-4292-A230-784A1845CD7F}"/>
              </a:ext>
            </a:extLst>
          </p:cNvPr>
          <p:cNvSpPr>
            <a:spLocks noGrp="1"/>
          </p:cNvSpPr>
          <p:nvPr>
            <p:ph idx="1"/>
          </p:nvPr>
        </p:nvSpPr>
        <p:spPr>
          <a:xfrm>
            <a:off x="0" y="722812"/>
            <a:ext cx="9143999" cy="4231452"/>
          </a:xfrm>
        </p:spPr>
        <p:txBody>
          <a:bodyPr/>
          <a:lstStyle/>
          <a:p>
            <a:pPr>
              <a:spcBef>
                <a:spcPts val="0"/>
              </a:spcBef>
              <a:spcAft>
                <a:spcPts val="0"/>
              </a:spcAft>
              <a:buFont typeface="Arial" panose="020B0604020202020204" pitchFamily="34" charset="0"/>
              <a:buChar char="•"/>
            </a:pPr>
            <a:endParaRPr lang="es-419" sz="1400" dirty="0"/>
          </a:p>
          <a:p>
            <a:pPr>
              <a:spcBef>
                <a:spcPts val="0"/>
              </a:spcBef>
              <a:spcAft>
                <a:spcPts val="0"/>
              </a:spcAft>
              <a:buFont typeface="Arial" panose="020B0604020202020204" pitchFamily="34" charset="0"/>
              <a:buChar char="•"/>
            </a:pPr>
            <a:r>
              <a:rPr lang="es-419" sz="1400" dirty="0"/>
              <a:t>El administrador de red puede configurar el </a:t>
            </a:r>
            <a:r>
              <a:rPr lang="es-419" sz="1400" dirty="0" err="1"/>
              <a:t>router</a:t>
            </a:r>
            <a:r>
              <a:rPr lang="es-419" sz="1400" dirty="0"/>
              <a:t> con el comando </a:t>
            </a:r>
            <a:r>
              <a:rPr lang="es-419" sz="1400" b="1" dirty="0" err="1"/>
              <a:t>ip</a:t>
            </a:r>
            <a:r>
              <a:rPr lang="es-419" sz="1400" b="1" dirty="0"/>
              <a:t> </a:t>
            </a:r>
            <a:r>
              <a:rPr lang="es-419" sz="1400" b="1" dirty="0" err="1"/>
              <a:t>helper-address</a:t>
            </a:r>
            <a:r>
              <a:rPr lang="es-419" sz="1400" b="1" dirty="0"/>
              <a:t> </a:t>
            </a:r>
            <a:r>
              <a:rPr lang="es-419" sz="1400" b="1" i="1" dirty="0" err="1"/>
              <a:t>address</a:t>
            </a:r>
            <a:r>
              <a:rPr lang="es-419" sz="1400" b="1" dirty="0"/>
              <a:t> </a:t>
            </a:r>
            <a:r>
              <a:rPr lang="es-419" sz="1400" dirty="0"/>
              <a:t>interface </a:t>
            </a:r>
            <a:r>
              <a:rPr lang="es-419" sz="1400" dirty="0" err="1"/>
              <a:t>configuration</a:t>
            </a:r>
            <a:r>
              <a:rPr lang="es-419" sz="1400" dirty="0"/>
              <a:t> y utilizar el comando </a:t>
            </a:r>
            <a:r>
              <a:rPr lang="es-419" sz="1400" b="1" dirty="0"/>
              <a:t>show </a:t>
            </a:r>
            <a:r>
              <a:rPr lang="es-419" sz="1400" b="1" dirty="0" err="1"/>
              <a:t>ip</a:t>
            </a:r>
            <a:r>
              <a:rPr lang="es-419" sz="1400" b="1" dirty="0"/>
              <a:t> interface </a:t>
            </a:r>
            <a:r>
              <a:rPr lang="es-419" sz="1400" dirty="0"/>
              <a:t>para verificar la configuración. </a:t>
            </a:r>
          </a:p>
          <a:p>
            <a:pPr>
              <a:spcBef>
                <a:spcPts val="0"/>
              </a:spcBef>
              <a:spcAft>
                <a:spcPts val="0"/>
              </a:spcAft>
              <a:buFont typeface="Arial" panose="020B0604020202020204" pitchFamily="34" charset="0"/>
              <a:buChar char="•"/>
            </a:pPr>
            <a:endParaRPr lang="es-419" sz="1400" dirty="0"/>
          </a:p>
          <a:p>
            <a:pPr>
              <a:spcBef>
                <a:spcPts val="0"/>
              </a:spcBef>
              <a:spcAft>
                <a:spcPts val="0"/>
              </a:spcAft>
              <a:buFont typeface="Arial" panose="020B0604020202020204" pitchFamily="34" charset="0"/>
              <a:buChar char="•"/>
            </a:pPr>
            <a:r>
              <a:rPr lang="es-419" sz="1400" dirty="0"/>
              <a:t>De manera predeterminada, el comando </a:t>
            </a:r>
            <a:r>
              <a:rPr lang="es-419" sz="1400" dirty="0" err="1"/>
              <a:t>ip</a:t>
            </a:r>
            <a:r>
              <a:rPr lang="es-419" sz="1400" dirty="0"/>
              <a:t> </a:t>
            </a:r>
            <a:r>
              <a:rPr lang="es-419" sz="1400" dirty="0" err="1"/>
              <a:t>helper-address</a:t>
            </a:r>
            <a:r>
              <a:rPr lang="es-419" sz="1400" dirty="0"/>
              <a:t> reenvía los siguientes ocho siguientes servicios UDP: </a:t>
            </a:r>
            <a:r>
              <a:rPr lang="es-419" sz="1300" dirty="0"/>
              <a:t>Puerto 37: Tiempo, Puerto 49: TACACS, Puerto 53: DNS, Puerto 67: servidor de DHCP/BOOTP, Puerto 68: cliente DHCP/BOOTP, Puerto 69: TFTP, Puerto 137: servicio de nombres NetBIOS, Puerto 138: servicio de datagrama NetBIOS.</a:t>
            </a:r>
          </a:p>
          <a:p>
            <a:pPr>
              <a:spcBef>
                <a:spcPts val="0"/>
              </a:spcBef>
              <a:spcAft>
                <a:spcPts val="0"/>
              </a:spcAft>
              <a:buFont typeface="Arial" panose="020B0604020202020204" pitchFamily="34" charset="0"/>
              <a:buChar char="•"/>
            </a:pPr>
            <a:endParaRPr lang="es-419" sz="1300" dirty="0"/>
          </a:p>
          <a:p>
            <a:pPr>
              <a:spcBef>
                <a:spcPts val="0"/>
              </a:spcBef>
              <a:spcAft>
                <a:spcPts val="0"/>
              </a:spcAft>
              <a:buFont typeface="Arial" panose="020B0604020202020204" pitchFamily="34" charset="0"/>
              <a:buChar char="•"/>
            </a:pPr>
            <a:r>
              <a:rPr lang="es-419" sz="1400" dirty="0"/>
              <a:t>Para configurar una interface de Ethernet como un cliente DHCP, use el comando de configuración de interface </a:t>
            </a:r>
            <a:r>
              <a:rPr lang="es-419" sz="1400" b="1" dirty="0" err="1"/>
              <a:t>ip</a:t>
            </a:r>
            <a:r>
              <a:rPr lang="es-419" sz="1400" b="1" dirty="0"/>
              <a:t> </a:t>
            </a:r>
            <a:r>
              <a:rPr lang="es-419" sz="1400" b="1" dirty="0" err="1"/>
              <a:t>address</a:t>
            </a:r>
            <a:r>
              <a:rPr lang="es-419" sz="1400" b="1" dirty="0"/>
              <a:t> </a:t>
            </a:r>
            <a:r>
              <a:rPr lang="es-419" sz="1400" b="1" dirty="0" err="1"/>
              <a:t>dhcp</a:t>
            </a:r>
            <a:r>
              <a:rPr lang="es-419" sz="1400" b="1" dirty="0"/>
              <a:t>.</a:t>
            </a:r>
          </a:p>
          <a:p>
            <a:pPr>
              <a:spcBef>
                <a:spcPts val="0"/>
              </a:spcBef>
              <a:spcAft>
                <a:spcPts val="0"/>
              </a:spcAft>
              <a:buFont typeface="Arial" panose="020B0604020202020204" pitchFamily="34" charset="0"/>
              <a:buChar char="•"/>
            </a:pPr>
            <a:endParaRPr lang="es-419" sz="1400" dirty="0"/>
          </a:p>
          <a:p>
            <a:pPr>
              <a:spcBef>
                <a:spcPts val="0"/>
              </a:spcBef>
              <a:spcAft>
                <a:spcPts val="0"/>
              </a:spcAft>
              <a:buFont typeface="Arial" panose="020B0604020202020204" pitchFamily="34" charset="0"/>
              <a:buChar char="•"/>
            </a:pPr>
            <a:r>
              <a:rPr lang="es-419" sz="1400" dirty="0"/>
              <a:t>Los </a:t>
            </a:r>
            <a:r>
              <a:rPr lang="es-419" sz="1400" dirty="0" err="1"/>
              <a:t>routers</a:t>
            </a:r>
            <a:r>
              <a:rPr lang="es-419" sz="1400" dirty="0"/>
              <a:t> de los hogares se configuran para recibir información de asignación de dirección IPv4 automáticamente desde el ISP. El tipo de conexión de internet está establecido en </a:t>
            </a:r>
            <a:r>
              <a:rPr lang="es-419" sz="1400" dirty="0" err="1"/>
              <a:t>Automatic</a:t>
            </a:r>
            <a:r>
              <a:rPr lang="es-419" sz="1400" dirty="0"/>
              <a:t> </a:t>
            </a:r>
            <a:r>
              <a:rPr lang="es-419" sz="1400" dirty="0" err="1"/>
              <a:t>Configuration</a:t>
            </a:r>
            <a:r>
              <a:rPr lang="es-419" sz="1400" dirty="0"/>
              <a:t> - DHCP. Se utiliza esta selección cuando el </a:t>
            </a:r>
            <a:r>
              <a:rPr lang="es-419" sz="1400" dirty="0" err="1"/>
              <a:t>router</a:t>
            </a:r>
            <a:r>
              <a:rPr lang="es-419" sz="1400" dirty="0"/>
              <a:t> se conecta a un cable módem o DSL y actúa como cliente DHCPv4 y solicita una dirección IPv4 del ISP.</a:t>
            </a:r>
          </a:p>
          <a:p>
            <a:pPr rtl="0">
              <a:spcBef>
                <a:spcPts val="0"/>
              </a:spcBef>
              <a:spcAft>
                <a:spcPts val="0"/>
              </a:spcAft>
              <a:buFont typeface="Arial" panose="020B0604020202020204" pitchFamily="34" charset="0"/>
              <a:buChar char="•"/>
            </a:pPr>
            <a:endParaRPr lang="es-419" sz="1400" dirty="0"/>
          </a:p>
        </p:txBody>
      </p:sp>
    </p:spTree>
    <p:custDataLst>
      <p:tags r:id="rId1"/>
    </p:custDataLst>
    <p:extLst>
      <p:ext uri="{BB962C8B-B14F-4D97-AF65-F5344CB8AC3E}">
        <p14:creationId xmlns:p14="http://schemas.microsoft.com/office/powerpoint/2010/main" val="1152016197"/>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1"/>
            <a:ext cx="9144000" cy="1070875"/>
          </a:xfrm>
        </p:spPr>
        <p:txBody>
          <a:bodyPr/>
          <a:lstStyle/>
          <a:p>
            <a:r>
              <a:rPr lang="es-419" sz="1400" dirty="0">
                <a:latin typeface="Arial" charset="0"/>
              </a:rPr>
              <a:t>Módulo 7: DHCPv4</a:t>
            </a:r>
            <a:br>
              <a:rPr lang="en-US" dirty="0">
                <a:latin typeface="Arial" charset="0"/>
              </a:rPr>
            </a:br>
            <a:r>
              <a:rPr lang="es-419" dirty="0">
                <a:latin typeface="Arial" charset="0"/>
              </a:rPr>
              <a:t>Nuevos términos y comandos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543340" y="1070875"/>
            <a:ext cx="4028660" cy="3602725"/>
          </a:xfrm>
        </p:spPr>
        <p:txBody>
          <a:bodyPr/>
          <a:lstStyle/>
          <a:p>
            <a:pPr rtl="0">
              <a:spcBef>
                <a:spcPts val="0"/>
              </a:spcBef>
              <a:spcAft>
                <a:spcPts val="0"/>
              </a:spcAft>
              <a:buFont typeface="Arial" panose="020B0604020202020204" pitchFamily="34" charset="0"/>
              <a:buChar char="•"/>
            </a:pPr>
            <a:r>
              <a:rPr lang="es-419" sz="1300" dirty="0"/>
              <a:t>Dynamic Host </a:t>
            </a:r>
            <a:r>
              <a:rPr lang="es-419" sz="1300" dirty="0" err="1"/>
              <a:t>Configuration</a:t>
            </a:r>
            <a:r>
              <a:rPr lang="es-419" sz="1300" dirty="0"/>
              <a:t> </a:t>
            </a:r>
            <a:r>
              <a:rPr lang="es-419" sz="1300" dirty="0" err="1"/>
              <a:t>Protocol</a:t>
            </a:r>
            <a:r>
              <a:rPr lang="es-419" sz="1300" dirty="0"/>
              <a:t> (DHCP)</a:t>
            </a:r>
          </a:p>
          <a:p>
            <a:pPr rtl="0">
              <a:spcBef>
                <a:spcPts val="0"/>
              </a:spcBef>
              <a:spcAft>
                <a:spcPts val="0"/>
              </a:spcAft>
              <a:buFont typeface="Arial" panose="020B0604020202020204" pitchFamily="34" charset="0"/>
              <a:buChar char="•"/>
            </a:pPr>
            <a:endParaRPr lang="es-419" sz="1300" dirty="0"/>
          </a:p>
          <a:p>
            <a:pPr rtl="0">
              <a:spcBef>
                <a:spcPts val="0"/>
              </a:spcBef>
              <a:spcAft>
                <a:spcPts val="0"/>
              </a:spcAft>
              <a:buFont typeface="Arial" panose="020B0604020202020204" pitchFamily="34" charset="0"/>
              <a:buChar char="•"/>
            </a:pPr>
            <a:r>
              <a:rPr lang="es-419" sz="1300" dirty="0"/>
              <a:t>DHCP </a:t>
            </a:r>
            <a:r>
              <a:rPr lang="es-419" sz="1300" dirty="0" err="1"/>
              <a:t>Discover</a:t>
            </a:r>
            <a:r>
              <a:rPr lang="es-419" sz="1300" dirty="0"/>
              <a:t> (DHCPDISCOVER)</a:t>
            </a:r>
          </a:p>
          <a:p>
            <a:pPr rtl="0">
              <a:spcBef>
                <a:spcPts val="0"/>
              </a:spcBef>
              <a:spcAft>
                <a:spcPts val="0"/>
              </a:spcAft>
              <a:buFont typeface="Arial" panose="020B0604020202020204" pitchFamily="34" charset="0"/>
              <a:buChar char="•"/>
            </a:pPr>
            <a:endParaRPr lang="es-419" sz="1300" dirty="0"/>
          </a:p>
          <a:p>
            <a:pPr rtl="0">
              <a:spcBef>
                <a:spcPts val="0"/>
              </a:spcBef>
              <a:spcAft>
                <a:spcPts val="0"/>
              </a:spcAft>
              <a:buFont typeface="Arial" panose="020B0604020202020204" pitchFamily="34" charset="0"/>
              <a:buChar char="•"/>
            </a:pPr>
            <a:r>
              <a:rPr lang="es-419" sz="1300" dirty="0"/>
              <a:t>DHCP </a:t>
            </a:r>
            <a:r>
              <a:rPr lang="es-419" sz="1300" dirty="0" err="1"/>
              <a:t>Offer</a:t>
            </a:r>
            <a:r>
              <a:rPr lang="es-419" sz="1300" dirty="0"/>
              <a:t> (DHCPOFFER)</a:t>
            </a:r>
          </a:p>
          <a:p>
            <a:pPr rtl="0">
              <a:spcBef>
                <a:spcPts val="0"/>
              </a:spcBef>
              <a:spcAft>
                <a:spcPts val="0"/>
              </a:spcAft>
              <a:buFont typeface="Arial" panose="020B0604020202020204" pitchFamily="34" charset="0"/>
              <a:buChar char="•"/>
            </a:pPr>
            <a:endParaRPr lang="es-419" sz="1300" dirty="0"/>
          </a:p>
          <a:p>
            <a:pPr rtl="0">
              <a:spcBef>
                <a:spcPts val="0"/>
              </a:spcBef>
              <a:spcAft>
                <a:spcPts val="0"/>
              </a:spcAft>
              <a:buFont typeface="Arial" panose="020B0604020202020204" pitchFamily="34" charset="0"/>
              <a:buChar char="•"/>
            </a:pPr>
            <a:r>
              <a:rPr lang="es-419" sz="1300" dirty="0"/>
              <a:t>DHCP </a:t>
            </a:r>
            <a:r>
              <a:rPr lang="es-419" sz="1300" dirty="0" err="1"/>
              <a:t>Request</a:t>
            </a:r>
            <a:r>
              <a:rPr lang="es-419" sz="1300" dirty="0"/>
              <a:t> (DHCPREQUEST)</a:t>
            </a:r>
          </a:p>
          <a:p>
            <a:pPr rtl="0">
              <a:spcBef>
                <a:spcPts val="0"/>
              </a:spcBef>
              <a:spcAft>
                <a:spcPts val="0"/>
              </a:spcAft>
              <a:buFont typeface="Arial" panose="020B0604020202020204" pitchFamily="34" charset="0"/>
              <a:buChar char="•"/>
            </a:pPr>
            <a:endParaRPr lang="es-419" sz="1300" dirty="0"/>
          </a:p>
          <a:p>
            <a:pPr rtl="0">
              <a:spcBef>
                <a:spcPts val="0"/>
              </a:spcBef>
              <a:spcAft>
                <a:spcPts val="0"/>
              </a:spcAft>
              <a:buFont typeface="Arial" panose="020B0604020202020204" pitchFamily="34" charset="0"/>
              <a:buChar char="•"/>
            </a:pPr>
            <a:r>
              <a:rPr lang="es-419" sz="1300" dirty="0"/>
              <a:t>DHCP </a:t>
            </a:r>
            <a:r>
              <a:rPr lang="es-419" sz="1300" dirty="0" err="1"/>
              <a:t>Acknowledgment</a:t>
            </a:r>
            <a:r>
              <a:rPr lang="es-419" sz="1300" dirty="0"/>
              <a:t> (DHCPACK)</a:t>
            </a:r>
          </a:p>
        </p:txBody>
      </p:sp>
      <p:sp>
        <p:nvSpPr>
          <p:cNvPr id="4" name="CuadroTexto 3">
            <a:extLst>
              <a:ext uri="{FF2B5EF4-FFF2-40B4-BE49-F238E27FC236}">
                <a16:creationId xmlns:a16="http://schemas.microsoft.com/office/drawing/2014/main" id="{0CE3B690-BE6C-447C-8999-BECDAC546C15}"/>
              </a:ext>
            </a:extLst>
          </p:cNvPr>
          <p:cNvSpPr txBox="1"/>
          <p:nvPr/>
        </p:nvSpPr>
        <p:spPr>
          <a:xfrm>
            <a:off x="4747495" y="980281"/>
            <a:ext cx="3770042" cy="3693319"/>
          </a:xfrm>
          <a:prstGeom prst="rect">
            <a:avLst/>
          </a:prstGeom>
          <a:noFill/>
        </p:spPr>
        <p:txBody>
          <a:bodyPr wrap="square" rtlCol="0">
            <a:spAutoFit/>
          </a:bodyPr>
          <a:lstStyle/>
          <a:p>
            <a:pPr marL="169863" lvl="0" indent="-169863" defTabSz="684213">
              <a:spcBef>
                <a:spcPts val="0"/>
              </a:spcBef>
              <a:spcAft>
                <a:spcPts val="0"/>
              </a:spcAft>
              <a:buClr>
                <a:srgbClr val="58585B"/>
              </a:buClr>
              <a:buSzPct val="90000"/>
              <a:buFont typeface="Arial" panose="020B0604020202020204" pitchFamily="34" charset="0"/>
              <a:buChar char="•"/>
            </a:pPr>
            <a:r>
              <a:rPr lang="en-US" sz="1300" b="1" dirty="0" err="1">
                <a:solidFill>
                  <a:srgbClr val="000000"/>
                </a:solidFill>
                <a:latin typeface="Arial"/>
                <a:ea typeface="ＭＳ Ｐゴシック" charset="0"/>
              </a:rPr>
              <a:t>ip</a:t>
            </a:r>
            <a:r>
              <a:rPr lang="en-US" sz="1300" b="1" dirty="0">
                <a:solidFill>
                  <a:srgbClr val="000000"/>
                </a:solidFill>
                <a:latin typeface="Arial"/>
                <a:ea typeface="ＭＳ Ｐゴシック" charset="0"/>
              </a:rPr>
              <a:t> </a:t>
            </a:r>
            <a:r>
              <a:rPr lang="en-US" sz="1300" b="1" dirty="0" err="1">
                <a:solidFill>
                  <a:srgbClr val="000000"/>
                </a:solidFill>
                <a:latin typeface="Arial"/>
                <a:ea typeface="ＭＳ Ｐゴシック" charset="0"/>
              </a:rPr>
              <a:t>dhcp</a:t>
            </a:r>
            <a:r>
              <a:rPr lang="en-US" sz="1300" b="1" dirty="0">
                <a:solidFill>
                  <a:srgbClr val="000000"/>
                </a:solidFill>
                <a:latin typeface="Arial"/>
                <a:ea typeface="ＭＳ Ｐゴシック" charset="0"/>
              </a:rPr>
              <a:t> excluded-address low-address [high-address]</a:t>
            </a:r>
          </a:p>
          <a:p>
            <a:pPr marL="169863" lvl="0" indent="-169863" defTabSz="684213">
              <a:spcBef>
                <a:spcPts val="0"/>
              </a:spcBef>
              <a:spcAft>
                <a:spcPts val="0"/>
              </a:spcAft>
              <a:buClr>
                <a:srgbClr val="58585B"/>
              </a:buClr>
              <a:buSzPct val="90000"/>
              <a:buFont typeface="Arial" panose="020B0604020202020204" pitchFamily="34" charset="0"/>
              <a:buChar char="•"/>
            </a:pPr>
            <a:r>
              <a:rPr lang="en-US" sz="1300" b="1" dirty="0" err="1">
                <a:solidFill>
                  <a:srgbClr val="000000"/>
                </a:solidFill>
                <a:latin typeface="Arial"/>
                <a:ea typeface="ＭＳ Ｐゴシック" charset="0"/>
              </a:rPr>
              <a:t>ip</a:t>
            </a:r>
            <a:r>
              <a:rPr lang="en-US" sz="1300" b="1" dirty="0">
                <a:solidFill>
                  <a:srgbClr val="000000"/>
                </a:solidFill>
                <a:latin typeface="Arial"/>
                <a:ea typeface="ＭＳ Ｐゴシック" charset="0"/>
              </a:rPr>
              <a:t> </a:t>
            </a:r>
            <a:r>
              <a:rPr lang="en-US" sz="1300" b="1" dirty="0" err="1">
                <a:solidFill>
                  <a:srgbClr val="000000"/>
                </a:solidFill>
                <a:latin typeface="Arial"/>
                <a:ea typeface="ＭＳ Ｐゴシック" charset="0"/>
              </a:rPr>
              <a:t>dhcp</a:t>
            </a:r>
            <a:r>
              <a:rPr lang="en-US" sz="1300" b="1" dirty="0">
                <a:solidFill>
                  <a:srgbClr val="000000"/>
                </a:solidFill>
                <a:latin typeface="Arial"/>
                <a:ea typeface="ＭＳ Ｐゴシック" charset="0"/>
              </a:rPr>
              <a:t> pool name</a:t>
            </a:r>
          </a:p>
          <a:p>
            <a:pPr marL="169863" lvl="0" indent="-169863" defTabSz="684213">
              <a:spcBef>
                <a:spcPts val="0"/>
              </a:spcBef>
              <a:spcAft>
                <a:spcPts val="0"/>
              </a:spcAft>
              <a:buClr>
                <a:srgbClr val="58585B"/>
              </a:buClr>
              <a:buSzPct val="90000"/>
              <a:buFont typeface="Arial" panose="020B0604020202020204" pitchFamily="34" charset="0"/>
              <a:buChar char="•"/>
            </a:pPr>
            <a:r>
              <a:rPr lang="en-US" sz="1300" b="1" dirty="0">
                <a:solidFill>
                  <a:srgbClr val="000000"/>
                </a:solidFill>
                <a:latin typeface="Arial"/>
                <a:ea typeface="ＭＳ Ｐゴシック" charset="0"/>
              </a:rPr>
              <a:t>network network-number [mask | /prefix-length]</a:t>
            </a:r>
          </a:p>
          <a:p>
            <a:pPr marL="169863" lvl="0" indent="-169863" defTabSz="684213">
              <a:spcBef>
                <a:spcPts val="0"/>
              </a:spcBef>
              <a:spcAft>
                <a:spcPts val="0"/>
              </a:spcAft>
              <a:buClr>
                <a:srgbClr val="58585B"/>
              </a:buClr>
              <a:buSzPct val="90000"/>
              <a:buFont typeface="Arial" panose="020B0604020202020204" pitchFamily="34" charset="0"/>
              <a:buChar char="•"/>
            </a:pPr>
            <a:r>
              <a:rPr lang="en-US" sz="1300" b="1" dirty="0">
                <a:solidFill>
                  <a:srgbClr val="000000"/>
                </a:solidFill>
                <a:latin typeface="Arial"/>
                <a:ea typeface="ＭＳ Ｐゴシック" charset="0"/>
              </a:rPr>
              <a:t>default-router address [address2 ... address8]</a:t>
            </a:r>
            <a:endParaRPr lang="es-419" sz="1300" b="1" dirty="0">
              <a:solidFill>
                <a:srgbClr val="000000"/>
              </a:solidFill>
              <a:latin typeface="Arial"/>
              <a:ea typeface="ＭＳ Ｐゴシック" charset="0"/>
            </a:endParaRP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err="1">
                <a:solidFill>
                  <a:srgbClr val="000000"/>
                </a:solidFill>
                <a:latin typeface="Arial"/>
                <a:ea typeface="ＭＳ Ｐゴシック" charset="0"/>
              </a:rPr>
              <a:t>dns</a:t>
            </a:r>
            <a:r>
              <a:rPr lang="es-419" sz="1300" b="1" dirty="0">
                <a:solidFill>
                  <a:srgbClr val="000000"/>
                </a:solidFill>
                <a:latin typeface="Arial"/>
                <a:ea typeface="ＭＳ Ｐゴシック" charset="0"/>
              </a:rPr>
              <a:t>-server </a:t>
            </a:r>
            <a:r>
              <a:rPr lang="es-419" sz="1300" b="1" dirty="0" err="1">
                <a:solidFill>
                  <a:srgbClr val="000000"/>
                </a:solidFill>
                <a:latin typeface="Arial"/>
                <a:ea typeface="ＭＳ Ｐゴシック" charset="0"/>
              </a:rPr>
              <a:t>address</a:t>
            </a:r>
            <a:r>
              <a:rPr lang="es-419" sz="1300" b="1" dirty="0">
                <a:solidFill>
                  <a:srgbClr val="000000"/>
                </a:solidFill>
                <a:latin typeface="Arial"/>
                <a:ea typeface="ＭＳ Ｐゴシック" charset="0"/>
              </a:rPr>
              <a:t> [address2 ... address8]</a:t>
            </a: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err="1">
                <a:solidFill>
                  <a:srgbClr val="000000"/>
                </a:solidFill>
                <a:latin typeface="Arial"/>
                <a:ea typeface="ＭＳ Ｐゴシック" charset="0"/>
              </a:rPr>
              <a:t>domain-name</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domain</a:t>
            </a:r>
            <a:endParaRPr lang="es-419" sz="1300" b="1" dirty="0">
              <a:solidFill>
                <a:srgbClr val="000000"/>
              </a:solidFill>
              <a:latin typeface="Arial"/>
              <a:ea typeface="ＭＳ Ｐゴシック" charset="0"/>
            </a:endParaRP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err="1">
                <a:solidFill>
                  <a:srgbClr val="000000"/>
                </a:solidFill>
                <a:latin typeface="Arial"/>
                <a:ea typeface="ＭＳ Ｐゴシック" charset="0"/>
              </a:rPr>
              <a:t>lease</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days</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hours</a:t>
            </a:r>
            <a:r>
              <a:rPr lang="es-419" sz="1300" b="1" dirty="0">
                <a:solidFill>
                  <a:srgbClr val="000000"/>
                </a:solidFill>
                <a:latin typeface="Arial"/>
                <a:ea typeface="ＭＳ Ｐゴシック" charset="0"/>
              </a:rPr>
              <a:t> [minutes]] | </a:t>
            </a:r>
            <a:r>
              <a:rPr lang="es-419" sz="1300" b="1" dirty="0" err="1">
                <a:solidFill>
                  <a:srgbClr val="000000"/>
                </a:solidFill>
                <a:latin typeface="Arial"/>
                <a:ea typeface="ＭＳ Ｐゴシック" charset="0"/>
              </a:rPr>
              <a:t>infinite</a:t>
            </a:r>
            <a:r>
              <a:rPr lang="es-419" sz="1300" b="1" dirty="0">
                <a:solidFill>
                  <a:srgbClr val="000000"/>
                </a:solidFill>
                <a:latin typeface="Arial"/>
                <a:ea typeface="ＭＳ Ｐゴシック" charset="0"/>
              </a:rPr>
              <a:t>}</a:t>
            </a: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err="1">
                <a:solidFill>
                  <a:srgbClr val="000000"/>
                </a:solidFill>
                <a:latin typeface="Arial"/>
                <a:ea typeface="ＭＳ Ｐゴシック" charset="0"/>
              </a:rPr>
              <a:t>netbios</a:t>
            </a:r>
            <a:r>
              <a:rPr lang="es-419" sz="1300" b="1" dirty="0">
                <a:solidFill>
                  <a:srgbClr val="000000"/>
                </a:solidFill>
                <a:latin typeface="Arial"/>
                <a:ea typeface="ＭＳ Ｐゴシック" charset="0"/>
              </a:rPr>
              <a:t>-</a:t>
            </a:r>
            <a:r>
              <a:rPr lang="es-419" sz="1300" b="1" dirty="0" err="1">
                <a:solidFill>
                  <a:srgbClr val="000000"/>
                </a:solidFill>
                <a:latin typeface="Arial"/>
                <a:ea typeface="ＭＳ Ｐゴシック" charset="0"/>
              </a:rPr>
              <a:t>name</a:t>
            </a:r>
            <a:r>
              <a:rPr lang="es-419" sz="1300" b="1" dirty="0">
                <a:solidFill>
                  <a:srgbClr val="000000"/>
                </a:solidFill>
                <a:latin typeface="Arial"/>
                <a:ea typeface="ＭＳ Ｐゴシック" charset="0"/>
              </a:rPr>
              <a:t>-server </a:t>
            </a:r>
            <a:r>
              <a:rPr lang="es-419" sz="1300" b="1" dirty="0" err="1">
                <a:solidFill>
                  <a:srgbClr val="000000"/>
                </a:solidFill>
                <a:latin typeface="Arial"/>
                <a:ea typeface="ＭＳ Ｐゴシック" charset="0"/>
              </a:rPr>
              <a:t>address</a:t>
            </a:r>
            <a:r>
              <a:rPr lang="es-419" sz="1300" b="1" dirty="0">
                <a:solidFill>
                  <a:srgbClr val="000000"/>
                </a:solidFill>
                <a:latin typeface="Arial"/>
                <a:ea typeface="ＭＳ Ｐゴシック" charset="0"/>
              </a:rPr>
              <a:t> [address2 ... address8]</a:t>
            </a: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a:solidFill>
                  <a:srgbClr val="000000"/>
                </a:solidFill>
                <a:latin typeface="Arial"/>
                <a:ea typeface="ＭＳ Ｐゴシック" charset="0"/>
              </a:rPr>
              <a:t>show running-</a:t>
            </a:r>
            <a:r>
              <a:rPr lang="es-419" sz="1300" b="1" dirty="0" err="1">
                <a:solidFill>
                  <a:srgbClr val="000000"/>
                </a:solidFill>
                <a:latin typeface="Arial"/>
                <a:ea typeface="ＭＳ Ｐゴシック" charset="0"/>
              </a:rPr>
              <a:t>config</a:t>
            </a:r>
            <a:r>
              <a:rPr lang="es-419" sz="1300" b="1" dirty="0">
                <a:solidFill>
                  <a:srgbClr val="000000"/>
                </a:solidFill>
                <a:latin typeface="Arial"/>
                <a:ea typeface="ＭＳ Ｐゴシック" charset="0"/>
              </a:rPr>
              <a:t> | </a:t>
            </a:r>
            <a:r>
              <a:rPr lang="es-419" sz="1300" b="1" dirty="0" err="1">
                <a:solidFill>
                  <a:srgbClr val="000000"/>
                </a:solidFill>
                <a:latin typeface="Arial"/>
                <a:ea typeface="ＭＳ Ｐゴシック" charset="0"/>
              </a:rPr>
              <a:t>section</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dhcp</a:t>
            </a:r>
            <a:endParaRPr lang="es-419" sz="1300" b="1" dirty="0">
              <a:solidFill>
                <a:srgbClr val="000000"/>
              </a:solidFill>
              <a:latin typeface="Arial"/>
              <a:ea typeface="ＭＳ Ｐゴシック" charset="0"/>
            </a:endParaRP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a:solidFill>
                  <a:srgbClr val="000000"/>
                </a:solidFill>
                <a:latin typeface="Arial"/>
                <a:ea typeface="ＭＳ Ｐゴシック" charset="0"/>
              </a:rPr>
              <a:t>show </a:t>
            </a:r>
            <a:r>
              <a:rPr lang="es-419" sz="1300" b="1" dirty="0" err="1">
                <a:solidFill>
                  <a:srgbClr val="000000"/>
                </a:solidFill>
                <a:latin typeface="Arial"/>
                <a:ea typeface="ＭＳ Ｐゴシック" charset="0"/>
              </a:rPr>
              <a:t>ip</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dhcp</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binding</a:t>
            </a:r>
            <a:endParaRPr lang="es-419" sz="1300" b="1" dirty="0">
              <a:solidFill>
                <a:srgbClr val="000000"/>
              </a:solidFill>
              <a:latin typeface="Arial"/>
              <a:ea typeface="ＭＳ Ｐゴシック" charset="0"/>
            </a:endParaRP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a:solidFill>
                  <a:srgbClr val="000000"/>
                </a:solidFill>
                <a:latin typeface="Arial"/>
                <a:ea typeface="ＭＳ Ｐゴシック" charset="0"/>
              </a:rPr>
              <a:t>show </a:t>
            </a:r>
            <a:r>
              <a:rPr lang="es-419" sz="1300" b="1" dirty="0" err="1">
                <a:solidFill>
                  <a:srgbClr val="000000"/>
                </a:solidFill>
                <a:latin typeface="Arial"/>
                <a:ea typeface="ＭＳ Ｐゴシック" charset="0"/>
              </a:rPr>
              <a:t>ip</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dhcp</a:t>
            </a:r>
            <a:r>
              <a:rPr lang="es-419" sz="1300" b="1" dirty="0">
                <a:solidFill>
                  <a:srgbClr val="000000"/>
                </a:solidFill>
                <a:latin typeface="Arial"/>
                <a:ea typeface="ＭＳ Ｐゴシック" charset="0"/>
              </a:rPr>
              <a:t> server </a:t>
            </a:r>
            <a:r>
              <a:rPr lang="es-419" sz="1300" b="1" dirty="0" err="1">
                <a:solidFill>
                  <a:srgbClr val="000000"/>
                </a:solidFill>
                <a:latin typeface="Arial"/>
                <a:ea typeface="ＭＳ Ｐゴシック" charset="0"/>
              </a:rPr>
              <a:t>statistics</a:t>
            </a:r>
            <a:endParaRPr lang="es-419" sz="1300" b="1" dirty="0">
              <a:solidFill>
                <a:srgbClr val="000000"/>
              </a:solidFill>
              <a:latin typeface="Arial"/>
              <a:ea typeface="ＭＳ Ｐゴシック" charset="0"/>
            </a:endParaRP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a:solidFill>
                  <a:srgbClr val="000000"/>
                </a:solidFill>
                <a:latin typeface="Arial"/>
                <a:ea typeface="ＭＳ Ｐゴシック" charset="0"/>
              </a:rPr>
              <a:t>[no] </a:t>
            </a:r>
            <a:r>
              <a:rPr lang="es-419" sz="1300" b="1" dirty="0" err="1">
                <a:solidFill>
                  <a:srgbClr val="000000"/>
                </a:solidFill>
                <a:latin typeface="Arial"/>
                <a:ea typeface="ＭＳ Ｐゴシック" charset="0"/>
              </a:rPr>
              <a:t>service</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dhcp</a:t>
            </a:r>
            <a:endParaRPr lang="es-419" sz="1300" b="1" dirty="0">
              <a:solidFill>
                <a:srgbClr val="000000"/>
              </a:solidFill>
              <a:latin typeface="Arial"/>
              <a:ea typeface="ＭＳ Ｐゴシック" charset="0"/>
            </a:endParaRP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err="1">
                <a:solidFill>
                  <a:srgbClr val="000000"/>
                </a:solidFill>
                <a:latin typeface="Arial"/>
                <a:ea typeface="ＭＳ Ｐゴシック" charset="0"/>
              </a:rPr>
              <a:t>ip</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helper-address</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address</a:t>
            </a:r>
            <a:endParaRPr lang="es-419" sz="1300" b="1" dirty="0">
              <a:solidFill>
                <a:srgbClr val="000000"/>
              </a:solidFill>
              <a:latin typeface="Arial"/>
              <a:ea typeface="ＭＳ Ｐゴシック" charset="0"/>
            </a:endParaRPr>
          </a:p>
          <a:p>
            <a:pPr marL="169863" lvl="0" indent="-169863" defTabSz="684213">
              <a:spcBef>
                <a:spcPts val="0"/>
              </a:spcBef>
              <a:spcAft>
                <a:spcPts val="0"/>
              </a:spcAft>
              <a:buClr>
                <a:srgbClr val="58585B"/>
              </a:buClr>
              <a:buSzPct val="90000"/>
              <a:buFont typeface="Arial" panose="020B0604020202020204" pitchFamily="34" charset="0"/>
              <a:buChar char="•"/>
            </a:pPr>
            <a:r>
              <a:rPr lang="es-419" sz="1300" b="1" dirty="0" err="1">
                <a:solidFill>
                  <a:srgbClr val="000000"/>
                </a:solidFill>
                <a:latin typeface="Arial"/>
                <a:ea typeface="ＭＳ Ｐゴシック" charset="0"/>
              </a:rPr>
              <a:t>ip</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address</a:t>
            </a:r>
            <a:r>
              <a:rPr lang="es-419" sz="1300" b="1" dirty="0">
                <a:solidFill>
                  <a:srgbClr val="000000"/>
                </a:solidFill>
                <a:latin typeface="Arial"/>
                <a:ea typeface="ＭＳ Ｐゴシック" charset="0"/>
              </a:rPr>
              <a:t> </a:t>
            </a:r>
            <a:r>
              <a:rPr lang="es-419" sz="1300" b="1" dirty="0" err="1">
                <a:solidFill>
                  <a:srgbClr val="000000"/>
                </a:solidFill>
                <a:latin typeface="Arial"/>
                <a:ea typeface="ＭＳ Ｐゴシック" charset="0"/>
              </a:rPr>
              <a:t>dhcp</a:t>
            </a:r>
            <a:endParaRPr lang="es-419" sz="1300" b="1" dirty="0">
              <a:solidFill>
                <a:srgbClr val="000000"/>
              </a:solidFill>
              <a:latin typeface="Arial"/>
              <a:ea typeface="ＭＳ Ｐゴシック" charset="0"/>
            </a:endParaRP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5999</TotalTime>
  <Words>4521</Words>
  <Application>Microsoft Office PowerPoint</Application>
  <PresentationFormat>On-screen Show (16:9)</PresentationFormat>
  <Paragraphs>451</Paragraphs>
  <Slides>34</Slides>
  <Notes>34</Notes>
  <HiddenSlides>1</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Default Theme</vt:lpstr>
      <vt:lpstr>Módulo 7: DHCPv4</vt:lpstr>
      <vt:lpstr>Objetivos del módulo</vt:lpstr>
      <vt:lpstr>7.1 Conceptos DHCPv4</vt:lpstr>
      <vt:lpstr>Conceptos DHCPv4 Servidor y cliente</vt:lpstr>
      <vt:lpstr>Conceptos DHCPv4 Servidor y cliente (Cont.) </vt:lpstr>
      <vt:lpstr>Conceptos DHCPv4 OperaciónDHCPv4</vt:lpstr>
      <vt:lpstr>Conceptos DHCPv4 Pasos para obtener una concesión</vt:lpstr>
      <vt:lpstr>Conceptos DHCPv4 Pasos para renovar una concesión</vt:lpstr>
      <vt:lpstr>7.2 Configurar un servidor DHCPv4 del IOS de Cisco</vt:lpstr>
      <vt:lpstr>Configurar un servidor DHCPv4 del IOS de Cisco  Servidor DHCPv4</vt:lpstr>
      <vt:lpstr>Configurar un servidor DHCPv4 del IOS de Cisco Pasos para configurar un servidor DHCPv4 de Cisco IOS</vt:lpstr>
      <vt:lpstr>Configurar un servidor DHCPv4 del IOS de Cisco  Pasos para configurar un servidor DHCPv4 de Cisco IOS (Cont.) </vt:lpstr>
      <vt:lpstr>Ejemplo de configuración de servidor DHCPv4 de Cisco IOS</vt:lpstr>
      <vt:lpstr>Configurar un servidor DHCPv4 del IOS de Cisco  Verifique que DHCPv4 esté activo</vt:lpstr>
      <vt:lpstr>Configurar un servidor DHCPv4 del IOS de Cisco Verifique la configuración DHCPv4 </vt:lpstr>
      <vt:lpstr>Configurar un servidor DHCPv4 del IOS de Cisco Verifique los enlaces DHCPv4 </vt:lpstr>
      <vt:lpstr>Configurar un servidor DHCPv4 del IOS de Cisco Verifique las estadísticas de DHCPv4</vt:lpstr>
      <vt:lpstr>Configurar un servidor DHCPv4 del IOS de Cisco Verificar el direccionamiento IPv4 recibido del cliente DHCPv4 </vt:lpstr>
      <vt:lpstr>Configurar un servidor DHCPv4 del IOS de Cisco  Desactivar el servidor DHCPv4</vt:lpstr>
      <vt:lpstr>Configurar un servidor DHCPv4 del IOS de Cisco Relay DHCPv4</vt:lpstr>
      <vt:lpstr>Configurar un servidor DHCPv4 del IOS de Cisco Relay DHCPv4</vt:lpstr>
      <vt:lpstr>Configurar un servidor DHCPv4 del IOS de Cisco   Otras transmisiones de servicio retransmitidas</vt:lpstr>
      <vt:lpstr>Configurar un servidor DHCPv4 del IOS de Cisco  Configurar un rastreador de paquetes de servidor DHCPv4</vt:lpstr>
      <vt:lpstr>7.3 Configurar un cliente DHCPv4</vt:lpstr>
      <vt:lpstr>Configurar un cliente DHCPv4 Router Cisco como cliente DHCPv4. </vt:lpstr>
      <vt:lpstr>Configurar un cliente DHCPv4 Ejemplo de Configuración de Cliente DHCPv4</vt:lpstr>
      <vt:lpstr>Configurar un cliente DHCPv4 Router Cisco como cliente DHCPv4.</vt:lpstr>
      <vt:lpstr>7.4 - Módulo de práctica y cuestionario</vt:lpstr>
      <vt:lpstr>Módulo de práctica y cuestionario Laboratorio de Quiz — Implementar DHCPv4</vt:lpstr>
      <vt:lpstr>Módulo de práctica y cuestionario ¿Qué aprendí en este módulo?</vt:lpstr>
      <vt:lpstr>Módulo de práctica y cuestionario  ¿Qué aprendí en este módulo? (continuación)</vt:lpstr>
      <vt:lpstr>Módulo de práctica y cuestionario  ¿Qué aprendí en este módulo? (continuación)</vt:lpstr>
      <vt:lpstr>Módulo 7: DHCPv4 Nuevos términos y comandos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Lex Marber Padilla Santos</cp:lastModifiedBy>
  <cp:revision>405</cp:revision>
  <dcterms:created xsi:type="dcterms:W3CDTF">2019-10-18T06:21:22Z</dcterms:created>
  <dcterms:modified xsi:type="dcterms:W3CDTF">2024-08-10T19:34:21Z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