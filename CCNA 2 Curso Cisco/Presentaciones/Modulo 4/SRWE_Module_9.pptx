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8"/>
  </p:notesMasterIdLst>
  <p:sldIdLst>
    <p:sldId id="513" r:id="rId2"/>
    <p:sldId id="1187" r:id="rId3"/>
    <p:sldId id="1184" r:id="rId4"/>
    <p:sldId id="1071" r:id="rId5"/>
    <p:sldId id="1185" r:id="rId6"/>
    <p:sldId id="763" r:id="rId7"/>
    <p:sldId id="1052" r:id="rId8"/>
    <p:sldId id="876" r:id="rId9"/>
    <p:sldId id="860" r:id="rId10"/>
    <p:sldId id="759" r:id="rId11"/>
    <p:sldId id="1108" r:id="rId12"/>
    <p:sldId id="1177" r:id="rId13"/>
    <p:sldId id="1186" r:id="rId14"/>
    <p:sldId id="1178" r:id="rId15"/>
    <p:sldId id="1179" r:id="rId16"/>
    <p:sldId id="1103" r:id="rId17"/>
    <p:sldId id="1172" r:id="rId18"/>
    <p:sldId id="1180" r:id="rId19"/>
    <p:sldId id="1181" r:id="rId20"/>
    <p:sldId id="1182" r:id="rId21"/>
    <p:sldId id="957" r:id="rId22"/>
    <p:sldId id="1175" r:id="rId23"/>
    <p:sldId id="1183" r:id="rId24"/>
    <p:sldId id="1176" r:id="rId25"/>
    <p:sldId id="874" r:id="rId26"/>
    <p:sldId id="291" r:id="rId27"/>
  </p:sldIdLst>
  <p:sldSz cx="9144000" cy="5143500" type="screen16x9"/>
  <p:notesSz cx="6858000" cy="9144000"/>
  <p:custDataLst>
    <p:tags r:id="rId2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20053-14B9-7143-B11B-4A5F2A7032D2}" v="6" dt="2020-05-14T23:25:02.7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86725" autoAdjust="0"/>
  </p:normalViewPr>
  <p:slideViewPr>
    <p:cSldViewPr snapToGrid="0" showGuides="1">
      <p:cViewPr varScale="1">
        <p:scale>
          <a:sx n="126" d="100"/>
          <a:sy n="126" d="100"/>
        </p:scale>
        <p:origin x="1074" y="12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15/05/2020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rtl="0"/>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Módulo 9: Conceptos de la FHRP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670921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rtl="0"/>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39057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794673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rtl="0"/>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726893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b="0"/>
              <a:t>Cisco Networking Academy Program</a:t>
            </a:r>
          </a:p>
          <a:p>
            <a:pPr rtl="0"/>
            <a:r>
              <a:rPr lang="es-419">
                <a:solidFill>
                  <a:schemeClr val="accent5">
                    <a:lumMod val="40000"/>
                    <a:lumOff val="60000"/>
                  </a:schemeClr>
                </a:solidFill>
              </a:rPr>
              <a:t>Switching, Routing y Wireless Essentials (SRWE)</a:t>
            </a:r>
          </a:p>
          <a:p>
            <a:pPr rtl="0">
              <a:buFontTx/>
              <a:buNone/>
            </a:pPr>
            <a:r>
              <a:rPr lang="es-419">
                <a:solidFill>
                  <a:schemeClr val="accent5">
                    <a:lumMod val="40000"/>
                    <a:lumOff val="60000"/>
                  </a:schemeClr>
                </a:solidFill>
              </a:rPr>
              <a:t>Módulo 9: Conceptos de la FHRP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1263774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9</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9- Introducción</a:t>
            </a:r>
          </a:p>
          <a:p>
            <a:pPr rtl="0">
              <a:buFontTx/>
              <a:buNone/>
            </a:pPr>
            <a:r>
              <a:rPr lang="es-419"/>
              <a:t>9.0.2 - ¿Qué aprenderé a hacer en este módulo?</a:t>
            </a:r>
          </a:p>
        </p:txBody>
      </p:sp>
    </p:spTree>
    <p:extLst>
      <p:ext uri="{BB962C8B-B14F-4D97-AF65-F5344CB8AC3E}">
        <p14:creationId xmlns:p14="http://schemas.microsoft.com/office/powerpoint/2010/main" val="2962940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a:solidFill>
                  <a:schemeClr val="accent5">
                    <a:lumMod val="40000"/>
                    <a:lumOff val="60000"/>
                  </a:schemeClr>
                </a:solidFill>
              </a:rPr>
              <a:t>9</a:t>
            </a:r>
            <a:r>
              <a:rPr lang="es-419" sz="1200" baseline="0">
                <a:solidFill>
                  <a:schemeClr val="accent5">
                    <a:lumMod val="40000"/>
                    <a:lumOff val="60000"/>
                  </a:schemeClr>
                </a:solidFill>
              </a:rPr>
              <a:t> – </a:t>
            </a:r>
            <a:r>
              <a:rPr lang="es-419">
                <a:solidFill>
                  <a:schemeClr val="accent5">
                    <a:lumMod val="40000"/>
                    <a:lumOff val="60000"/>
                  </a:schemeClr>
                </a:solidFill>
              </a:rPr>
              <a:t>Conceptos de FHRP</a:t>
            </a:r>
          </a:p>
          <a:p>
            <a:pPr rtl="0">
              <a:buFontTx/>
              <a:buNone/>
            </a:pPr>
            <a:r>
              <a:rPr lang="es-419" sz="1200" b="0"/>
              <a:t>9.1 – Protocolos de redundancia de primer salto</a:t>
            </a:r>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2235152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9.1 – Protocolos de redundancia de primer salto</a:t>
            </a:r>
          </a:p>
          <a:p>
            <a:pPr rtl="0"/>
            <a:r>
              <a:rPr lang="es-419"/>
              <a:t>9.1.1 – Limitaciones del Gateway predeterminado</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1864933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9.1 – Protocolos de redundancia de primer salto</a:t>
            </a:r>
          </a:p>
          <a:p>
            <a:pPr rtl="0"/>
            <a:r>
              <a:rPr lang="es-419"/>
              <a:t>9.1.2 – Redundancia del router</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057709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9.1 – Protocolos de redundancia de primer salto</a:t>
            </a:r>
          </a:p>
          <a:p>
            <a:pPr rtl="0"/>
            <a:r>
              <a:rPr lang="es-419"/>
              <a:t>9.1.2 — Redundancia del router (cont.)</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89232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9.1 – Protocolos de redundancia de primer salto</a:t>
            </a:r>
          </a:p>
          <a:p>
            <a:pPr rtl="0"/>
            <a:r>
              <a:rPr lang="es-419"/>
              <a:t>9.1.3 – Pasos para la conmutación por falla del router</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2676503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9.1 – Protocolos de redundancia de primer salto</a:t>
            </a:r>
          </a:p>
          <a:p>
            <a:pPr rtl="0"/>
            <a:r>
              <a:rPr lang="es-419"/>
              <a:t>9.1.4 — Opciones de FHRP</a:t>
            </a:r>
          </a:p>
          <a:p>
            <a:pPr rtl="0"/>
            <a:r>
              <a:rPr lang="es-419"/>
              <a:t>9.1.5 — Compruebe su comprensión — Protocolos de redundancia de primer salto</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670372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a:solidFill>
                  <a:schemeClr val="accent5">
                    <a:lumMod val="40000"/>
                    <a:lumOff val="60000"/>
                  </a:schemeClr>
                </a:solidFill>
              </a:rPr>
              <a:t>9</a:t>
            </a:r>
            <a:r>
              <a:rPr lang="es-419" sz="1200" baseline="0">
                <a:solidFill>
                  <a:schemeClr val="accent5">
                    <a:lumMod val="40000"/>
                    <a:lumOff val="60000"/>
                  </a:schemeClr>
                </a:solidFill>
              </a:rPr>
              <a:t> – </a:t>
            </a:r>
            <a:r>
              <a:rPr lang="es-419">
                <a:solidFill>
                  <a:schemeClr val="accent5">
                    <a:lumMod val="40000"/>
                    <a:lumOff val="60000"/>
                  </a:schemeClr>
                </a:solidFill>
              </a:rPr>
              <a:t>Conceptos de FHRP</a:t>
            </a:r>
          </a:p>
          <a:p>
            <a:pPr rtl="0">
              <a:buFontTx/>
              <a:buNone/>
            </a:pPr>
            <a:r>
              <a:rPr lang="es-419" sz="1200" b="0"/>
              <a:t>9.2 — HSRP</a:t>
            </a:r>
          </a:p>
        </p:txBody>
      </p:sp>
      <p:sp>
        <p:nvSpPr>
          <p:cNvPr id="4" name="Slide Number Placeholder 3"/>
          <p:cNvSpPr>
            <a:spLocks noGrp="1"/>
          </p:cNvSpPr>
          <p:nvPr>
            <p:ph type="sldNum" sz="quarter" idx="10"/>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2494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9.2 – HSRP</a:t>
            </a:r>
          </a:p>
          <a:p>
            <a:pPr rtl="0"/>
            <a:r>
              <a:rPr lang="es-419"/>
              <a:t>9.2.1 – Descripción general de HSRP</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910342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9.2 – HSRP</a:t>
            </a:r>
          </a:p>
          <a:p>
            <a:pPr rtl="0"/>
            <a:r>
              <a:rPr lang="es-419"/>
              <a:t>9.2.2 – Prioridad e intento de prioridad del HSRP</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619096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9.2 – HSRP</a:t>
            </a:r>
          </a:p>
          <a:p>
            <a:pPr rtl="0"/>
            <a:r>
              <a:rPr lang="es-419"/>
              <a:t>9.2.2 – Prioridad e intento de prioridad del HSRP (Cont.)</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407666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9 – Conceptos de FHRP</a:t>
            </a:r>
          </a:p>
          <a:p>
            <a:pPr rtl="0"/>
            <a:r>
              <a:rPr lang="es-419"/>
              <a:t>9.2 — HSRP</a:t>
            </a:r>
          </a:p>
          <a:p>
            <a:pPr rtl="0"/>
            <a:r>
              <a:rPr lang="es-419"/>
              <a:t>9.2.3 – Temporizadores y estados del HSRP</a:t>
            </a:r>
          </a:p>
          <a:p>
            <a:pPr rtl="0"/>
            <a:r>
              <a:rPr lang="es-419"/>
              <a:t>9.2.4 – Verifique su comprensión - HSRP</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3454711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es-419">
                <a:solidFill>
                  <a:schemeClr val="accent5">
                    <a:lumMod val="40000"/>
                    <a:lumOff val="60000"/>
                  </a:schemeClr>
                </a:solidFill>
              </a:rPr>
              <a:t>9</a:t>
            </a:r>
            <a:r>
              <a:rPr lang="es-419" sz="1200" baseline="0">
                <a:solidFill>
                  <a:schemeClr val="accent5">
                    <a:lumMod val="40000"/>
                    <a:lumOff val="60000"/>
                  </a:schemeClr>
                </a:solidFill>
              </a:rPr>
              <a:t> – </a:t>
            </a:r>
            <a:r>
              <a:rPr lang="es-419">
                <a:solidFill>
                  <a:schemeClr val="accent5">
                    <a:lumMod val="40000"/>
                    <a:lumOff val="60000"/>
                  </a:schemeClr>
                </a:solidFill>
              </a:rPr>
              <a:t>Conceptos de FHRP</a:t>
            </a:r>
          </a:p>
          <a:p>
            <a:pPr rtl="0">
              <a:buFontTx/>
              <a:buNone/>
            </a:pPr>
            <a:r>
              <a:rPr lang="es-419" sz="1200" b="0"/>
              <a:t>9.3 – Práctica del módulo y cuestionario </a:t>
            </a:r>
          </a:p>
        </p:txBody>
      </p:sp>
      <p:sp>
        <p:nvSpPr>
          <p:cNvPr id="4" name="Slide Number Placeholder 3"/>
          <p:cNvSpPr>
            <a:spLocks noGrp="1"/>
          </p:cNvSpPr>
          <p:nvPr>
            <p:ph type="sldNum" sz="quarter" idx="10"/>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820114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22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9 – Conceptos de FHRP</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9.3.1 – ¿Qué aprendió en este módulo?</a:t>
            </a:r>
          </a:p>
        </p:txBody>
      </p:sp>
    </p:spTree>
    <p:extLst>
      <p:ext uri="{BB962C8B-B14F-4D97-AF65-F5344CB8AC3E}">
        <p14:creationId xmlns:p14="http://schemas.microsoft.com/office/powerpoint/2010/main" val="1639519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23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9 – Conceptos de FHRP</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9.3.1 – ¿Qué aprendió en este módulo? (continuación)</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9.3.2 — Cuestionario del módulo — Conceptos de FHRP</a:t>
            </a:r>
          </a:p>
        </p:txBody>
      </p:sp>
    </p:spTree>
    <p:extLst>
      <p:ext uri="{BB962C8B-B14F-4D97-AF65-F5344CB8AC3E}">
        <p14:creationId xmlns:p14="http://schemas.microsoft.com/office/powerpoint/2010/main" val="2235334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24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9 – Conceptos de FHRP</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9.3.3 — Packet Tracer — Guía de configuración de HSRP</a:t>
            </a:r>
          </a:p>
        </p:txBody>
      </p:sp>
    </p:spTree>
    <p:extLst>
      <p:ext uri="{BB962C8B-B14F-4D97-AF65-F5344CB8AC3E}">
        <p14:creationId xmlns:p14="http://schemas.microsoft.com/office/powerpoint/2010/main" val="2468489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25</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533706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1380865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9: Conceptos de la FHRP</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s-419" dirty="0"/>
              <a:t>Materiales del Instructor - Módulo 9, guía de planificación</a:t>
            </a:r>
          </a:p>
        </p:txBody>
      </p:sp>
      <p:sp>
        <p:nvSpPr>
          <p:cNvPr id="4099" name="Rectangle 34"/>
          <p:cNvSpPr>
            <a:spLocks noGrp="1" noChangeArrowheads="1"/>
          </p:cNvSpPr>
          <p:nvPr>
            <p:ph idx="1"/>
          </p:nvPr>
        </p:nvSpPr>
        <p:spPr>
          <a:xfrm>
            <a:off x="145357" y="808180"/>
            <a:ext cx="8915516" cy="3193936"/>
          </a:xfrm>
        </p:spPr>
        <p:txBody>
          <a:bodyPr/>
          <a:lstStyle/>
          <a:p>
            <a:pPr marL="0" indent="0">
              <a:buNone/>
            </a:pPr>
            <a:r>
              <a:rPr lang="es-419" dirty="0"/>
              <a:t>Esta presentación se divide en dos partes:</a:t>
            </a:r>
          </a:p>
          <a:p>
            <a:pPr>
              <a:buFont typeface="Arial" panose="020B0604020202020204" pitchFamily="34" charset="0"/>
              <a:buChar char="•"/>
            </a:pPr>
            <a:r>
              <a:rPr lang="es-419" dirty="0"/>
              <a:t>Guía de planificación del instructor</a:t>
            </a:r>
          </a:p>
          <a:p>
            <a:pPr lvl="1">
              <a:buFont typeface="Arial" panose="020B0604020202020204" pitchFamily="34" charset="0"/>
              <a:buChar char="•"/>
            </a:pPr>
            <a:r>
              <a:rPr lang="es-419" dirty="0"/>
              <a:t>Información para ayudarlo a familiarizarse con el módulo.</a:t>
            </a:r>
          </a:p>
          <a:p>
            <a:pPr lvl="1"/>
            <a:r>
              <a:rPr lang="es-419" dirty="0"/>
              <a:t>Material didáctico</a:t>
            </a:r>
          </a:p>
          <a:p>
            <a:r>
              <a:rPr lang="es-419" dirty="0"/>
              <a:t>Presentación del instructor de la clase</a:t>
            </a:r>
          </a:p>
          <a:p>
            <a:pPr lvl="1"/>
            <a:r>
              <a:rPr lang="es-419" dirty="0"/>
              <a:t>Diapositivas opcionales que puede usar en el aula.</a:t>
            </a:r>
          </a:p>
          <a:p>
            <a:pPr lvl="1"/>
            <a:r>
              <a:rPr lang="es-419" dirty="0"/>
              <a:t>Comienza en la diapositiva #8</a:t>
            </a:r>
          </a:p>
          <a:p>
            <a:pPr marL="142875" lvl="1" indent="0">
              <a:buNone/>
            </a:pPr>
            <a:r>
              <a:rPr lang="es-419" sz="1600" b="1" dirty="0"/>
              <a:t>Nota:</a:t>
            </a:r>
            <a:r>
              <a:rPr lang="es-419" sz="1600" dirty="0"/>
              <a:t> Elimine la Guía de planificación de esta presentación antes de compartirla con alguien.</a:t>
            </a:r>
          </a:p>
          <a:p>
            <a:pPr marL="0" indent="0">
              <a:buNone/>
            </a:pPr>
            <a:r>
              <a:rPr lang="es-419" sz="1600" b="1" dirty="0">
                <a:solidFill>
                  <a:schemeClr val="accent4"/>
                </a:solidFill>
              </a:rPr>
              <a:t>Para obtener ayuda y recursos adicionales, vaya a la página de inicio del instructor y a los recursos para este curso. También puede visitar el sitio de desarrollo profesional en netacad.com, la página oficial de Facebook de Cisco Networking Academy o el grupo Instructor Only de Facebook.</a:t>
            </a:r>
          </a:p>
        </p:txBody>
      </p:sp>
    </p:spTree>
    <p:custDataLst>
      <p:tags r:id="rId1"/>
    </p:custDataLst>
    <p:extLst>
      <p:ext uri="{BB962C8B-B14F-4D97-AF65-F5344CB8AC3E}">
        <p14:creationId xmlns:p14="http://schemas.microsoft.com/office/powerpoint/2010/main" val="232683559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itle 2">
            <a:extLst>
              <a:ext uri="{FF2B5EF4-FFF2-40B4-BE49-F238E27FC236}">
                <a16:creationId xmlns:a16="http://schemas.microsoft.com/office/drawing/2014/main" id="{C50DF337-3AEA-F74C-9C72-57267441A355}"/>
              </a:ext>
            </a:extLst>
          </p:cNvPr>
          <p:cNvSpPr>
            <a:spLocks noGrp="1"/>
          </p:cNvSpPr>
          <p:nvPr>
            <p:ph type="title"/>
          </p:nvPr>
        </p:nvSpPr>
        <p:spPr>
          <a:xfrm>
            <a:off x="0" y="189238"/>
            <a:ext cx="9144000" cy="609708"/>
          </a:xfrm>
        </p:spPr>
        <p:txBody>
          <a:bodyPr/>
          <a:lstStyle/>
          <a:p>
            <a:pPr rtl="0"/>
            <a:r>
              <a:rPr lang="es-419"/>
              <a:t>¿Qué esperar de este módulo?</a:t>
            </a:r>
          </a:p>
        </p:txBody>
      </p:sp>
      <p:sp>
        <p:nvSpPr>
          <p:cNvPr id="15" name="Content Placeholder 1">
            <a:extLst>
              <a:ext uri="{FF2B5EF4-FFF2-40B4-BE49-F238E27FC236}">
                <a16:creationId xmlns:a16="http://schemas.microsoft.com/office/drawing/2014/main" id="{F7BFF3B2-A342-104F-91B8-0E671279D1F2}"/>
              </a:ext>
            </a:extLst>
          </p:cNvPr>
          <p:cNvSpPr>
            <a:spLocks noGrp="1"/>
          </p:cNvSpPr>
          <p:nvPr>
            <p:ph idx="1"/>
          </p:nvPr>
        </p:nvSpPr>
        <p:spPr>
          <a:xfrm>
            <a:off x="144065" y="798945"/>
            <a:ext cx="8853286" cy="346366"/>
          </a:xfrm>
        </p:spPr>
        <p:txBody>
          <a:bodyPr/>
          <a:lstStyle/>
          <a:p>
            <a:pPr marL="0" indent="0" rtl="0">
              <a:buNone/>
            </a:pPr>
            <a:r>
              <a:rPr lang="es-419" dirty="0"/>
              <a:t>Para facilitar el aprendizaje, los siguientes funciones de interfaz de usuario pueden estar incluidas en este módulo:</a:t>
            </a:r>
          </a:p>
          <a:p>
            <a:pPr marL="0" indent="0">
              <a:buNone/>
            </a:pPr>
            <a:endParaRPr lang="en-US" dirty="0"/>
          </a:p>
          <a:p>
            <a:pPr marL="0" indent="0">
              <a:buNone/>
            </a:pPr>
            <a:endParaRPr lang="en-US" dirty="0"/>
          </a:p>
          <a:p>
            <a:pPr marL="0" indent="0">
              <a:buNone/>
            </a:pPr>
            <a:endParaRPr lang="en-US" dirty="0"/>
          </a:p>
        </p:txBody>
      </p:sp>
      <p:graphicFrame>
        <p:nvGraphicFramePr>
          <p:cNvPr id="16" name="Table 3">
            <a:extLst>
              <a:ext uri="{FF2B5EF4-FFF2-40B4-BE49-F238E27FC236}">
                <a16:creationId xmlns:a16="http://schemas.microsoft.com/office/drawing/2014/main" id="{1C95D7EB-8F49-4140-9BEC-E7168C59EE35}"/>
              </a:ext>
            </a:extLst>
          </p:cNvPr>
          <p:cNvGraphicFramePr>
            <a:graphicFrameLocks noGrp="1"/>
          </p:cNvGraphicFramePr>
          <p:nvPr>
            <p:extLst>
              <p:ext uri="{D42A27DB-BD31-4B8C-83A1-F6EECF244321}">
                <p14:modId xmlns:p14="http://schemas.microsoft.com/office/powerpoint/2010/main" val="3751579049"/>
              </p:ext>
            </p:extLst>
          </p:nvPr>
        </p:nvGraphicFramePr>
        <p:xfrm>
          <a:off x="291944" y="1368335"/>
          <a:ext cx="8557528" cy="3088407"/>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Característica</a:t>
                      </a:r>
                    </a:p>
                  </a:txBody>
                  <a:tcPr/>
                </a:tc>
                <a:tc>
                  <a:txBody>
                    <a:bodyPr/>
                    <a:lstStyle/>
                    <a:p>
                      <a:pPr rtl="0"/>
                      <a:r>
                        <a:rPr lang="es-419" dirty="0"/>
                        <a:t>Descripción</a:t>
                      </a:r>
                    </a:p>
                  </a:txBody>
                  <a:tcPr/>
                </a:tc>
                <a:extLst>
                  <a:ext uri="{0D108BD9-81ED-4DB2-BD59-A6C34878D82A}">
                    <a16:rowId xmlns:a16="http://schemas.microsoft.com/office/drawing/2014/main" val="367710602"/>
                  </a:ext>
                </a:extLst>
              </a:tr>
              <a:tr h="331556">
                <a:tc>
                  <a:txBody>
                    <a:bodyPr/>
                    <a:lstStyle/>
                    <a:p>
                      <a:pPr algn="l" rtl="0" fontAlgn="b"/>
                      <a:r>
                        <a:rPr lang="es-419" sz="1400" b="0" i="0" u="none" strike="noStrike" dirty="0">
                          <a:solidFill>
                            <a:srgbClr val="000000"/>
                          </a:solidFill>
                          <a:effectLst/>
                          <a:latin typeface="+mn-lt"/>
                        </a:rPr>
                        <a:t>Animaciones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Exponga a los aprendices a nuevas habilidades y conceptos.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Exponga a los aprendices a nuevas habilidades y conceptos.</a:t>
                      </a:r>
                    </a:p>
                  </a:txBody>
                  <a:tcPr/>
                </a:tc>
                <a:extLst>
                  <a:ext uri="{0D108BD9-81ED-4DB2-BD59-A6C34878D82A}">
                    <a16:rowId xmlns:a16="http://schemas.microsoft.com/office/drawing/2014/main" val="904576505"/>
                  </a:ext>
                </a:extLst>
              </a:tr>
              <a:tr h="265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400" dirty="0">
                          <a:solidFill>
                            <a:srgbClr val="000000"/>
                          </a:solidFill>
                        </a:rPr>
                        <a:t>Verifique su conocimiento</a:t>
                      </a:r>
                    </a:p>
                  </a:txBody>
                  <a:tcPr marL="9525" marR="9525" marT="9525" marB="0" anchor="b"/>
                </a:tc>
                <a:tc>
                  <a:txBody>
                    <a:bodyPr/>
                    <a:lstStyle/>
                    <a:p>
                      <a:pPr rtl="0"/>
                      <a:r>
                        <a:rPr lang="es-419"/>
                        <a:t>Pruebas en línea por tema, para ayudar a los estudiantes a medir la comprensión del contenido.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Actividades interactivas</a:t>
                      </a:r>
                    </a:p>
                  </a:txBody>
                  <a:tcPr marL="9525" marR="9525" marT="9525" marB="0" anchor="b"/>
                </a:tc>
                <a:tc>
                  <a:txBody>
                    <a:bodyPr/>
                    <a:lstStyle/>
                    <a:p>
                      <a:pPr rtl="0"/>
                      <a:r>
                        <a:rPr lang="es-419"/>
                        <a:t>Una variedad de formatos para ayudar a los alumnos a medir la comprensión del contenido.</a:t>
                      </a:r>
                    </a:p>
                  </a:txBody>
                  <a:tcPr/>
                </a:tc>
                <a:extLst>
                  <a:ext uri="{0D108BD9-81ED-4DB2-BD59-A6C34878D82A}">
                    <a16:rowId xmlns:a16="http://schemas.microsoft.com/office/drawing/2014/main" val="3454703549"/>
                  </a:ext>
                </a:extLst>
              </a:tr>
              <a:tr h="215293">
                <a:tc>
                  <a:txBody>
                    <a:bodyPr/>
                    <a:lstStyle/>
                    <a:p>
                      <a:pPr algn="l" rtl="0" fontAlgn="b"/>
                      <a:r>
                        <a:rPr lang="es-419" sz="1400" b="0" i="0" u="none" strike="noStrike">
                          <a:solidFill>
                            <a:srgbClr val="000000"/>
                          </a:solidFill>
                          <a:effectLst/>
                          <a:latin typeface="+mn-lt"/>
                        </a:rPr>
                        <a:t>Verificador de sintaxis</a:t>
                      </a:r>
                    </a:p>
                  </a:txBody>
                  <a:tcPr marL="9525" marR="9525" marT="9525" marB="0" anchor="b"/>
                </a:tc>
                <a:tc>
                  <a:txBody>
                    <a:bodyPr/>
                    <a:lstStyle/>
                    <a:p>
                      <a:pPr rtl="0"/>
                      <a:r>
                        <a:rPr lang="es-419"/>
                        <a:t>Pequeñas simulaciones que exponen a los alumnos a la línea de comandos de Cisco para practicar habilidades de configuración.</a:t>
                      </a:r>
                    </a:p>
                  </a:txBody>
                  <a:tcPr/>
                </a:tc>
                <a:extLst>
                  <a:ext uri="{0D108BD9-81ED-4DB2-BD59-A6C34878D82A}">
                    <a16:rowId xmlns:a16="http://schemas.microsoft.com/office/drawing/2014/main" val="2195331658"/>
                  </a:ext>
                </a:extLst>
              </a:tr>
              <a:tr h="265091">
                <a:tc>
                  <a:txBody>
                    <a:bodyPr/>
                    <a:lstStyle/>
                    <a:p>
                      <a:pPr algn="l" rtl="0" fontAlgn="b"/>
                      <a:r>
                        <a:rPr lang="es-419" sz="1400" b="0" i="0" u="none" strike="noStrike">
                          <a:solidFill>
                            <a:srgbClr val="000000"/>
                          </a:solidFill>
                          <a:effectLst/>
                          <a:latin typeface="+mn-lt"/>
                        </a:rPr>
                        <a:t>Actividad de PT</a:t>
                      </a:r>
                    </a:p>
                  </a:txBody>
                  <a:tcPr marL="9525" marR="9525" marT="9525" marB="0" anchor="b"/>
                </a:tc>
                <a:tc>
                  <a:txBody>
                    <a:bodyPr/>
                    <a:lstStyle/>
                    <a:p>
                      <a:pPr rtl="0"/>
                      <a:r>
                        <a:rPr lang="es-419" dirty="0"/>
                        <a:t>Actividades de simulación y modelado diseñadas para la exploración, adquisición, refuerzo y expansión de habilidades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97371318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FBB89110-B488-164E-8471-B0BED8348101}"/>
              </a:ext>
            </a:extLst>
          </p:cNvPr>
          <p:cNvSpPr>
            <a:spLocks noGrp="1"/>
          </p:cNvSpPr>
          <p:nvPr>
            <p:ph type="title"/>
          </p:nvPr>
        </p:nvSpPr>
        <p:spPr>
          <a:xfrm>
            <a:off x="0" y="-15285"/>
            <a:ext cx="9144000" cy="757238"/>
          </a:xfrm>
        </p:spPr>
        <p:txBody>
          <a:bodyPr/>
          <a:lstStyle/>
          <a:p>
            <a:pPr rtl="0"/>
            <a:r>
              <a:rPr lang="es-419"/>
              <a:t>¿Qué esperar de este módulo? (Cont.)</a:t>
            </a:r>
          </a:p>
        </p:txBody>
      </p:sp>
      <p:sp>
        <p:nvSpPr>
          <p:cNvPr id="8" name="Content Placeholder 1">
            <a:extLst>
              <a:ext uri="{FF2B5EF4-FFF2-40B4-BE49-F238E27FC236}">
                <a16:creationId xmlns:a16="http://schemas.microsoft.com/office/drawing/2014/main" id="{11E42F58-8C89-0C4E-84E0-38DD7403800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es-419"/>
              <a:t>Para facilitar el aprendizaje, los siguientes funciones pueden estar incluidas en este módulo:</a:t>
            </a:r>
          </a:p>
          <a:p>
            <a:pPr marL="0" indent="0">
              <a:buNone/>
            </a:pPr>
            <a:endParaRPr lang="en-US" dirty="0"/>
          </a:p>
          <a:p>
            <a:pPr marL="0" indent="0">
              <a:buNone/>
            </a:pPr>
            <a:endParaRPr lang="en-US" dirty="0"/>
          </a:p>
        </p:txBody>
      </p:sp>
      <p:graphicFrame>
        <p:nvGraphicFramePr>
          <p:cNvPr id="9" name="Content Placeholder 3">
            <a:extLst>
              <a:ext uri="{FF2B5EF4-FFF2-40B4-BE49-F238E27FC236}">
                <a16:creationId xmlns:a16="http://schemas.microsoft.com/office/drawing/2014/main" id="{555B3ED2-787A-BE4D-8ECA-D7A62B141070}"/>
              </a:ext>
            </a:extLst>
          </p:cNvPr>
          <p:cNvGraphicFramePr>
            <a:graphicFrameLocks noGrp="1"/>
          </p:cNvGraphicFramePr>
          <p:nvPr>
            <p:ph idx="1"/>
          </p:nvPr>
        </p:nvGraphicFramePr>
        <p:xfrm>
          <a:off x="106756" y="1279280"/>
          <a:ext cx="8595235" cy="216408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es-419" sz="1400" b="1" i="0" u="none" strike="noStrike">
                          <a:solidFill>
                            <a:schemeClr val="bg1"/>
                          </a:solidFill>
                          <a:effectLst/>
                          <a:latin typeface="+mn-lt"/>
                        </a:rPr>
                        <a:t>Característica</a:t>
                      </a:r>
                    </a:p>
                  </a:txBody>
                  <a:tcPr marL="9525" marR="9525" marT="9525" marB="0" anchor="b"/>
                </a:tc>
                <a:tc>
                  <a:txBody>
                    <a:bodyPr/>
                    <a:lstStyle/>
                    <a:p>
                      <a:pPr rtl="0"/>
                      <a:r>
                        <a:rPr lang="es-419"/>
                        <a:t>Descripción</a:t>
                      </a:r>
                    </a:p>
                  </a:txBody>
                  <a:tcPr/>
                </a:tc>
                <a:extLst>
                  <a:ext uri="{0D108BD9-81ED-4DB2-BD59-A6C34878D82A}">
                    <a16:rowId xmlns:a16="http://schemas.microsoft.com/office/drawing/2014/main" val="3768427975"/>
                  </a:ext>
                </a:extLst>
              </a:tr>
              <a:tr h="265091">
                <a:tc>
                  <a:txBody>
                    <a:bodyPr/>
                    <a:lstStyle/>
                    <a:p>
                      <a:pPr algn="l" rtl="0" fontAlgn="b"/>
                      <a:r>
                        <a:rPr lang="es-419" sz="1400" b="0" i="0" u="none" strike="noStrike">
                          <a:solidFill>
                            <a:srgbClr val="000000"/>
                          </a:solidFill>
                          <a:effectLst/>
                          <a:latin typeface="+mn-lt"/>
                        </a:rPr>
                        <a:t>Laboratorios prácticos</a:t>
                      </a:r>
                    </a:p>
                  </a:txBody>
                  <a:tcPr marL="9525" marR="9525" marT="9525" marB="0" anchor="b"/>
                </a:tc>
                <a:tc>
                  <a:txBody>
                    <a:bodyPr/>
                    <a:lstStyle/>
                    <a:p>
                      <a:pPr rtl="0"/>
                      <a:r>
                        <a:rPr lang="es-419"/>
                        <a:t>Labs diseñados para trabajar con equipo físico.</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s-419" sz="1400" b="0" i="0" u="none" strike="noStrike">
                          <a:solidFill>
                            <a:srgbClr val="000000"/>
                          </a:solidFill>
                          <a:effectLst/>
                          <a:latin typeface="+mn-lt"/>
                        </a:rPr>
                        <a:t>Actividades de clase</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Estos se encuentran en la página de Recursos para el instructor. Las actividades de clase están diseñadas para facilitar el aprendizaje, la discusión en clase y la colaboración.</a:t>
                      </a:r>
                    </a:p>
                  </a:txBody>
                  <a:tcPr/>
                </a:tc>
                <a:extLst>
                  <a:ext uri="{0D108BD9-81ED-4DB2-BD59-A6C34878D82A}">
                    <a16:rowId xmlns:a16="http://schemas.microsoft.com/office/drawing/2014/main" val="1125566603"/>
                  </a:ext>
                </a:extLst>
              </a:tr>
              <a:tr h="265091">
                <a:tc>
                  <a:txBody>
                    <a:bodyPr/>
                    <a:lstStyle/>
                    <a:p>
                      <a:pPr algn="l" rtl="0" fontAlgn="b"/>
                      <a:r>
                        <a:rPr lang="es-419" sz="1400" b="0" i="0" u="none" strike="noStrike">
                          <a:solidFill>
                            <a:srgbClr val="000000"/>
                          </a:solidFill>
                          <a:effectLst/>
                          <a:latin typeface="+mn-lt"/>
                        </a:rPr>
                        <a:t>Cuestionarios de módulo</a:t>
                      </a:r>
                    </a:p>
                  </a:txBody>
                  <a:tcPr marL="9525" marR="9525" marT="9525" marB="0" anchor="b"/>
                </a:tc>
                <a:tc>
                  <a:txBody>
                    <a:bodyPr/>
                    <a:lstStyle/>
                    <a:p>
                      <a:pPr rtl="0"/>
                      <a:r>
                        <a:rPr lang="es-419"/>
                        <a:t>Auto-evaluaciones que integran conceptos y habilidades aprendidas a lo largo de los temas presentados en el módulo</a:t>
                      </a:r>
                    </a:p>
                  </a:txBody>
                  <a:tcPr/>
                </a:tc>
                <a:extLst>
                  <a:ext uri="{0D108BD9-81ED-4DB2-BD59-A6C34878D82A}">
                    <a16:rowId xmlns:a16="http://schemas.microsoft.com/office/drawing/2014/main" val="831502776"/>
                  </a:ext>
                </a:extLst>
              </a:tr>
              <a:tr h="265091">
                <a:tc>
                  <a:txBody>
                    <a:bodyPr/>
                    <a:lstStyle/>
                    <a:p>
                      <a:pPr algn="l" rtl="0" fontAlgn="b"/>
                      <a:r>
                        <a:rPr lang="es-419" sz="1400" b="0" i="0" u="none" strike="noStrike">
                          <a:solidFill>
                            <a:srgbClr val="000000"/>
                          </a:solidFill>
                          <a:effectLst/>
                          <a:latin typeface="+mn-lt"/>
                        </a:rPr>
                        <a:t>Resumen del módulo</a:t>
                      </a:r>
                    </a:p>
                  </a:txBody>
                  <a:tcPr marL="9525" marR="9525" marT="9525" marB="0" anchor="b"/>
                </a:tc>
                <a:tc>
                  <a:txBody>
                    <a:bodyPr/>
                    <a:lstStyle/>
                    <a:p>
                      <a:pPr rtl="0"/>
                      <a:r>
                        <a:rPr lang="es-419"/>
                        <a:t>Recapitula brevemente el contenido del módulo.</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58591459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33">
            <a:extLst>
              <a:ext uri="{FF2B5EF4-FFF2-40B4-BE49-F238E27FC236}">
                <a16:creationId xmlns:a16="http://schemas.microsoft.com/office/drawing/2014/main" id="{2DA0BA8E-987F-A04A-992C-24F2A2F34EBF}"/>
              </a:ext>
            </a:extLst>
          </p:cNvPr>
          <p:cNvSpPr>
            <a:spLocks noGrp="1" noChangeArrowheads="1"/>
          </p:cNvSpPr>
          <p:nvPr>
            <p:ph type="title"/>
          </p:nvPr>
        </p:nvSpPr>
        <p:spPr>
          <a:xfrm>
            <a:off x="1" y="41393"/>
            <a:ext cx="9144000" cy="757551"/>
          </a:xfrm>
        </p:spPr>
        <p:txBody>
          <a:bodyPr/>
          <a:lstStyle/>
          <a:p>
            <a:r>
              <a:rPr lang="es-419" dirty="0"/>
              <a:t>Verifique su conocimiento</a:t>
            </a:r>
          </a:p>
        </p:txBody>
      </p:sp>
      <p:sp>
        <p:nvSpPr>
          <p:cNvPr id="7" name="Rectangle 34">
            <a:extLst>
              <a:ext uri="{FF2B5EF4-FFF2-40B4-BE49-F238E27FC236}">
                <a16:creationId xmlns:a16="http://schemas.microsoft.com/office/drawing/2014/main" id="{C680F8B9-154C-2D4C-B6AB-1AE4EF603762}"/>
              </a:ext>
            </a:extLst>
          </p:cNvPr>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s-419" dirty="0"/>
              <a:t>Las actividades de Verifique su conocimiento están diseñadas para permitir que los estudiantes determinen rápidamente si comprenden el contenido para continuar con el curso, o si necesitan revisarlo.</a:t>
            </a:r>
          </a:p>
          <a:p>
            <a:pPr>
              <a:spcBef>
                <a:spcPct val="30000"/>
              </a:spcBef>
              <a:buFont typeface="Arial" panose="020B0604020202020204" pitchFamily="34" charset="0"/>
              <a:buChar char="•"/>
            </a:pPr>
            <a:r>
              <a:rPr lang="es-419" dirty="0"/>
              <a:t>Las actividades de Verifique su conocimiento </a:t>
            </a:r>
            <a:r>
              <a:rPr lang="es-419" b="1" dirty="0"/>
              <a:t>no</a:t>
            </a:r>
            <a:r>
              <a:rPr lang="es-419" dirty="0"/>
              <a:t> afectan las calificaciones de los estudiantes.</a:t>
            </a:r>
          </a:p>
          <a:p>
            <a:pPr>
              <a:spcBef>
                <a:spcPct val="30000"/>
              </a:spcBef>
              <a:buFont typeface="Arial" panose="020B0604020202020204" pitchFamily="34" charset="0"/>
              <a:buChar char="•"/>
            </a:pPr>
            <a:r>
              <a:rPr lang="es-419" dirty="0"/>
              <a:t>No hay diapositivas separadas para estas actividades en el PPT. Se enumeran en el área de notas de la diapositiva que aparece antes de estas actividades.</a:t>
            </a:r>
            <a:endParaRPr lang="en-US" dirty="0"/>
          </a:p>
          <a:p>
            <a:pPr>
              <a:spcBef>
                <a:spcPct val="30000"/>
              </a:spcBef>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117456422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r>
              <a:rPr lang="es-419" dirty="0"/>
              <a:t>Módulo 9: Actividades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s-419" dirty="0"/>
              <a:t>¿Qué actividades están asociadas con este módulo?</a:t>
            </a: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491203995"/>
              </p:ext>
            </p:extLst>
          </p:nvPr>
        </p:nvGraphicFramePr>
        <p:xfrm>
          <a:off x="457291" y="1190108"/>
          <a:ext cx="8229418" cy="135378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s-419" sz="1200" dirty="0"/>
                        <a:t>Página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200" dirty="0"/>
                        <a:t>Tipo de actividad</a:t>
                      </a:r>
                    </a:p>
                  </a:txBody>
                  <a:tcPr marL="68580" marR="68580" marT="34290" marB="34290" anchor="ctr"/>
                </a:tc>
                <a:tc>
                  <a:txBody>
                    <a:bodyPr/>
                    <a:lstStyle/>
                    <a:p>
                      <a:pPr rtl="0"/>
                      <a:r>
                        <a:rPr lang="es-419" sz="1200" dirty="0"/>
                        <a:t>Nombre de la actividad</a:t>
                      </a:r>
                    </a:p>
                  </a:txBody>
                  <a:tcPr marL="68580" marR="68580" marT="34290" marB="34290" anchor="ctr"/>
                </a:tc>
                <a:tc>
                  <a:txBody>
                    <a:bodyPr/>
                    <a:lstStyle/>
                    <a:p>
                      <a:pPr rtl="0"/>
                      <a:r>
                        <a:rPr lang="es-419" sz="1200" dirty="0"/>
                        <a:t>¿Opcional?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es-419" sz="1100">
                          <a:solidFill>
                            <a:srgbClr val="000000"/>
                          </a:solidFill>
                        </a:rPr>
                        <a:t>9.1.5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Verifique su conocimiento</a:t>
                      </a:r>
                    </a:p>
                  </a:txBody>
                  <a:tcPr marL="68580" marR="68580" marT="34290" marB="34290" anchor="ctr"/>
                </a:tc>
                <a:tc>
                  <a:txBody>
                    <a:bodyPr/>
                    <a:lstStyle/>
                    <a:p>
                      <a:pPr rtl="0"/>
                      <a:r>
                        <a:rPr lang="es-419" sz="1100" dirty="0">
                          <a:solidFill>
                            <a:srgbClr val="000000"/>
                          </a:solidFill>
                        </a:rPr>
                        <a:t>Protocolos de redundancia del primer salto</a:t>
                      </a:r>
                    </a:p>
                  </a:txBody>
                  <a:tcPr marL="68580" marR="68580" marT="34290" marB="34290" anchor="ctr"/>
                </a:tc>
                <a:tc>
                  <a:txBody>
                    <a:bodyPr/>
                    <a:lstStyle/>
                    <a:p>
                      <a:pPr rtl="0"/>
                      <a:r>
                        <a:rPr lang="es-419" sz="1100" dirty="0">
                          <a:solidFill>
                            <a:srgbClr val="000000"/>
                          </a:solidFill>
                        </a:rPr>
                        <a:t>Se recomienda</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es-419" sz="1100">
                          <a:solidFill>
                            <a:srgbClr val="000000"/>
                          </a:solidFill>
                        </a:rPr>
                        <a:t>9.2.4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Verifique su conocimiento</a:t>
                      </a:r>
                    </a:p>
                  </a:txBody>
                  <a:tcPr marL="68580" marR="68580" marT="34290" marB="34290" anchor="ctr"/>
                </a:tc>
                <a:tc>
                  <a:txBody>
                    <a:bodyPr/>
                    <a:lstStyle/>
                    <a:p>
                      <a:pPr rtl="0"/>
                      <a:r>
                        <a:rPr lang="es-419" sz="1100">
                          <a:solidFill>
                            <a:srgbClr val="000000"/>
                          </a:solidFill>
                        </a:rPr>
                        <a:t>HSRP</a:t>
                      </a:r>
                    </a:p>
                  </a:txBody>
                  <a:tcPr marL="68580" marR="68580" marT="34290" marB="34290" anchor="ctr"/>
                </a:tc>
                <a:tc>
                  <a:txBody>
                    <a:bodyPr/>
                    <a:lstStyle/>
                    <a:p>
                      <a:pPr rtl="0"/>
                      <a:r>
                        <a:rPr lang="es-419" sz="1100" dirty="0">
                          <a:solidFill>
                            <a:srgbClr val="000000"/>
                          </a:solidFill>
                        </a:rPr>
                        <a:t>Se recomienda</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es-419" sz="1100">
                          <a:solidFill>
                            <a:srgbClr val="000000"/>
                          </a:solidFill>
                        </a:rPr>
                        <a:t>9.3.3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sz="1100" dirty="0">
                          <a:solidFill>
                            <a:srgbClr val="000000"/>
                          </a:solidFill>
                        </a:rPr>
                        <a:t>Guía de configuración de HSRP</a:t>
                      </a:r>
                    </a:p>
                  </a:txBody>
                  <a:tcPr marL="68580" marR="68580" marT="34290" marB="34290" anchor="ctr"/>
                </a:tc>
                <a:tc>
                  <a:txBody>
                    <a:bodyPr/>
                    <a:lstStyle/>
                    <a:p>
                      <a:pPr rtl="0"/>
                      <a:r>
                        <a:rPr lang="es-419" sz="1100" dirty="0">
                          <a:solidFill>
                            <a:srgbClr val="000000"/>
                          </a:solidFill>
                        </a:rPr>
                        <a:t>Se recomienda</a:t>
                      </a:r>
                    </a:p>
                  </a:txBody>
                  <a:tcPr marL="68580" marR="68580" marT="34290" marB="34290" anchor="ctr"/>
                </a:tc>
                <a:extLst>
                  <a:ext uri="{0D108BD9-81ED-4DB2-BD59-A6C34878D82A}">
                    <a16:rowId xmlns:a16="http://schemas.microsoft.com/office/drawing/2014/main" val="2582900979"/>
                  </a:ext>
                </a:extLst>
              </a:tr>
            </a:tbl>
          </a:graphicData>
        </a:graphic>
      </p:graphicFrame>
    </p:spTree>
    <p:custDataLst>
      <p:tags r:id="rId1"/>
    </p:custDataLst>
    <p:extLst>
      <p:ext uri="{BB962C8B-B14F-4D97-AF65-F5344CB8AC3E}">
        <p14:creationId xmlns:p14="http://schemas.microsoft.com/office/powerpoint/2010/main" val="182943238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419" dirty="0"/>
              <a:t>Módulo 9: Mejores Prácticas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s-419" sz="1400" dirty="0"/>
              <a:t>Antes de enseñar el Módulo 9, el instructor debe:</a:t>
            </a:r>
          </a:p>
          <a:p>
            <a:pPr>
              <a:lnSpc>
                <a:spcPct val="85000"/>
              </a:lnSpc>
              <a:spcBef>
                <a:spcPct val="30000"/>
              </a:spcBef>
              <a:buFont typeface="Arial" panose="020B0604020202020204" pitchFamily="34" charset="0"/>
              <a:buChar char="•"/>
            </a:pPr>
            <a:r>
              <a:rPr lang="es-419" sz="1400" dirty="0"/>
              <a:t>Revisar las actividades y evaluaciones para este módulo.</a:t>
            </a:r>
          </a:p>
          <a:p>
            <a:pPr>
              <a:lnSpc>
                <a:spcPct val="85000"/>
              </a:lnSpc>
              <a:spcBef>
                <a:spcPct val="30000"/>
              </a:spcBef>
              <a:buFont typeface="Arial" panose="020B0604020202020204" pitchFamily="34" charset="0"/>
              <a:buChar char="•"/>
            </a:pPr>
            <a:r>
              <a:rPr lang="es-419" sz="1400" dirty="0"/>
              <a:t>Intentar incluir tantas preguntas como sea posible para mantener a los estudiantes interesados durante la presentación en la clase.</a:t>
            </a:r>
          </a:p>
          <a:p>
            <a:pPr>
              <a:lnSpc>
                <a:spcPct val="85000"/>
              </a:lnSpc>
              <a:spcBef>
                <a:spcPct val="30000"/>
              </a:spcBef>
              <a:buFont typeface="Arial" panose="020B0604020202020204" pitchFamily="34" charset="0"/>
              <a:buChar char="•"/>
            </a:pPr>
            <a:r>
              <a:rPr lang="es-419" sz="1400" dirty="0"/>
              <a:t>Después de este módulo, el examen de redes disponibles y confiables estará habilitado, cubriendo los módulos 7-9.</a:t>
            </a:r>
          </a:p>
          <a:p>
            <a:pPr marL="0" indent="0">
              <a:lnSpc>
                <a:spcPct val="85000"/>
              </a:lnSpc>
              <a:spcBef>
                <a:spcPct val="30000"/>
              </a:spcBef>
              <a:buNone/>
            </a:pPr>
            <a:r>
              <a:rPr lang="es-419" sz="1400" dirty="0"/>
              <a:t>Tema 9.1</a:t>
            </a:r>
          </a:p>
          <a:p>
            <a:pPr lvl="1">
              <a:lnSpc>
                <a:spcPct val="85000"/>
              </a:lnSpc>
              <a:spcBef>
                <a:spcPct val="30000"/>
              </a:spcBef>
            </a:pPr>
            <a:r>
              <a:rPr lang="es-419" dirty="0"/>
              <a:t>Preguntar a los estudiantes o tenga una discusión en clase:</a:t>
            </a:r>
          </a:p>
          <a:p>
            <a:pPr lvl="1">
              <a:lnSpc>
                <a:spcPct val="85000"/>
              </a:lnSpc>
              <a:spcBef>
                <a:spcPct val="30000"/>
              </a:spcBef>
            </a:pPr>
            <a:r>
              <a:rPr lang="es-419" dirty="0"/>
              <a:t>¿Qué pasaría si hubiera dos posibles puertas de enlace predeterminadas, pero la que su host conectó se cayó?</a:t>
            </a:r>
          </a:p>
          <a:p>
            <a:pPr marL="0" indent="0">
              <a:lnSpc>
                <a:spcPct val="85000"/>
              </a:lnSpc>
              <a:spcBef>
                <a:spcPct val="30000"/>
              </a:spcBef>
              <a:buNone/>
            </a:pPr>
            <a:r>
              <a:rPr lang="es-419" sz="1400" dirty="0"/>
              <a:t>Tema 9.2</a:t>
            </a:r>
          </a:p>
          <a:p>
            <a:pPr lvl="1">
              <a:lnSpc>
                <a:spcPct val="85000"/>
              </a:lnSpc>
              <a:spcBef>
                <a:spcPct val="30000"/>
              </a:spcBef>
            </a:pPr>
            <a:r>
              <a:rPr lang="es-419" dirty="0"/>
              <a:t>Preguntar a los estudiantes o tenga una discusión en clase:</a:t>
            </a:r>
          </a:p>
          <a:p>
            <a:pPr lvl="2">
              <a:lnSpc>
                <a:spcPct val="85000"/>
              </a:lnSpc>
              <a:spcBef>
                <a:spcPct val="30000"/>
              </a:spcBef>
            </a:pPr>
            <a:r>
              <a:rPr lang="es-419" sz="1400" dirty="0"/>
              <a:t>¿Cómo cree que dos routers podrían proporcionar una puerta de enlace predeterminada consistente para los hosts LAN?</a:t>
            </a:r>
          </a:p>
          <a:p>
            <a:pPr lvl="2">
              <a:lnSpc>
                <a:spcPct val="85000"/>
              </a:lnSpc>
              <a:spcBef>
                <a:spcPct val="30000"/>
              </a:spcBef>
            </a:pPr>
            <a:r>
              <a:rPr lang="es-419" sz="1400" dirty="0"/>
              <a:t>¿Cómo funciona HSRP?</a:t>
            </a: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10615701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(SRWE)</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9: Conceptos de FHRP</a:t>
            </a:r>
          </a:p>
        </p:txBody>
      </p:sp>
    </p:spTree>
    <p:custDataLst>
      <p:tags r:id="rId1"/>
    </p:custDataLst>
    <p:extLst>
      <p:ext uri="{BB962C8B-B14F-4D97-AF65-F5344CB8AC3E}">
        <p14:creationId xmlns:p14="http://schemas.microsoft.com/office/powerpoint/2010/main" val="65477507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Titulo del Módulo: </a:t>
            </a:r>
            <a:r>
              <a:rPr lang="es-419" sz="1400">
                <a:solidFill>
                  <a:schemeClr val="tx1"/>
                </a:solidFill>
                <a:ea typeface="Calibri" panose="020F0502020204030204" pitchFamily="34" charset="0"/>
                <a:cs typeface="Calibri" panose="020F0502020204030204" pitchFamily="34" charset="0"/>
              </a:rPr>
              <a:t>conceptos FHRP</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a:solidFill>
                  <a:schemeClr val="tx1"/>
                </a:solidFill>
                <a:ea typeface="Calibri" panose="020F0502020204030204" pitchFamily="34" charset="0"/>
                <a:cs typeface="Calibri" panose="020F0502020204030204" pitchFamily="34" charset="0"/>
              </a:rPr>
              <a:t>Objetivo del módulo</a:t>
            </a:r>
            <a:r>
              <a:rPr lang="es-419" sz="1400">
                <a:solidFill>
                  <a:schemeClr val="tx1"/>
                </a:solidFill>
                <a:ea typeface="Calibri" panose="020F0502020204030204" pitchFamily="34" charset="0"/>
                <a:cs typeface="Calibri" panose="020F0502020204030204" pitchFamily="34" charset="0"/>
              </a:rPr>
              <a:t>: </a:t>
            </a:r>
            <a:r>
              <a:rPr lang="es-419" sz="1400"/>
              <a:t> Explique cómo los FHRP proporcionan servicios de Gateway predeterminados en una red redundante.</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459279826"/>
              </p:ext>
            </p:extLst>
          </p:nvPr>
        </p:nvGraphicFramePr>
        <p:xfrm>
          <a:off x="655782" y="1939925"/>
          <a:ext cx="7555085" cy="126365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dirty="0">
                          <a:solidFill>
                            <a:schemeClr val="bg1"/>
                          </a:solidFill>
                          <a:effectLst/>
                        </a:rPr>
                        <a:t>Protocolos de redundancia de primer salto</a:t>
                      </a:r>
                    </a:p>
                  </a:txBody>
                  <a:tcPr marL="47625" marR="47625" marT="47625" marB="47625" anchor="ctr">
                    <a:solidFill>
                      <a:schemeClr val="accent1"/>
                    </a:solidFill>
                  </a:tcPr>
                </a:tc>
                <a:tc>
                  <a:txBody>
                    <a:bodyPr/>
                    <a:lstStyle/>
                    <a:p>
                      <a:pPr rtl="0" fontAlgn="ctr"/>
                      <a:r>
                        <a:rPr lang="es-419" b="0">
                          <a:effectLst/>
                        </a:rPr>
                        <a:t>Describa el propósito y el funcionamiento de los protocolos de redundancia de primer salto.</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a:solidFill>
                            <a:schemeClr val="bg1"/>
                          </a:solidFill>
                          <a:effectLst/>
                        </a:rPr>
                        <a:t>HSRP</a:t>
                      </a:r>
                    </a:p>
                  </a:txBody>
                  <a:tcPr marL="47625" marR="47625" marT="47625" marB="47625" anchor="ctr">
                    <a:solidFill>
                      <a:schemeClr val="accent1"/>
                    </a:solidFill>
                  </a:tcPr>
                </a:tc>
                <a:tc>
                  <a:txBody>
                    <a:bodyPr/>
                    <a:lstStyle/>
                    <a:p>
                      <a:pPr rtl="0" fontAlgn="ctr"/>
                      <a:r>
                        <a:rPr lang="es-419" b="0" dirty="0">
                          <a:effectLst/>
                        </a:rPr>
                        <a:t>Explique cómo funciona el HSRP.</a:t>
                      </a:r>
                    </a:p>
                  </a:txBody>
                  <a:tcPr marL="47625" marR="47625" marT="47625" marB="47625" anchor="ctr"/>
                </a:tc>
                <a:extLst>
                  <a:ext uri="{0D108BD9-81ED-4DB2-BD59-A6C34878D82A}">
                    <a16:rowId xmlns:a16="http://schemas.microsoft.com/office/drawing/2014/main" val="2772085455"/>
                  </a:ext>
                </a:extLst>
              </a:tr>
            </a:tbl>
          </a:graphicData>
        </a:graphic>
      </p:graphicFrame>
    </p:spTree>
    <p:custDataLst>
      <p:tags r:id="rId1"/>
    </p:custDataLst>
    <p:extLst>
      <p:ext uri="{BB962C8B-B14F-4D97-AF65-F5344CB8AC3E}">
        <p14:creationId xmlns:p14="http://schemas.microsoft.com/office/powerpoint/2010/main" val="400931223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9.1 Protocolos de redundancia de primer salto</a:t>
            </a:r>
          </a:p>
        </p:txBody>
      </p:sp>
    </p:spTree>
    <p:custDataLst>
      <p:tags r:id="rId1"/>
    </p:custDataLst>
    <p:extLst>
      <p:ext uri="{BB962C8B-B14F-4D97-AF65-F5344CB8AC3E}">
        <p14:creationId xmlns:p14="http://schemas.microsoft.com/office/powerpoint/2010/main" val="226496481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Protocolos de redundancia del primer salto</a:t>
            </a:r>
            <a:br>
              <a:rPr lang="en-US" dirty="0"/>
            </a:br>
            <a:r>
              <a:rPr lang="es-419" sz="2400" dirty="0"/>
              <a:t>Limitaciones del gateway predeterminado</a:t>
            </a:r>
          </a:p>
        </p:txBody>
      </p:sp>
      <p:sp>
        <p:nvSpPr>
          <p:cNvPr id="4" name="Content Placeholder 3">
            <a:extLst>
              <a:ext uri="{FF2B5EF4-FFF2-40B4-BE49-F238E27FC236}">
                <a16:creationId xmlns:a16="http://schemas.microsoft.com/office/drawing/2014/main" id="{3D5485CB-B816-1A47-B966-D19EA3F3139D}"/>
              </a:ext>
            </a:extLst>
          </p:cNvPr>
          <p:cNvSpPr>
            <a:spLocks noGrp="1"/>
          </p:cNvSpPr>
          <p:nvPr>
            <p:ph idx="1"/>
          </p:nvPr>
        </p:nvSpPr>
        <p:spPr>
          <a:xfrm>
            <a:off x="174567" y="731837"/>
            <a:ext cx="4958986" cy="3963453"/>
          </a:xfrm>
        </p:spPr>
        <p:txBody>
          <a:bodyPr/>
          <a:lstStyle/>
          <a:p>
            <a:pPr marL="0" indent="0" algn="l" rtl="0">
              <a:spcBef>
                <a:spcPts val="0"/>
              </a:spcBef>
            </a:pPr>
            <a:r>
              <a:rPr lang="es-419" sz="1600" dirty="0">
                <a:solidFill>
                  <a:srgbClr val="000000"/>
                </a:solidFill>
              </a:rPr>
              <a:t>Los dispositivos finales generalmente se configuran con una única dirección IPv4 de puerta de enlace predeterminada. </a:t>
            </a:r>
          </a:p>
          <a:p>
            <a:pPr marL="0" indent="0" algn="l" rtl="0">
              <a:spcBef>
                <a:spcPts val="0"/>
              </a:spcBef>
            </a:pPr>
            <a:endParaRPr lang="es-419" sz="1600" dirty="0">
              <a:solidFill>
                <a:srgbClr val="000000"/>
              </a:solidFill>
            </a:endParaRPr>
          </a:p>
          <a:p>
            <a:pPr marL="285750" indent="-285750" algn="l" rtl="0">
              <a:spcBef>
                <a:spcPts val="0"/>
              </a:spcBef>
              <a:buFont typeface="Arial" panose="020B0604020202020204" pitchFamily="34" charset="0"/>
              <a:buChar char="•"/>
            </a:pPr>
            <a:r>
              <a:rPr lang="es-419" sz="1600" dirty="0">
                <a:solidFill>
                  <a:srgbClr val="000000"/>
                </a:solidFill>
              </a:rPr>
              <a:t>Si falla la interfaz de router de puerta de enlace predeterminada, los hosts LAN pierden conectividad LAN externa.</a:t>
            </a:r>
          </a:p>
          <a:p>
            <a:pPr marL="285750" indent="-285750" algn="l" rtl="0">
              <a:spcBef>
                <a:spcPts val="0"/>
              </a:spcBef>
              <a:buFont typeface="Arial" panose="020B0604020202020204" pitchFamily="34" charset="0"/>
              <a:buChar char="•"/>
            </a:pPr>
            <a:r>
              <a:rPr lang="es-419" sz="1600" dirty="0">
                <a:solidFill>
                  <a:srgbClr val="000000"/>
                </a:solidFill>
              </a:rPr>
              <a:t>Esto ocurre incluso si existe un router redundante o un switch de capa 3 que podría servir como puerta de enlace predeterminada.</a:t>
            </a:r>
          </a:p>
          <a:p>
            <a:pPr marL="0" indent="0" algn="l">
              <a:spcBef>
                <a:spcPts val="0"/>
              </a:spcBef>
            </a:pPr>
            <a:endParaRPr lang="en-US" sz="1600" dirty="0">
              <a:solidFill>
                <a:srgbClr val="000000"/>
              </a:solidFill>
            </a:endParaRPr>
          </a:p>
          <a:p>
            <a:pPr marL="0" indent="0" algn="l" rtl="0"/>
            <a:r>
              <a:rPr lang="es-419" sz="1600" dirty="0">
                <a:solidFill>
                  <a:srgbClr val="000000"/>
                </a:solidFill>
              </a:rPr>
              <a:t>Los protocolos de redundancia de primer salto (FHRP) son mecanismos que proporcionan puertas de enlace predeterminadas alternativas en redes conmutadas donde dos o más routers están conectados a las mismas VLAN. </a:t>
            </a: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02A458F8-CA96-41B9-8641-6706CA960241}"/>
              </a:ext>
            </a:extLst>
          </p:cNvPr>
          <p:cNvPicPr>
            <a:picLocks noChangeAspect="1"/>
          </p:cNvPicPr>
          <p:nvPr/>
        </p:nvPicPr>
        <p:blipFill>
          <a:blip r:embed="rId4"/>
          <a:stretch>
            <a:fillRect/>
          </a:stretch>
        </p:blipFill>
        <p:spPr>
          <a:xfrm>
            <a:off x="5483614" y="947854"/>
            <a:ext cx="3157448" cy="2922428"/>
          </a:xfrm>
          <a:prstGeom prst="rect">
            <a:avLst/>
          </a:prstGeom>
        </p:spPr>
      </p:pic>
    </p:spTree>
    <p:custDataLst>
      <p:tags r:id="rId1"/>
    </p:custDataLst>
    <p:extLst>
      <p:ext uri="{BB962C8B-B14F-4D97-AF65-F5344CB8AC3E}">
        <p14:creationId xmlns:p14="http://schemas.microsoft.com/office/powerpoint/2010/main" val="175767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Protocolos de redundancia del primer salto</a:t>
            </a:r>
            <a:br>
              <a:rPr lang="es-419" sz="1600" dirty="0"/>
            </a:br>
            <a:r>
              <a:rPr lang="es-419" sz="2400" dirty="0"/>
              <a:t>Redundancia del router</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0" indent="0" algn="l" rtl="0"/>
            <a:r>
              <a:rPr lang="es-419" sz="1400" dirty="0">
                <a:solidFill>
                  <a:srgbClr val="000000"/>
                </a:solidFill>
              </a:rPr>
              <a:t>Una forma de evitar un único punto de falla en la puerta de enlace predeterminada es implementar un router virtual. Para implementar este tipo de redundancia de routers, varios routers están configurados para trabajar juntos y presentar la ilusión de un solo router a los hosts en la LAN. Al compartir una dirección IP y una dirección MAC, dos o más routers pueden funcionar como un único router virtual.</a:t>
            </a:r>
          </a:p>
          <a:p>
            <a:pPr marL="342900" indent="-342900" algn="l" rtl="0">
              <a:buFont typeface="Arial" panose="020B0604020202020204" pitchFamily="34" charset="0"/>
              <a:buChar char="•"/>
            </a:pPr>
            <a:r>
              <a:rPr lang="es-419" sz="1400" dirty="0">
                <a:solidFill>
                  <a:srgbClr val="000000"/>
                </a:solidFill>
              </a:rPr>
              <a:t>La dirección IPv4 del router virtual se configura como la puerta de enlace predeterminada para las estaciones de trabajo de un segmento específico de IPv4. </a:t>
            </a:r>
          </a:p>
          <a:p>
            <a:pPr marL="342900" indent="-342900" algn="l" rtl="0">
              <a:buFont typeface="Arial" panose="020B0604020202020204" pitchFamily="34" charset="0"/>
              <a:buChar char="•"/>
            </a:pPr>
            <a:r>
              <a:rPr lang="es-419" sz="1400" dirty="0">
                <a:solidFill>
                  <a:srgbClr val="000000"/>
                </a:solidFill>
              </a:rPr>
              <a:t>Cuando se envían tramas desde los dispositivos host hacia la puerta de enlace predeterminada, los hosts utilizan ARP para resolver la dirección MAC asociada a la dirección IPv4 de la puerta de enlace predeterminada. La resolución de ARP devuelve la dirección MAC del router virtual. El router actualmente activo dentro del grupo de routers virtuales puede procesar físicamente las tramas que se envían a la dirección MAC del router virtual. </a:t>
            </a:r>
          </a:p>
          <a:p>
            <a:pPr marL="342900" indent="-342900" algn="l" rtl="0">
              <a:buFont typeface="Arial" panose="020B0604020202020204" pitchFamily="34" charset="0"/>
              <a:buChar char="•"/>
            </a:pPr>
            <a:r>
              <a:rPr lang="es-419" sz="1400" dirty="0">
                <a:solidFill>
                  <a:srgbClr val="000000"/>
                </a:solidFill>
              </a:rPr>
              <a:t>Los protocolos se utilizan para identificar dos o más routers como los dispositivos responsables de procesar tramas que se envían a la dirección MAC o IP de un único router virtual. Los dispositivos host envían el tráfico a la dirección del router virtual. El router físico que reenvía este tráfico es transparente para los dispositivos host.</a:t>
            </a:r>
          </a:p>
          <a:p>
            <a:pPr marL="342900" indent="-342900" algn="l">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3500529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Protocolos de redundancia del primer salto</a:t>
            </a:r>
            <a:br>
              <a:rPr lang="en-US" dirty="0"/>
            </a:br>
            <a:r>
              <a:rPr lang="es-419" sz="2400" dirty="0"/>
              <a:t>Redundancia del router (Cont.)</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600" dirty="0">
                <a:solidFill>
                  <a:srgbClr val="000000"/>
                </a:solidFill>
              </a:rPr>
              <a:t>Un protocolo de redundancia proporciona el mecanismo para determinar qué router debe cumplir la función activa en el reenvío de tráfico. Además, determina cuándo un router de reserva debe asumir la función de reenvío. La transición entre los routers de reenvío es transparente para los dispositivos finales.</a:t>
            </a:r>
          </a:p>
          <a:p>
            <a:pPr marL="342900" indent="-342900" algn="l" rtl="0">
              <a:buFont typeface="Arial" panose="020B0604020202020204" pitchFamily="34" charset="0"/>
              <a:buChar char="•"/>
            </a:pPr>
            <a:r>
              <a:rPr lang="es-419" sz="1600" dirty="0">
                <a:solidFill>
                  <a:srgbClr val="000000"/>
                </a:solidFill>
              </a:rPr>
              <a:t>La capacidad que tiene una red para recuperarse dinámicamente de la falla de un dispositivo que funciona como puerta de enlace predeterminada se conoce como “redundancia de primer salto”.</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225107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Protocolos de redundancia del primer salto</a:t>
            </a:r>
            <a:br>
              <a:rPr lang="en-US" dirty="0"/>
            </a:br>
            <a:r>
              <a:rPr lang="es-419" sz="2400" dirty="0"/>
              <a:t>Pasos para la conmutación por error del router</a:t>
            </a:r>
          </a:p>
        </p:txBody>
      </p:sp>
      <p:sp>
        <p:nvSpPr>
          <p:cNvPr id="4" name="Content Placeholder 3">
            <a:extLst>
              <a:ext uri="{FF2B5EF4-FFF2-40B4-BE49-F238E27FC236}">
                <a16:creationId xmlns:a16="http://schemas.microsoft.com/office/drawing/2014/main" id="{DB2203C8-9AB3-F946-93C5-9C15F626E893}"/>
              </a:ext>
            </a:extLst>
          </p:cNvPr>
          <p:cNvSpPr>
            <a:spLocks noGrp="1"/>
          </p:cNvSpPr>
          <p:nvPr>
            <p:ph idx="1"/>
          </p:nvPr>
        </p:nvSpPr>
        <p:spPr>
          <a:xfrm>
            <a:off x="124692" y="731837"/>
            <a:ext cx="3681766" cy="3689897"/>
          </a:xfrm>
        </p:spPr>
        <p:txBody>
          <a:bodyPr/>
          <a:lstStyle/>
          <a:p>
            <a:pPr marL="0" indent="0" algn="l" rtl="0"/>
            <a:r>
              <a:rPr lang="es-419" sz="1500">
                <a:solidFill>
                  <a:srgbClr val="000000"/>
                </a:solidFill>
              </a:rPr>
              <a:t>Cuando falla el router activo, el protocolo de redundancia hace que el router de reserva asuma el nuevo rol de router activo, como se muestra en la figura. Estos son los pasos que se llevan a cabo cuando falla el router activo:</a:t>
            </a:r>
          </a:p>
          <a:p>
            <a:pPr marL="415985" lvl="1" indent="-342900" rtl="0">
              <a:buFont typeface="+mj-lt"/>
              <a:buAutoNum type="arabicPeriod"/>
            </a:pPr>
            <a:r>
              <a:rPr lang="es-419" sz="1500">
                <a:solidFill>
                  <a:srgbClr val="000000"/>
                </a:solidFill>
              </a:rPr>
              <a:t>El router de reserva deja de recibir los mensajes de saludo del router de reenvío.</a:t>
            </a:r>
          </a:p>
          <a:p>
            <a:pPr marL="415985" lvl="1" indent="-342900" rtl="0">
              <a:buFont typeface="+mj-lt"/>
              <a:buAutoNum type="arabicPeriod"/>
            </a:pPr>
            <a:r>
              <a:rPr lang="es-419" sz="1500">
                <a:solidFill>
                  <a:srgbClr val="000000"/>
                </a:solidFill>
              </a:rPr>
              <a:t>El router de reserva asume la función del router de reenvío.</a:t>
            </a:r>
          </a:p>
          <a:p>
            <a:pPr marL="415985" lvl="1" indent="-342900" rtl="0">
              <a:buFont typeface="+mj-lt"/>
              <a:buAutoNum type="arabicPeriod"/>
            </a:pPr>
            <a:r>
              <a:rPr lang="es-419" sz="1500">
                <a:solidFill>
                  <a:srgbClr val="000000"/>
                </a:solidFill>
              </a:rPr>
              <a:t>Debido a que el nuevo router de reenvío asume tanto la dirección IPv4 como la dirección MAC del router virtual, los dispositivos host no perciben ninguna interrupción en el servicio.</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65760B28-058E-7341-B2ED-DE4F6990AD60}"/>
              </a:ext>
            </a:extLst>
          </p:cNvPr>
          <p:cNvPicPr>
            <a:picLocks noChangeAspect="1"/>
          </p:cNvPicPr>
          <p:nvPr/>
        </p:nvPicPr>
        <p:blipFill>
          <a:blip r:embed="rId4"/>
          <a:stretch>
            <a:fillRect/>
          </a:stretch>
        </p:blipFill>
        <p:spPr>
          <a:xfrm>
            <a:off x="3806457" y="721766"/>
            <a:ext cx="5000812" cy="3467462"/>
          </a:xfrm>
          <a:prstGeom prst="rect">
            <a:avLst/>
          </a:prstGeom>
        </p:spPr>
      </p:pic>
    </p:spTree>
    <p:custDataLst>
      <p:tags r:id="rId1"/>
    </p:custDataLst>
    <p:extLst>
      <p:ext uri="{BB962C8B-B14F-4D97-AF65-F5344CB8AC3E}">
        <p14:creationId xmlns:p14="http://schemas.microsoft.com/office/powerpoint/2010/main" val="60292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Protocolos de redundancia del primer salto</a:t>
            </a:r>
            <a:br>
              <a:rPr lang="en-US" dirty="0"/>
            </a:br>
            <a:r>
              <a:rPr lang="es-419" sz="2400" dirty="0"/>
              <a:t>Opciones FHRP </a:t>
            </a:r>
          </a:p>
        </p:txBody>
      </p:sp>
      <p:graphicFrame>
        <p:nvGraphicFramePr>
          <p:cNvPr id="6" name="Content Placeholder 5">
            <a:extLst>
              <a:ext uri="{FF2B5EF4-FFF2-40B4-BE49-F238E27FC236}">
                <a16:creationId xmlns:a16="http://schemas.microsoft.com/office/drawing/2014/main" id="{8C577A76-89AB-744A-916B-9618A7BACA08}"/>
              </a:ext>
            </a:extLst>
          </p:cNvPr>
          <p:cNvGraphicFramePr>
            <a:graphicFrameLocks noGrp="1"/>
          </p:cNvGraphicFramePr>
          <p:nvPr>
            <p:ph idx="1"/>
            <p:extLst>
              <p:ext uri="{D42A27DB-BD31-4B8C-83A1-F6EECF244321}">
                <p14:modId xmlns:p14="http://schemas.microsoft.com/office/powerpoint/2010/main" val="727071090"/>
              </p:ext>
            </p:extLst>
          </p:nvPr>
        </p:nvGraphicFramePr>
        <p:xfrm>
          <a:off x="89210" y="731837"/>
          <a:ext cx="8965580" cy="4321603"/>
        </p:xfrm>
        <a:graphic>
          <a:graphicData uri="http://schemas.openxmlformats.org/drawingml/2006/table">
            <a:tbl>
              <a:tblPr firstRow="1" bandRow="1">
                <a:tableStyleId>{5C22544A-7EE6-4342-B048-85BDC9FD1C3A}</a:tableStyleId>
              </a:tblPr>
              <a:tblGrid>
                <a:gridCol w="1466188">
                  <a:extLst>
                    <a:ext uri="{9D8B030D-6E8A-4147-A177-3AD203B41FA5}">
                      <a16:colId xmlns:a16="http://schemas.microsoft.com/office/drawing/2014/main" val="141585740"/>
                    </a:ext>
                  </a:extLst>
                </a:gridCol>
                <a:gridCol w="7499392">
                  <a:extLst>
                    <a:ext uri="{9D8B030D-6E8A-4147-A177-3AD203B41FA5}">
                      <a16:colId xmlns:a16="http://schemas.microsoft.com/office/drawing/2014/main" val="2051280231"/>
                    </a:ext>
                  </a:extLst>
                </a:gridCol>
              </a:tblGrid>
              <a:tr h="234447">
                <a:tc>
                  <a:txBody>
                    <a:bodyPr/>
                    <a:lstStyle/>
                    <a:p>
                      <a:pPr algn="l" rtl="0" fontAlgn="ctr"/>
                      <a:r>
                        <a:rPr lang="es-419" sz="1000" dirty="0">
                          <a:effectLst/>
                        </a:rPr>
                        <a:t>Opciones de FHRP</a:t>
                      </a:r>
                    </a:p>
                  </a:txBody>
                  <a:tcPr marL="47625" marR="47625" marT="47625" marB="47625" anchor="ctr"/>
                </a:tc>
                <a:tc>
                  <a:txBody>
                    <a:bodyPr/>
                    <a:lstStyle/>
                    <a:p>
                      <a:pPr algn="l" rtl="0" fontAlgn="ctr"/>
                      <a:r>
                        <a:rPr lang="es-419" sz="1000">
                          <a:effectLst/>
                        </a:rPr>
                        <a:t>Descripción</a:t>
                      </a:r>
                    </a:p>
                  </a:txBody>
                  <a:tcPr marL="47625" marR="47625" marT="47625" marB="47625" anchor="ctr"/>
                </a:tc>
                <a:extLst>
                  <a:ext uri="{0D108BD9-81ED-4DB2-BD59-A6C34878D82A}">
                    <a16:rowId xmlns:a16="http://schemas.microsoft.com/office/drawing/2014/main" val="1646877341"/>
                  </a:ext>
                </a:extLst>
              </a:tr>
              <a:tr h="638416">
                <a:tc>
                  <a:txBody>
                    <a:bodyPr/>
                    <a:lstStyle/>
                    <a:p>
                      <a:pPr rtl="0" fontAlgn="ctr"/>
                      <a:r>
                        <a:rPr lang="es-419" sz="900" b="0">
                          <a:effectLst/>
                        </a:rPr>
                        <a:t>Protocolo de router de reserva directa (HSRP, Hot Standby Router Protocol)</a:t>
                      </a:r>
                    </a:p>
                  </a:txBody>
                  <a:tcPr marL="47625" marR="47625" marT="47625" marB="47625" anchor="ctr"/>
                </a:tc>
                <a:tc>
                  <a:txBody>
                    <a:bodyPr/>
                    <a:lstStyle/>
                    <a:p>
                      <a:pPr rtl="0" fontAlgn="ctr"/>
                      <a:r>
                        <a:rPr lang="es-419" sz="900" b="0">
                          <a:effectLst/>
                        </a:rPr>
                        <a:t>HRSP es un FHRP propiedad de Cisco que está diseñado para permitir la conmutación por error transparente de un dispositivo IPv4 de primer salto. HSRP se utiliza en un grupo de routers para seleccionar un dispositivo activo y un dispositivo de reserva. El dispositivo activo es el dispositivo que se utiliza para enrutar paquetes; el dispositivo en espera es el dispositivo que se hace cargo cuando falla el dispositivo activo o cuando se cumplen las condiciones preestablecidas. </a:t>
                      </a:r>
                    </a:p>
                  </a:txBody>
                  <a:tcPr marL="47625" marR="47625" marT="47625" marB="47625" anchor="ctr"/>
                </a:tc>
                <a:extLst>
                  <a:ext uri="{0D108BD9-81ED-4DB2-BD59-A6C34878D82A}">
                    <a16:rowId xmlns:a16="http://schemas.microsoft.com/office/drawing/2014/main" val="3190795731"/>
                  </a:ext>
                </a:extLst>
              </a:tr>
              <a:tr h="638416">
                <a:tc>
                  <a:txBody>
                    <a:bodyPr/>
                    <a:lstStyle/>
                    <a:p>
                      <a:pPr rtl="0" fontAlgn="ctr"/>
                      <a:r>
                        <a:rPr lang="es-419" sz="900" b="0">
                          <a:effectLst/>
                        </a:rPr>
                        <a:t>HSRP para IPv6</a:t>
                      </a:r>
                    </a:p>
                  </a:txBody>
                  <a:tcPr marL="47625" marR="47625" marT="47625" marB="47625" anchor="ctr"/>
                </a:tc>
                <a:tc>
                  <a:txBody>
                    <a:bodyPr/>
                    <a:lstStyle/>
                    <a:p>
                      <a:pPr rtl="0" fontAlgn="ctr"/>
                      <a:r>
                        <a:rPr lang="es-419" sz="900" b="0" dirty="0">
                          <a:effectLst/>
                        </a:rPr>
                        <a:t>Este es un FHRP propiedad de Cisco que proporciona la misma funcionalidad de HSRP, pero en un entorno IPv6. Un grupo IPv6 HSRP tiene una dirección MAC virtual derivada del número del grupo HSRP y una dirección IPv6 link-local virtual derivada de la dirección MAC virtual HSRP. Cuando el grupo HSRP está activo, se envían anuncios de router (RA) periódicos para la dirección IPv6 link-local virtual HSRP. Cuando el grupo se vuelve inactivo, estos RA se detienen después de enviar un RA final.</a:t>
                      </a:r>
                    </a:p>
                  </a:txBody>
                  <a:tcPr marL="47625" marR="47625" marT="47625" marB="47625" anchor="ctr"/>
                </a:tc>
                <a:extLst>
                  <a:ext uri="{0D108BD9-81ED-4DB2-BD59-A6C34878D82A}">
                    <a16:rowId xmlns:a16="http://schemas.microsoft.com/office/drawing/2014/main" val="448110865"/>
                  </a:ext>
                </a:extLst>
              </a:tr>
              <a:tr h="638416">
                <a:tc>
                  <a:txBody>
                    <a:bodyPr/>
                    <a:lstStyle/>
                    <a:p>
                      <a:pPr rtl="0" fontAlgn="ctr"/>
                      <a:r>
                        <a:rPr lang="es-419" sz="900" b="0">
                          <a:effectLst/>
                        </a:rPr>
                        <a:t>Virtual Router Redundancy Protocol versión 2 (VRRPv2)</a:t>
                      </a:r>
                    </a:p>
                  </a:txBody>
                  <a:tcPr marL="47625" marR="47625" marT="47625" marB="47625" anchor="ctr"/>
                </a:tc>
                <a:tc>
                  <a:txBody>
                    <a:bodyPr/>
                    <a:lstStyle/>
                    <a:p>
                      <a:pPr rtl="0" fontAlgn="ctr"/>
                      <a:r>
                        <a:rPr lang="es-419" sz="900" b="0" dirty="0">
                          <a:effectLst/>
                        </a:rPr>
                        <a:t>Este es un protocolo de elección no patentado que asigna dinámicamente la responsabilidad de uno o más routers virtuales a los routers VRRP en una LAN IPv4. Esto permite que varios routers en un enlace multiacceso utilicen la misma dirección IPv4 virtual. En una configuración VRRP, se elige un router como router virtual maestro, mientras que el resto funciona como respaldo en caso de que falle el router virtual maestro.</a:t>
                      </a:r>
                    </a:p>
                  </a:txBody>
                  <a:tcPr marL="47625" marR="47625" marT="47625" marB="47625" anchor="ctr"/>
                </a:tc>
                <a:extLst>
                  <a:ext uri="{0D108BD9-81ED-4DB2-BD59-A6C34878D82A}">
                    <a16:rowId xmlns:a16="http://schemas.microsoft.com/office/drawing/2014/main" val="3776444347"/>
                  </a:ext>
                </a:extLst>
              </a:tr>
              <a:tr h="364294">
                <a:tc>
                  <a:txBody>
                    <a:bodyPr/>
                    <a:lstStyle/>
                    <a:p>
                      <a:pPr rtl="0" fontAlgn="ctr"/>
                      <a:r>
                        <a:rPr lang="es-419" sz="900" b="0">
                          <a:effectLst/>
                        </a:rPr>
                        <a:t>VRRPv3</a:t>
                      </a:r>
                    </a:p>
                  </a:txBody>
                  <a:tcPr marL="47625" marR="47625" marT="47625" marB="47625" anchor="ctr"/>
                </a:tc>
                <a:tc>
                  <a:txBody>
                    <a:bodyPr/>
                    <a:lstStyle/>
                    <a:p>
                      <a:pPr rtl="0" fontAlgn="ctr"/>
                      <a:r>
                        <a:rPr lang="es-419" sz="900" b="0">
                          <a:effectLst/>
                        </a:rPr>
                        <a:t>Proporciona la capacidad de admitir direcciones IPv4 e IPv6. VRRPv3 funciona en entornos de varios proveedores y es más escalable que VRRPv2.</a:t>
                      </a:r>
                    </a:p>
                  </a:txBody>
                  <a:tcPr marL="47625" marR="47625" marT="47625" marB="47625" anchor="ctr"/>
                </a:tc>
                <a:extLst>
                  <a:ext uri="{0D108BD9-81ED-4DB2-BD59-A6C34878D82A}">
                    <a16:rowId xmlns:a16="http://schemas.microsoft.com/office/drawing/2014/main" val="1909641129"/>
                  </a:ext>
                </a:extLst>
              </a:tr>
              <a:tr h="501355">
                <a:tc>
                  <a:txBody>
                    <a:bodyPr/>
                    <a:lstStyle/>
                    <a:p>
                      <a:pPr rtl="0" fontAlgn="ctr"/>
                      <a:r>
                        <a:rPr lang="es-419" sz="900" b="0">
                          <a:effectLst/>
                        </a:rPr>
                        <a:t>Protocolo de equilibrio de carga del gateway (GLBP)</a:t>
                      </a:r>
                    </a:p>
                  </a:txBody>
                  <a:tcPr marL="47625" marR="47625" marT="47625" marB="47625" anchor="ctr"/>
                </a:tc>
                <a:tc>
                  <a:txBody>
                    <a:bodyPr/>
                    <a:lstStyle/>
                    <a:p>
                      <a:pPr rtl="0" fontAlgn="ctr"/>
                      <a:r>
                        <a:rPr lang="es-419" sz="900" b="0" dirty="0">
                          <a:effectLst/>
                        </a:rPr>
                        <a:t>Este es un FHRP propiedad de Cisco que protege el tráfico de datos de un router o circuito fallido, como HSRP y VRRP, al tiempo que permite el equilibrio de carga (también llamado carga compartida) entre un grupo de routers redundantes.</a:t>
                      </a:r>
                    </a:p>
                  </a:txBody>
                  <a:tcPr marL="47625" marR="47625" marT="47625" marB="47625" anchor="ctr"/>
                </a:tc>
                <a:extLst>
                  <a:ext uri="{0D108BD9-81ED-4DB2-BD59-A6C34878D82A}">
                    <a16:rowId xmlns:a16="http://schemas.microsoft.com/office/drawing/2014/main" val="3038858797"/>
                  </a:ext>
                </a:extLst>
              </a:tr>
              <a:tr h="638416">
                <a:tc>
                  <a:txBody>
                    <a:bodyPr/>
                    <a:lstStyle/>
                    <a:p>
                      <a:pPr rtl="0" fontAlgn="ctr"/>
                      <a:r>
                        <a:rPr lang="es-419" sz="900" b="0">
                          <a:effectLst/>
                        </a:rPr>
                        <a:t>GLBP para IPv6</a:t>
                      </a:r>
                    </a:p>
                  </a:txBody>
                  <a:tcPr marL="47625" marR="47625" marT="47625" marB="47625" anchor="ctr"/>
                </a:tc>
                <a:tc>
                  <a:txBody>
                    <a:bodyPr/>
                    <a:lstStyle/>
                    <a:p>
                      <a:pPr rtl="0" fontAlgn="ctr"/>
                      <a:r>
                        <a:rPr lang="es-419" sz="900" b="0">
                          <a:effectLst/>
                        </a:rPr>
                        <a:t>FHRP exclusivo de Cisco que proporciona la misma funcionalidad de GLBP pero en un entorno IPv6. GLBP para IPv6 proporciona un respaldo de router automático para los hosts IPv6 configurados con un único gateway predeterminado en una LAN. Se combinan varios routers de primer salto en la LAN para ofrecer un único router IPv6 virtual de primer salto y, al mismo tiempo, compartir la carga de reenvío de paquetes IPv6.</a:t>
                      </a:r>
                    </a:p>
                  </a:txBody>
                  <a:tcPr marL="47625" marR="47625" marT="47625" marB="47625" anchor="ctr"/>
                </a:tc>
                <a:extLst>
                  <a:ext uri="{0D108BD9-81ED-4DB2-BD59-A6C34878D82A}">
                    <a16:rowId xmlns:a16="http://schemas.microsoft.com/office/drawing/2014/main" val="876343197"/>
                  </a:ext>
                </a:extLst>
              </a:tr>
              <a:tr h="638416">
                <a:tc>
                  <a:txBody>
                    <a:bodyPr/>
                    <a:lstStyle/>
                    <a:p>
                      <a:pPr rtl="0" fontAlgn="ctr"/>
                      <a:r>
                        <a:rPr lang="es-419" sz="900" b="0">
                          <a:effectLst/>
                        </a:rPr>
                        <a:t>Protocolo de detección del router ICMP (IRDP, ICMP Router Discovery Protocol)</a:t>
                      </a:r>
                    </a:p>
                  </a:txBody>
                  <a:tcPr marL="47625" marR="47625" marT="47625" marB="47625" anchor="ctr"/>
                </a:tc>
                <a:tc>
                  <a:txBody>
                    <a:bodyPr/>
                    <a:lstStyle/>
                    <a:p>
                      <a:pPr rtl="0" fontAlgn="ctr"/>
                      <a:r>
                        <a:rPr lang="es-419" sz="900" b="0" dirty="0">
                          <a:effectLst/>
                        </a:rPr>
                        <a:t>Especificado en RFC 1256, IRDP es una solución FHRP heredada. IRDP permite que los hosts IPv4 ubiquen routers que proporcionan conectividad IPv4 a otras redes IP (no locales).</a:t>
                      </a:r>
                    </a:p>
                  </a:txBody>
                  <a:tcPr marL="47625" marR="47625" marT="47625" marB="47625" anchor="ctr"/>
                </a:tc>
                <a:extLst>
                  <a:ext uri="{0D108BD9-81ED-4DB2-BD59-A6C34878D82A}">
                    <a16:rowId xmlns:a16="http://schemas.microsoft.com/office/drawing/2014/main" val="1947414994"/>
                  </a:ext>
                </a:extLst>
              </a:tr>
            </a:tbl>
          </a:graphicData>
        </a:graphic>
      </p:graphicFrame>
    </p:spTree>
    <p:custDataLst>
      <p:tags r:id="rId1"/>
    </p:custDataLst>
    <p:extLst>
      <p:ext uri="{BB962C8B-B14F-4D97-AF65-F5344CB8AC3E}">
        <p14:creationId xmlns:p14="http://schemas.microsoft.com/office/powerpoint/2010/main" val="1710417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9.2 HSRP</a:t>
            </a:r>
          </a:p>
        </p:txBody>
      </p:sp>
    </p:spTree>
    <p:custDataLst>
      <p:tags r:id="rId1"/>
    </p:custDataLst>
    <p:extLst>
      <p:ext uri="{BB962C8B-B14F-4D97-AF65-F5344CB8AC3E}">
        <p14:creationId xmlns:p14="http://schemas.microsoft.com/office/powerpoint/2010/main" val="380520995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HSRP</a:t>
            </a:r>
            <a:br>
              <a:rPr lang="en-US" dirty="0"/>
            </a:br>
            <a:r>
              <a:rPr lang="es-419" sz="2400"/>
              <a:t>HSRP: Descripción general</a:t>
            </a:r>
          </a:p>
        </p:txBody>
      </p:sp>
      <p:sp>
        <p:nvSpPr>
          <p:cNvPr id="4" name="Content Placeholder 3">
            <a:extLst>
              <a:ext uri="{FF2B5EF4-FFF2-40B4-BE49-F238E27FC236}">
                <a16:creationId xmlns:a16="http://schemas.microsoft.com/office/drawing/2014/main" id="{81400BE2-4975-1F4D-99D8-C232353A974E}"/>
              </a:ext>
            </a:extLst>
          </p:cNvPr>
          <p:cNvSpPr>
            <a:spLocks noGrp="1"/>
          </p:cNvSpPr>
          <p:nvPr>
            <p:ph idx="1"/>
          </p:nvPr>
        </p:nvSpPr>
        <p:spPr>
          <a:xfrm>
            <a:off x="474662" y="731837"/>
            <a:ext cx="8280057" cy="3689897"/>
          </a:xfrm>
        </p:spPr>
        <p:txBody>
          <a:bodyPr/>
          <a:lstStyle/>
          <a:p>
            <a:pPr marL="0" indent="0" algn="l" rtl="0"/>
            <a:r>
              <a:rPr lang="es-419" sz="1400">
                <a:solidFill>
                  <a:srgbClr val="000000"/>
                </a:solidFill>
              </a:rPr>
              <a:t>Cisco proporciona HSRP y HSRP para IPv6 como una forma de evitar la pérdida de acceso externo a la red si falla el router predeterminado. Es el protocolo FHRP exclusivo de Cisco diseñado para permitir la conmutación por falla transparente de los dispositivos IPv4 de primer salto.</a:t>
            </a:r>
          </a:p>
          <a:p>
            <a:pPr marL="0" indent="0" algn="l"/>
            <a:endParaRPr lang="en-US" sz="1400" dirty="0">
              <a:solidFill>
                <a:srgbClr val="000000"/>
              </a:solidFill>
            </a:endParaRPr>
          </a:p>
          <a:p>
            <a:pPr marL="0" indent="0" algn="l" rtl="0"/>
            <a:r>
              <a:rPr lang="es-419" sz="1400">
                <a:solidFill>
                  <a:srgbClr val="000000"/>
                </a:solidFill>
              </a:rPr>
              <a:t>HSRP proporciona una alta disponibilidad de red, ya que proporciona redundancia de routing de primer salto para los hosts IPv4 en las redes configuradas con una dirección IPv4 de gateway predeterminado. HSRP se utiliza en un grupo de routers para seleccionar un dispositivo activo y un dispositivo de reserva. En un grupo de interfaces de dispositivo, el dispositivo activo es aquel que se utiliza para enrutar paquetes, y el dispositivo de reserva es el que toma el control cuando falla el dispositivo activo o cuando se cumplen condiciones previamente establecidas. La función del router de suspensión del HSRP es controlar el estado operativo del grupo de HSRP y asumir rápidamente la responsabilidad de reenvío de paquetes si falla el router activo.</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64484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HSRP</a:t>
            </a:r>
            <a:br>
              <a:rPr lang="en-US" dirty="0"/>
            </a:br>
            <a:r>
              <a:rPr lang="es-419" sz="2400"/>
              <a:t>Prioridad e Intento de Prioridad del HSRP</a:t>
            </a:r>
          </a:p>
        </p:txBody>
      </p:sp>
      <p:sp>
        <p:nvSpPr>
          <p:cNvPr id="5" name="Content Placeholder 4">
            <a:extLst>
              <a:ext uri="{FF2B5EF4-FFF2-40B4-BE49-F238E27FC236}">
                <a16:creationId xmlns:a16="http://schemas.microsoft.com/office/drawing/2014/main" id="{6F5BBAAA-B22D-324B-8BD3-79C7933D1A7D}"/>
              </a:ext>
            </a:extLst>
          </p:cNvPr>
          <p:cNvSpPr>
            <a:spLocks noGrp="1"/>
          </p:cNvSpPr>
          <p:nvPr>
            <p:ph idx="1"/>
          </p:nvPr>
        </p:nvSpPr>
        <p:spPr>
          <a:xfrm>
            <a:off x="74815" y="731837"/>
            <a:ext cx="4813069" cy="3717499"/>
          </a:xfrm>
        </p:spPr>
        <p:txBody>
          <a:bodyPr/>
          <a:lstStyle/>
          <a:p>
            <a:pPr marL="0" indent="0" algn="l" rtl="0"/>
            <a:r>
              <a:rPr lang="es-419" sz="1300" dirty="0">
                <a:solidFill>
                  <a:srgbClr val="000000"/>
                </a:solidFill>
              </a:rPr>
              <a:t>El rol de los routers activos y de reserva se determina durante el proceso de elección del HSRP. De manera predeterminada, el router con la dirección IPv4 numéricamente más alta se elige como router activo. Sin embargo, siempre es mejor controlar cómo funcionará su red en condiciones normales en lugar de dejarlo librado al azar.</a:t>
            </a:r>
          </a:p>
          <a:p>
            <a:pPr marL="342900" indent="-342900" algn="l" rtl="0">
              <a:buFont typeface="Arial" panose="020B0604020202020204" pitchFamily="34" charset="0"/>
              <a:buChar char="•"/>
            </a:pPr>
            <a:r>
              <a:rPr lang="es-419" sz="1300" dirty="0">
                <a:solidFill>
                  <a:srgbClr val="000000"/>
                </a:solidFill>
              </a:rPr>
              <a:t>La prioridad HSRP se puede utilizar para determinar el router activo. </a:t>
            </a:r>
          </a:p>
          <a:p>
            <a:pPr marL="342900" indent="-342900" algn="l" rtl="0">
              <a:buFont typeface="Arial" panose="020B0604020202020204" pitchFamily="34" charset="0"/>
              <a:buChar char="•"/>
            </a:pPr>
            <a:r>
              <a:rPr lang="es-419" sz="1300" dirty="0">
                <a:solidFill>
                  <a:srgbClr val="000000"/>
                </a:solidFill>
              </a:rPr>
              <a:t>El router con la prioridad HSRP más alta será el router activo. </a:t>
            </a:r>
          </a:p>
          <a:p>
            <a:pPr marL="342900" indent="-342900" algn="l" rtl="0">
              <a:buFont typeface="Arial" panose="020B0604020202020204" pitchFamily="34" charset="0"/>
              <a:buChar char="•"/>
            </a:pPr>
            <a:r>
              <a:rPr lang="es-419" sz="1300" dirty="0">
                <a:solidFill>
                  <a:srgbClr val="000000"/>
                </a:solidFill>
              </a:rPr>
              <a:t>De manera predeterminada, la prioridad HSRP es 100.</a:t>
            </a:r>
          </a:p>
          <a:p>
            <a:pPr marL="342900" indent="-342900" algn="l" rtl="0">
              <a:buFont typeface="Arial" panose="020B0604020202020204" pitchFamily="34" charset="0"/>
              <a:buChar char="•"/>
            </a:pPr>
            <a:r>
              <a:rPr lang="es-419" sz="1300" dirty="0">
                <a:solidFill>
                  <a:srgbClr val="000000"/>
                </a:solidFill>
              </a:rPr>
              <a:t>Si las prioridades son iguales, el router con la dirección IPv4 numéricamente más alta es elegido como router activo.</a:t>
            </a:r>
          </a:p>
          <a:p>
            <a:pPr marL="342900" indent="-342900" algn="l" rtl="0">
              <a:buFont typeface="Arial" panose="020B0604020202020204" pitchFamily="34" charset="0"/>
              <a:buChar char="•"/>
            </a:pPr>
            <a:r>
              <a:rPr lang="es-419" sz="1300" dirty="0">
                <a:solidFill>
                  <a:srgbClr val="000000"/>
                </a:solidFill>
              </a:rPr>
              <a:t>Para configurar un router para que sea el router activo, utilice el comando de interfaz </a:t>
            </a:r>
            <a:r>
              <a:rPr lang="es-419" sz="1300" b="1" dirty="0">
                <a:solidFill>
                  <a:srgbClr val="000000"/>
                </a:solidFill>
              </a:rPr>
              <a:t>standby priority</a:t>
            </a:r>
            <a:r>
              <a:rPr lang="es-419" sz="1300" dirty="0">
                <a:solidFill>
                  <a:srgbClr val="000000"/>
                </a:solidFill>
              </a:rPr>
              <a:t> . El rango de prioridad HSRP es de 0 a 255.</a:t>
            </a:r>
          </a:p>
          <a:p>
            <a:pPr marL="342900" indent="-342900" algn="l">
              <a:buFont typeface="Arial" panose="020B0604020202020204" pitchFamily="34" charset="0"/>
              <a:buChar char="•"/>
            </a:pPr>
            <a:endParaRPr lang="en-US" sz="1300" dirty="0">
              <a:solidFill>
                <a:srgbClr val="000000"/>
              </a:solidFill>
            </a:endParaRPr>
          </a:p>
        </p:txBody>
      </p:sp>
      <p:pic>
        <p:nvPicPr>
          <p:cNvPr id="6" name="Picture 5">
            <a:extLst>
              <a:ext uri="{FF2B5EF4-FFF2-40B4-BE49-F238E27FC236}">
                <a16:creationId xmlns:a16="http://schemas.microsoft.com/office/drawing/2014/main" id="{1D2FA1F9-0021-49AB-B72A-CAD8F128BC10}"/>
              </a:ext>
            </a:extLst>
          </p:cNvPr>
          <p:cNvPicPr>
            <a:picLocks noChangeAspect="1"/>
          </p:cNvPicPr>
          <p:nvPr/>
        </p:nvPicPr>
        <p:blipFill>
          <a:blip r:embed="rId4"/>
          <a:stretch>
            <a:fillRect/>
          </a:stretch>
        </p:blipFill>
        <p:spPr>
          <a:xfrm>
            <a:off x="5092688" y="1512916"/>
            <a:ext cx="3835181" cy="2415755"/>
          </a:xfrm>
          <a:prstGeom prst="rect">
            <a:avLst/>
          </a:prstGeom>
        </p:spPr>
      </p:pic>
    </p:spTree>
    <p:custDataLst>
      <p:tags r:id="rId1"/>
    </p:custDataLst>
    <p:extLst>
      <p:ext uri="{BB962C8B-B14F-4D97-AF65-F5344CB8AC3E}">
        <p14:creationId xmlns:p14="http://schemas.microsoft.com/office/powerpoint/2010/main" val="4192271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HSRP</a:t>
            </a:r>
            <a:br>
              <a:rPr lang="en-US" dirty="0"/>
            </a:br>
            <a:r>
              <a:rPr lang="es-419" sz="2400"/>
              <a:t>Prioridad e intento de prioridad del HSRP (Cont.)</a:t>
            </a:r>
          </a:p>
        </p:txBody>
      </p:sp>
      <p:sp>
        <p:nvSpPr>
          <p:cNvPr id="4" name="Content Placeholder 3">
            <a:extLst>
              <a:ext uri="{FF2B5EF4-FFF2-40B4-BE49-F238E27FC236}">
                <a16:creationId xmlns:a16="http://schemas.microsoft.com/office/drawing/2014/main" id="{A4E41E6A-CDF5-0640-8804-41A2B2B6B6A0}"/>
              </a:ext>
            </a:extLst>
          </p:cNvPr>
          <p:cNvSpPr>
            <a:spLocks noGrp="1"/>
          </p:cNvSpPr>
          <p:nvPr>
            <p:ph idx="1"/>
          </p:nvPr>
        </p:nvSpPr>
        <p:spPr>
          <a:xfrm>
            <a:off x="0" y="731837"/>
            <a:ext cx="5501640" cy="3689897"/>
          </a:xfrm>
        </p:spPr>
        <p:txBody>
          <a:bodyPr/>
          <a:lstStyle/>
          <a:p>
            <a:pPr marL="0" indent="0" algn="l" rtl="0"/>
            <a:r>
              <a:rPr lang="es-419" sz="1200" dirty="0">
                <a:solidFill>
                  <a:srgbClr val="000000"/>
                </a:solidFill>
              </a:rPr>
              <a:t>De forma predeterminada, después de que un </a:t>
            </a:r>
            <a:r>
              <a:rPr lang="es-419" sz="1200" dirty="0" err="1">
                <a:solidFill>
                  <a:srgbClr val="000000"/>
                </a:solidFill>
              </a:rPr>
              <a:t>router</a:t>
            </a:r>
            <a:r>
              <a:rPr lang="es-419" sz="1200" dirty="0">
                <a:solidFill>
                  <a:srgbClr val="000000"/>
                </a:solidFill>
              </a:rPr>
              <a:t> se convierte en el </a:t>
            </a:r>
            <a:r>
              <a:rPr lang="es-419" sz="1200" dirty="0" err="1">
                <a:solidFill>
                  <a:srgbClr val="000000"/>
                </a:solidFill>
              </a:rPr>
              <a:t>router</a:t>
            </a:r>
            <a:r>
              <a:rPr lang="es-419" sz="1200" dirty="0">
                <a:solidFill>
                  <a:srgbClr val="000000"/>
                </a:solidFill>
              </a:rPr>
              <a:t> activo, seguirá siendo el </a:t>
            </a:r>
            <a:r>
              <a:rPr lang="es-419" sz="1200" dirty="0" err="1">
                <a:solidFill>
                  <a:srgbClr val="000000"/>
                </a:solidFill>
              </a:rPr>
              <a:t>router</a:t>
            </a:r>
            <a:r>
              <a:rPr lang="es-419" sz="1200" dirty="0">
                <a:solidFill>
                  <a:srgbClr val="000000"/>
                </a:solidFill>
              </a:rPr>
              <a:t> activo incluso si otro </a:t>
            </a:r>
            <a:r>
              <a:rPr lang="es-419" sz="1200" dirty="0" err="1">
                <a:solidFill>
                  <a:srgbClr val="000000"/>
                </a:solidFill>
              </a:rPr>
              <a:t>router</a:t>
            </a:r>
            <a:r>
              <a:rPr lang="es-419" sz="1200" dirty="0">
                <a:solidFill>
                  <a:srgbClr val="000000"/>
                </a:solidFill>
              </a:rPr>
              <a:t> está disponible en línea con una prioridad HSRP más alta.</a:t>
            </a:r>
          </a:p>
          <a:p>
            <a:pPr marL="0" indent="0" algn="l" rtl="0"/>
            <a:endParaRPr lang="es-419" sz="1200" dirty="0">
              <a:solidFill>
                <a:srgbClr val="000000"/>
              </a:solidFill>
            </a:endParaRPr>
          </a:p>
          <a:p>
            <a:pPr marL="342900" indent="-342900" algn="l" rtl="0">
              <a:buFont typeface="Arial" panose="020B0604020202020204" pitchFamily="34" charset="0"/>
              <a:buChar char="•"/>
            </a:pPr>
            <a:r>
              <a:rPr lang="es-419" sz="1200" dirty="0">
                <a:solidFill>
                  <a:srgbClr val="000000"/>
                </a:solidFill>
              </a:rPr>
              <a:t>Para forzar un nuevo proceso de elección HSRP a tener lugar cuando un </a:t>
            </a:r>
            <a:r>
              <a:rPr lang="es-419" sz="1200" dirty="0" err="1">
                <a:solidFill>
                  <a:srgbClr val="000000"/>
                </a:solidFill>
              </a:rPr>
              <a:t>router</a:t>
            </a:r>
            <a:r>
              <a:rPr lang="es-419" sz="1200" dirty="0">
                <a:solidFill>
                  <a:srgbClr val="000000"/>
                </a:solidFill>
              </a:rPr>
              <a:t> de mayor prioridad entra en línea, la preferencia debe habilitarse mediante el </a:t>
            </a:r>
            <a:r>
              <a:rPr lang="es-419" sz="1200" dirty="0" err="1">
                <a:solidFill>
                  <a:srgbClr val="000000"/>
                </a:solidFill>
              </a:rPr>
              <a:t>comandoen</a:t>
            </a:r>
            <a:r>
              <a:rPr lang="es-419" sz="1200" dirty="0">
                <a:solidFill>
                  <a:srgbClr val="000000"/>
                </a:solidFill>
              </a:rPr>
              <a:t> la interface </a:t>
            </a:r>
            <a:r>
              <a:rPr lang="es-419" sz="1200" b="1" dirty="0" err="1">
                <a:solidFill>
                  <a:srgbClr val="000000"/>
                </a:solidFill>
              </a:rPr>
              <a:t>standby</a:t>
            </a:r>
            <a:r>
              <a:rPr lang="es-419" sz="1200" b="1" dirty="0">
                <a:solidFill>
                  <a:srgbClr val="000000"/>
                </a:solidFill>
              </a:rPr>
              <a:t> </a:t>
            </a:r>
            <a:r>
              <a:rPr lang="es-419" sz="1200" b="1" dirty="0" err="1">
                <a:solidFill>
                  <a:srgbClr val="000000"/>
                </a:solidFill>
              </a:rPr>
              <a:t>preempt</a:t>
            </a:r>
            <a:r>
              <a:rPr lang="es-419" sz="1200" dirty="0">
                <a:solidFill>
                  <a:srgbClr val="000000"/>
                </a:solidFill>
              </a:rPr>
              <a:t>  El intento de prioridad es la capacidad de un </a:t>
            </a:r>
            <a:r>
              <a:rPr lang="es-419" sz="1200" dirty="0" err="1">
                <a:solidFill>
                  <a:srgbClr val="000000"/>
                </a:solidFill>
              </a:rPr>
              <a:t>router</a:t>
            </a:r>
            <a:r>
              <a:rPr lang="es-419" sz="1200" dirty="0">
                <a:solidFill>
                  <a:srgbClr val="000000"/>
                </a:solidFill>
              </a:rPr>
              <a:t> HSRP de activar el proceso de la nueva elección. Con este intento de prioridad activado, un </a:t>
            </a:r>
            <a:r>
              <a:rPr lang="es-419" sz="1200" dirty="0" err="1">
                <a:solidFill>
                  <a:srgbClr val="000000"/>
                </a:solidFill>
              </a:rPr>
              <a:t>router</a:t>
            </a:r>
            <a:r>
              <a:rPr lang="es-419" sz="1200" dirty="0">
                <a:solidFill>
                  <a:srgbClr val="000000"/>
                </a:solidFill>
              </a:rPr>
              <a:t> disponible en línea con una prioridad HSRP más alta asume el rol de </a:t>
            </a:r>
            <a:r>
              <a:rPr lang="es-419" sz="1200" dirty="0" err="1">
                <a:solidFill>
                  <a:srgbClr val="000000"/>
                </a:solidFill>
              </a:rPr>
              <a:t>router</a:t>
            </a:r>
            <a:r>
              <a:rPr lang="es-419" sz="1200" dirty="0">
                <a:solidFill>
                  <a:srgbClr val="000000"/>
                </a:solidFill>
              </a:rPr>
              <a:t> activo.</a:t>
            </a:r>
          </a:p>
          <a:p>
            <a:pPr marL="342900" indent="-342900" algn="l" rtl="0">
              <a:buFont typeface="Arial" panose="020B0604020202020204" pitchFamily="34" charset="0"/>
              <a:buChar char="•"/>
            </a:pPr>
            <a:r>
              <a:rPr lang="es-419" sz="1200" dirty="0">
                <a:solidFill>
                  <a:srgbClr val="000000"/>
                </a:solidFill>
              </a:rPr>
              <a:t>El intento de prioridad solo permite que un </a:t>
            </a:r>
            <a:r>
              <a:rPr lang="es-419" sz="1200" dirty="0" err="1">
                <a:solidFill>
                  <a:srgbClr val="000000"/>
                </a:solidFill>
              </a:rPr>
              <a:t>router</a:t>
            </a:r>
            <a:r>
              <a:rPr lang="es-419" sz="1200" dirty="0">
                <a:solidFill>
                  <a:srgbClr val="000000"/>
                </a:solidFill>
              </a:rPr>
              <a:t> se convierta en </a:t>
            </a:r>
            <a:r>
              <a:rPr lang="es-419" sz="1200" dirty="0" err="1">
                <a:solidFill>
                  <a:srgbClr val="000000"/>
                </a:solidFill>
              </a:rPr>
              <a:t>router</a:t>
            </a:r>
            <a:r>
              <a:rPr lang="es-419" sz="1200" dirty="0">
                <a:solidFill>
                  <a:srgbClr val="000000"/>
                </a:solidFill>
              </a:rPr>
              <a:t> activo si tiene una prioridad más alta. Un </a:t>
            </a:r>
            <a:r>
              <a:rPr lang="es-419" sz="1200" dirty="0" err="1">
                <a:solidFill>
                  <a:srgbClr val="000000"/>
                </a:solidFill>
              </a:rPr>
              <a:t>router</a:t>
            </a:r>
            <a:r>
              <a:rPr lang="es-419" sz="1200" dirty="0">
                <a:solidFill>
                  <a:srgbClr val="000000"/>
                </a:solidFill>
              </a:rPr>
              <a:t> habilitado para intento de propiedad, con una prioridad equivalente pero una dirección IPv4 más alta, no desplazará la prioridad de un </a:t>
            </a:r>
            <a:r>
              <a:rPr lang="es-419" sz="1200" dirty="0" err="1">
                <a:solidFill>
                  <a:srgbClr val="000000"/>
                </a:solidFill>
              </a:rPr>
              <a:t>router</a:t>
            </a:r>
            <a:r>
              <a:rPr lang="es-419" sz="1200" dirty="0">
                <a:solidFill>
                  <a:srgbClr val="000000"/>
                </a:solidFill>
              </a:rPr>
              <a:t> activo. Consulte la topología de la figura.</a:t>
            </a:r>
          </a:p>
          <a:p>
            <a:pPr marL="0" indent="0" algn="l" rtl="0"/>
            <a:endParaRPr lang="es-419" sz="1200" dirty="0">
              <a:solidFill>
                <a:srgbClr val="000000"/>
              </a:solidFill>
            </a:endParaRPr>
          </a:p>
          <a:p>
            <a:pPr marL="0" indent="0" algn="l" rtl="0"/>
            <a:r>
              <a:rPr lang="es-419" sz="1100" b="1" dirty="0">
                <a:solidFill>
                  <a:srgbClr val="000000"/>
                </a:solidFill>
              </a:rPr>
              <a:t>Nota</a:t>
            </a:r>
            <a:r>
              <a:rPr lang="es-419" sz="1100" dirty="0">
                <a:solidFill>
                  <a:srgbClr val="000000"/>
                </a:solidFill>
              </a:rPr>
              <a:t>: Si el intento de prioridad está desactivado, el </a:t>
            </a:r>
            <a:r>
              <a:rPr lang="es-419" sz="1100" dirty="0" err="1">
                <a:solidFill>
                  <a:srgbClr val="000000"/>
                </a:solidFill>
              </a:rPr>
              <a:t>router</a:t>
            </a:r>
            <a:r>
              <a:rPr lang="es-419" sz="1100" dirty="0">
                <a:solidFill>
                  <a:srgbClr val="000000"/>
                </a:solidFill>
              </a:rPr>
              <a:t> que arranque primero será el </a:t>
            </a:r>
            <a:r>
              <a:rPr lang="es-419" sz="1100" dirty="0" err="1">
                <a:solidFill>
                  <a:srgbClr val="000000"/>
                </a:solidFill>
              </a:rPr>
              <a:t>router</a:t>
            </a:r>
            <a:r>
              <a:rPr lang="es-419" sz="1100" dirty="0">
                <a:solidFill>
                  <a:srgbClr val="000000"/>
                </a:solidFill>
              </a:rPr>
              <a:t> activo si no hay otros </a:t>
            </a:r>
            <a:r>
              <a:rPr lang="es-419" sz="1100" dirty="0" err="1">
                <a:solidFill>
                  <a:srgbClr val="000000"/>
                </a:solidFill>
              </a:rPr>
              <a:t>routers</a:t>
            </a:r>
            <a:r>
              <a:rPr lang="es-419" sz="1100" dirty="0">
                <a:solidFill>
                  <a:srgbClr val="000000"/>
                </a:solidFill>
              </a:rPr>
              <a:t> en línea durante el proceso de elección.</a:t>
            </a:r>
          </a:p>
          <a:p>
            <a:pPr marL="342900" indent="-342900" algn="l">
              <a:buFont typeface="Arial" panose="020B0604020202020204" pitchFamily="34" charset="0"/>
              <a:buChar char="•"/>
            </a:pPr>
            <a:endParaRPr lang="en-US" sz="1100" dirty="0">
              <a:solidFill>
                <a:srgbClr val="000000"/>
              </a:solidFill>
            </a:endParaRPr>
          </a:p>
        </p:txBody>
      </p:sp>
      <p:pic>
        <p:nvPicPr>
          <p:cNvPr id="7" name="Picture 6">
            <a:extLst>
              <a:ext uri="{FF2B5EF4-FFF2-40B4-BE49-F238E27FC236}">
                <a16:creationId xmlns:a16="http://schemas.microsoft.com/office/drawing/2014/main" id="{C6F27F9D-11B5-114E-AA42-B00DF8AA05C3}"/>
              </a:ext>
            </a:extLst>
          </p:cNvPr>
          <p:cNvPicPr>
            <a:picLocks noChangeAspect="1"/>
          </p:cNvPicPr>
          <p:nvPr/>
        </p:nvPicPr>
        <p:blipFill>
          <a:blip r:embed="rId4"/>
          <a:stretch>
            <a:fillRect/>
          </a:stretch>
        </p:blipFill>
        <p:spPr>
          <a:xfrm>
            <a:off x="5184747" y="1372185"/>
            <a:ext cx="3808786" cy="2399129"/>
          </a:xfrm>
          <a:prstGeom prst="rect">
            <a:avLst/>
          </a:prstGeom>
        </p:spPr>
      </p:pic>
    </p:spTree>
    <p:custDataLst>
      <p:tags r:id="rId1"/>
    </p:custDataLst>
    <p:extLst>
      <p:ext uri="{BB962C8B-B14F-4D97-AF65-F5344CB8AC3E}">
        <p14:creationId xmlns:p14="http://schemas.microsoft.com/office/powerpoint/2010/main" val="328807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HSRP</a:t>
            </a:r>
            <a:br>
              <a:rPr lang="en-US" dirty="0"/>
            </a:br>
            <a:r>
              <a:rPr lang="es-419" sz="2400"/>
              <a:t>Estados y Temporizadores de HSRP</a:t>
            </a:r>
          </a:p>
        </p:txBody>
      </p:sp>
      <p:graphicFrame>
        <p:nvGraphicFramePr>
          <p:cNvPr id="6" name="Content Placeholder 5">
            <a:extLst>
              <a:ext uri="{FF2B5EF4-FFF2-40B4-BE49-F238E27FC236}">
                <a16:creationId xmlns:a16="http://schemas.microsoft.com/office/drawing/2014/main" id="{7FE344E1-48D1-4B48-ABFC-55F5BB949F83}"/>
              </a:ext>
            </a:extLst>
          </p:cNvPr>
          <p:cNvGraphicFramePr>
            <a:graphicFrameLocks noGrp="1"/>
          </p:cNvGraphicFramePr>
          <p:nvPr>
            <p:ph idx="1"/>
          </p:nvPr>
        </p:nvGraphicFramePr>
        <p:xfrm>
          <a:off x="431800" y="731837"/>
          <a:ext cx="8280400" cy="2675890"/>
        </p:xfrm>
        <a:graphic>
          <a:graphicData uri="http://schemas.openxmlformats.org/drawingml/2006/table">
            <a:tbl>
              <a:tblPr firstRow="1" bandRow="1">
                <a:tableStyleId>{5C22544A-7EE6-4342-B048-85BDC9FD1C3A}</a:tableStyleId>
              </a:tblPr>
              <a:tblGrid>
                <a:gridCol w="1279709">
                  <a:extLst>
                    <a:ext uri="{9D8B030D-6E8A-4147-A177-3AD203B41FA5}">
                      <a16:colId xmlns:a16="http://schemas.microsoft.com/office/drawing/2014/main" val="3026019774"/>
                    </a:ext>
                  </a:extLst>
                </a:gridCol>
                <a:gridCol w="7000691">
                  <a:extLst>
                    <a:ext uri="{9D8B030D-6E8A-4147-A177-3AD203B41FA5}">
                      <a16:colId xmlns:a16="http://schemas.microsoft.com/office/drawing/2014/main" val="541146387"/>
                    </a:ext>
                  </a:extLst>
                </a:gridCol>
              </a:tblGrid>
              <a:tr h="370840">
                <a:tc>
                  <a:txBody>
                    <a:bodyPr/>
                    <a:lstStyle/>
                    <a:p>
                      <a:pPr algn="l" rtl="0" fontAlgn="ctr"/>
                      <a:r>
                        <a:rPr lang="es-419" sz="1200">
                          <a:effectLst/>
                        </a:rPr>
                        <a:t>Estado HSRP</a:t>
                      </a:r>
                    </a:p>
                  </a:txBody>
                  <a:tcPr marL="47625" marR="47625" marT="47625" marB="47625" anchor="ctr"/>
                </a:tc>
                <a:tc>
                  <a:txBody>
                    <a:bodyPr/>
                    <a:lstStyle/>
                    <a:p>
                      <a:pPr algn="l" rtl="0" fontAlgn="ctr"/>
                      <a:r>
                        <a:rPr lang="es-419" sz="1200">
                          <a:effectLst/>
                        </a:rPr>
                        <a:t>Descripción</a:t>
                      </a:r>
                    </a:p>
                  </a:txBody>
                  <a:tcPr marL="47625" marR="47625" marT="47625" marB="47625" anchor="ctr"/>
                </a:tc>
                <a:extLst>
                  <a:ext uri="{0D108BD9-81ED-4DB2-BD59-A6C34878D82A}">
                    <a16:rowId xmlns:a16="http://schemas.microsoft.com/office/drawing/2014/main" val="1133325050"/>
                  </a:ext>
                </a:extLst>
              </a:tr>
              <a:tr h="370840">
                <a:tc>
                  <a:txBody>
                    <a:bodyPr/>
                    <a:lstStyle/>
                    <a:p>
                      <a:pPr rtl="0" fontAlgn="ctr"/>
                      <a:r>
                        <a:rPr lang="es-419" sz="1200" b="0">
                          <a:solidFill>
                            <a:srgbClr val="000000"/>
                          </a:solidFill>
                          <a:effectLst/>
                        </a:rPr>
                        <a:t>Inicial</a:t>
                      </a:r>
                    </a:p>
                  </a:txBody>
                  <a:tcPr marL="47625" marR="47625" marT="47625" marB="47625" anchor="ctr"/>
                </a:tc>
                <a:tc>
                  <a:txBody>
                    <a:bodyPr/>
                    <a:lstStyle/>
                    <a:p>
                      <a:pPr rtl="0" fontAlgn="ctr"/>
                      <a:r>
                        <a:rPr lang="es-419" sz="1200" b="0">
                          <a:solidFill>
                            <a:srgbClr val="000000"/>
                          </a:solidFill>
                          <a:effectLst/>
                        </a:rPr>
                        <a:t>Este estado se ingresa a través de un cambio de configuración o cuando una interfaz está disponible por primera vez.</a:t>
                      </a:r>
                    </a:p>
                  </a:txBody>
                  <a:tcPr marL="47625" marR="47625" marT="47625" marB="47625" anchor="ctr"/>
                </a:tc>
                <a:extLst>
                  <a:ext uri="{0D108BD9-81ED-4DB2-BD59-A6C34878D82A}">
                    <a16:rowId xmlns:a16="http://schemas.microsoft.com/office/drawing/2014/main" val="1148319399"/>
                  </a:ext>
                </a:extLst>
              </a:tr>
              <a:tr h="370840">
                <a:tc>
                  <a:txBody>
                    <a:bodyPr/>
                    <a:lstStyle/>
                    <a:p>
                      <a:pPr rtl="0" fontAlgn="ctr"/>
                      <a:r>
                        <a:rPr lang="es-419" sz="1200" b="0">
                          <a:solidFill>
                            <a:srgbClr val="000000"/>
                          </a:solidFill>
                          <a:effectLst/>
                        </a:rPr>
                        <a:t>Aprender</a:t>
                      </a:r>
                    </a:p>
                  </a:txBody>
                  <a:tcPr marL="47625" marR="47625" marT="47625" marB="47625" anchor="ctr"/>
                </a:tc>
                <a:tc>
                  <a:txBody>
                    <a:bodyPr/>
                    <a:lstStyle/>
                    <a:p>
                      <a:pPr rtl="0" fontAlgn="ctr"/>
                      <a:r>
                        <a:rPr lang="es-419" sz="1200" b="0">
                          <a:solidFill>
                            <a:srgbClr val="000000"/>
                          </a:solidFill>
                          <a:effectLst/>
                        </a:rPr>
                        <a:t>El router no ha establecido la dirección IP virtual y todavía no ha visto un mensaje de saludo del router activo. En este estado, el router espera para escuchar al router activo.</a:t>
                      </a:r>
                    </a:p>
                  </a:txBody>
                  <a:tcPr marL="47625" marR="47625" marT="47625" marB="47625" anchor="ctr"/>
                </a:tc>
                <a:extLst>
                  <a:ext uri="{0D108BD9-81ED-4DB2-BD59-A6C34878D82A}">
                    <a16:rowId xmlns:a16="http://schemas.microsoft.com/office/drawing/2014/main" val="917921214"/>
                  </a:ext>
                </a:extLst>
              </a:tr>
              <a:tr h="370840">
                <a:tc>
                  <a:txBody>
                    <a:bodyPr/>
                    <a:lstStyle/>
                    <a:p>
                      <a:pPr rtl="0" fontAlgn="ctr"/>
                      <a:r>
                        <a:rPr lang="es-419" sz="1200" b="0">
                          <a:solidFill>
                            <a:srgbClr val="000000"/>
                          </a:solidFill>
                          <a:effectLst/>
                        </a:rPr>
                        <a:t>Escuchar</a:t>
                      </a:r>
                    </a:p>
                  </a:txBody>
                  <a:tcPr marL="47625" marR="47625" marT="47625" marB="47625" anchor="ctr"/>
                </a:tc>
                <a:tc>
                  <a:txBody>
                    <a:bodyPr/>
                    <a:lstStyle/>
                    <a:p>
                      <a:pPr rtl="0" fontAlgn="ctr"/>
                      <a:r>
                        <a:rPr lang="es-419" sz="1200" b="0">
                          <a:solidFill>
                            <a:srgbClr val="000000"/>
                          </a:solidFill>
                          <a:effectLst/>
                        </a:rPr>
                        <a:t>El router conoce la dirección IP virtual, pero el router no es el router activo ni el router de reserva. Escucha los mensajes de saludo de esos routers.</a:t>
                      </a:r>
                    </a:p>
                  </a:txBody>
                  <a:tcPr marL="47625" marR="47625" marT="47625" marB="47625" anchor="ctr"/>
                </a:tc>
                <a:extLst>
                  <a:ext uri="{0D108BD9-81ED-4DB2-BD59-A6C34878D82A}">
                    <a16:rowId xmlns:a16="http://schemas.microsoft.com/office/drawing/2014/main" val="3623876716"/>
                  </a:ext>
                </a:extLst>
              </a:tr>
              <a:tr h="370840">
                <a:tc>
                  <a:txBody>
                    <a:bodyPr/>
                    <a:lstStyle/>
                    <a:p>
                      <a:pPr rtl="0" fontAlgn="ctr"/>
                      <a:r>
                        <a:rPr lang="es-419" sz="1200" b="0">
                          <a:solidFill>
                            <a:srgbClr val="000000"/>
                          </a:solidFill>
                          <a:effectLst/>
                        </a:rPr>
                        <a:t>Hablar</a:t>
                      </a:r>
                    </a:p>
                  </a:txBody>
                  <a:tcPr marL="47625" marR="47625" marT="47625" marB="47625" anchor="ctr"/>
                </a:tc>
                <a:tc>
                  <a:txBody>
                    <a:bodyPr/>
                    <a:lstStyle/>
                    <a:p>
                      <a:pPr rtl="0" fontAlgn="ctr"/>
                      <a:r>
                        <a:rPr lang="es-419" sz="1200" b="0">
                          <a:solidFill>
                            <a:srgbClr val="000000"/>
                          </a:solidFill>
                          <a:effectLst/>
                        </a:rPr>
                        <a:t>El router envía mensajes de saludo periódicos y participa activamente en la elección de un router activo y/o de reserva.</a:t>
                      </a:r>
                    </a:p>
                  </a:txBody>
                  <a:tcPr marL="47625" marR="47625" marT="47625" marB="47625" anchor="ctr"/>
                </a:tc>
                <a:extLst>
                  <a:ext uri="{0D108BD9-81ED-4DB2-BD59-A6C34878D82A}">
                    <a16:rowId xmlns:a16="http://schemas.microsoft.com/office/drawing/2014/main" val="326289891"/>
                  </a:ext>
                </a:extLst>
              </a:tr>
              <a:tr h="370840">
                <a:tc>
                  <a:txBody>
                    <a:bodyPr/>
                    <a:lstStyle/>
                    <a:p>
                      <a:pPr rtl="0" fontAlgn="ctr"/>
                      <a:r>
                        <a:rPr lang="es-419" sz="1200" b="0">
                          <a:solidFill>
                            <a:srgbClr val="000000"/>
                          </a:solidFill>
                          <a:effectLst/>
                        </a:rPr>
                        <a:t>En espera</a:t>
                      </a:r>
                    </a:p>
                  </a:txBody>
                  <a:tcPr marL="47625" marR="47625" marT="47625" marB="47625" anchor="ctr"/>
                </a:tc>
                <a:tc>
                  <a:txBody>
                    <a:bodyPr/>
                    <a:lstStyle/>
                    <a:p>
                      <a:pPr rtl="0" fontAlgn="ctr"/>
                      <a:r>
                        <a:rPr lang="es-419" sz="1200" b="0" dirty="0">
                          <a:solidFill>
                            <a:srgbClr val="000000"/>
                          </a:solidFill>
                          <a:effectLst/>
                        </a:rPr>
                        <a:t>El router es candidato a convertirse en el próximo router activo y envía mensajes de saludo periódicos.</a:t>
                      </a:r>
                    </a:p>
                  </a:txBody>
                  <a:tcPr marL="47625" marR="47625" marT="47625" marB="47625" anchor="ctr"/>
                </a:tc>
                <a:extLst>
                  <a:ext uri="{0D108BD9-81ED-4DB2-BD59-A6C34878D82A}">
                    <a16:rowId xmlns:a16="http://schemas.microsoft.com/office/drawing/2014/main" val="3139545418"/>
                  </a:ext>
                </a:extLst>
              </a:tr>
            </a:tbl>
          </a:graphicData>
        </a:graphic>
      </p:graphicFrame>
      <p:sp>
        <p:nvSpPr>
          <p:cNvPr id="8" name="Rectangle 7">
            <a:extLst>
              <a:ext uri="{FF2B5EF4-FFF2-40B4-BE49-F238E27FC236}">
                <a16:creationId xmlns:a16="http://schemas.microsoft.com/office/drawing/2014/main" id="{E10172B9-E5FB-2B4A-B80F-2F1FE8313D8F}"/>
              </a:ext>
            </a:extLst>
          </p:cNvPr>
          <p:cNvSpPr/>
          <p:nvPr/>
        </p:nvSpPr>
        <p:spPr>
          <a:xfrm>
            <a:off x="431800" y="3441180"/>
            <a:ext cx="8280399" cy="1200329"/>
          </a:xfrm>
          <a:prstGeom prst="rect">
            <a:avLst/>
          </a:prstGeom>
        </p:spPr>
        <p:txBody>
          <a:bodyPr wrap="square">
            <a:spAutoFit/>
          </a:bodyPr>
          <a:lstStyle/>
          <a:p>
            <a:pPr rtl="0"/>
            <a:r>
              <a:rPr lang="es-419" sz="1200" dirty="0">
                <a:solidFill>
                  <a:srgbClr val="000000"/>
                </a:solidFill>
                <a:latin typeface="+mn-lt"/>
              </a:rPr>
              <a:t>El router HSRP activo y el de reserva envían paquetes de saludo a la dirección de multidifusión del grupo HSRP cada 3 segundos, de forma predeterminada. El router de reserva se convertirá en activo si no recibe un mensaje de saludo del router activo después de 10 segundos. Puede bajar estas configuraciones del temporizador para agilizar las fallas o el intento de prioridad. Sin embargo, para evitar el aumento del uso de la CPU y cambios de estado de reserva innecesarios, no configure el temporizador de saludo a menos de 1 segundo o el temporizador de espera a menos de 4 segundos.</a:t>
            </a:r>
          </a:p>
        </p:txBody>
      </p:sp>
    </p:spTree>
    <p:custDataLst>
      <p:tags r:id="rId1"/>
    </p:custDataLst>
    <p:extLst>
      <p:ext uri="{BB962C8B-B14F-4D97-AF65-F5344CB8AC3E}">
        <p14:creationId xmlns:p14="http://schemas.microsoft.com/office/powerpoint/2010/main" val="1154030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9.3 - Módulo de práctica y cuestionario</a:t>
            </a:r>
          </a:p>
        </p:txBody>
      </p:sp>
    </p:spTree>
    <p:custDataLst>
      <p:tags r:id="rId1"/>
    </p:custDataLst>
    <p:extLst>
      <p:ext uri="{BB962C8B-B14F-4D97-AF65-F5344CB8AC3E}">
        <p14:creationId xmlns:p14="http://schemas.microsoft.com/office/powerpoint/2010/main" val="362097512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dirty="0"/>
              <a:t>Se necesita un mecanismo para proporcionar puertas de enlace predeterminadas alternativas en las redes conmutadas donde hay dos o más routers conectados a las mismas VLAN. </a:t>
            </a:r>
          </a:p>
          <a:p>
            <a:pPr rtl="0">
              <a:spcBef>
                <a:spcPts val="0"/>
              </a:spcBef>
              <a:spcAft>
                <a:spcPts val="0"/>
              </a:spcAft>
              <a:buFont typeface="Arial" panose="020B0604020202020204" pitchFamily="34" charset="0"/>
              <a:buChar char="•"/>
            </a:pPr>
            <a:r>
              <a:rPr lang="es-419" sz="1400" dirty="0"/>
              <a:t>Una forma de evitar un único punto de falla en el gateway predeterminado es implementar un router virtual. Como se muestra en la figura, para implementar este tipo de redundancia de router, se configuran varios routers para que funcionen juntos y así dar la sensación de que hay un único router a los hosts en la LAN. </a:t>
            </a:r>
          </a:p>
          <a:p>
            <a:pPr rtl="0">
              <a:spcBef>
                <a:spcPts val="0"/>
              </a:spcBef>
              <a:spcAft>
                <a:spcPts val="0"/>
              </a:spcAft>
              <a:buFont typeface="Arial" panose="020B0604020202020204" pitchFamily="34" charset="0"/>
              <a:buChar char="•"/>
            </a:pPr>
            <a:r>
              <a:rPr lang="es-419" sz="1400" dirty="0"/>
              <a:t>Cuando falla el router activo, el protocolo de redundancia hace que el router de reserva asuma el nuevo rol de router activo. Estos son los pasos que se llevan a cabo cuando falla el router activo:</a:t>
            </a:r>
          </a:p>
          <a:p>
            <a:pPr marL="417512" lvl="1" indent="-228600" rtl="0">
              <a:spcBef>
                <a:spcPts val="0"/>
              </a:spcBef>
              <a:spcAft>
                <a:spcPts val="0"/>
              </a:spcAft>
              <a:buFont typeface="Arial" panose="020B0604020202020204" pitchFamily="34" charset="0"/>
              <a:buChar char="•"/>
            </a:pPr>
            <a:r>
              <a:rPr lang="es-419" dirty="0"/>
              <a:t>El router de reserva deja de recibir los mensajes de saludo del router de reenvío.</a:t>
            </a:r>
          </a:p>
          <a:p>
            <a:pPr marL="417512" lvl="1" indent="-228600" rtl="0">
              <a:spcBef>
                <a:spcPts val="0"/>
              </a:spcBef>
              <a:spcAft>
                <a:spcPts val="0"/>
              </a:spcAft>
              <a:buFont typeface="Arial" panose="020B0604020202020204" pitchFamily="34" charset="0"/>
              <a:buChar char="•"/>
            </a:pPr>
            <a:r>
              <a:rPr lang="es-419" dirty="0"/>
              <a:t>El router de reserva asume la función del router de reenvío.</a:t>
            </a:r>
          </a:p>
          <a:p>
            <a:pPr marL="417512" lvl="1" indent="-228600" rtl="0">
              <a:spcBef>
                <a:spcPts val="0"/>
              </a:spcBef>
              <a:spcAft>
                <a:spcPts val="0"/>
              </a:spcAft>
              <a:buFont typeface="Arial" panose="020B0604020202020204" pitchFamily="34" charset="0"/>
              <a:buChar char="•"/>
            </a:pPr>
            <a:r>
              <a:rPr lang="es-419" dirty="0"/>
              <a:t>Debido a que el nuevo router de reenvío asume tanto la dirección IPv4 como la dirección MAC del router virtual, los dispositivos host no perciben ninguna interrupción en el servicio.</a:t>
            </a:r>
          </a:p>
          <a:p>
            <a:pPr rtl="0">
              <a:spcBef>
                <a:spcPts val="0"/>
              </a:spcBef>
              <a:spcAft>
                <a:spcPts val="0"/>
              </a:spcAft>
              <a:buFont typeface="Arial" panose="020B0604020202020204" pitchFamily="34" charset="0"/>
              <a:buChar char="•"/>
            </a:pPr>
            <a:r>
              <a:rPr lang="es-419" sz="1400" dirty="0"/>
              <a:t>La FHRP utilizada en un entorno de producción depende en gran medida del equipo y las necesidades de la red. Estas son las opciones disponibles para FHRP:</a:t>
            </a:r>
          </a:p>
          <a:p>
            <a:pPr lvl="1" rtl="0">
              <a:spcBef>
                <a:spcPts val="0"/>
              </a:spcBef>
              <a:spcAft>
                <a:spcPts val="0"/>
              </a:spcAft>
              <a:buFont typeface="Arial" panose="020B0604020202020204" pitchFamily="34" charset="0"/>
              <a:buChar char="•"/>
            </a:pPr>
            <a:r>
              <a:rPr lang="es-419" dirty="0"/>
              <a:t>HSRP y HSRP para IPv6</a:t>
            </a:r>
          </a:p>
          <a:p>
            <a:pPr lvl="1" rtl="0">
              <a:spcBef>
                <a:spcPts val="0"/>
              </a:spcBef>
              <a:spcAft>
                <a:spcPts val="0"/>
              </a:spcAft>
              <a:buFont typeface="Arial" panose="020B0604020202020204" pitchFamily="34" charset="0"/>
              <a:buChar char="•"/>
            </a:pPr>
            <a:r>
              <a:rPr lang="es-419" dirty="0"/>
              <a:t>VRRPV2 y VRRPV3</a:t>
            </a:r>
          </a:p>
          <a:p>
            <a:pPr lvl="1" rtl="0">
              <a:spcBef>
                <a:spcPts val="0"/>
              </a:spcBef>
              <a:spcAft>
                <a:spcPts val="0"/>
              </a:spcAft>
              <a:buFont typeface="Arial" panose="020B0604020202020204" pitchFamily="34" charset="0"/>
              <a:buChar char="•"/>
            </a:pPr>
            <a:r>
              <a:rPr lang="es-419" dirty="0"/>
              <a:t>GLBP and GLBP for IPv6</a:t>
            </a:r>
          </a:p>
          <a:p>
            <a:pPr lvl="1" rtl="0">
              <a:spcBef>
                <a:spcPts val="0"/>
              </a:spcBef>
              <a:spcAft>
                <a:spcPts val="0"/>
              </a:spcAft>
              <a:buFont typeface="Arial" panose="020B0604020202020204" pitchFamily="34" charset="0"/>
              <a:buChar char="•"/>
            </a:pPr>
            <a:r>
              <a:rPr lang="es-419" dirty="0"/>
              <a:t>IRDP</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01363090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dirty="0">
                <a:latin typeface="Arial" charset="0"/>
              </a:rPr>
              <a:t>Práctica del módulo y cuestionario</a:t>
            </a:r>
            <a:br>
              <a:rPr lang="en-US" dirty="0">
                <a:latin typeface="Arial" charset="0"/>
              </a:rPr>
            </a:br>
            <a:r>
              <a:rPr lang="es-419" dirty="0">
                <a:latin typeface="Arial" charset="0"/>
              </a:rPr>
              <a:t> ¿Qué aprendí en este módulo? (cont.)</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a:t>Es el protocolo HSRP exclusivo de Cisco diseñado para permitir la conmutación por falla transparente de los dispositivos IPv4 de primer salto. HSRP se utiliza en un grupo de routers para seleccionar un dispositivo activo y un dispositivo de reserva. </a:t>
            </a:r>
          </a:p>
          <a:p>
            <a:pPr rtl="0">
              <a:spcBef>
                <a:spcPts val="0"/>
              </a:spcBef>
              <a:spcAft>
                <a:spcPts val="0"/>
              </a:spcAft>
              <a:buFont typeface="Arial" panose="020B0604020202020204" pitchFamily="34" charset="0"/>
              <a:buChar char="•"/>
            </a:pPr>
            <a:r>
              <a:rPr lang="es-419" sz="1400"/>
              <a:t>En un grupo de interfaces de dispositivo, el dispositivo activo es aquel que se utiliza para enrutar paquetes, y el dispositivo de reserva es el que toma el control cuando falla el dispositivo activo o cuando se cumplen condiciones previamente establecidas. La función del router de suspensión del HSRP es controlar el estado operativo del grupo de HSRP y asumir rápidamente la responsabilidad de reenvío de paquetes si falla el router activo. </a:t>
            </a:r>
          </a:p>
          <a:p>
            <a:pPr rtl="0">
              <a:spcBef>
                <a:spcPts val="0"/>
              </a:spcBef>
              <a:spcAft>
                <a:spcPts val="0"/>
              </a:spcAft>
              <a:buFont typeface="Arial" panose="020B0604020202020204" pitchFamily="34" charset="0"/>
              <a:buChar char="•"/>
            </a:pPr>
            <a:r>
              <a:rPr lang="es-419" sz="1400"/>
              <a:t>El router con la prioridad HSRP más alta será el router activo. El intento de prioridad es la capacidad de un router HSRP de activar el proceso de la nueva elección. Con este intento de prioridad activado, un router disponible en línea con una prioridad HSRP más alta asume el rol de router activo. Los estados HSRP incluyen inicial, aprendizaje, escucha, habla y espera</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88850166"/>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Packet Tracer – Guía de configuración de HSRP</a:t>
            </a:r>
          </a:p>
        </p:txBody>
      </p:sp>
      <p:sp>
        <p:nvSpPr>
          <p:cNvPr id="2" name="Content Placeholder 1">
            <a:extLst>
              <a:ext uri="{FF2B5EF4-FFF2-40B4-BE49-F238E27FC236}">
                <a16:creationId xmlns:a16="http://schemas.microsoft.com/office/drawing/2014/main" id="{4CE2DB35-19E4-5146-BF9E-88132E6584B9}"/>
              </a:ext>
            </a:extLst>
          </p:cNvPr>
          <p:cNvSpPr>
            <a:spLocks noGrp="1"/>
          </p:cNvSpPr>
          <p:nvPr>
            <p:ph idx="1"/>
          </p:nvPr>
        </p:nvSpPr>
        <p:spPr/>
        <p:txBody>
          <a:bodyPr/>
          <a:lstStyle/>
          <a:p>
            <a:pPr marL="0" indent="0" rtl="0">
              <a:buNone/>
            </a:pPr>
            <a:r>
              <a:rPr lang="es-419" sz="1400" dirty="0"/>
              <a:t>En esta actividad Packet Tracer, aprenderá a configurar Hot Standby Router Protocol (HSRP) para proporcionar dispositivos de puerta de enlace predeterminados redundantes a hosts en LAN. Después de configurar HSRP, probará la configuración para comprobar que los hosts pueden utilizar la puerta de enlace predeterminada redundante si el dispositivo de puerta de enlace actual no está disponible.</a:t>
            </a:r>
          </a:p>
          <a:p>
            <a:pPr rtl="0">
              <a:buFont typeface="Arial" panose="020B0604020202020204" pitchFamily="34" charset="0"/>
              <a:buChar char="•"/>
            </a:pPr>
            <a:r>
              <a:rPr lang="es-419" sz="1400" dirty="0"/>
              <a:t>Configure un router activo HSRP.</a:t>
            </a:r>
          </a:p>
          <a:p>
            <a:pPr rtl="0">
              <a:buFont typeface="Arial" panose="020B0604020202020204" pitchFamily="34" charset="0"/>
              <a:buChar char="•"/>
            </a:pPr>
            <a:r>
              <a:rPr lang="es-419" sz="1400" dirty="0"/>
              <a:t>Configure un router en espera HSRP.</a:t>
            </a:r>
          </a:p>
          <a:p>
            <a:pPr rtl="0">
              <a:buFont typeface="Arial" panose="020B0604020202020204" pitchFamily="34" charset="0"/>
              <a:buChar char="•"/>
            </a:pPr>
            <a:r>
              <a:rPr lang="es-419" sz="1400" dirty="0"/>
              <a:t>Verifique la operación HSRP.</a:t>
            </a:r>
            <a:br>
              <a:rPr lang="en-US" sz="1400" dirty="0"/>
            </a:br>
            <a:endParaRPr lang="en-US" sz="1400" dirty="0"/>
          </a:p>
        </p:txBody>
      </p:sp>
    </p:spTree>
    <p:custDataLst>
      <p:tags r:id="rId1"/>
    </p:custDataLst>
    <p:extLst>
      <p:ext uri="{BB962C8B-B14F-4D97-AF65-F5344CB8AC3E}">
        <p14:creationId xmlns:p14="http://schemas.microsoft.com/office/powerpoint/2010/main" val="212203931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r>
              <a:rPr lang="es-419" sz="1400" dirty="0">
                <a:latin typeface="Arial" charset="0"/>
              </a:rPr>
              <a:t>Módulo 9: Conceptos de FHRP</a:t>
            </a:r>
            <a:br>
              <a:rPr lang="en-US" dirty="0">
                <a:latin typeface="Arial" charset="0"/>
              </a:rPr>
            </a:br>
            <a:r>
              <a:rPr lang="es-419" dirty="0">
                <a:latin typeface="Arial" charset="0"/>
              </a:rPr>
              <a:t>Nuevos términos y comandos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4703064" cy="3256689"/>
          </a:xfrm>
        </p:spPr>
        <p:txBody>
          <a:bodyPr/>
          <a:lstStyle/>
          <a:p>
            <a:pPr rtl="0">
              <a:spcBef>
                <a:spcPts val="0"/>
              </a:spcBef>
              <a:spcAft>
                <a:spcPts val="0"/>
              </a:spcAft>
              <a:buFont typeface="Arial" panose="020B0604020202020204" pitchFamily="34" charset="0"/>
              <a:buChar char="•"/>
            </a:pPr>
            <a:r>
              <a:rPr lang="es-419" sz="1600" dirty="0"/>
              <a:t>First Hop Redundancy Protocol (FHRP)</a:t>
            </a:r>
          </a:p>
          <a:p>
            <a:pPr rtl="0">
              <a:spcBef>
                <a:spcPts val="0"/>
              </a:spcBef>
              <a:spcAft>
                <a:spcPts val="0"/>
              </a:spcAft>
              <a:buFont typeface="Arial" panose="020B0604020202020204" pitchFamily="34" charset="0"/>
              <a:buChar char="•"/>
            </a:pPr>
            <a:r>
              <a:rPr lang="es-419" sz="1600" dirty="0"/>
              <a:t>Router Redundancy</a:t>
            </a:r>
          </a:p>
          <a:p>
            <a:pPr rtl="0">
              <a:spcBef>
                <a:spcPts val="0"/>
              </a:spcBef>
              <a:spcAft>
                <a:spcPts val="0"/>
              </a:spcAft>
              <a:buFont typeface="Arial" panose="020B0604020202020204" pitchFamily="34" charset="0"/>
              <a:buChar char="•"/>
            </a:pPr>
            <a:r>
              <a:rPr lang="es-419" sz="1600" dirty="0"/>
              <a:t>Virtual Router</a:t>
            </a:r>
          </a:p>
          <a:p>
            <a:pPr rtl="0">
              <a:spcBef>
                <a:spcPts val="0"/>
              </a:spcBef>
              <a:spcAft>
                <a:spcPts val="0"/>
              </a:spcAft>
              <a:buFont typeface="Arial" panose="020B0604020202020204" pitchFamily="34" charset="0"/>
              <a:buChar char="•"/>
            </a:pPr>
            <a:r>
              <a:rPr lang="es-419" sz="1600" dirty="0"/>
              <a:t>Active Router</a:t>
            </a:r>
          </a:p>
          <a:p>
            <a:pPr rtl="0">
              <a:spcBef>
                <a:spcPts val="0"/>
              </a:spcBef>
              <a:spcAft>
                <a:spcPts val="0"/>
              </a:spcAft>
              <a:buFont typeface="Arial" panose="020B0604020202020204" pitchFamily="34" charset="0"/>
              <a:buChar char="•"/>
            </a:pPr>
            <a:r>
              <a:rPr lang="es-419" sz="1600" dirty="0"/>
              <a:t>Standby Router</a:t>
            </a:r>
          </a:p>
          <a:p>
            <a:pPr rtl="0">
              <a:spcBef>
                <a:spcPts val="0"/>
              </a:spcBef>
              <a:spcAft>
                <a:spcPts val="0"/>
              </a:spcAft>
              <a:buFont typeface="Arial" panose="020B0604020202020204" pitchFamily="34" charset="0"/>
              <a:buChar char="•"/>
            </a:pPr>
            <a:r>
              <a:rPr lang="es-419" sz="1600" dirty="0"/>
              <a:t>Hot Standby Routing Protocol (HSRP)</a:t>
            </a:r>
          </a:p>
          <a:p>
            <a:pPr rtl="0">
              <a:spcBef>
                <a:spcPts val="0"/>
              </a:spcBef>
              <a:spcAft>
                <a:spcPts val="0"/>
              </a:spcAft>
              <a:buFont typeface="Arial" panose="020B0604020202020204" pitchFamily="34" charset="0"/>
              <a:buChar char="•"/>
            </a:pPr>
            <a:r>
              <a:rPr lang="es-419" sz="1600" dirty="0"/>
              <a:t>Virtual Router Redundancy Protocol (VRRP)</a:t>
            </a:r>
          </a:p>
          <a:p>
            <a:pPr rtl="0">
              <a:spcBef>
                <a:spcPts val="0"/>
              </a:spcBef>
              <a:spcAft>
                <a:spcPts val="0"/>
              </a:spcAft>
              <a:buFont typeface="Arial" panose="020B0604020202020204" pitchFamily="34" charset="0"/>
              <a:buChar char="•"/>
            </a:pPr>
            <a:r>
              <a:rPr lang="es-419" sz="1600" dirty="0"/>
              <a:t>Gateway Load Balancing Protocol (GLBP)</a:t>
            </a:r>
          </a:p>
          <a:p>
            <a:pPr rtl="0">
              <a:spcBef>
                <a:spcPts val="0"/>
              </a:spcBef>
              <a:spcAft>
                <a:spcPts val="0"/>
              </a:spcAft>
              <a:buFont typeface="Arial" panose="020B0604020202020204" pitchFamily="34" charset="0"/>
              <a:buChar char="•"/>
            </a:pPr>
            <a:r>
              <a:rPr lang="es-419" sz="1600" dirty="0"/>
              <a:t>ICMP Router Discovery Protocol (IRDP)</a:t>
            </a:r>
          </a:p>
          <a:p>
            <a:pPr rtl="0">
              <a:spcBef>
                <a:spcPts val="0"/>
              </a:spcBef>
              <a:spcAft>
                <a:spcPts val="0"/>
              </a:spcAft>
              <a:buFont typeface="Arial" panose="020B0604020202020204" pitchFamily="34" charset="0"/>
              <a:buChar char="•"/>
            </a:pPr>
            <a:r>
              <a:rPr lang="es-419" sz="1600" dirty="0"/>
              <a:t>Virtual Router Master</a:t>
            </a:r>
          </a:p>
          <a:p>
            <a:pPr rtl="0">
              <a:spcBef>
                <a:spcPts val="0"/>
              </a:spcBef>
              <a:spcAft>
                <a:spcPts val="0"/>
              </a:spcAft>
              <a:buFont typeface="Arial" panose="020B0604020202020204" pitchFamily="34" charset="0"/>
              <a:buChar char="•"/>
            </a:pPr>
            <a:r>
              <a:rPr lang="es-419" sz="1600" b="1" dirty="0"/>
              <a:t>standby priority</a:t>
            </a:r>
          </a:p>
          <a:p>
            <a:pPr rtl="0">
              <a:spcBef>
                <a:spcPts val="0"/>
              </a:spcBef>
              <a:spcAft>
                <a:spcPts val="0"/>
              </a:spcAft>
              <a:buFont typeface="Arial" panose="020B0604020202020204" pitchFamily="34" charset="0"/>
              <a:buChar char="•"/>
            </a:pPr>
            <a:r>
              <a:rPr lang="es-419" sz="1600" b="1" dirty="0"/>
              <a:t>standby preempt</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310541668"/>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2930838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5673</TotalTime>
  <Words>3576</Words>
  <Application>Microsoft Office PowerPoint</Application>
  <PresentationFormat>Presentación en pantalla (16:9)</PresentationFormat>
  <Paragraphs>275</Paragraphs>
  <Slides>26</Slides>
  <Notes>24</Notes>
  <HiddenSlides>7</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26</vt:i4>
      </vt:variant>
    </vt:vector>
  </HeadingPairs>
  <TitlesOfParts>
    <vt:vector size="34" baseType="lpstr">
      <vt:lpstr>ＭＳ Ｐゴシック</vt:lpstr>
      <vt:lpstr>Arial</vt:lpstr>
      <vt:lpstr>Calibri</vt:lpstr>
      <vt:lpstr>CiscoSans</vt:lpstr>
      <vt:lpstr>CiscoSans ExtraLight</vt:lpstr>
      <vt:lpstr>CiscoSans Thin</vt:lpstr>
      <vt:lpstr>Wingdings</vt:lpstr>
      <vt:lpstr>Default Theme</vt:lpstr>
      <vt:lpstr>Módulo 9: Conceptos de la FHRP</vt:lpstr>
      <vt:lpstr>Materiales del Instructor - Módulo 9, guía de planificación</vt:lpstr>
      <vt:lpstr>¿Qué esperar de este módulo?</vt:lpstr>
      <vt:lpstr>¿Qué esperar de este módulo? (Cont.)</vt:lpstr>
      <vt:lpstr>Verifique su conocimiento</vt:lpstr>
      <vt:lpstr>Módulo 9: Actividades</vt:lpstr>
      <vt:lpstr>Módulo 9: Mejores Prácticas</vt:lpstr>
      <vt:lpstr>Módulo 9: Conceptos de FHRP</vt:lpstr>
      <vt:lpstr>Objetivos del módulo</vt:lpstr>
      <vt:lpstr>9.1 Protocolos de redundancia de primer salto</vt:lpstr>
      <vt:lpstr>Protocolos de redundancia del primer salto Limitaciones del gateway predeterminado</vt:lpstr>
      <vt:lpstr>Protocolos de redundancia del primer salto Redundancia del router</vt:lpstr>
      <vt:lpstr>Protocolos de redundancia del primer salto Redundancia del router (Cont.)</vt:lpstr>
      <vt:lpstr>Protocolos de redundancia del primer salto Pasos para la conmutación por error del router</vt:lpstr>
      <vt:lpstr>Protocolos de redundancia del primer salto Opciones FHRP </vt:lpstr>
      <vt:lpstr>9.2 HSRP</vt:lpstr>
      <vt:lpstr>HSRP HSRP: Descripción general</vt:lpstr>
      <vt:lpstr>HSRP Prioridad e Intento de Prioridad del HSRP</vt:lpstr>
      <vt:lpstr>HSRP Prioridad e intento de prioridad del HSRP (Cont.)</vt:lpstr>
      <vt:lpstr>HSRP Estados y Temporizadores de HSRP</vt:lpstr>
      <vt:lpstr>9.3 - Módulo de práctica y cuestionario</vt:lpstr>
      <vt:lpstr>Práctica del módulo y cuestionario ¿Qué aprendí en este módulo?</vt:lpstr>
      <vt:lpstr>Práctica del módulo y cuestionario  ¿Qué aprendí en este módulo? (cont.)</vt:lpstr>
      <vt:lpstr>Práctica del módulo y cuestionario Packet Tracer – Guía de configuración de HSRP</vt:lpstr>
      <vt:lpstr>Módulo 9: Conceptos de FHRP Nuevos términos y comandos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Johanna Bermudez Escobar</cp:lastModifiedBy>
  <cp:revision>421</cp:revision>
  <dcterms:created xsi:type="dcterms:W3CDTF">2019-10-18T06:21:22Z</dcterms:created>
  <dcterms:modified xsi:type="dcterms:W3CDTF">2020-05-16T02:26:38Z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