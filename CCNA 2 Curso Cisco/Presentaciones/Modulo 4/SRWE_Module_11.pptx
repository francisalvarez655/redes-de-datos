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3.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4.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5.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6.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7.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18.xml" ContentType="application/vnd.openxmlformats-officedocument.presentationml.tags+xml"/>
  <Override PartName="/ppt/notesSlides/notesSlide52.xml" ContentType="application/vnd.openxmlformats-officedocument.presentationml.notesSlide+xml"/>
  <Override PartName="/ppt/tags/tag19.xml" ContentType="application/vnd.openxmlformats-officedocument.presentationml.tags+xml"/>
  <Override PartName="/ppt/notesSlides/notesSlide53.xml" ContentType="application/vnd.openxmlformats-officedocument.presentationml.notesSlide+xml"/>
  <Override PartName="/ppt/tags/tag20.xml" ContentType="application/vnd.openxmlformats-officedocument.presentationml.tags+xml"/>
  <Override PartName="/ppt/notesSlides/notesSlide54.xml" ContentType="application/vnd.openxmlformats-officedocument.presentationml.notesSlide+xml"/>
  <Override PartName="/ppt/tags/tag21.xml" ContentType="application/vnd.openxmlformats-officedocument.presentationml.tags+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9"/>
  </p:notesMasterIdLst>
  <p:sldIdLst>
    <p:sldId id="513" r:id="rId2"/>
    <p:sldId id="730" r:id="rId3"/>
    <p:sldId id="1209" r:id="rId4"/>
    <p:sldId id="1071" r:id="rId5"/>
    <p:sldId id="1210" r:id="rId6"/>
    <p:sldId id="763" r:id="rId7"/>
    <p:sldId id="1052" r:id="rId8"/>
    <p:sldId id="1069" r:id="rId9"/>
    <p:sldId id="876" r:id="rId10"/>
    <p:sldId id="860" r:id="rId11"/>
    <p:sldId id="759" r:id="rId12"/>
    <p:sldId id="1108" r:id="rId13"/>
    <p:sldId id="1169" r:id="rId14"/>
    <p:sldId id="1170" r:id="rId15"/>
    <p:sldId id="1171" r:id="rId16"/>
    <p:sldId id="1172" r:id="rId17"/>
    <p:sldId id="1173" r:id="rId18"/>
    <p:sldId id="1174" r:id="rId19"/>
    <p:sldId id="1175" r:id="rId20"/>
    <p:sldId id="1176" r:id="rId21"/>
    <p:sldId id="1177" r:id="rId22"/>
    <p:sldId id="1178" r:id="rId23"/>
    <p:sldId id="1179" r:id="rId24"/>
    <p:sldId id="1180" r:id="rId25"/>
    <p:sldId id="1181" r:id="rId26"/>
    <p:sldId id="1182" r:id="rId27"/>
    <p:sldId id="1183" r:id="rId28"/>
    <p:sldId id="1184" r:id="rId29"/>
    <p:sldId id="1185" r:id="rId30"/>
    <p:sldId id="1186" r:id="rId31"/>
    <p:sldId id="1056" r:id="rId32"/>
    <p:sldId id="1187" r:id="rId33"/>
    <p:sldId id="1188" r:id="rId34"/>
    <p:sldId id="1103" r:id="rId35"/>
    <p:sldId id="1189" r:id="rId36"/>
    <p:sldId id="1190" r:id="rId37"/>
    <p:sldId id="1191" r:id="rId38"/>
    <p:sldId id="1192" r:id="rId39"/>
    <p:sldId id="1193" r:id="rId40"/>
    <p:sldId id="1104" r:id="rId41"/>
    <p:sldId id="1194" r:id="rId42"/>
    <p:sldId id="1195" r:id="rId43"/>
    <p:sldId id="1196" r:id="rId44"/>
    <p:sldId id="1197" r:id="rId45"/>
    <p:sldId id="1198" r:id="rId46"/>
    <p:sldId id="1139" r:id="rId47"/>
    <p:sldId id="1199" r:id="rId48"/>
    <p:sldId id="1200" r:id="rId49"/>
    <p:sldId id="1201" r:id="rId50"/>
    <p:sldId id="1203" r:id="rId51"/>
    <p:sldId id="957" r:id="rId52"/>
    <p:sldId id="1205" r:id="rId53"/>
    <p:sldId id="1206" r:id="rId54"/>
    <p:sldId id="1138" r:id="rId55"/>
    <p:sldId id="1207" r:id="rId56"/>
    <p:sldId id="874" r:id="rId57"/>
    <p:sldId id="291" r:id="rId58"/>
  </p:sldIdLst>
  <p:sldSz cx="9144000" cy="5143500" type="screen16x9"/>
  <p:notesSz cx="6858000" cy="9144000"/>
  <p:custDataLst>
    <p:tags r:id="rId6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78" autoAdjust="0"/>
    <p:restoredTop sz="75082" autoAdjust="0"/>
  </p:normalViewPr>
  <p:slideViewPr>
    <p:cSldViewPr snapToGrid="0" showGuides="1">
      <p:cViewPr varScale="1">
        <p:scale>
          <a:sx n="67" d="100"/>
          <a:sy n="67" d="100"/>
        </p:scale>
        <p:origin x="1032" y="4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12/6/2019</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b="false" lang="es-419"/>
              <a:t>Programa de Cisco Networking Academy</a:t>
            </a:r>
          </a:p>
          <a:p>
            <a:pPr rtl="0"/>
            <a:r>
              <a:rPr lang="es-419">
                <a:solidFill>
                  <a:schemeClr val="accent5">
                    <a:lumMod val="40000"/>
                    <a:lumOff val="60000"/>
                  </a:schemeClr>
                </a:solidFill>
              </a:rPr>
              <a:t>Switching, Routing y Wireless Essentials (SRWE)</a:t>
            </a:r>
          </a:p>
          <a:p>
            <a:pPr rtl="0">
              <a:buFontTx/>
              <a:buNone/>
            </a:pPr>
            <a:r>
              <a:rPr lang="es-419">
                <a:solidFill>
                  <a:schemeClr val="accent5">
                    <a:lumMod val="40000"/>
                    <a:lumOff val="60000"/>
                  </a:schemeClr>
                </a:solidFill>
              </a:rPr>
              <a:t>Módulo 11: Configuración de seguridad en el Switch</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false"/>
              <a:pPr algn="r"/>
              <a:t>2</a:t>
            </a:fld>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false">
                <a:ea typeface="ＭＳ Ｐゴシック" pitchFamily="34" charset="-128"/>
              </a:rPr>
              <a:pPr algn="r"/>
              <a:t>5</a:t>
            </a:fld>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false"/>
              <a:pPr algn="r"/>
              <a:t>6</a:t>
            </a:fld>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false"/>
              <a:pPr algn="r"/>
              <a:t>7</a:t>
            </a:fld>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false"/>
              <a:pPr algn="r"/>
              <a:t>8</a:t>
            </a:fld>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b="false" lang="es-419"/>
              <a:t>Programa Cisco Networking Academy</a:t>
            </a:r>
          </a:p>
          <a:p>
            <a:pPr rtl="0"/>
            <a:r>
              <a:rPr lang="es-419">
                <a:solidFill>
                  <a:schemeClr val="accent5">
                    <a:lumMod val="40000"/>
                    <a:lumOff val="60000"/>
                  </a:schemeClr>
                </a:solidFill>
              </a:rPr>
              <a:t>Switching, Routing y Wireless Essentials (SRWE)</a:t>
            </a:r>
          </a:p>
          <a:p>
            <a:pPr rtl="0">
              <a:buFontTx/>
              <a:buNone/>
            </a:pPr>
            <a:r>
              <a:rPr lang="es-419">
                <a:solidFill>
                  <a:schemeClr val="accent5">
                    <a:lumMod val="40000"/>
                    <a:lumOff val="60000"/>
                  </a:schemeClr>
                </a:solidFill>
              </a:rPr>
              <a:t>Módulo 11: Configuración de seguridad en el Switch</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9</a:t>
            </a:fld>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false">
                <a:solidFill>
                  <a:prstClr val="black"/>
                </a:solidFill>
              </a:rPr>
              <a:pPr algn="r"/>
              <a:t>10</a:t>
            </a:fld>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a:t>11- Configuración de seguridad en el Switch</a:t>
            </a:r>
          </a:p>
          <a:p>
            <a:pPr rtl="0">
              <a:buFontTx/>
              <a:buNone/>
            </a:pPr>
            <a:r>
              <a:rPr lang="es-419"/>
              <a:t>11.0 Introducción</a:t>
            </a:r>
          </a:p>
          <a:p>
            <a:pPr rtl="0">
              <a:buFontTx/>
              <a:buNone/>
            </a:pPr>
            <a:r>
              <a:rPr lang="es-419"/>
              <a:t>11.0.2 – ¿Qué aprenderé en este módulo?</a:t>
            </a:r>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11</a:t>
            </a:fld>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Implemente Seguridad de Puertos (Port Security)</a:t>
            </a:r>
          </a:p>
          <a:p>
            <a:pPr rtl="0"/>
            <a:r>
              <a:rPr lang="es-419"/>
              <a:t>11.1.1 - Puertos sin utilizar seguros</a:t>
            </a:r>
          </a:p>
        </p:txBody>
      </p:sp>
      <p:sp>
        <p:nvSpPr>
          <p:cNvPr id="4" name="Slide Number Placeholder 3"/>
          <p:cNvSpPr>
            <a:spLocks noGrp="1"/>
          </p:cNvSpPr>
          <p:nvPr>
            <p:ph type="sldNum" sz="quarter" idx="5"/>
          </p:nvPr>
        </p:nvSpPr>
        <p:spPr/>
        <p:txBody>
          <a:bodyPr/>
          <a:lstStyle/>
          <a:p>
            <a:pPr rtl="0"/>
            <a:fld id="{5641018C-6CAF-B84E-B92C-ECB119457FBA}" type="slidenum">
              <a:rPr/>
              <a:t>12</a:t>
            </a:fld>
          </a:p>
        </p:txBody>
      </p:sp>
    </p:spTree>
    <p:extLst>
      <p:ext uri="{BB962C8B-B14F-4D97-AF65-F5344CB8AC3E}">
        <p14:creationId xmlns:p14="http://schemas.microsoft.com/office/powerpoint/2010/main" val="751550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11.1.2 – Mitigar los ataques de la tabla de direcciones MAC</a:t>
            </a:r>
          </a:p>
        </p:txBody>
      </p:sp>
      <p:sp>
        <p:nvSpPr>
          <p:cNvPr id="4" name="Slide Number Placeholder 3"/>
          <p:cNvSpPr>
            <a:spLocks noGrp="1"/>
          </p:cNvSpPr>
          <p:nvPr>
            <p:ph type="sldNum" sz="quarter" idx="5"/>
          </p:nvPr>
        </p:nvSpPr>
        <p:spPr/>
        <p:txBody>
          <a:bodyPr/>
          <a:lstStyle/>
          <a:p>
            <a:pPr rtl="0"/>
            <a:fld id="{5641018C-6CAF-B84E-B92C-ECB119457FBA}" type="slidenum">
              <a:rPr/>
              <a:t>13</a:t>
            </a:fld>
          </a:p>
        </p:txBody>
      </p:sp>
    </p:spTree>
    <p:extLst>
      <p:ext uri="{BB962C8B-B14F-4D97-AF65-F5344CB8AC3E}">
        <p14:creationId xmlns:p14="http://schemas.microsoft.com/office/powerpoint/2010/main" val="3975047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11.1.3 – Active la seguridad de puertos (Port Security)</a:t>
            </a:r>
          </a:p>
        </p:txBody>
      </p:sp>
      <p:sp>
        <p:nvSpPr>
          <p:cNvPr id="4" name="Slide Number Placeholder 3"/>
          <p:cNvSpPr>
            <a:spLocks noGrp="1"/>
          </p:cNvSpPr>
          <p:nvPr>
            <p:ph type="sldNum" sz="quarter" idx="5"/>
          </p:nvPr>
        </p:nvSpPr>
        <p:spPr/>
        <p:txBody>
          <a:bodyPr/>
          <a:lstStyle/>
          <a:p>
            <a:pPr rtl="0"/>
            <a:fld id="{5641018C-6CAF-B84E-B92C-ECB119457FBA}" type="slidenum">
              <a:rPr/>
              <a:t>14</a:t>
            </a:fld>
          </a:p>
        </p:txBody>
      </p:sp>
    </p:spTree>
    <p:extLst>
      <p:ext uri="{BB962C8B-B14F-4D97-AF65-F5344CB8AC3E}">
        <p14:creationId xmlns:p14="http://schemas.microsoft.com/office/powerpoint/2010/main" val="1769880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11.1.3 – Active la seguridad de puertos (Port Security)</a:t>
            </a:r>
          </a:p>
        </p:txBody>
      </p:sp>
      <p:sp>
        <p:nvSpPr>
          <p:cNvPr id="4" name="Slide Number Placeholder 3"/>
          <p:cNvSpPr>
            <a:spLocks noGrp="1"/>
          </p:cNvSpPr>
          <p:nvPr>
            <p:ph type="sldNum" sz="quarter" idx="5"/>
          </p:nvPr>
        </p:nvSpPr>
        <p:spPr/>
        <p:txBody>
          <a:bodyPr/>
          <a:lstStyle/>
          <a:p>
            <a:pPr rtl="0"/>
            <a:fld id="{5641018C-6CAF-B84E-B92C-ECB119457FBA}" type="slidenum">
              <a:rPr/>
              <a:t>15</a:t>
            </a:fld>
          </a:p>
        </p:txBody>
      </p:sp>
    </p:spTree>
    <p:extLst>
      <p:ext uri="{BB962C8B-B14F-4D97-AF65-F5344CB8AC3E}">
        <p14:creationId xmlns:p14="http://schemas.microsoft.com/office/powerpoint/2010/main" val="2423576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11.1.3 – Active la seguridad de puertos (Port Security) (Cont.)</a:t>
            </a:r>
          </a:p>
        </p:txBody>
      </p:sp>
      <p:sp>
        <p:nvSpPr>
          <p:cNvPr id="4" name="Slide Number Placeholder 3"/>
          <p:cNvSpPr>
            <a:spLocks noGrp="1"/>
          </p:cNvSpPr>
          <p:nvPr>
            <p:ph type="sldNum" sz="quarter" idx="5"/>
          </p:nvPr>
        </p:nvSpPr>
        <p:spPr/>
        <p:txBody>
          <a:bodyPr/>
          <a:lstStyle/>
          <a:p>
            <a:pPr rtl="0"/>
            <a:fld id="{5641018C-6CAF-B84E-B92C-ECB119457FBA}" type="slidenum">
              <a:rPr/>
              <a:t>16</a:t>
            </a:fld>
          </a:p>
        </p:txBody>
      </p:sp>
    </p:spTree>
    <p:extLst>
      <p:ext uri="{BB962C8B-B14F-4D97-AF65-F5344CB8AC3E}">
        <p14:creationId xmlns:p14="http://schemas.microsoft.com/office/powerpoint/2010/main" val="41941076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11.1.4 –Limitar y Aprender direcciones MAC</a:t>
            </a:r>
          </a:p>
        </p:txBody>
      </p:sp>
      <p:sp>
        <p:nvSpPr>
          <p:cNvPr id="4" name="Slide Number Placeholder 3"/>
          <p:cNvSpPr>
            <a:spLocks noGrp="1"/>
          </p:cNvSpPr>
          <p:nvPr>
            <p:ph type="sldNum" sz="quarter" idx="5"/>
          </p:nvPr>
        </p:nvSpPr>
        <p:spPr/>
        <p:txBody>
          <a:bodyPr/>
          <a:lstStyle/>
          <a:p>
            <a:pPr rtl="0"/>
            <a:fld id="{5641018C-6CAF-B84E-B92C-ECB119457FBA}" type="slidenum">
              <a:rPr/>
              <a:t>17</a:t>
            </a:fld>
          </a:p>
        </p:txBody>
      </p:sp>
    </p:spTree>
    <p:extLst>
      <p:ext uri="{BB962C8B-B14F-4D97-AF65-F5344CB8AC3E}">
        <p14:creationId xmlns:p14="http://schemas.microsoft.com/office/powerpoint/2010/main" val="36986415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11.1.4 –Limitar y Aprender direcciones MAC</a:t>
            </a:r>
          </a:p>
        </p:txBody>
      </p:sp>
      <p:sp>
        <p:nvSpPr>
          <p:cNvPr id="4" name="Slide Number Placeholder 3"/>
          <p:cNvSpPr>
            <a:spLocks noGrp="1"/>
          </p:cNvSpPr>
          <p:nvPr>
            <p:ph type="sldNum" sz="quarter" idx="5"/>
          </p:nvPr>
        </p:nvSpPr>
        <p:spPr/>
        <p:txBody>
          <a:bodyPr/>
          <a:lstStyle/>
          <a:p>
            <a:pPr rtl="0"/>
            <a:fld id="{5641018C-6CAF-B84E-B92C-ECB119457FBA}" type="slidenum">
              <a:rPr/>
              <a:t>18</a:t>
            </a:fld>
          </a:p>
        </p:txBody>
      </p:sp>
    </p:spTree>
    <p:extLst>
      <p:ext uri="{BB962C8B-B14F-4D97-AF65-F5344CB8AC3E}">
        <p14:creationId xmlns:p14="http://schemas.microsoft.com/office/powerpoint/2010/main" val="1039469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–Implementar Seguridad de Puertos (Port Security)</a:t>
            </a:r>
          </a:p>
          <a:p>
            <a:pPr rtl="0"/>
            <a:r>
              <a:rPr lang="es-419"/>
              <a:t>11.1.4 – Limitar y Aprender direcciones MAC (Cont.)</a:t>
            </a:r>
          </a:p>
        </p:txBody>
      </p:sp>
      <p:sp>
        <p:nvSpPr>
          <p:cNvPr id="4" name="Slide Number Placeholder 3"/>
          <p:cNvSpPr>
            <a:spLocks noGrp="1"/>
          </p:cNvSpPr>
          <p:nvPr>
            <p:ph type="sldNum" sz="quarter" idx="5"/>
          </p:nvPr>
        </p:nvSpPr>
        <p:spPr/>
        <p:txBody>
          <a:bodyPr/>
          <a:lstStyle/>
          <a:p>
            <a:pPr rtl="0"/>
            <a:fld id="{5641018C-6CAF-B84E-B92C-ECB119457FBA}" type="slidenum">
              <a:rPr/>
              <a:t>19</a:t>
            </a:fld>
          </a:p>
        </p:txBody>
      </p:sp>
    </p:spTree>
    <p:extLst>
      <p:ext uri="{BB962C8B-B14F-4D97-AF65-F5344CB8AC3E}">
        <p14:creationId xmlns:p14="http://schemas.microsoft.com/office/powerpoint/2010/main" val="8976196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11.1.5 – Vencimiento de Port Security</a:t>
            </a:r>
          </a:p>
        </p:txBody>
      </p:sp>
      <p:sp>
        <p:nvSpPr>
          <p:cNvPr id="4" name="Slide Number Placeholder 3"/>
          <p:cNvSpPr>
            <a:spLocks noGrp="1"/>
          </p:cNvSpPr>
          <p:nvPr>
            <p:ph type="sldNum" sz="quarter" idx="5"/>
          </p:nvPr>
        </p:nvSpPr>
        <p:spPr/>
        <p:txBody>
          <a:bodyPr/>
          <a:lstStyle/>
          <a:p>
            <a:pPr rtl="0"/>
            <a:fld id="{5641018C-6CAF-B84E-B92C-ECB119457FBA}" type="slidenum">
              <a:rPr/>
              <a:t>20</a:t>
            </a:fld>
          </a:p>
        </p:txBody>
      </p:sp>
    </p:spTree>
    <p:extLst>
      <p:ext uri="{BB962C8B-B14F-4D97-AF65-F5344CB8AC3E}">
        <p14:creationId xmlns:p14="http://schemas.microsoft.com/office/powerpoint/2010/main" val="781794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Port Security</a:t>
            </a:r>
          </a:p>
          <a:p>
            <a:pPr rtl="0"/>
            <a:r>
              <a:rPr lang="es-419"/>
              <a:t>11.1.5 – Vencimiento de Port Security (Cont.)</a:t>
            </a:r>
          </a:p>
        </p:txBody>
      </p:sp>
      <p:sp>
        <p:nvSpPr>
          <p:cNvPr id="4" name="Slide Number Placeholder 3"/>
          <p:cNvSpPr>
            <a:spLocks noGrp="1"/>
          </p:cNvSpPr>
          <p:nvPr>
            <p:ph type="sldNum" sz="quarter" idx="5"/>
          </p:nvPr>
        </p:nvSpPr>
        <p:spPr/>
        <p:txBody>
          <a:bodyPr/>
          <a:lstStyle/>
          <a:p>
            <a:pPr rtl="0"/>
            <a:fld id="{5641018C-6CAF-B84E-B92C-ECB119457FBA}" type="slidenum">
              <a:rPr/>
              <a:t>21</a:t>
            </a:fld>
          </a:p>
        </p:txBody>
      </p:sp>
    </p:spTree>
    <p:extLst>
      <p:ext uri="{BB962C8B-B14F-4D97-AF65-F5344CB8AC3E}">
        <p14:creationId xmlns:p14="http://schemas.microsoft.com/office/powerpoint/2010/main" val="30286587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11.1.6 – Modos de violación de Security</a:t>
            </a:r>
          </a:p>
        </p:txBody>
      </p:sp>
      <p:sp>
        <p:nvSpPr>
          <p:cNvPr id="4" name="Slide Number Placeholder 3"/>
          <p:cNvSpPr>
            <a:spLocks noGrp="1"/>
          </p:cNvSpPr>
          <p:nvPr>
            <p:ph type="sldNum" sz="quarter" idx="5"/>
          </p:nvPr>
        </p:nvSpPr>
        <p:spPr/>
        <p:txBody>
          <a:bodyPr/>
          <a:lstStyle/>
          <a:p>
            <a:pPr rtl="0"/>
            <a:fld id="{5641018C-6CAF-B84E-B92C-ECB119457FBA}" type="slidenum">
              <a:rPr/>
              <a:t>22</a:t>
            </a:fld>
          </a:p>
        </p:txBody>
      </p:sp>
    </p:spTree>
    <p:extLst>
      <p:ext uri="{BB962C8B-B14F-4D97-AF65-F5344CB8AC3E}">
        <p14:creationId xmlns:p14="http://schemas.microsoft.com/office/powerpoint/2010/main" val="1275923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11.1.6 – Modos de violación de Security</a:t>
            </a:r>
          </a:p>
        </p:txBody>
      </p:sp>
      <p:sp>
        <p:nvSpPr>
          <p:cNvPr id="4" name="Slide Number Placeholder 3"/>
          <p:cNvSpPr>
            <a:spLocks noGrp="1"/>
          </p:cNvSpPr>
          <p:nvPr>
            <p:ph type="sldNum" sz="quarter" idx="5"/>
          </p:nvPr>
        </p:nvSpPr>
        <p:spPr/>
        <p:txBody>
          <a:bodyPr/>
          <a:lstStyle/>
          <a:p>
            <a:pPr rtl="0"/>
            <a:fld id="{5641018C-6CAF-B84E-B92C-ECB119457FBA}" type="slidenum">
              <a:rPr/>
              <a:t>23</a:t>
            </a:fld>
          </a:p>
        </p:txBody>
      </p:sp>
    </p:spTree>
    <p:extLst>
      <p:ext uri="{BB962C8B-B14F-4D97-AF65-F5344CB8AC3E}">
        <p14:creationId xmlns:p14="http://schemas.microsoft.com/office/powerpoint/2010/main" val="32582865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11.1.7 – Puertos en estado error-disabled</a:t>
            </a:r>
          </a:p>
        </p:txBody>
      </p:sp>
      <p:sp>
        <p:nvSpPr>
          <p:cNvPr id="4" name="Slide Number Placeholder 3"/>
          <p:cNvSpPr>
            <a:spLocks noGrp="1"/>
          </p:cNvSpPr>
          <p:nvPr>
            <p:ph type="sldNum" sz="quarter" idx="5"/>
          </p:nvPr>
        </p:nvSpPr>
        <p:spPr/>
        <p:txBody>
          <a:bodyPr/>
          <a:lstStyle/>
          <a:p>
            <a:pPr rtl="0"/>
            <a:fld id="{5641018C-6CAF-B84E-B92C-ECB119457FBA}" type="slidenum">
              <a:rPr/>
              <a:t>24</a:t>
            </a:fld>
          </a:p>
        </p:txBody>
      </p:sp>
    </p:spTree>
    <p:extLst>
      <p:ext uri="{BB962C8B-B14F-4D97-AF65-F5344CB8AC3E}">
        <p14:creationId xmlns:p14="http://schemas.microsoft.com/office/powerpoint/2010/main" val="33535321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–Implementar Seguridad de Puertos (Port Security)</a:t>
            </a:r>
          </a:p>
          <a:p>
            <a:pPr rtl="0"/>
            <a:r>
              <a:rPr lang="es-419"/>
              <a:t>11.1.7 – Puertos en estado error-disabled (Cont.)</a:t>
            </a:r>
          </a:p>
        </p:txBody>
      </p:sp>
      <p:sp>
        <p:nvSpPr>
          <p:cNvPr id="4" name="Slide Number Placeholder 3"/>
          <p:cNvSpPr>
            <a:spLocks noGrp="1"/>
          </p:cNvSpPr>
          <p:nvPr>
            <p:ph type="sldNum" sz="quarter" idx="5"/>
          </p:nvPr>
        </p:nvSpPr>
        <p:spPr/>
        <p:txBody>
          <a:bodyPr/>
          <a:lstStyle/>
          <a:p>
            <a:pPr rtl="0"/>
            <a:fld id="{5641018C-6CAF-B84E-B92C-ECB119457FBA}" type="slidenum">
              <a:rPr/>
              <a:t>25</a:t>
            </a:fld>
          </a:p>
        </p:txBody>
      </p:sp>
    </p:spTree>
    <p:extLst>
      <p:ext uri="{BB962C8B-B14F-4D97-AF65-F5344CB8AC3E}">
        <p14:creationId xmlns:p14="http://schemas.microsoft.com/office/powerpoint/2010/main" val="19568154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11.1.8 – Verificar Port Security</a:t>
            </a:r>
          </a:p>
        </p:txBody>
      </p:sp>
      <p:sp>
        <p:nvSpPr>
          <p:cNvPr id="4" name="Slide Number Placeholder 3"/>
          <p:cNvSpPr>
            <a:spLocks noGrp="1"/>
          </p:cNvSpPr>
          <p:nvPr>
            <p:ph type="sldNum" sz="quarter" idx="5"/>
          </p:nvPr>
        </p:nvSpPr>
        <p:spPr/>
        <p:txBody>
          <a:bodyPr/>
          <a:lstStyle/>
          <a:p>
            <a:pPr rtl="0"/>
            <a:fld id="{5641018C-6CAF-B84E-B92C-ECB119457FBA}" type="slidenum">
              <a:rPr/>
              <a:t>26</a:t>
            </a:fld>
          </a:p>
        </p:txBody>
      </p:sp>
    </p:spTree>
    <p:extLst>
      <p:ext uri="{BB962C8B-B14F-4D97-AF65-F5344CB8AC3E}">
        <p14:creationId xmlns:p14="http://schemas.microsoft.com/office/powerpoint/2010/main" val="8211844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–Implementar Seguridad de Puertos (Port Security)</a:t>
            </a:r>
          </a:p>
          <a:p>
            <a:pPr rtl="0"/>
            <a:r>
              <a:rPr lang="es-419"/>
              <a:t>11.1.8 – Verificar Port Security (Cont.)</a:t>
            </a:r>
          </a:p>
        </p:txBody>
      </p:sp>
      <p:sp>
        <p:nvSpPr>
          <p:cNvPr id="4" name="Slide Number Placeholder 3"/>
          <p:cNvSpPr>
            <a:spLocks noGrp="1"/>
          </p:cNvSpPr>
          <p:nvPr>
            <p:ph type="sldNum" sz="quarter" idx="5"/>
          </p:nvPr>
        </p:nvSpPr>
        <p:spPr/>
        <p:txBody>
          <a:bodyPr/>
          <a:lstStyle/>
          <a:p>
            <a:pPr rtl="0"/>
            <a:fld id="{5641018C-6CAF-B84E-B92C-ECB119457FBA}" type="slidenum">
              <a:rPr/>
              <a:t>27</a:t>
            </a:fld>
          </a:p>
        </p:txBody>
      </p:sp>
    </p:spTree>
    <p:extLst>
      <p:ext uri="{BB962C8B-B14F-4D97-AF65-F5344CB8AC3E}">
        <p14:creationId xmlns:p14="http://schemas.microsoft.com/office/powerpoint/2010/main" val="24371204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11.1.8 - Verificar la seguridad del puerto (cont.)</a:t>
            </a:r>
          </a:p>
        </p:txBody>
      </p:sp>
      <p:sp>
        <p:nvSpPr>
          <p:cNvPr id="4" name="Slide Number Placeholder 3"/>
          <p:cNvSpPr>
            <a:spLocks noGrp="1"/>
          </p:cNvSpPr>
          <p:nvPr>
            <p:ph type="sldNum" sz="quarter" idx="5"/>
          </p:nvPr>
        </p:nvSpPr>
        <p:spPr/>
        <p:txBody>
          <a:bodyPr/>
          <a:lstStyle/>
          <a:p>
            <a:pPr rtl="0"/>
            <a:fld id="{5641018C-6CAF-B84E-B92C-ECB119457FBA}" type="slidenum">
              <a:rPr/>
              <a:t>28</a:t>
            </a:fld>
          </a:p>
        </p:txBody>
      </p:sp>
    </p:spTree>
    <p:extLst>
      <p:ext uri="{BB962C8B-B14F-4D97-AF65-F5344CB8AC3E}">
        <p14:creationId xmlns:p14="http://schemas.microsoft.com/office/powerpoint/2010/main" val="24673044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11.1.8 - Verificar la seguridad del puerto (cont.)</a:t>
            </a:r>
          </a:p>
          <a:p>
            <a:pPr rtl="0"/>
            <a:r>
              <a:rPr lang="es-419"/>
              <a:t>11.1.9 – Comprobador de sintaxis: Implementar Seguridad de Puertos (Port Security)</a:t>
            </a:r>
          </a:p>
        </p:txBody>
      </p:sp>
      <p:sp>
        <p:nvSpPr>
          <p:cNvPr id="4" name="Slide Number Placeholder 3"/>
          <p:cNvSpPr>
            <a:spLocks noGrp="1"/>
          </p:cNvSpPr>
          <p:nvPr>
            <p:ph type="sldNum" sz="quarter" idx="5"/>
          </p:nvPr>
        </p:nvSpPr>
        <p:spPr/>
        <p:txBody>
          <a:bodyPr/>
          <a:lstStyle/>
          <a:p>
            <a:pPr rtl="0"/>
            <a:fld id="{5641018C-6CAF-B84E-B92C-ECB119457FBA}" type="slidenum">
              <a:rPr/>
              <a:t>29</a:t>
            </a:fld>
          </a:p>
        </p:txBody>
      </p:sp>
    </p:spTree>
    <p:extLst>
      <p:ext uri="{BB962C8B-B14F-4D97-AF65-F5344CB8AC3E}">
        <p14:creationId xmlns:p14="http://schemas.microsoft.com/office/powerpoint/2010/main" val="32463705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11.1 – Implementar Seguridad de Puertos (Port Security)</a:t>
            </a:r>
          </a:p>
          <a:p>
            <a:pPr rtl="0"/>
            <a:r>
              <a:rPr lang="es-419"/>
              <a:t>11.1.10 – Packet Tracer - Implementar Seguridad de Puertos (Port Security)</a:t>
            </a:r>
          </a:p>
        </p:txBody>
      </p:sp>
      <p:sp>
        <p:nvSpPr>
          <p:cNvPr id="4" name="Slide Number Placeholder 3"/>
          <p:cNvSpPr>
            <a:spLocks noGrp="1"/>
          </p:cNvSpPr>
          <p:nvPr>
            <p:ph type="sldNum" sz="quarter" idx="5"/>
          </p:nvPr>
        </p:nvSpPr>
        <p:spPr/>
        <p:txBody>
          <a:bodyPr/>
          <a:lstStyle/>
          <a:p>
            <a:pPr rtl="0"/>
            <a:fld id="{5641018C-6CAF-B84E-B92C-ECB119457FBA}" type="slidenum">
              <a:rPr/>
              <a:t>30</a:t>
            </a:fld>
          </a:p>
        </p:txBody>
      </p:sp>
    </p:spTree>
    <p:extLst>
      <p:ext uri="{BB962C8B-B14F-4D97-AF65-F5344CB8AC3E}">
        <p14:creationId xmlns:p14="http://schemas.microsoft.com/office/powerpoint/2010/main" val="39398613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11.2 – Mitigación de los ataques de VLAN</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31</a:t>
            </a:fld>
          </a:p>
        </p:txBody>
      </p:sp>
    </p:spTree>
    <p:extLst>
      <p:ext uri="{BB962C8B-B14F-4D97-AF65-F5344CB8AC3E}">
        <p14:creationId xmlns:p14="http://schemas.microsoft.com/office/powerpoint/2010/main" val="39632910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11.2 – Mitigación de los ataques de VLAN</a:t>
            </a:r>
          </a:p>
          <a:p>
            <a:pPr rtl="0"/>
            <a:r>
              <a:rPr lang="es-419"/>
              <a:t>11.2.1 – Revisión de ataques a VLAN</a:t>
            </a:r>
          </a:p>
        </p:txBody>
      </p:sp>
      <p:sp>
        <p:nvSpPr>
          <p:cNvPr id="4" name="Slide Number Placeholder 3"/>
          <p:cNvSpPr>
            <a:spLocks noGrp="1"/>
          </p:cNvSpPr>
          <p:nvPr>
            <p:ph type="sldNum" sz="quarter" idx="5"/>
          </p:nvPr>
        </p:nvSpPr>
        <p:spPr/>
        <p:txBody>
          <a:bodyPr/>
          <a:lstStyle/>
          <a:p>
            <a:pPr rtl="0"/>
            <a:fld id="{5641018C-6CAF-B84E-B92C-ECB119457FBA}" type="slidenum">
              <a:rPr/>
              <a:t>32</a:t>
            </a:fld>
          </a:p>
        </p:txBody>
      </p:sp>
    </p:spTree>
    <p:extLst>
      <p:ext uri="{BB962C8B-B14F-4D97-AF65-F5344CB8AC3E}">
        <p14:creationId xmlns:p14="http://schemas.microsoft.com/office/powerpoint/2010/main" val="2949022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11.2 – Mitigación de los ataques de VLAN</a:t>
            </a:r>
          </a:p>
          <a:p>
            <a:pPr rtl="0"/>
            <a:r>
              <a:rPr lang="es-419"/>
              <a:t>11.2.2 – Pasos para mitigar los ataques de salto de VLAN</a:t>
            </a:r>
          </a:p>
          <a:p>
            <a:pPr rtl="0"/>
            <a:r>
              <a:rPr lang="es-419"/>
              <a:t>11.2.3 – Comprobador de sintaxis: mitigar los ataques de salto de VLAN</a:t>
            </a:r>
          </a:p>
        </p:txBody>
      </p:sp>
      <p:sp>
        <p:nvSpPr>
          <p:cNvPr id="4" name="Slide Number Placeholder 3"/>
          <p:cNvSpPr>
            <a:spLocks noGrp="1"/>
          </p:cNvSpPr>
          <p:nvPr>
            <p:ph type="sldNum" sz="quarter" idx="5"/>
          </p:nvPr>
        </p:nvSpPr>
        <p:spPr/>
        <p:txBody>
          <a:bodyPr/>
          <a:lstStyle/>
          <a:p>
            <a:pPr rtl="0"/>
            <a:fld id="{5641018C-6CAF-B84E-B92C-ECB119457FBA}" type="slidenum">
              <a:rPr/>
              <a:t>33</a:t>
            </a:fld>
          </a:p>
        </p:txBody>
      </p:sp>
    </p:spTree>
    <p:extLst>
      <p:ext uri="{BB962C8B-B14F-4D97-AF65-F5344CB8AC3E}">
        <p14:creationId xmlns:p14="http://schemas.microsoft.com/office/powerpoint/2010/main" val="18085552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 Configuración de seguridad en el Switch</a:t>
            </a:r>
          </a:p>
          <a:p>
            <a:pPr rtl="0"/>
            <a:r>
              <a:rPr lang="es-419"/>
              <a:t>11.3 - Mitigación de ataques de DHCP</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34</a:t>
            </a:fld>
          </a:p>
        </p:txBody>
      </p:sp>
    </p:spTree>
    <p:extLst>
      <p:ext uri="{BB962C8B-B14F-4D97-AF65-F5344CB8AC3E}">
        <p14:creationId xmlns:p14="http://schemas.microsoft.com/office/powerpoint/2010/main" val="12004353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11.3 - Mitigación de ataques de DHCP</a:t>
            </a:r>
          </a:p>
          <a:p>
            <a:pPr rtl="0"/>
            <a:r>
              <a:rPr lang="es-419"/>
              <a:t>11.3.1 – Revisión de ataques DHCP</a:t>
            </a:r>
          </a:p>
        </p:txBody>
      </p:sp>
      <p:sp>
        <p:nvSpPr>
          <p:cNvPr id="4" name="Slide Number Placeholder 3"/>
          <p:cNvSpPr>
            <a:spLocks noGrp="1"/>
          </p:cNvSpPr>
          <p:nvPr>
            <p:ph type="sldNum" sz="quarter" idx="5"/>
          </p:nvPr>
        </p:nvSpPr>
        <p:spPr/>
        <p:txBody>
          <a:bodyPr/>
          <a:lstStyle/>
          <a:p>
            <a:pPr rtl="0"/>
            <a:fld id="{5641018C-6CAF-B84E-B92C-ECB119457FBA}" type="slidenum">
              <a:rPr/>
              <a:t>35</a:t>
            </a:fld>
          </a:p>
        </p:txBody>
      </p:sp>
    </p:spTree>
    <p:extLst>
      <p:ext uri="{BB962C8B-B14F-4D97-AF65-F5344CB8AC3E}">
        <p14:creationId xmlns:p14="http://schemas.microsoft.com/office/powerpoint/2010/main" val="3656323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11.3 - Mitigación de ataques de DHCP</a:t>
            </a:r>
          </a:p>
          <a:p>
            <a:pPr rtl="0"/>
            <a:r>
              <a:rPr lang="es-419"/>
              <a:t>DHCP Snooping</a:t>
            </a:r>
          </a:p>
        </p:txBody>
      </p:sp>
      <p:sp>
        <p:nvSpPr>
          <p:cNvPr id="4" name="Slide Number Placeholder 3"/>
          <p:cNvSpPr>
            <a:spLocks noGrp="1"/>
          </p:cNvSpPr>
          <p:nvPr>
            <p:ph type="sldNum" sz="quarter" idx="5"/>
          </p:nvPr>
        </p:nvSpPr>
        <p:spPr/>
        <p:txBody>
          <a:bodyPr/>
          <a:lstStyle/>
          <a:p>
            <a:pPr rtl="0"/>
            <a:fld id="{5641018C-6CAF-B84E-B92C-ECB119457FBA}" type="slidenum">
              <a:rPr/>
              <a:t>36</a:t>
            </a:fld>
          </a:p>
        </p:txBody>
      </p:sp>
    </p:spTree>
    <p:extLst>
      <p:ext uri="{BB962C8B-B14F-4D97-AF65-F5344CB8AC3E}">
        <p14:creationId xmlns:p14="http://schemas.microsoft.com/office/powerpoint/2010/main" val="13994119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11- Configuración de seguridad en el Switch</a:t>
            </a:r>
          </a:p>
          <a:p>
            <a:pPr rtl="0"/>
            <a:r>
              <a:rPr lang="es-419"/>
              <a:t>11.3 - Mitigación de ataques de DHCP</a:t>
            </a:r>
          </a:p>
          <a:p>
            <a:pPr rtl="0"/>
            <a:r>
              <a:rPr lang="es-419"/>
              <a:t>11.3.3 – Pasos para implementar DHCP Snooping</a:t>
            </a:r>
          </a:p>
        </p:txBody>
      </p:sp>
      <p:sp>
        <p:nvSpPr>
          <p:cNvPr id="4" name="Slide Number Placeholder 3"/>
          <p:cNvSpPr>
            <a:spLocks noGrp="1"/>
          </p:cNvSpPr>
          <p:nvPr>
            <p:ph type="sldNum" sz="quarter" idx="5"/>
          </p:nvPr>
        </p:nvSpPr>
        <p:spPr/>
        <p:txBody>
          <a:bodyPr/>
          <a:lstStyle/>
          <a:p>
            <a:pPr rtl="0"/>
            <a:fld id="{5641018C-6CAF-B84E-B92C-ECB119457FBA}" type="slidenum">
              <a:rPr/>
              <a:t>37</a:t>
            </a:fld>
          </a:p>
        </p:txBody>
      </p:sp>
    </p:spTree>
    <p:extLst>
      <p:ext uri="{BB962C8B-B14F-4D97-AF65-F5344CB8AC3E}">
        <p14:creationId xmlns:p14="http://schemas.microsoft.com/office/powerpoint/2010/main" val="4390696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11.3 - Mitigación de ataques de DHCP</a:t>
            </a:r>
          </a:p>
          <a:p>
            <a:pPr rtl="0"/>
            <a:r>
              <a:rPr lang="es-419"/>
              <a:t>11.3.4 - Ejemplo de configuración de DHCP Snooping</a:t>
            </a:r>
          </a:p>
        </p:txBody>
      </p:sp>
      <p:sp>
        <p:nvSpPr>
          <p:cNvPr id="4" name="Slide Number Placeholder 3"/>
          <p:cNvSpPr>
            <a:spLocks noGrp="1"/>
          </p:cNvSpPr>
          <p:nvPr>
            <p:ph type="sldNum" sz="quarter" idx="5"/>
          </p:nvPr>
        </p:nvSpPr>
        <p:spPr/>
        <p:txBody>
          <a:bodyPr/>
          <a:lstStyle/>
          <a:p>
            <a:pPr rtl="0"/>
            <a:fld id="{5641018C-6CAF-B84E-B92C-ECB119457FBA}" type="slidenum">
              <a:rPr/>
              <a:t>38</a:t>
            </a:fld>
          </a:p>
        </p:txBody>
      </p:sp>
    </p:spTree>
    <p:extLst>
      <p:ext uri="{BB962C8B-B14F-4D97-AF65-F5344CB8AC3E}">
        <p14:creationId xmlns:p14="http://schemas.microsoft.com/office/powerpoint/2010/main" val="2339350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11.3 - Mitigación de ataques de DHCP</a:t>
            </a:r>
          </a:p>
          <a:p>
            <a:pPr rtl="0"/>
            <a:r>
              <a:rPr lang="es-419"/>
              <a:t>11.3.4 - Ejemplo de configuración de DHCP Snooping (Cont.)</a:t>
            </a:r>
          </a:p>
          <a:p>
            <a:pPr rtl="0"/>
            <a:r>
              <a:rPr lang="es-419"/>
              <a:t>11.3.5 – Verificación de sintaxis - Mitigación de ataques de DHCP</a:t>
            </a:r>
          </a:p>
        </p:txBody>
      </p:sp>
      <p:sp>
        <p:nvSpPr>
          <p:cNvPr id="4" name="Slide Number Placeholder 3"/>
          <p:cNvSpPr>
            <a:spLocks noGrp="1"/>
          </p:cNvSpPr>
          <p:nvPr>
            <p:ph type="sldNum" sz="quarter" idx="5"/>
          </p:nvPr>
        </p:nvSpPr>
        <p:spPr/>
        <p:txBody>
          <a:bodyPr/>
          <a:lstStyle/>
          <a:p>
            <a:pPr rtl="0"/>
            <a:fld id="{5641018C-6CAF-B84E-B92C-ECB119457FBA}" type="slidenum">
              <a:rPr/>
              <a:t>39</a:t>
            </a:fld>
          </a:p>
        </p:txBody>
      </p:sp>
    </p:spTree>
    <p:extLst>
      <p:ext uri="{BB962C8B-B14F-4D97-AF65-F5344CB8AC3E}">
        <p14:creationId xmlns:p14="http://schemas.microsoft.com/office/powerpoint/2010/main" val="11739656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11.4- Mitigación de ataques de ARP</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40</a:t>
            </a:fld>
          </a:p>
        </p:txBody>
      </p:sp>
    </p:spTree>
    <p:extLst>
      <p:ext uri="{BB962C8B-B14F-4D97-AF65-F5344CB8AC3E}">
        <p14:creationId xmlns:p14="http://schemas.microsoft.com/office/powerpoint/2010/main" val="26683847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11.4- Mitigación de ataques de ARP</a:t>
            </a:r>
          </a:p>
          <a:p>
            <a:pPr rtl="0"/>
            <a:r>
              <a:rPr lang="es-419"/>
              <a:t>11.4.1 – Inspección dinámica de ARP</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41</a:t>
            </a:fld>
          </a:p>
        </p:txBody>
      </p:sp>
    </p:spTree>
    <p:extLst>
      <p:ext uri="{BB962C8B-B14F-4D97-AF65-F5344CB8AC3E}">
        <p14:creationId xmlns:p14="http://schemas.microsoft.com/office/powerpoint/2010/main" val="34633508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11.4- Mitigación de ataques de ARP</a:t>
            </a:r>
          </a:p>
          <a:p>
            <a:pPr rtl="0"/>
            <a:r>
              <a:rPr lang="es-419"/>
              <a:t>11.4.2 – Pautas de implementación DAI</a:t>
            </a:r>
          </a:p>
        </p:txBody>
      </p:sp>
      <p:sp>
        <p:nvSpPr>
          <p:cNvPr id="4" name="Slide Number Placeholder 3"/>
          <p:cNvSpPr>
            <a:spLocks noGrp="1"/>
          </p:cNvSpPr>
          <p:nvPr>
            <p:ph type="sldNum" sz="quarter" idx="5"/>
          </p:nvPr>
        </p:nvSpPr>
        <p:spPr/>
        <p:txBody>
          <a:bodyPr/>
          <a:lstStyle/>
          <a:p>
            <a:pPr rtl="0"/>
            <a:fld id="{5641018C-6CAF-B84E-B92C-ECB119457FBA}" type="slidenum">
              <a:rPr/>
              <a:t>42</a:t>
            </a:fld>
          </a:p>
        </p:txBody>
      </p:sp>
    </p:spTree>
    <p:extLst>
      <p:ext uri="{BB962C8B-B14F-4D97-AF65-F5344CB8AC3E}">
        <p14:creationId xmlns:p14="http://schemas.microsoft.com/office/powerpoint/2010/main" val="29995829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11.4- Mitigación de ataques de ARP</a:t>
            </a:r>
          </a:p>
          <a:p>
            <a:pPr rtl="0"/>
            <a:r>
              <a:rPr lang="es-419"/>
              <a:t>11.4.3 – Ejemplo de configuración DAI</a:t>
            </a:r>
          </a:p>
        </p:txBody>
      </p:sp>
      <p:sp>
        <p:nvSpPr>
          <p:cNvPr id="4" name="Slide Number Placeholder 3"/>
          <p:cNvSpPr>
            <a:spLocks noGrp="1"/>
          </p:cNvSpPr>
          <p:nvPr>
            <p:ph type="sldNum" sz="quarter" idx="5"/>
          </p:nvPr>
        </p:nvSpPr>
        <p:spPr/>
        <p:txBody>
          <a:bodyPr/>
          <a:lstStyle/>
          <a:p>
            <a:pPr rtl="0"/>
            <a:fld id="{5641018C-6CAF-B84E-B92C-ECB119457FBA}" type="slidenum">
              <a:rPr/>
              <a:t>43</a:t>
            </a:fld>
          </a:p>
        </p:txBody>
      </p:sp>
    </p:spTree>
    <p:extLst>
      <p:ext uri="{BB962C8B-B14F-4D97-AF65-F5344CB8AC3E}">
        <p14:creationId xmlns:p14="http://schemas.microsoft.com/office/powerpoint/2010/main" val="32052038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11.4- Mitigación de ataques de ARP</a:t>
            </a:r>
          </a:p>
          <a:p>
            <a:pPr rtl="0"/>
            <a:r>
              <a:rPr lang="es-419"/>
              <a:t>11.4.3 – Ejemplo de configuración DAI (Cont.)</a:t>
            </a:r>
          </a:p>
        </p:txBody>
      </p:sp>
      <p:sp>
        <p:nvSpPr>
          <p:cNvPr id="4" name="Slide Number Placeholder 3"/>
          <p:cNvSpPr>
            <a:spLocks noGrp="1"/>
          </p:cNvSpPr>
          <p:nvPr>
            <p:ph type="sldNum" sz="quarter" idx="5"/>
          </p:nvPr>
        </p:nvSpPr>
        <p:spPr/>
        <p:txBody>
          <a:bodyPr/>
          <a:lstStyle/>
          <a:p>
            <a:pPr rtl="0"/>
            <a:fld id="{5641018C-6CAF-B84E-B92C-ECB119457FBA}" type="slidenum">
              <a:rPr/>
              <a:t>44</a:t>
            </a:fld>
          </a:p>
        </p:txBody>
      </p:sp>
    </p:spTree>
    <p:extLst>
      <p:ext uri="{BB962C8B-B14F-4D97-AF65-F5344CB8AC3E}">
        <p14:creationId xmlns:p14="http://schemas.microsoft.com/office/powerpoint/2010/main" val="4723491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11.4- Mitigación de ataques de ARP</a:t>
            </a:r>
          </a:p>
          <a:p>
            <a:pPr rtl="0"/>
            <a:r>
              <a:rPr lang="es-419"/>
              <a:t>11.4.3 – Ejemplo de configuración DAI (Cont.)</a:t>
            </a:r>
          </a:p>
          <a:p>
            <a:pPr rtl="0"/>
            <a:r>
              <a:rPr lang="es-419"/>
              <a:t>11.4.4 – Comprobador de sintaxis: mitigar los ataques ARP</a:t>
            </a:r>
          </a:p>
        </p:txBody>
      </p:sp>
      <p:sp>
        <p:nvSpPr>
          <p:cNvPr id="4" name="Slide Number Placeholder 3"/>
          <p:cNvSpPr>
            <a:spLocks noGrp="1"/>
          </p:cNvSpPr>
          <p:nvPr>
            <p:ph type="sldNum" sz="quarter" idx="5"/>
          </p:nvPr>
        </p:nvSpPr>
        <p:spPr/>
        <p:txBody>
          <a:bodyPr/>
          <a:lstStyle/>
          <a:p>
            <a:pPr rtl="0"/>
            <a:fld id="{5641018C-6CAF-B84E-B92C-ECB119457FBA}" type="slidenum">
              <a:rPr/>
              <a:t>45</a:t>
            </a:fld>
          </a:p>
        </p:txBody>
      </p:sp>
    </p:spTree>
    <p:extLst>
      <p:ext uri="{BB962C8B-B14F-4D97-AF65-F5344CB8AC3E}">
        <p14:creationId xmlns:p14="http://schemas.microsoft.com/office/powerpoint/2010/main" val="1648137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11.5- Mitigar ataques STP</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46</a:t>
            </a:fld>
          </a:p>
        </p:txBody>
      </p:sp>
    </p:spTree>
    <p:extLst>
      <p:ext uri="{BB962C8B-B14F-4D97-AF65-F5344CB8AC3E}">
        <p14:creationId xmlns:p14="http://schemas.microsoft.com/office/powerpoint/2010/main" val="9622305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11.5- Mitigar ataques STP</a:t>
            </a:r>
          </a:p>
          <a:p>
            <a:pPr rtl="0"/>
            <a:r>
              <a:rPr lang="es-419"/>
              <a:t>11.5.1 – PortFast y protección de BPDU</a:t>
            </a:r>
          </a:p>
        </p:txBody>
      </p:sp>
      <p:sp>
        <p:nvSpPr>
          <p:cNvPr id="4" name="Slide Number Placeholder 3"/>
          <p:cNvSpPr>
            <a:spLocks noGrp="1"/>
          </p:cNvSpPr>
          <p:nvPr>
            <p:ph type="sldNum" sz="quarter" idx="5"/>
          </p:nvPr>
        </p:nvSpPr>
        <p:spPr/>
        <p:txBody>
          <a:bodyPr/>
          <a:lstStyle/>
          <a:p>
            <a:pPr rtl="0"/>
            <a:fld id="{5641018C-6CAF-B84E-B92C-ECB119457FBA}" type="slidenum">
              <a:rPr/>
              <a:t>47</a:t>
            </a:fld>
          </a:p>
        </p:txBody>
      </p:sp>
    </p:spTree>
    <p:extLst>
      <p:ext uri="{BB962C8B-B14F-4D97-AF65-F5344CB8AC3E}">
        <p14:creationId xmlns:p14="http://schemas.microsoft.com/office/powerpoint/2010/main" val="2660570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11.5- Mitigar ataques STP</a:t>
            </a:r>
          </a:p>
          <a:p>
            <a:pPr rtl="0"/>
            <a:r>
              <a:rPr lang="es-419"/>
              <a:t>11.5.2 – Configure PortFast</a:t>
            </a:r>
          </a:p>
        </p:txBody>
      </p:sp>
      <p:sp>
        <p:nvSpPr>
          <p:cNvPr id="4" name="Slide Number Placeholder 3"/>
          <p:cNvSpPr>
            <a:spLocks noGrp="1"/>
          </p:cNvSpPr>
          <p:nvPr>
            <p:ph type="sldNum" sz="quarter" idx="5"/>
          </p:nvPr>
        </p:nvSpPr>
        <p:spPr/>
        <p:txBody>
          <a:bodyPr/>
          <a:lstStyle/>
          <a:p>
            <a:pPr rtl="0"/>
            <a:fld id="{5641018C-6CAF-B84E-B92C-ECB119457FBA}" type="slidenum">
              <a:rPr/>
              <a:t>48</a:t>
            </a:fld>
          </a:p>
        </p:txBody>
      </p:sp>
    </p:spTree>
    <p:extLst>
      <p:ext uri="{BB962C8B-B14F-4D97-AF65-F5344CB8AC3E}">
        <p14:creationId xmlns:p14="http://schemas.microsoft.com/office/powerpoint/2010/main" val="33289777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11.5- Mitigar ataques STP</a:t>
            </a:r>
          </a:p>
          <a:p>
            <a:pPr rtl="0"/>
            <a:r>
              <a:rPr lang="es-419"/>
              <a:t>11.5.2 – Configurar PortFast (Cont.)</a:t>
            </a:r>
          </a:p>
        </p:txBody>
      </p:sp>
      <p:sp>
        <p:nvSpPr>
          <p:cNvPr id="4" name="Slide Number Placeholder 3"/>
          <p:cNvSpPr>
            <a:spLocks noGrp="1"/>
          </p:cNvSpPr>
          <p:nvPr>
            <p:ph type="sldNum" sz="quarter" idx="5"/>
          </p:nvPr>
        </p:nvSpPr>
        <p:spPr/>
        <p:txBody>
          <a:bodyPr/>
          <a:lstStyle/>
          <a:p>
            <a:pPr rtl="0"/>
            <a:fld id="{5641018C-6CAF-B84E-B92C-ECB119457FBA}" type="slidenum">
              <a:rPr/>
              <a:t>49</a:t>
            </a:fld>
          </a:p>
        </p:txBody>
      </p:sp>
    </p:spTree>
    <p:extLst>
      <p:ext uri="{BB962C8B-B14F-4D97-AF65-F5344CB8AC3E}">
        <p14:creationId xmlns:p14="http://schemas.microsoft.com/office/powerpoint/2010/main" val="20556816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11.5- Mitigar ataques STP</a:t>
            </a:r>
          </a:p>
          <a:p>
            <a:pPr rtl="0"/>
            <a:r>
              <a:rPr lang="es-419"/>
              <a:t>11.5.3 – Configurar BPDU Guard</a:t>
            </a:r>
          </a:p>
          <a:p>
            <a:pPr rtl="0"/>
            <a:r>
              <a:rPr lang="es-419"/>
              <a:t>11.5.4 – Verificar sintaxis: mitigar los ataques STP</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50</a:t>
            </a:fld>
          </a:p>
        </p:txBody>
      </p:sp>
    </p:spTree>
    <p:extLst>
      <p:ext uri="{BB962C8B-B14F-4D97-AF65-F5344CB8AC3E}">
        <p14:creationId xmlns:p14="http://schemas.microsoft.com/office/powerpoint/2010/main" val="35243102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11.6 – Práctica del módulo y cuestionario</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51</a:t>
            </a:fld>
          </a:p>
        </p:txBody>
      </p:sp>
    </p:spTree>
    <p:extLst>
      <p:ext uri="{BB962C8B-B14F-4D97-AF65-F5344CB8AC3E}">
        <p14:creationId xmlns:p14="http://schemas.microsoft.com/office/powerpoint/2010/main" val="22171436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11.6 – Práctica del módulo y cuestionario</a:t>
            </a:r>
          </a:p>
          <a:p>
            <a:pPr rtl="0"/>
            <a:r>
              <a:rPr lang="es-419"/>
              <a:t>11.6.1 – Packet Tracer – Switch configuraciones de seguridad</a:t>
            </a:r>
          </a:p>
        </p:txBody>
      </p:sp>
      <p:sp>
        <p:nvSpPr>
          <p:cNvPr id="4" name="Slide Number Placeholder 3"/>
          <p:cNvSpPr>
            <a:spLocks noGrp="1"/>
          </p:cNvSpPr>
          <p:nvPr>
            <p:ph type="sldNum" sz="quarter" idx="5"/>
          </p:nvPr>
        </p:nvSpPr>
        <p:spPr/>
        <p:txBody>
          <a:bodyPr/>
          <a:lstStyle/>
          <a:p>
            <a:pPr rtl="0"/>
            <a:fld id="{5641018C-6CAF-B84E-B92C-ECB119457FBA}" type="slidenum">
              <a:rPr/>
              <a:t>52</a:t>
            </a:fld>
          </a:p>
        </p:txBody>
      </p:sp>
    </p:spTree>
    <p:extLst>
      <p:ext uri="{BB962C8B-B14F-4D97-AF65-F5344CB8AC3E}">
        <p14:creationId xmlns:p14="http://schemas.microsoft.com/office/powerpoint/2010/main" val="12601964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11.6 – Práctica del módulo y cuestionario</a:t>
            </a:r>
          </a:p>
          <a:p>
            <a:pPr rtl="0"/>
            <a:r>
              <a:rPr lang="es-419"/>
              <a:t>11.6.2 – Lab – Configuración de seguridad en el Switch</a:t>
            </a:r>
          </a:p>
        </p:txBody>
      </p:sp>
      <p:sp>
        <p:nvSpPr>
          <p:cNvPr id="4" name="Slide Number Placeholder 3"/>
          <p:cNvSpPr>
            <a:spLocks noGrp="1"/>
          </p:cNvSpPr>
          <p:nvPr>
            <p:ph type="sldNum" sz="quarter" idx="5"/>
          </p:nvPr>
        </p:nvSpPr>
        <p:spPr/>
        <p:txBody>
          <a:bodyPr/>
          <a:lstStyle/>
          <a:p>
            <a:pPr rtl="0"/>
            <a:fld id="{5641018C-6CAF-B84E-B92C-ECB119457FBA}" type="slidenum">
              <a:rPr/>
              <a:t>53</a:t>
            </a:fld>
          </a:p>
        </p:txBody>
      </p:sp>
    </p:spTree>
    <p:extLst>
      <p:ext uri="{BB962C8B-B14F-4D97-AF65-F5344CB8AC3E}">
        <p14:creationId xmlns:p14="http://schemas.microsoft.com/office/powerpoint/2010/main" val="28214013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54</a:t>
            </a:fld>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11.6 – Práctica del módulo y cuestionario</a:t>
            </a:r>
          </a:p>
          <a:p>
            <a:pPr rtl="0"/>
            <a:r>
              <a:rPr lang="es-419"/>
              <a:t>11.6.3 – ¿Qué aprendí en este módulo?</a:t>
            </a:r>
          </a:p>
        </p:txBody>
      </p:sp>
    </p:spTree>
    <p:extLst>
      <p:ext uri="{BB962C8B-B14F-4D97-AF65-F5344CB8AC3E}">
        <p14:creationId xmlns:p14="http://schemas.microsoft.com/office/powerpoint/2010/main" val="25279157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55</a:t>
            </a:fld>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sz="1200" b="false" i="false" kern="1200" lang="es-419">
                <a:solidFill>
                  <a:schemeClr val="tx1"/>
                </a:solidFill>
                <a:effectLst/>
                <a:latin typeface="+mn-lt"/>
                <a:ea typeface="+mn-ea"/>
                <a:cs typeface="+mn-cs"/>
              </a:rPr>
              <a:t>11- </a:t>
            </a:r>
            <a:r>
              <a:rPr lang="es-419"/>
              <a:t>Configuración de seguridad en el Switch</a:t>
            </a:r>
          </a:p>
          <a:p>
            <a:pPr rtl="0"/>
            <a:r>
              <a:rPr lang="es-419"/>
              <a:t>11.6 – Práctica del módulo y cuestionario</a:t>
            </a:r>
          </a:p>
          <a:p>
            <a:pPr rtl="0"/>
            <a:r>
              <a:rPr lang="es-419"/>
              <a:t>11.6.3 – ¿Qué aprendí en este módulo? (continuación)</a:t>
            </a:r>
          </a:p>
          <a:p>
            <a:pPr rtl="0"/>
            <a:r>
              <a:rPr lang="es-419"/>
              <a:t>11.6.4 – Preguntas del módulo</a:t>
            </a:r>
          </a:p>
        </p:txBody>
      </p:sp>
    </p:spTree>
    <p:extLst>
      <p:ext uri="{BB962C8B-B14F-4D97-AF65-F5344CB8AC3E}">
        <p14:creationId xmlns:p14="http://schemas.microsoft.com/office/powerpoint/2010/main" val="24849768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56</a:t>
            </a:fld>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5641018C-6CAF-B84E-B92C-ECB119457FBA}" type="slidenum">
              <a:rPr/>
              <a:t>57</a:t>
            </a:fld>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rtl="0">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rtl="0">
              <a:spcBef>
                <a:spcPts val="0"/>
              </a:spcBef>
              <a:spcAft>
                <a:spcPts val="0"/>
              </a:spcAft>
              <a:defRPr/>
            </a:pPr>
            <a:r>
              <a:rPr sz="600" lang="es-419">
                <a:solidFill>
                  <a:schemeClr val="accent5">
                    <a:lumMod val="50000"/>
                  </a:schemeClr>
                </a:solidFill>
                <a:latin typeface="+mn-lt"/>
                <a:ea typeface="+mn-ea"/>
                <a:cs typeface="CiscoSans Thin"/>
              </a:rPr>
              <a:t>© 2016 Cisco y/o sus afiliados.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rtl="0">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rtl="0">
              <a:spcBef>
                <a:spcPts val="0"/>
              </a:spcBef>
              <a:spcAft>
                <a:spcPts val="0"/>
              </a:spcAft>
              <a:defRPr/>
            </a:pPr>
            <a:r>
              <a:rPr sz="600" lang="es-419">
                <a:solidFill>
                  <a:schemeClr val="accent3">
                    <a:lumMod val="85000"/>
                  </a:schemeClr>
                </a:solidFill>
                <a:latin typeface="+mn-lt"/>
                <a:ea typeface="+mn-ea"/>
                <a:cs typeface="CiscoSans Thin"/>
              </a:rPr>
              <a:t>© 2016 Cisco y/o sus afiliados.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32.xml.rels><?xml version="1.0" encoding="utf-8"?>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35.xml.rels><?xml version="1.0" encoding="utf-8"?>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39.xml.rels><?xml version="1.0" encoding="utf-8"?>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41.xml.rels><?xml version="1.0" encoding="utf-8"?>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47.xml.rels><?xml version="1.0" encoding="utf-8"?>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0.xml.rels><?xml version="1.0" encoding="utf-8"?>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1.xml.rels><?xml version="1.0" encoding="utf-8"?>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52.xml.rels><?xml version="1.0" encoding="utf-8"?>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4.xml.rels><?xml version="1.0" encoding="utf-8"?>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55.xml.rels><?xml version="1.0" encoding="utf-8"?>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56.xml.rels><?xml version="1.0" encoding="utf-8"?>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57.xml.rels><?xml version="1.0" encoding="utf-8"?>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0.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es-419">
                <a:solidFill>
                  <a:schemeClr val="accent5">
                    <a:lumMod val="40000"/>
                    <a:lumOff val="60000"/>
                  </a:schemeClr>
                </a:solidFill>
              </a:rPr>
              <a:t>Módulo 11: Configuración de seguridad en el Switch</a:t>
            </a:r>
          </a:p>
        </p:txBody>
      </p:sp>
      <p:sp>
        <p:nvSpPr>
          <p:cNvPr id="5" name="Text Placeholder 4"/>
          <p:cNvSpPr>
            <a:spLocks noGrp="1"/>
          </p:cNvSpPr>
          <p:nvPr>
            <p:ph type="body" sz="quarter" idx="13"/>
          </p:nvPr>
        </p:nvSpPr>
        <p:spPr>
          <a:xfrm>
            <a:off x="469497" y="3127609"/>
            <a:ext cx="5925246" cy="299001"/>
          </a:xfrm>
        </p:spPr>
        <p:txBody>
          <a:bodyPr/>
          <a:lstStyle/>
          <a:p>
            <a:pPr rtl="0"/>
            <a:r>
              <a:rPr lang="es-419">
                <a:solidFill>
                  <a:schemeClr val="bg2">
                    <a:lumMod val="40000"/>
                    <a:lumOff val="60000"/>
                  </a:schemeClr>
                </a:solidFill>
              </a:rPr>
              <a:t>Materiales del Instructor</a:t>
            </a:r>
          </a:p>
        </p:txBody>
      </p:sp>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Switching, Routing, y Wireless Essentials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es-419"/>
              <a:t>Instructor Materials – Module 11 Planning Guide</a:t>
            </a:r>
          </a:p>
        </p:txBody>
      </p:sp>
      <p:sp>
        <p:nvSpPr>
          <p:cNvPr id="4099" name="Rectangle 34"/>
          <p:cNvSpPr>
            <a:spLocks noGrp="1" noChangeArrowheads="1"/>
          </p:cNvSpPr>
          <p:nvPr>
            <p:ph idx="1"/>
          </p:nvPr>
        </p:nvSpPr>
        <p:spPr>
          <a:xfrm>
            <a:off x="145357" y="808180"/>
            <a:ext cx="8741468" cy="3193936"/>
          </a:xfrm>
        </p:spPr>
        <p:txBody>
          <a:bodyPr/>
          <a:lstStyle/>
          <a:p>
            <a:pPr marL="0" indent="0" rtl="0">
              <a:buNone/>
            </a:pPr>
            <a:r>
              <a:rPr lang="es-419"/>
              <a:t>This PowerPoint deck is divided in two parts:</a:t>
            </a:r>
          </a:p>
          <a:p>
            <a:pPr rtl="0">
              <a:buFont typeface="Arial" panose="020B0604020202020204" pitchFamily="34" charset="0"/>
              <a:buChar char="•"/>
            </a:pPr>
            <a:r>
              <a:rPr lang="es-419"/>
              <a:t>Instructor Planning Guide</a:t>
            </a:r>
          </a:p>
          <a:p>
            <a:pPr lvl="1" rtl="0"/>
            <a:r>
              <a:rPr lang="es-419"/>
              <a:t>Information to help you become familiar with the module</a:t>
            </a:r>
          </a:p>
          <a:p>
            <a:pPr lvl="1" rtl="0"/>
            <a:r>
              <a:rPr lang="es-419"/>
              <a:t>Teaching aids</a:t>
            </a:r>
          </a:p>
          <a:p>
            <a:pPr rtl="0">
              <a:buFont typeface="Arial" panose="020B0604020202020204" pitchFamily="34" charset="0"/>
              <a:buChar char="•"/>
            </a:pPr>
            <a:r>
              <a:rPr lang="es-419"/>
              <a:t>Instructor Class Presentation</a:t>
            </a:r>
          </a:p>
          <a:p>
            <a:pPr lvl="1" rtl="0"/>
            <a:r>
              <a:rPr lang="es-419"/>
              <a:t>Optional slides that you can use in the classroom</a:t>
            </a:r>
          </a:p>
          <a:p>
            <a:pPr lvl="1" rtl="0"/>
            <a:r>
              <a:rPr lang="es-419"/>
              <a:t>Begins on slide # 9</a:t>
            </a:r>
          </a:p>
          <a:p>
            <a:pPr marL="142875" lvl="1" indent="0" algn="ctr" rtl="0">
              <a:buNone/>
            </a:pPr>
            <a:r>
              <a:rPr sz="1600" b="true" lang="es-419"/>
              <a:t>Note</a:t>
            </a:r>
            <a:r>
              <a:rPr sz="1600" lang="es-419"/>
              <a:t>: Remove the Planning Guide from this presentation before sharing with anyone.</a:t>
            </a:r>
          </a:p>
          <a:p>
            <a:pPr marL="0" indent="0" rtl="0">
              <a:buNone/>
            </a:pPr>
            <a:r>
              <a:rPr sz="1600" b="true" lang="es-419">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es-419"/>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r>
              <a:rPr lang="es-419"/>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extLst/>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es-419"/>
                        <a:t>Feature</a:t>
                      </a:r>
                    </a:p>
                  </a:txBody>
                  <a:tcPr/>
                </a:tc>
                <a:tc>
                  <a:txBody>
                    <a:bodyPr/>
                    <a:lstStyle/>
                    <a:p>
                      <a:pPr rtl="0"/>
                      <a:r>
                        <a:rPr lang="es-419"/>
                        <a:t>Description</a:t>
                      </a:r>
                    </a:p>
                  </a:txBody>
                  <a:tcPr/>
                </a:tc>
                <a:extLst>
                  <a:ext uri="{0D108BD9-81ED-4DB2-BD59-A6C34878D82A}">
                    <a16:rowId xmlns:a16="http://schemas.microsoft.com/office/drawing/2014/main" val="367710602"/>
                  </a:ext>
                </a:extLst>
              </a:tr>
              <a:tr h="331556">
                <a:tc>
                  <a:txBody>
                    <a:bodyPr/>
                    <a:lstStyle/>
                    <a:p>
                      <a:pPr algn="l" fontAlgn="b" rtl="0"/>
                      <a:r>
                        <a:rPr sz="1400" b="false" i="false" u="none" strike="noStrike" lang="es-419">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es-419">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es-419">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es-419"/>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es-419">
                          <a:solidFill>
                            <a:srgbClr val="000000"/>
                          </a:solidFill>
                          <a:effectLst/>
                          <a:latin typeface="+mn-lt"/>
                        </a:rPr>
                        <a:t>Interactive Activities</a:t>
                      </a:r>
                    </a:p>
                  </a:txBody>
                  <a:tcPr marL="9525" marR="9525" marT="9525" marB="0" anchor="b"/>
                </a:tc>
                <a:tc>
                  <a:txBody>
                    <a:bodyPr/>
                    <a:lstStyle/>
                    <a:p>
                      <a:pPr rtl="0"/>
                      <a:r>
                        <a:rPr lang="es-419"/>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rtl="0"/>
                      <a:r>
                        <a:rPr sz="1400" b="false" i="false" u="none" strike="noStrike" lang="es-419">
                          <a:solidFill>
                            <a:srgbClr val="000000"/>
                          </a:solidFill>
                          <a:effectLst/>
                          <a:latin typeface="+mn-lt"/>
                        </a:rPr>
                        <a:t>Syntax Checker</a:t>
                      </a:r>
                    </a:p>
                  </a:txBody>
                  <a:tcPr marL="9525" marR="9525" marT="9525" marB="0" anchor="b"/>
                </a:tc>
                <a:tc>
                  <a:txBody>
                    <a:bodyPr/>
                    <a:lstStyle/>
                    <a:p>
                      <a:pPr rtl="0"/>
                      <a:r>
                        <a:rPr lang="es-419"/>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rtl="0"/>
                      <a:r>
                        <a:rPr sz="1400" b="false" i="false" u="none" strike="noStrike" lang="es-419">
                          <a:solidFill>
                            <a:srgbClr val="000000"/>
                          </a:solidFill>
                          <a:effectLst/>
                          <a:latin typeface="+mn-lt"/>
                        </a:rPr>
                        <a:t>PT Activity</a:t>
                      </a:r>
                    </a:p>
                  </a:txBody>
                  <a:tcPr marL="9525" marR="9525" marT="9525" marB="0" anchor="b"/>
                </a:tc>
                <a:tc>
                  <a:txBody>
                    <a:bodyPr/>
                    <a:lstStyle/>
                    <a:p>
                      <a:pPr rtl="0"/>
                      <a:r>
                        <a:rPr lang="es-419"/>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es-419"/>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es-419"/>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extLst/>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rtl="0"/>
                      <a:r>
                        <a:rPr sz="1400" b="true" i="false" u="none" strike="noStrike" lang="es-419">
                          <a:solidFill>
                            <a:schemeClr val="bg1"/>
                          </a:solidFill>
                          <a:effectLst/>
                          <a:latin typeface="+mn-lt"/>
                        </a:rPr>
                        <a:t>Feature</a:t>
                      </a:r>
                    </a:p>
                  </a:txBody>
                  <a:tcPr marL="9525" marR="9525" marT="9525" marB="0" anchor="b"/>
                </a:tc>
                <a:tc>
                  <a:txBody>
                    <a:bodyPr/>
                    <a:lstStyle/>
                    <a:p>
                      <a:pPr rtl="0"/>
                      <a:r>
                        <a:rPr lang="es-419"/>
                        <a:t>Description</a:t>
                      </a:r>
                    </a:p>
                  </a:txBody>
                  <a:tcPr/>
                </a:tc>
                <a:extLst>
                  <a:ext uri="{0D108BD9-81ED-4DB2-BD59-A6C34878D82A}">
                    <a16:rowId xmlns:a16="http://schemas.microsoft.com/office/drawing/2014/main" val="3768427975"/>
                  </a:ext>
                </a:extLst>
              </a:tr>
              <a:tr h="265091">
                <a:tc>
                  <a:txBody>
                    <a:bodyPr/>
                    <a:lstStyle/>
                    <a:p>
                      <a:pPr algn="l" fontAlgn="b" rtl="0"/>
                      <a:r>
                        <a:rPr sz="1400" b="false" i="false" u="none" strike="noStrike" lang="es-419">
                          <a:solidFill>
                            <a:srgbClr val="000000"/>
                          </a:solidFill>
                          <a:effectLst/>
                          <a:latin typeface="+mn-lt"/>
                        </a:rPr>
                        <a:t>Hands-On Labs</a:t>
                      </a:r>
                    </a:p>
                  </a:txBody>
                  <a:tcPr marL="9525" marR="9525" marT="9525" marB="0" anchor="b"/>
                </a:tc>
                <a:tc>
                  <a:txBody>
                    <a:bodyPr/>
                    <a:lstStyle/>
                    <a:p>
                      <a:pPr rtl="0"/>
                      <a:r>
                        <a:rPr lang="es-419"/>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es-419">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es-419"/>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rtl="0"/>
                      <a:r>
                        <a:rPr sz="1400" b="false" i="false" u="none" strike="noStrike" lang="es-419">
                          <a:solidFill>
                            <a:srgbClr val="000000"/>
                          </a:solidFill>
                          <a:effectLst/>
                          <a:latin typeface="+mn-lt"/>
                        </a:rPr>
                        <a:t>Module Quizzes</a:t>
                      </a:r>
                    </a:p>
                  </a:txBody>
                  <a:tcPr marL="9525" marR="9525" marT="9525" marB="0" anchor="b"/>
                </a:tc>
                <a:tc>
                  <a:txBody>
                    <a:bodyPr/>
                    <a:lstStyle/>
                    <a:p>
                      <a:pPr rtl="0"/>
                      <a:r>
                        <a:rPr lang="es-419"/>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rtl="0"/>
                      <a:r>
                        <a:rPr sz="1400" b="false" i="false" u="none" strike="noStrike" lang="es-419">
                          <a:solidFill>
                            <a:srgbClr val="000000"/>
                          </a:solidFill>
                          <a:effectLst/>
                          <a:latin typeface="+mn-lt"/>
                        </a:rPr>
                        <a:t>Module Summary</a:t>
                      </a:r>
                    </a:p>
                  </a:txBody>
                  <a:tcPr marL="9525" marR="9525" marT="9525" marB="0" anchor="b"/>
                </a:tc>
                <a:tc>
                  <a:txBody>
                    <a:bodyPr/>
                    <a:lstStyle/>
                    <a:p>
                      <a:pPr rtl="0"/>
                      <a:r>
                        <a:rPr lang="es-419"/>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rtl="0"/>
            <a:r>
              <a:rPr lang="es-419"/>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sz="1600" lang="es-419"/>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sz="1600" lang="es-419"/>
              <a:t>Check Your Understanding activities </a:t>
            </a:r>
            <a:r>
              <a:rPr sz="1600" b="true" i="true" lang="es-419"/>
              <a:t>do not </a:t>
            </a:r>
            <a:r>
              <a:rPr sz="1600" lang="es-419"/>
              <a:t>affect student grades.</a:t>
            </a:r>
          </a:p>
          <a:p>
            <a:pPr rtl="0">
              <a:spcBef>
                <a:spcPct val="30000"/>
              </a:spcBef>
              <a:buFont typeface="Arial" panose="020B0604020202020204" pitchFamily="34" charset="0"/>
              <a:buChar char="•"/>
            </a:pPr>
            <a:r>
              <a:rPr sz="1600" lang="es-419"/>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7364395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rtl="0"/>
            <a:r>
              <a:rPr lang="es-419"/>
              <a:t>Module 11: Activities</a:t>
            </a:r>
          </a:p>
        </p:txBody>
      </p:sp>
      <p:sp>
        <p:nvSpPr>
          <p:cNvPr id="6147" name="Rectangle 34"/>
          <p:cNvSpPr>
            <a:spLocks noGrp="1" noChangeArrowheads="1"/>
          </p:cNvSpPr>
          <p:nvPr>
            <p:ph idx="1"/>
          </p:nvPr>
        </p:nvSpPr>
        <p:spPr>
          <a:xfrm>
            <a:off x="144065" y="733629"/>
            <a:ext cx="8695135" cy="348414"/>
          </a:xfrm>
        </p:spPr>
        <p:txBody>
          <a:bodyPr/>
          <a:lstStyle/>
          <a:p>
            <a:pPr marL="0" indent="0" rtl="0">
              <a:spcBef>
                <a:spcPct val="30000"/>
              </a:spcBef>
              <a:buNone/>
            </a:pPr>
            <a:r>
              <a:rPr lang="es-419"/>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597052250"/>
              </p:ext>
            </p:extLst>
          </p:nvPr>
        </p:nvGraphicFramePr>
        <p:xfrm>
          <a:off x="455999" y="1082042"/>
          <a:ext cx="8229418" cy="3107706"/>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sz="1200" lang="es-419"/>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t>Activity Type</a:t>
                      </a:r>
                    </a:p>
                  </a:txBody>
                  <a:tcPr marL="68580" marR="68580" marT="34290" marB="34290" anchor="ctr"/>
                </a:tc>
                <a:tc>
                  <a:txBody>
                    <a:bodyPr/>
                    <a:lstStyle/>
                    <a:p>
                      <a:pPr rtl="0"/>
                      <a:r>
                        <a:rPr sz="1200" lang="es-419"/>
                        <a:t>Activity Name</a:t>
                      </a:r>
                    </a:p>
                  </a:txBody>
                  <a:tcPr marL="68580" marR="68580" marT="34290" marB="34290" anchor="ctr"/>
                </a:tc>
                <a:tc>
                  <a:txBody>
                    <a:bodyPr/>
                    <a:lstStyle/>
                    <a:p>
                      <a:pPr rtl="0"/>
                      <a:r>
                        <a:rPr sz="1200" lang="es-419"/>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sz="1100" lang="es-419">
                          <a:solidFill>
                            <a:srgbClr val="000000"/>
                          </a:solidFill>
                        </a:rPr>
                        <a:t>11.1.9</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es-419">
                          <a:solidFill>
                            <a:srgbClr val="000000"/>
                          </a:solidFill>
                        </a:rPr>
                        <a:t>Syntax Checker</a:t>
                      </a:r>
                    </a:p>
                  </a:txBody>
                  <a:tcPr marL="68580" marR="68580" marT="34290" marB="34290" anchor="ctr"/>
                </a:tc>
                <a:tc>
                  <a:txBody>
                    <a:bodyPr/>
                    <a:lstStyle/>
                    <a:p>
                      <a:pPr rtl="0"/>
                      <a:r>
                        <a:rPr sz="1100" lang="es-419">
                          <a:solidFill>
                            <a:srgbClr val="000000"/>
                          </a:solidFill>
                        </a:rPr>
                        <a:t>Implement Port Security</a:t>
                      </a:r>
                    </a:p>
                  </a:txBody>
                  <a:tcPr marL="68580" marR="68580" marT="34290" marB="34290" anchor="ctr"/>
                </a:tc>
                <a:tc>
                  <a:txBody>
                    <a:bodyPr/>
                    <a:lstStyle/>
                    <a:p>
                      <a:pPr rtl="0"/>
                      <a:r>
                        <a:rPr sz="1100" lang="es-419">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sz="1100" lang="es-419">
                          <a:solidFill>
                            <a:srgbClr val="000000"/>
                          </a:solidFill>
                        </a:rPr>
                        <a:t>11.1.10</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es-419">
                          <a:solidFill>
                            <a:srgbClr val="000000"/>
                          </a:solidFill>
                        </a:rPr>
                        <a:t>Packet Tracer</a:t>
                      </a:r>
                    </a:p>
                  </a:txBody>
                  <a:tcPr marL="68580" marR="68580" marT="34290" marB="34290" anchor="ctr"/>
                </a:tc>
                <a:tc>
                  <a:txBody>
                    <a:bodyPr/>
                    <a:lstStyle/>
                    <a:p>
                      <a:pPr rtl="0"/>
                      <a:r>
                        <a:rPr sz="1100" lang="es-419">
                          <a:solidFill>
                            <a:srgbClr val="000000"/>
                          </a:solidFill>
                        </a:rPr>
                        <a:t>Implement Port Security</a:t>
                      </a:r>
                    </a:p>
                  </a:txBody>
                  <a:tcPr marL="68580" marR="68580" marT="34290" marB="34290" anchor="ctr"/>
                </a:tc>
                <a:tc>
                  <a:txBody>
                    <a:bodyPr/>
                    <a:lstStyle/>
                    <a:p>
                      <a:pPr rtl="0"/>
                      <a:r>
                        <a:rPr sz="1100" lang="es-419">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sz="1100" lang="es-419">
                          <a:solidFill>
                            <a:srgbClr val="000000"/>
                          </a:solidFill>
                        </a:rPr>
                        <a:t>11.2.3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Mitigate VLAN Hopping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sz="1100" lang="es-419">
                          <a:solidFill>
                            <a:srgbClr val="000000"/>
                          </a:solidFill>
                        </a:rPr>
                        <a:t>11.3.5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Mitigate DHCP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sz="1100" lang="es-419">
                          <a:solidFill>
                            <a:srgbClr val="000000"/>
                          </a:solidFill>
                        </a:rPr>
                        <a:t>11.4.4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Mitigate ARP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sz="1100" lang="es-419">
                          <a:solidFill>
                            <a:srgbClr val="000000"/>
                          </a:solidFill>
                        </a:rPr>
                        <a:t>11.5.4</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sz="1100" lang="es-419">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Mitigate STP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001172460"/>
                  </a:ext>
                </a:extLst>
              </a:tr>
              <a:tr h="350784">
                <a:tc>
                  <a:txBody>
                    <a:bodyPr/>
                    <a:lstStyle/>
                    <a:p>
                      <a:pPr algn="ctr" rtl="0"/>
                      <a:r>
                        <a:rPr sz="1100" lang="es-419">
                          <a:solidFill>
                            <a:srgbClr val="000000"/>
                          </a:solidFill>
                        </a:rPr>
                        <a:t>11.6.1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sz="1100" lang="es-419">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Switch Security Configuration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22206681"/>
                  </a:ext>
                </a:extLst>
              </a:tr>
              <a:tr h="350784">
                <a:tc>
                  <a:txBody>
                    <a:bodyPr/>
                    <a:lstStyle/>
                    <a:p>
                      <a:pPr algn="ctr" rtl="0"/>
                      <a:r>
                        <a:rPr sz="1100" lang="es-419">
                          <a:solidFill>
                            <a:srgbClr val="000000"/>
                          </a:solidFill>
                        </a:rPr>
                        <a:t>11.6.2</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Switch Security Configuration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406068602"/>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s-419"/>
              <a:t>Module 11: Best Practices</a:t>
            </a:r>
          </a:p>
        </p:txBody>
      </p:sp>
      <p:sp>
        <p:nvSpPr>
          <p:cNvPr id="11266" name="Rectangle 34"/>
          <p:cNvSpPr>
            <a:spLocks noGrp="1" noChangeArrowheads="1"/>
          </p:cNvSpPr>
          <p:nvPr>
            <p:ph idx="1"/>
          </p:nvPr>
        </p:nvSpPr>
        <p:spPr>
          <a:xfrm>
            <a:off x="145357" y="646544"/>
            <a:ext cx="8853286" cy="4155319"/>
          </a:xfrm>
        </p:spPr>
        <p:txBody>
          <a:bodyPr/>
          <a:lstStyle/>
          <a:p>
            <a:pPr marL="0" indent="0" rtl="0">
              <a:lnSpc>
                <a:spcPct val="85000"/>
              </a:lnSpc>
              <a:spcBef>
                <a:spcPct val="30000"/>
              </a:spcBef>
              <a:buNone/>
            </a:pPr>
            <a:r>
              <a:rPr sz="1600" lang="es-419"/>
              <a:t>Prior to teaching Module 11, the instructor should:</a:t>
            </a:r>
          </a:p>
          <a:p>
            <a:pPr rtl="0">
              <a:lnSpc>
                <a:spcPct val="85000"/>
              </a:lnSpc>
              <a:spcBef>
                <a:spcPct val="30000"/>
              </a:spcBef>
              <a:buFont typeface="Arial" panose="020B0604020202020204" pitchFamily="34" charset="0"/>
              <a:buChar char="•"/>
            </a:pPr>
            <a:r>
              <a:rPr sz="1600" lang="es-419"/>
              <a:t>Review the activities and assessments for this module.</a:t>
            </a:r>
          </a:p>
          <a:p>
            <a:pPr rtl="0">
              <a:lnSpc>
                <a:spcPct val="85000"/>
              </a:lnSpc>
              <a:spcBef>
                <a:spcPct val="30000"/>
              </a:spcBef>
              <a:buFont typeface="Arial" panose="020B0604020202020204" pitchFamily="34" charset="0"/>
              <a:buChar char="•"/>
            </a:pPr>
            <a:r>
              <a:rPr sz="1600" lang="es-419"/>
              <a:t>Try to include as many questions as possible to keep students engaged during classroom presentation.</a:t>
            </a:r>
          </a:p>
          <a:p>
            <a:pPr marL="0" indent="0" rtl="0">
              <a:lnSpc>
                <a:spcPct val="85000"/>
              </a:lnSpc>
              <a:spcBef>
                <a:spcPct val="30000"/>
              </a:spcBef>
              <a:buNone/>
            </a:pPr>
            <a:r>
              <a:rPr sz="1600" lang="es-419"/>
              <a:t>Topic 11.1</a:t>
            </a:r>
          </a:p>
          <a:p>
            <a:pPr lvl="1" rtl="0">
              <a:lnSpc>
                <a:spcPct val="85000"/>
              </a:lnSpc>
              <a:spcBef>
                <a:spcPct val="30000"/>
              </a:spcBef>
            </a:pPr>
            <a:r>
              <a:rPr sz="1600" lang="es-419"/>
              <a:t>Ask the students or have a class discussion</a:t>
            </a:r>
          </a:p>
          <a:p>
            <a:pPr lvl="2" rtl="0">
              <a:lnSpc>
                <a:spcPct val="85000"/>
              </a:lnSpc>
              <a:spcBef>
                <a:spcPct val="30000"/>
              </a:spcBef>
            </a:pPr>
            <a:r>
              <a:rPr sz="1600" lang="es-419"/>
              <a:t>How might port security cause problems for legitimate users?</a:t>
            </a:r>
          </a:p>
          <a:p>
            <a:pPr lvl="2" rtl="0">
              <a:lnSpc>
                <a:spcPct val="85000"/>
              </a:lnSpc>
              <a:spcBef>
                <a:spcPct val="30000"/>
              </a:spcBef>
            </a:pPr>
            <a:r>
              <a:rPr sz="1600" lang="es-419"/>
              <a:t>What port security violation mode seems to be the most effective for general deployment and why?</a:t>
            </a:r>
          </a:p>
          <a:p>
            <a:pPr marL="0" indent="0" rtl="0">
              <a:lnSpc>
                <a:spcPct val="85000"/>
              </a:lnSpc>
              <a:spcBef>
                <a:spcPct val="30000"/>
              </a:spcBef>
              <a:buNone/>
            </a:pPr>
            <a:r>
              <a:rPr sz="1600" lang="es-419"/>
              <a:t>Topic 11.2</a:t>
            </a:r>
          </a:p>
          <a:p>
            <a:pPr lvl="1" rtl="0">
              <a:lnSpc>
                <a:spcPct val="85000"/>
              </a:lnSpc>
              <a:spcBef>
                <a:spcPct val="30000"/>
              </a:spcBef>
            </a:pPr>
            <a:r>
              <a:rPr sz="1600" lang="es-419"/>
              <a:t>Ask the students or have a class discussion</a:t>
            </a:r>
          </a:p>
          <a:p>
            <a:pPr lvl="2" rtl="0">
              <a:lnSpc>
                <a:spcPct val="85000"/>
              </a:lnSpc>
              <a:spcBef>
                <a:spcPct val="30000"/>
              </a:spcBef>
            </a:pPr>
            <a:r>
              <a:rPr sz="1600" lang="es-419"/>
              <a:t>Is there a downside to configuring ports as static access or static trunk?</a:t>
            </a:r>
          </a:p>
          <a:p>
            <a:pPr lvl="2" rtl="0">
              <a:lnSpc>
                <a:spcPct val="85000"/>
              </a:lnSpc>
              <a:spcBef>
                <a:spcPct val="30000"/>
              </a:spcBef>
            </a:pPr>
            <a:r>
              <a:rPr sz="1600" lang="es-419"/>
              <a:t>What benefit do you think is provided by designating an organization-wide native VLAN?</a:t>
            </a:r>
          </a:p>
          <a:p>
            <a:pPr>
              <a:lnSpc>
                <a:spcPct val="85000"/>
              </a:lnSpc>
              <a:spcBef>
                <a:spcPct val="30000"/>
              </a:spcBef>
              <a:buFont typeface="Arial" panose="020B0604020202020204" pitchFamily="34" charset="0"/>
              <a:buChar char="•"/>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s-419"/>
              <a:t>Module 11: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sz="1400" lang="es-419"/>
              <a:t>Topic 11.3</a:t>
            </a:r>
          </a:p>
          <a:p>
            <a:pPr lvl="1" rtl="0">
              <a:lnSpc>
                <a:spcPct val="85000"/>
              </a:lnSpc>
              <a:spcBef>
                <a:spcPct val="30000"/>
              </a:spcBef>
            </a:pPr>
            <a:r>
              <a:rPr lang="es-419"/>
              <a:t>Ask the students or have a class discussion</a:t>
            </a:r>
          </a:p>
          <a:p>
            <a:pPr lvl="2" rtl="0">
              <a:lnSpc>
                <a:spcPct val="85000"/>
              </a:lnSpc>
              <a:spcBef>
                <a:spcPct val="30000"/>
              </a:spcBef>
            </a:pPr>
            <a:r>
              <a:rPr sz="1400" lang="es-419"/>
              <a:t>How could DHCP Snooping negatively impact a user who is authorized to connect to the LAN?</a:t>
            </a:r>
          </a:p>
          <a:p>
            <a:pPr lvl="2" rtl="0">
              <a:lnSpc>
                <a:spcPct val="85000"/>
              </a:lnSpc>
              <a:spcBef>
                <a:spcPct val="30000"/>
              </a:spcBef>
            </a:pPr>
            <a:r>
              <a:rPr sz="1400" lang="es-419"/>
              <a:t>What is it about the data that DHCP Snooping collects that is so foundational to other LAN security mechanisms?</a:t>
            </a:r>
          </a:p>
          <a:p>
            <a:pPr marL="0" indent="0" rtl="0">
              <a:lnSpc>
                <a:spcPct val="85000"/>
              </a:lnSpc>
              <a:spcBef>
                <a:spcPct val="30000"/>
              </a:spcBef>
              <a:buNone/>
            </a:pPr>
            <a:r>
              <a:rPr sz="1400" lang="es-419"/>
              <a:t>Topic 11.4</a:t>
            </a:r>
          </a:p>
          <a:p>
            <a:pPr lvl="1" rtl="0">
              <a:lnSpc>
                <a:spcPct val="85000"/>
              </a:lnSpc>
              <a:spcBef>
                <a:spcPct val="30000"/>
              </a:spcBef>
            </a:pPr>
            <a:r>
              <a:rPr lang="es-419"/>
              <a:t>Ask the students or have a class discussion</a:t>
            </a:r>
          </a:p>
          <a:p>
            <a:pPr lvl="2" rtl="0">
              <a:lnSpc>
                <a:spcPct val="85000"/>
              </a:lnSpc>
              <a:spcBef>
                <a:spcPct val="30000"/>
              </a:spcBef>
            </a:pPr>
            <a:r>
              <a:rPr sz="1400" lang="es-419"/>
              <a:t>What cold happen if another device pretends to be the default gateway in a LAN?</a:t>
            </a:r>
          </a:p>
          <a:p>
            <a:pPr lvl="2" rtl="0">
              <a:lnSpc>
                <a:spcPct val="85000"/>
              </a:lnSpc>
              <a:spcBef>
                <a:spcPct val="30000"/>
              </a:spcBef>
            </a:pPr>
            <a:r>
              <a:rPr sz="1400" lang="es-419"/>
              <a:t>Why do you think ports facing upstream are typically configured as trusted for Dynamic ARP Inspection?</a:t>
            </a:r>
          </a:p>
          <a:p>
            <a:pPr marL="0" indent="0" rtl="0">
              <a:lnSpc>
                <a:spcPct val="85000"/>
              </a:lnSpc>
              <a:spcBef>
                <a:spcPct val="30000"/>
              </a:spcBef>
              <a:buNone/>
            </a:pPr>
            <a:r>
              <a:rPr sz="1400" lang="es-419"/>
              <a:t>Topic 11.5</a:t>
            </a:r>
          </a:p>
          <a:p>
            <a:pPr lvl="1" rtl="0">
              <a:lnSpc>
                <a:spcPct val="85000"/>
              </a:lnSpc>
              <a:spcBef>
                <a:spcPct val="30000"/>
              </a:spcBef>
            </a:pPr>
            <a:r>
              <a:rPr lang="es-419"/>
              <a:t>Ask the students or have a class discussion</a:t>
            </a:r>
          </a:p>
          <a:p>
            <a:pPr lvl="2" rtl="0">
              <a:lnSpc>
                <a:spcPct val="85000"/>
              </a:lnSpc>
              <a:spcBef>
                <a:spcPct val="30000"/>
              </a:spcBef>
            </a:pPr>
            <a:r>
              <a:rPr sz="1400" lang="es-419"/>
              <a:t>What benefit does PortFast provide to the ordinary connected user?</a:t>
            </a:r>
          </a:p>
          <a:p>
            <a:pPr lvl="2" rtl="0">
              <a:lnSpc>
                <a:spcPct val="85000"/>
              </a:lnSpc>
              <a:spcBef>
                <a:spcPct val="30000"/>
              </a:spcBef>
            </a:pPr>
            <a:r>
              <a:rPr sz="1400" lang="es-419"/>
              <a:t>Why does PortFast not error-disable an interface where it receives a spanning-tree BPDU?</a:t>
            </a:r>
          </a:p>
          <a:p>
            <a:pPr marL="261937" lvl="2" indent="0">
              <a:lnSpc>
                <a:spcPct val="85000"/>
              </a:lnSpc>
              <a:spcBef>
                <a:spcPct val="30000"/>
              </a:spcBef>
              <a:buNone/>
            </a:pPr>
            <a:endParaRPr lang="en-US" sz="1400" dirty="0"/>
          </a:p>
          <a:p>
            <a:pPr lvl="2">
              <a:lnSpc>
                <a:spcPct val="85000"/>
              </a:lnSpc>
              <a:spcBef>
                <a:spcPct val="30000"/>
              </a:spcBef>
            </a:pPr>
            <a:endParaRPr lang="en-US" sz="14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es-419">
                <a:solidFill>
                  <a:schemeClr val="accent5">
                    <a:lumMod val="40000"/>
                    <a:lumOff val="60000"/>
                  </a:schemeClr>
                </a:solidFill>
              </a:rPr>
              <a:t>Módulo 11: Configuración de seguridad en el Switch</a:t>
            </a:r>
          </a:p>
        </p:txBody>
      </p:sp>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Switching, Routing y Wireless Essentials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rtl="0"/>
            <a:r>
              <a:rPr lang="es-419"/>
              <a:t>Objetivos del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rtl="0">
              <a:spcBef>
                <a:spcPct val="0"/>
              </a:spcBef>
              <a:spcAft>
                <a:spcPct val="0"/>
              </a:spcAft>
              <a:buClrTx/>
              <a:buSzTx/>
              <a:buNone/>
            </a:pPr>
            <a:r>
              <a:rPr sz="1400" b="true" lang="es-419">
                <a:solidFill>
                  <a:schemeClr val="tx1"/>
                </a:solidFill>
                <a:ea typeface="Calibri" panose="020F0502020204030204" pitchFamily="34" charset="0"/>
                <a:cs typeface="Calibri" panose="020F0502020204030204" pitchFamily="34" charset="0"/>
              </a:rPr>
              <a:t>Título de módulo: </a:t>
            </a:r>
            <a:r>
              <a:rPr sz="1400" lang="es-419">
                <a:solidFill>
                  <a:schemeClr val="tx1"/>
                </a:solidFill>
                <a:ea typeface="Calibri" panose="020F0502020204030204" pitchFamily="34" charset="0"/>
                <a:cs typeface="Calibri" panose="020F0502020204030204" pitchFamily="34" charset="0"/>
              </a:rPr>
              <a:t>Configuración de seguridad en el Switch</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rtl="0">
              <a:spcBef>
                <a:spcPct val="0"/>
              </a:spcBef>
              <a:spcAft>
                <a:spcPct val="0"/>
              </a:spcAft>
              <a:buClrTx/>
              <a:buSzTx/>
              <a:buNone/>
            </a:pPr>
            <a:r>
              <a:rPr sz="1400" b="true" lang="es-419">
                <a:solidFill>
                  <a:schemeClr val="tx1"/>
                </a:solidFill>
                <a:ea typeface="Calibri" panose="020F0502020204030204" pitchFamily="34" charset="0"/>
                <a:cs typeface="Calibri" panose="020F0502020204030204" pitchFamily="34" charset="0"/>
              </a:rPr>
              <a:t>Objetivo del módulo</a:t>
            </a:r>
            <a:r>
              <a:rPr sz="1400" lang="es-419">
                <a:solidFill>
                  <a:schemeClr val="tx1"/>
                </a:solidFill>
                <a:ea typeface="Calibri" panose="020F0502020204030204" pitchFamily="34" charset="0"/>
                <a:cs typeface="Calibri" panose="020F0502020204030204" pitchFamily="34" charset="0"/>
              </a:rPr>
              <a:t>: </a:t>
            </a:r>
            <a:r>
              <a:rPr sz="1400" lang="es-419"/>
              <a:t>Configurar la seguridad en el Switch para mitigar los ataques de LAN</a:t>
            </a: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705733832"/>
              </p:ext>
            </p:extLst>
          </p:nvPr>
        </p:nvGraphicFramePr>
        <p:xfrm>
          <a:off x="323274" y="1556495"/>
          <a:ext cx="7896830" cy="267843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370840">
                <a:tc>
                  <a:txBody>
                    <a:bodyPr/>
                    <a:lstStyle/>
                    <a:p>
                      <a:pPr algn="l" fontAlgn="ctr" rtl="0"/>
                      <a:r>
                        <a:rPr b="true" lang="es-419">
                          <a:effectLst/>
                        </a:rPr>
                        <a:t>Título del tema</a:t>
                      </a:r>
                    </a:p>
                  </a:txBody>
                  <a:tcPr marL="47625" marR="47625" marT="47625" marB="47625" anchor="ctr"/>
                </a:tc>
                <a:tc>
                  <a:txBody>
                    <a:bodyPr/>
                    <a:lstStyle/>
                    <a:p>
                      <a:pPr algn="l" fontAlgn="ctr" rtl="0"/>
                      <a:r>
                        <a:rPr b="true" lang="es-419">
                          <a:effectLst/>
                        </a:rPr>
                        <a:t>Objetivo del tema</a:t>
                      </a:r>
                    </a:p>
                  </a:txBody>
                  <a:tcPr marL="47625" marR="47625" marT="47625" marB="47625" anchor="ctr"/>
                </a:tc>
                <a:extLst>
                  <a:ext uri="{0D108BD9-81ED-4DB2-BD59-A6C34878D82A}">
                    <a16:rowId xmlns:a16="http://schemas.microsoft.com/office/drawing/2014/main" val="742401779"/>
                  </a:ext>
                </a:extLst>
              </a:tr>
              <a:tr h="370840">
                <a:tc>
                  <a:txBody>
                    <a:bodyPr/>
                    <a:lstStyle/>
                    <a:p>
                      <a:pPr fontAlgn="ctr" rtl="0"/>
                      <a:r>
                        <a:rPr b="true" lang="es-419">
                          <a:solidFill>
                            <a:schemeClr val="bg1"/>
                          </a:solidFill>
                          <a:effectLst/>
                        </a:rPr>
                        <a:t>Implementación de seguridad de puertos</a:t>
                      </a:r>
                    </a:p>
                  </a:txBody>
                  <a:tcPr marL="47625" marR="47625" marT="47625" marB="47625" anchor="ctr">
                    <a:solidFill>
                      <a:schemeClr val="accent1"/>
                    </a:solidFill>
                  </a:tcPr>
                </a:tc>
                <a:tc>
                  <a:txBody>
                    <a:bodyPr/>
                    <a:lstStyle/>
                    <a:p>
                      <a:pPr fontAlgn="ctr" rtl="0"/>
                      <a:r>
                        <a:rPr b="false" lang="es-419">
                          <a:effectLst/>
                        </a:rPr>
                        <a:t>Implementar la seguridad de puertos para mitigar los ataques de tablas de direcciones MAC.</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rtl="0"/>
                      <a:r>
                        <a:rPr b="true" lang="es-419">
                          <a:solidFill>
                            <a:schemeClr val="bg1"/>
                          </a:solidFill>
                          <a:effectLst/>
                        </a:rPr>
                        <a:t>Mitigación de ataques de VLAN</a:t>
                      </a:r>
                    </a:p>
                  </a:txBody>
                  <a:tcPr marL="47625" marR="47625" marT="47625" marB="47625" anchor="ctr">
                    <a:solidFill>
                      <a:schemeClr val="accent1"/>
                    </a:solidFill>
                  </a:tcPr>
                </a:tc>
                <a:tc>
                  <a:txBody>
                    <a:bodyPr/>
                    <a:lstStyle/>
                    <a:p>
                      <a:pPr fontAlgn="ctr" rtl="0"/>
                      <a:r>
                        <a:rPr b="false" lang="es-419">
                          <a:effectLst/>
                        </a:rPr>
                        <a:t>Explicar cómo configurar DTP y la VLAN nativa para mitigar los ataques de VLAN.</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rtl="0"/>
                      <a:r>
                        <a:rPr b="true" lang="es-419">
                          <a:solidFill>
                            <a:schemeClr val="bg1"/>
                          </a:solidFill>
                          <a:effectLst/>
                        </a:rPr>
                        <a:t>Mitigación de ataques de DHCP</a:t>
                      </a:r>
                    </a:p>
                  </a:txBody>
                  <a:tcPr marL="47625" marR="47625" marT="47625" marB="47625" anchor="ctr">
                    <a:solidFill>
                      <a:schemeClr val="accent1"/>
                    </a:solidFill>
                  </a:tcPr>
                </a:tc>
                <a:tc>
                  <a:txBody>
                    <a:bodyPr/>
                    <a:lstStyle/>
                    <a:p>
                      <a:pPr fontAlgn="ctr" rtl="0"/>
                      <a:r>
                        <a:rPr b="false" lang="es-419">
                          <a:effectLst/>
                        </a:rPr>
                        <a:t>Explicar cómo configurar el snooping de DHCP para mitigar los ataques de DHCP.</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rtl="0"/>
                      <a:r>
                        <a:rPr b="true" lang="es-419">
                          <a:solidFill>
                            <a:schemeClr val="bg1"/>
                          </a:solidFill>
                          <a:effectLst/>
                        </a:rPr>
                        <a:t>Mitigación de ataques de ARP</a:t>
                      </a:r>
                    </a:p>
                  </a:txBody>
                  <a:tcPr marL="47625" marR="47625" marT="47625" marB="47625" anchor="ctr">
                    <a:solidFill>
                      <a:schemeClr val="accent1"/>
                    </a:solidFill>
                  </a:tcPr>
                </a:tc>
                <a:tc>
                  <a:txBody>
                    <a:bodyPr/>
                    <a:lstStyle/>
                    <a:p>
                      <a:pPr fontAlgn="ctr" rtl="0"/>
                      <a:r>
                        <a:rPr b="false" lang="es-419">
                          <a:effectLst/>
                        </a:rPr>
                        <a:t>Explicar cómo configurar ARP para mitigar los ataques de ARP.</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rtl="0"/>
                      <a:r>
                        <a:rPr b="true" lang="es-419">
                          <a:solidFill>
                            <a:schemeClr val="bg1"/>
                          </a:solidFill>
                          <a:effectLst/>
                        </a:rPr>
                        <a:t>Mitigación de ataques de STP</a:t>
                      </a:r>
                    </a:p>
                  </a:txBody>
                  <a:tcPr marL="47625" marR="47625" marT="47625" marB="47625" anchor="ctr">
                    <a:solidFill>
                      <a:schemeClr val="accent1"/>
                    </a:solidFill>
                  </a:tcPr>
                </a:tc>
                <a:tc>
                  <a:txBody>
                    <a:bodyPr/>
                    <a:lstStyle/>
                    <a:p>
                      <a:pPr fontAlgn="ctr" rtl="0"/>
                      <a:r>
                        <a:rPr b="false" lang="es-419">
                          <a:effectLst/>
                        </a:rPr>
                        <a:t>Explicar cómo configurar PortFast y BPDU Guard para mitigar los ataques STP.</a:t>
                      </a:r>
                    </a:p>
                  </a:txBody>
                  <a:tcPr marL="47625" marR="47625" marT="47625" marB="47625" anchor="ctr"/>
                </a:tc>
                <a:extLst>
                  <a:ext uri="{0D108BD9-81ED-4DB2-BD59-A6C34878D82A}">
                    <a16:rowId xmlns:a16="http://schemas.microsoft.com/office/drawing/2014/main" val="503933313"/>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es-419">
                <a:solidFill>
                  <a:schemeClr val="accent5">
                    <a:lumMod val="40000"/>
                    <a:lumOff val="60000"/>
                  </a:schemeClr>
                </a:solidFill>
              </a:rPr>
              <a:t>11.1 – Implementar Seguridad de Puertos (Port Security)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Asegure los puertos no utilizados</a:t>
            </a:r>
          </a:p>
        </p:txBody>
      </p:sp>
      <p:sp>
        <p:nvSpPr>
          <p:cNvPr id="4" name="Content Placeholder 3">
            <a:extLst>
              <a:ext uri="{FF2B5EF4-FFF2-40B4-BE49-F238E27FC236}">
                <a16:creationId xmlns:a16="http://schemas.microsoft.com/office/drawing/2014/main" id="{382616C7-B30A-40CC-929E-DD6EC0837DAA}"/>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Los ataques de Capa 2 son de los más sencillos de desplegar para los hackers, pero estas amenazas también pueden ser mitigadas con algunas soluciones comunes de capa 2.</a:t>
            </a:r>
          </a:p>
          <a:p>
            <a:pPr marL="342900" indent="-342900" algn="l" rtl="0">
              <a:buFont typeface="Arial" panose="020B0604020202020204" pitchFamily="34" charset="0"/>
              <a:buChar char="•"/>
            </a:pPr>
            <a:r>
              <a:rPr sz="1600" lang="es-419">
                <a:solidFill>
                  <a:srgbClr val="000000"/>
                </a:solidFill>
              </a:rPr>
              <a:t>Se deben proteger todos los puertos (interfaces) del switch antes de implementar el dispositivo para la producción. ¿Cómo se asegura un puerto dependiendo de su función?.</a:t>
            </a:r>
          </a:p>
          <a:p>
            <a:pPr marL="342900" indent="-342900" algn="l" rtl="0">
              <a:buFont typeface="Arial" panose="020B0604020202020204" pitchFamily="34" charset="0"/>
              <a:buChar char="•"/>
            </a:pPr>
            <a:r>
              <a:rPr sz="1600" lang="es-419">
                <a:solidFill>
                  <a:srgbClr val="000000"/>
                </a:solidFill>
              </a:rPr>
              <a:t>Un método simple que muchos administradores usan para contribuir a la seguridad de la red ante accesos no autorizados es inhabilitar todos los puertos del switch que no se utilizan. Navegue a cada puerto no utilizado y emita el comando de apagado </a:t>
            </a:r>
            <a:r>
              <a:rPr sz="1600" b="true" lang="es-419">
                <a:solidFill>
                  <a:srgbClr val="000000"/>
                </a:solidFill>
              </a:rPr>
              <a:t>shutdown</a:t>
            </a:r>
            <a:r>
              <a:rPr sz="1600" lang="es-419">
                <a:solidFill>
                  <a:srgbClr val="000000"/>
                </a:solidFill>
              </a:rPr>
              <a:t>de Cisco IOS. Si un puerto debe reactivarse más tarde, se puede habilitar con el comando </a:t>
            </a:r>
            <a:r>
              <a:rPr sz="1600" b="true" lang="es-419">
                <a:solidFill>
                  <a:srgbClr val="000000"/>
                </a:solidFill>
              </a:rPr>
              <a:t>no shutdown</a:t>
            </a:r>
            <a:r>
              <a:rPr sz="1600" lang="es-419">
                <a:solidFill>
                  <a:srgbClr val="000000"/>
                </a:solidFill>
              </a:rPr>
              <a:t>.</a:t>
            </a:r>
          </a:p>
          <a:p>
            <a:pPr marL="342900" indent="-342900" algn="l" rtl="0">
              <a:buFont typeface="Arial" panose="020B0604020202020204" pitchFamily="34" charset="0"/>
              <a:buChar char="•"/>
            </a:pPr>
            <a:r>
              <a:rPr sz="1600" lang="es-419">
                <a:solidFill>
                  <a:srgbClr val="000000"/>
                </a:solidFill>
              </a:rPr>
              <a:t>Para configurar un rango de puertos, use el comando </a:t>
            </a:r>
            <a:r>
              <a:rPr sz="1600" b="true" lang="es-419">
                <a:solidFill>
                  <a:srgbClr val="000000"/>
                </a:solidFill>
              </a:rPr>
              <a:t>interface range</a:t>
            </a:r>
            <a:r>
              <a:rPr sz="1600" lang="es-419">
                <a:solidFill>
                  <a:srgbClr val="000000"/>
                </a:solidFill>
              </a:rPr>
              <a:t>.</a:t>
            </a:r>
          </a:p>
        </p:txBody>
      </p:sp>
      <p:sp>
        <p:nvSpPr>
          <p:cNvPr id="8" name="Rectangle 3">
            <a:extLst>
              <a:ext uri="{FF2B5EF4-FFF2-40B4-BE49-F238E27FC236}">
                <a16:creationId xmlns:a16="http://schemas.microsoft.com/office/drawing/2014/main" id="{79DBF04D-30A4-4EEB-B7E2-7AB82D0B955C}"/>
              </a:ext>
            </a:extLst>
          </p:cNvPr>
          <p:cNvSpPr>
            <a:spLocks noChangeArrowheads="1"/>
          </p:cNvSpPr>
          <p:nvPr/>
        </p:nvSpPr>
        <p:spPr bwMode="auto">
          <a:xfrm>
            <a:off x="715818" y="3356316"/>
            <a:ext cx="7712363"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false" sz="1400" b="false" i="false" u="none" strike="noStrike" cap="none" normalizeH="false" baseline="0" lang="es-419">
                <a:ln>
                  <a:noFill/>
                </a:ln>
                <a:solidFill>
                  <a:srgbClr val="000000"/>
                </a:solidFill>
                <a:effectLst/>
                <a:latin typeface="Courier New" panose="02070309020205020404" pitchFamily="49" charset="0"/>
                <a:cs typeface="Courier New" panose="02070309020205020404" pitchFamily="49" charset="0"/>
              </a:rPr>
              <a:t>Switch(config)# </a:t>
            </a:r>
            <a:r>
              <a:rPr kumimoji="false" sz="1400" b="true" i="false" u="none" strike="noStrike" cap="none" normalizeH="false" baseline="0" lang="es-419">
                <a:ln>
                  <a:noFill/>
                </a:ln>
                <a:solidFill>
                  <a:srgbClr val="000000"/>
                </a:solidFill>
                <a:effectLst/>
                <a:latin typeface="Courier New" panose="02070309020205020404" pitchFamily="49" charset="0"/>
                <a:cs typeface="Courier New" panose="02070309020205020404" pitchFamily="49" charset="0"/>
              </a:rPr>
              <a:t>interface range</a:t>
            </a:r>
            <a:r>
              <a:rPr kumimoji="false" sz="1400" b="false" i="false" u="none" strike="noStrike" cap="none" normalizeH="false" baseline="0" lang="es-419">
                <a:ln>
                  <a:noFill/>
                </a:ln>
                <a:solidFill>
                  <a:srgbClr val="000000"/>
                </a:solidFill>
                <a:effectLst/>
                <a:latin typeface="Courier New" panose="02070309020205020404" pitchFamily="49" charset="0"/>
                <a:cs typeface="Courier New" panose="02070309020205020404" pitchFamily="49" charset="0"/>
              </a:rPr>
              <a:t> </a:t>
            </a:r>
            <a:r>
              <a:rPr kumimoji="false" sz="1400" b="false" i="true" u="none" strike="noStrike" cap="none" normalizeH="false" baseline="0" lang="es-419">
                <a:ln>
                  <a:noFill/>
                </a:ln>
                <a:solidFill>
                  <a:srgbClr val="000000"/>
                </a:solidFill>
                <a:effectLst/>
                <a:latin typeface="Courier New" panose="02070309020205020404" pitchFamily="49" charset="0"/>
                <a:cs typeface="Courier New" panose="02070309020205020404" pitchFamily="49" charset="0"/>
              </a:rPr>
              <a:t>type module/first-number – last-number</a:t>
            </a:r>
            <a:r>
              <a:rPr kumimoji="false" sz="1400" b="false" i="false" u="none" strike="noStrike" cap="none" normalizeH="false" baseline="0" lang="es-419">
                <a:ln>
                  <a:noFill/>
                </a:ln>
                <a:solidFill>
                  <a:srgbClr val="000000"/>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la seguridad de puertos (Port Security)</a:t>
            </a:r>
            <a:br>
              <a:rPr lang="en-US" dirty="0"/>
            </a:br>
            <a:r>
              <a:rPr sz="2400" lang="es-419"/>
              <a:t>Mitigar los ataques de la tabla de direcciones MAC</a:t>
            </a:r>
          </a:p>
        </p:txBody>
      </p:sp>
      <p:sp>
        <p:nvSpPr>
          <p:cNvPr id="5" name="Content Placeholder 4">
            <a:extLst>
              <a:ext uri="{FF2B5EF4-FFF2-40B4-BE49-F238E27FC236}">
                <a16:creationId xmlns:a16="http://schemas.microsoft.com/office/drawing/2014/main" id="{2D2D89E2-D658-4941-8C21-72A164C1B29F}"/>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El método más simple y eficaz para evitar ataques por saturación de la tabla de direcciones MAC es habilitar el port security.</a:t>
            </a:r>
          </a:p>
          <a:p>
            <a:pPr marL="342900" indent="-342900" algn="l" rtl="0">
              <a:buFont typeface="Arial" panose="020B0604020202020204" pitchFamily="34" charset="0"/>
              <a:buChar char="•"/>
            </a:pPr>
            <a:r>
              <a:rPr sz="1600" lang="es-419">
                <a:solidFill>
                  <a:srgbClr val="000000"/>
                </a:solidFill>
              </a:rPr>
              <a:t>La seguridad de puertos limita la cantidad de direcciones MAC válidas permitidas en el puerto. Permite a un administrador configurar manualmente las direcciones MAC para un puerto o permitir que el switch aprenda dinámicamente un número limitado de direcciones MAC. Cuando un puerto configurado con port security recibe un trama, la dirección MAC de origen del trama se compara con la lista de direcciones MAC de origen seguro que se configuraron manualmente o se aprendieron dinámicamente en el puerto.</a:t>
            </a:r>
          </a:p>
          <a:p>
            <a:pPr marL="342900" indent="-342900" algn="l" rtl="0">
              <a:buFont typeface="Arial" panose="020B0604020202020204" pitchFamily="34" charset="0"/>
              <a:buChar char="•"/>
            </a:pPr>
            <a:r>
              <a:rPr sz="1600" lang="es-419">
                <a:solidFill>
                  <a:srgbClr val="000000"/>
                </a:solidFill>
              </a:rPr>
              <a:t>Al limitar a uno el número de direcciones MAC permitidas en un puerto, port security se puede utilizar para controlar el acceso no autorizado a la red.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03822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Activar Port Security</a:t>
            </a:r>
          </a:p>
        </p:txBody>
      </p:sp>
      <p:sp>
        <p:nvSpPr>
          <p:cNvPr id="4" name="Content Placeholder 3">
            <a:extLst>
              <a:ext uri="{FF2B5EF4-FFF2-40B4-BE49-F238E27FC236}">
                <a16:creationId xmlns:a16="http://schemas.microsoft.com/office/drawing/2014/main" id="{3FCCF7BA-AB28-44CC-AB79-6CF565E3746D}"/>
              </a:ext>
            </a:extLst>
          </p:cNvPr>
          <p:cNvSpPr>
            <a:spLocks noGrp="1"/>
          </p:cNvSpPr>
          <p:nvPr>
            <p:ph idx="1"/>
          </p:nvPr>
        </p:nvSpPr>
        <p:spPr>
          <a:xfrm>
            <a:off x="142240" y="731838"/>
            <a:ext cx="8612479" cy="2742882"/>
          </a:xfrm>
        </p:spPr>
        <p:txBody>
          <a:bodyPr/>
          <a:lstStyle/>
          <a:p>
            <a:pPr marL="0" indent="0" algn="l" rtl="0"/>
            <a:r>
              <a:rPr sz="1600" lang="es-419">
                <a:solidFill>
                  <a:srgbClr val="000000"/>
                </a:solidFill>
              </a:rPr>
              <a:t>Port security se habilita con el comando </a:t>
            </a:r>
            <a:r>
              <a:rPr sz="1600" b="true" lang="es-419">
                <a:solidFill>
                  <a:srgbClr val="000000"/>
                </a:solidFill>
              </a:rPr>
              <a:t>switchport port-security </a:t>
            </a:r>
            <a:r>
              <a:rPr sz="1600" lang="es-419">
                <a:solidFill>
                  <a:srgbClr val="000000"/>
                </a:solidFill>
              </a:rPr>
              <a:t>de la interfaz de puerto</a:t>
            </a:r>
          </a:p>
          <a:p>
            <a:pPr marL="0" indent="0" algn="l"/>
            <a:endParaRPr lang="en-US" sz="1600" dirty="0">
              <a:solidFill>
                <a:srgbClr val="000000"/>
              </a:solidFill>
            </a:endParaRPr>
          </a:p>
          <a:p>
            <a:pPr marL="0" indent="0" algn="l" rtl="0"/>
            <a:r>
              <a:rPr sz="1600" lang="es-419">
                <a:solidFill>
                  <a:srgbClr val="000000"/>
                </a:solidFill>
              </a:rPr>
              <a:t>Observe que en el ejemplo, el comando </a:t>
            </a:r>
            <a:r>
              <a:rPr sz="1600" b="true" lang="es-419">
                <a:solidFill>
                  <a:srgbClr val="000000"/>
                </a:solidFill>
              </a:rPr>
              <a:t>switchport port-security</a:t>
            </a:r>
            <a:r>
              <a:rPr sz="1600" lang="es-419">
                <a:solidFill>
                  <a:srgbClr val="000000"/>
                </a:solidFill>
              </a:rPr>
              <a:t> fue rechazado. Esto se debe a que port security solo se puede configurar en puertos de acceso o trunks configurados manualmente Los puertos capa 2 del switch están definidos como dynamic auto (troncal encendido), de manera predeterminada. Por lo tanto, en el ejemplo, el puerto se configura con el comando </a:t>
            </a:r>
            <a:r>
              <a:rPr sz="1600" b="true" lang="es-419">
                <a:solidFill>
                  <a:srgbClr val="000000"/>
                </a:solidFill>
              </a:rPr>
              <a:t>switchport mode access</a:t>
            </a:r>
            <a:r>
              <a:rPr sz="1600" lang="es-419">
                <a:solidFill>
                  <a:srgbClr val="000000"/>
                </a:solidFill>
              </a:rPr>
              <a:t> de la interfaz</a:t>
            </a:r>
          </a:p>
          <a:p>
            <a:pPr marL="0" indent="0" algn="l"/>
            <a:endParaRPr lang="en-US" sz="1600" b="1" dirty="0">
              <a:solidFill>
                <a:srgbClr val="000000"/>
              </a:solidFill>
            </a:endParaRPr>
          </a:p>
          <a:p>
            <a:pPr marL="0" indent="0" algn="l" rtl="0"/>
            <a:r>
              <a:rPr sz="1600" b="true" lang="es-419">
                <a:solidFill>
                  <a:srgbClr val="000000"/>
                </a:solidFill>
              </a:rPr>
              <a:t>Nota</a:t>
            </a:r>
            <a:r>
              <a:rPr sz="1600" lang="es-419">
                <a:solidFill>
                  <a:srgbClr val="000000"/>
                </a:solidFill>
              </a:rPr>
              <a:t>: La configuración de port security troncal va mas allá del alcance de este curso.</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00B1C3E7-3B22-40C8-88E3-6C624E7025E2}"/>
              </a:ext>
            </a:extLst>
          </p:cNvPr>
          <p:cNvPicPr>
            <a:picLocks noChangeAspect="1"/>
          </p:cNvPicPr>
          <p:nvPr/>
        </p:nvPicPr>
        <p:blipFill>
          <a:blip r:embed="rId3"/>
          <a:stretch>
            <a:fillRect/>
          </a:stretch>
        </p:blipFill>
        <p:spPr>
          <a:xfrm>
            <a:off x="2384001" y="3474720"/>
            <a:ext cx="3313355" cy="1288129"/>
          </a:xfrm>
          <a:prstGeom prst="rect">
            <a:avLst/>
          </a:prstGeom>
        </p:spPr>
      </p:pic>
    </p:spTree>
    <p:extLst>
      <p:ext uri="{BB962C8B-B14F-4D97-AF65-F5344CB8AC3E}">
        <p14:creationId xmlns:p14="http://schemas.microsoft.com/office/powerpoint/2010/main" val="78372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 </a:t>
            </a:r>
            <a:br>
              <a:rPr lang="en-US" dirty="0"/>
            </a:br>
            <a:r>
              <a:rPr sz="2400" lang="es-419"/>
              <a:t>Activar Port Security (Cont.) </a:t>
            </a:r>
          </a:p>
        </p:txBody>
      </p:sp>
      <p:sp>
        <p:nvSpPr>
          <p:cNvPr id="4" name="Content Placeholder 3">
            <a:extLst>
              <a:ext uri="{FF2B5EF4-FFF2-40B4-BE49-F238E27FC236}">
                <a16:creationId xmlns:a16="http://schemas.microsoft.com/office/drawing/2014/main" id="{3FCCF7BA-AB28-44CC-AB79-6CF565E3746D}"/>
              </a:ext>
            </a:extLst>
          </p:cNvPr>
          <p:cNvSpPr>
            <a:spLocks noGrp="1"/>
          </p:cNvSpPr>
          <p:nvPr>
            <p:ph idx="1"/>
          </p:nvPr>
        </p:nvSpPr>
        <p:spPr>
          <a:xfrm>
            <a:off x="180975" y="731837"/>
            <a:ext cx="4982152" cy="3689897"/>
          </a:xfrm>
        </p:spPr>
        <p:txBody>
          <a:bodyPr/>
          <a:lstStyle/>
          <a:p>
            <a:pPr marL="0" indent="0" algn="l" rtl="0"/>
            <a:r>
              <a:rPr sz="1600" lang="es-419">
                <a:solidFill>
                  <a:srgbClr val="000000"/>
                </a:solidFill>
              </a:rPr>
              <a:t>Use el </a:t>
            </a:r>
            <a:r>
              <a:rPr sz="1600" b="true" lang="es-419">
                <a:solidFill>
                  <a:srgbClr val="000000"/>
                </a:solidFill>
              </a:rPr>
              <a:t>comando show port-security interface</a:t>
            </a:r>
            <a:r>
              <a:rPr sz="1600" lang="es-419">
                <a:solidFill>
                  <a:srgbClr val="000000"/>
                </a:solidFill>
              </a:rPr>
              <a:t> para mostrar la configuración de seguridad del puerto actual para FastEthernet 0/1. </a:t>
            </a:r>
          </a:p>
          <a:p>
            <a:pPr marL="285750" indent="-285750" algn="l" rtl="0">
              <a:buFont typeface="Arial" panose="020B0604020202020204" pitchFamily="34" charset="0"/>
              <a:buChar char="•"/>
            </a:pPr>
            <a:r>
              <a:rPr sz="1600" lang="es-419">
                <a:solidFill>
                  <a:srgbClr val="000000"/>
                </a:solidFill>
              </a:rPr>
              <a:t>Note que port security está habilitado, el modo de violación esta apagado, y que el número máximo de direcciones MAC permitidas es 1. </a:t>
            </a:r>
          </a:p>
          <a:p>
            <a:pPr marL="285750" indent="-285750" algn="l" rtl="0">
              <a:buFont typeface="Arial" panose="020B0604020202020204" pitchFamily="34" charset="0"/>
              <a:buChar char="•"/>
            </a:pPr>
            <a:r>
              <a:rPr sz="1600" lang="es-419">
                <a:solidFill>
                  <a:srgbClr val="000000"/>
                </a:solidFill>
              </a:rPr>
              <a:t>Si un dispositivo está conectado al puerto, el switch automáticamente agregará la dirección MAC de este dispositivo como una dirección MAC segura. En este ejemplo, no existe ningún dispositivo conectado al puerto.</a:t>
            </a:r>
          </a:p>
          <a:p>
            <a:pPr marL="0" indent="0" algn="l"/>
            <a:endParaRPr lang="en-US" sz="1400" b="1" dirty="0">
              <a:solidFill>
                <a:srgbClr val="000000"/>
              </a:solidFill>
            </a:endParaRPr>
          </a:p>
          <a:p>
            <a:pPr marL="0" indent="0" algn="l" rtl="0"/>
            <a:r>
              <a:rPr sz="1400" b="true" lang="es-419">
                <a:solidFill>
                  <a:srgbClr val="000000"/>
                </a:solidFill>
              </a:rPr>
              <a:t>Nota</a:t>
            </a:r>
            <a:r>
              <a:rPr sz="1400" lang="es-419">
                <a:solidFill>
                  <a:srgbClr val="000000"/>
                </a:solidFill>
              </a:rPr>
              <a:t>: Si un puerto activo está configurado con el comando </a:t>
            </a:r>
            <a:r>
              <a:rPr sz="1400" b="true" lang="es-419">
                <a:solidFill>
                  <a:srgbClr val="000000"/>
                </a:solidFill>
              </a:rPr>
              <a:t>switchport port-security</a:t>
            </a:r>
            <a:r>
              <a:rPr sz="1400" lang="es-419">
                <a:solidFill>
                  <a:srgbClr val="000000"/>
                </a:solidFill>
              </a:rPr>
              <a:t> y hay más de un dispositivo conectado a ese puerto, el puerto pasará al estado de error desactivado.</a:t>
            </a:r>
            <a:r>
              <a:rPr sz="1400" b="true" lang="es-419">
                <a:solidFill>
                  <a:srgbClr val="000000"/>
                </a:solidFill>
              </a:rPr>
              <a:t> </a:t>
            </a:r>
          </a:p>
        </p:txBody>
      </p:sp>
      <p:pic>
        <p:nvPicPr>
          <p:cNvPr id="2" name="Picture 1">
            <a:extLst>
              <a:ext uri="{FF2B5EF4-FFF2-40B4-BE49-F238E27FC236}">
                <a16:creationId xmlns:a16="http://schemas.microsoft.com/office/drawing/2014/main" id="{D5159F29-431D-427E-A7E6-E14D2C9F6863}"/>
              </a:ext>
            </a:extLst>
          </p:cNvPr>
          <p:cNvPicPr>
            <a:picLocks noChangeAspect="1"/>
          </p:cNvPicPr>
          <p:nvPr/>
        </p:nvPicPr>
        <p:blipFill>
          <a:blip r:embed="rId3"/>
          <a:stretch>
            <a:fillRect/>
          </a:stretch>
        </p:blipFill>
        <p:spPr>
          <a:xfrm>
            <a:off x="5342304" y="1023073"/>
            <a:ext cx="3153492" cy="2568634"/>
          </a:xfrm>
          <a:prstGeom prst="rect">
            <a:avLst/>
          </a:prstGeom>
        </p:spPr>
      </p:pic>
    </p:spTree>
    <p:extLst>
      <p:ext uri="{BB962C8B-B14F-4D97-AF65-F5344CB8AC3E}">
        <p14:creationId xmlns:p14="http://schemas.microsoft.com/office/powerpoint/2010/main" val="1435243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Implemente Seguridad de puertos (Port Security) </a:t>
            </a:r>
            <a:br>
              <a:rPr lang="en-US" dirty="0"/>
            </a:br>
            <a:r>
              <a:rPr sz="2400" lang="es-419"/>
              <a:t>Activar Port Security (Cont.) </a:t>
            </a:r>
          </a:p>
        </p:txBody>
      </p:sp>
      <p:sp>
        <p:nvSpPr>
          <p:cNvPr id="6" name="Content Placeholder 5">
            <a:extLst>
              <a:ext uri="{FF2B5EF4-FFF2-40B4-BE49-F238E27FC236}">
                <a16:creationId xmlns:a16="http://schemas.microsoft.com/office/drawing/2014/main" id="{86403019-C51B-4716-9FDA-CCFD91083DF6}"/>
              </a:ext>
            </a:extLst>
          </p:cNvPr>
          <p:cNvSpPr>
            <a:spLocks noGrp="1"/>
          </p:cNvSpPr>
          <p:nvPr>
            <p:ph idx="1"/>
          </p:nvPr>
        </p:nvSpPr>
        <p:spPr>
          <a:xfrm>
            <a:off x="474662" y="731837"/>
            <a:ext cx="8280057" cy="626341"/>
          </a:xfrm>
        </p:spPr>
        <p:txBody>
          <a:bodyPr/>
          <a:lstStyle/>
          <a:p>
            <a:pPr marL="0" indent="0" algn="l" rtl="0"/>
            <a:r>
              <a:rPr sz="1600" lang="es-419">
                <a:solidFill>
                  <a:srgbClr val="000000"/>
                </a:solidFill>
              </a:rPr>
              <a:t>Una vez que se activa port security, se pueden configurar otras funciones específicas de port security, como se muestra en el ejemplo.</a:t>
            </a:r>
          </a:p>
        </p:txBody>
      </p:sp>
      <p:pic>
        <p:nvPicPr>
          <p:cNvPr id="7" name="Picture 6">
            <a:extLst>
              <a:ext uri="{FF2B5EF4-FFF2-40B4-BE49-F238E27FC236}">
                <a16:creationId xmlns:a16="http://schemas.microsoft.com/office/drawing/2014/main" id="{C6887EAF-9C49-4900-9453-790AC819A57D}"/>
              </a:ext>
            </a:extLst>
          </p:cNvPr>
          <p:cNvPicPr>
            <a:picLocks noChangeAspect="1"/>
          </p:cNvPicPr>
          <p:nvPr/>
        </p:nvPicPr>
        <p:blipFill>
          <a:blip r:embed="rId3"/>
          <a:stretch>
            <a:fillRect/>
          </a:stretch>
        </p:blipFill>
        <p:spPr>
          <a:xfrm>
            <a:off x="2543896" y="1358178"/>
            <a:ext cx="3705225" cy="1762125"/>
          </a:xfrm>
          <a:prstGeom prst="rect">
            <a:avLst/>
          </a:prstGeom>
        </p:spPr>
      </p:pic>
    </p:spTree>
    <p:extLst>
      <p:ext uri="{BB962C8B-B14F-4D97-AF65-F5344CB8AC3E}">
        <p14:creationId xmlns:p14="http://schemas.microsoft.com/office/powerpoint/2010/main" val="127127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Limitar y aprender direcciones MAC</a:t>
            </a:r>
          </a:p>
        </p:txBody>
      </p:sp>
      <p:sp>
        <p:nvSpPr>
          <p:cNvPr id="4" name="Content Placeholder 3">
            <a:extLst>
              <a:ext uri="{FF2B5EF4-FFF2-40B4-BE49-F238E27FC236}">
                <a16:creationId xmlns:a16="http://schemas.microsoft.com/office/drawing/2014/main" id="{C0F48E29-EACB-4C02-A343-0E5B33F0F37C}"/>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Para poner el número máximo de direcciones MAC permitidas en un puerto, utilice el siguiente comando</a:t>
            </a:r>
          </a:p>
          <a:p>
            <a:pPr marL="0" indent="0" algn="l"/>
            <a:endParaRPr lang="en-US" sz="16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rtl="0">
              <a:buFont typeface="Arial" panose="020B0604020202020204" pitchFamily="34" charset="0"/>
              <a:buChar char="•"/>
            </a:pPr>
            <a:r>
              <a:rPr sz="1600" lang="es-419">
                <a:solidFill>
                  <a:srgbClr val="000000"/>
                </a:solidFill>
              </a:rPr>
              <a:t>El valor predeterminado de port security es 1. </a:t>
            </a:r>
          </a:p>
          <a:p>
            <a:pPr marL="285750" indent="-285750" algn="l" rtl="0">
              <a:buFont typeface="Arial" panose="020B0604020202020204" pitchFamily="34" charset="0"/>
              <a:buChar char="•"/>
            </a:pPr>
            <a:r>
              <a:rPr sz="1600" lang="es-419">
                <a:solidFill>
                  <a:srgbClr val="000000"/>
                </a:solidFill>
              </a:rPr>
              <a:t>El número máximo de direcciones MAC seguras que se puede configurar depende del switch y el IOS. </a:t>
            </a:r>
          </a:p>
          <a:p>
            <a:pPr marL="285750" indent="-285750" algn="l" rtl="0">
              <a:buFont typeface="Arial" panose="020B0604020202020204" pitchFamily="34" charset="0"/>
              <a:buChar char="•"/>
            </a:pPr>
            <a:r>
              <a:rPr sz="1600" lang="es-419">
                <a:solidFill>
                  <a:srgbClr val="000000"/>
                </a:solidFill>
              </a:rPr>
              <a:t>En este ejemplo, el máximo es 8192.</a:t>
            </a:r>
          </a:p>
        </p:txBody>
      </p:sp>
      <p:sp>
        <p:nvSpPr>
          <p:cNvPr id="8" name="Rectangle 2">
            <a:extLst>
              <a:ext uri="{FF2B5EF4-FFF2-40B4-BE49-F238E27FC236}">
                <a16:creationId xmlns:a16="http://schemas.microsoft.com/office/drawing/2014/main" id="{FC15DED5-1222-4C49-BA59-8695EE2DFA06}"/>
              </a:ext>
            </a:extLst>
          </p:cNvPr>
          <p:cNvSpPr>
            <a:spLocks noChangeArrowheads="1"/>
          </p:cNvSpPr>
          <p:nvPr/>
        </p:nvSpPr>
        <p:spPr bwMode="auto">
          <a:xfrm>
            <a:off x="1326095" y="1463674"/>
            <a:ext cx="6491810"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false" sz="14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Switch(config-if)#</a:t>
            </a:r>
            <a:r>
              <a:rPr kumimoji="false" sz="1400" b="tru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 switchport port-security maximum </a:t>
            </a:r>
            <a:r>
              <a:rPr kumimoji="false" sz="1400" b="false" i="tru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valor</a:t>
            </a:r>
            <a:r>
              <a:rPr kumimoji="false" sz="1400" b="false" i="false" u="none" strike="noStrike" cap="none" normalizeH="false" baseline="0" lang="es-419">
                <a:ln>
                  <a:noFill/>
                </a:ln>
                <a:solidFill>
                  <a:schemeClr val="tx1"/>
                </a:solidFill>
                <a:effectLst/>
                <a:latin typeface="Courier New" panose="02070309020205020404" pitchFamily="49" charset="0"/>
                <a:cs typeface="Courier New" panose="02070309020205020404" pitchFamily="49" charset="0"/>
              </a:rPr>
              <a:t> </a:t>
            </a:r>
          </a:p>
        </p:txBody>
      </p:sp>
      <p:pic>
        <p:nvPicPr>
          <p:cNvPr id="9" name="Picture 8">
            <a:extLst>
              <a:ext uri="{FF2B5EF4-FFF2-40B4-BE49-F238E27FC236}">
                <a16:creationId xmlns:a16="http://schemas.microsoft.com/office/drawing/2014/main" id="{71B0FE21-7131-4D64-BC9A-5DF66DE135B4}"/>
              </a:ext>
            </a:extLst>
          </p:cNvPr>
          <p:cNvPicPr>
            <a:picLocks noChangeAspect="1"/>
          </p:cNvPicPr>
          <p:nvPr/>
        </p:nvPicPr>
        <p:blipFill>
          <a:blip r:embed="rId3"/>
          <a:stretch>
            <a:fillRect/>
          </a:stretch>
        </p:blipFill>
        <p:spPr>
          <a:xfrm>
            <a:off x="4614690" y="2706230"/>
            <a:ext cx="3958178" cy="1166810"/>
          </a:xfrm>
          <a:prstGeom prst="rect">
            <a:avLst/>
          </a:prstGeom>
        </p:spPr>
      </p:pic>
    </p:spTree>
    <p:extLst>
      <p:ext uri="{BB962C8B-B14F-4D97-AF65-F5344CB8AC3E}">
        <p14:creationId xmlns:p14="http://schemas.microsoft.com/office/powerpoint/2010/main" val="325508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Limitar y Aprender MAC Addresses (Cont.)</a:t>
            </a:r>
          </a:p>
        </p:txBody>
      </p:sp>
      <p:sp>
        <p:nvSpPr>
          <p:cNvPr id="4" name="Content Placeholder 3">
            <a:extLst>
              <a:ext uri="{FF2B5EF4-FFF2-40B4-BE49-F238E27FC236}">
                <a16:creationId xmlns:a16="http://schemas.microsoft.com/office/drawing/2014/main" id="{C0F48E29-EACB-4C02-A343-0E5B33F0F37C}"/>
              </a:ext>
            </a:extLst>
          </p:cNvPr>
          <p:cNvSpPr>
            <a:spLocks noGrp="1"/>
          </p:cNvSpPr>
          <p:nvPr>
            <p:ph idx="1"/>
          </p:nvPr>
        </p:nvSpPr>
        <p:spPr>
          <a:xfrm>
            <a:off x="474662" y="731837"/>
            <a:ext cx="8280057" cy="1477963"/>
          </a:xfrm>
        </p:spPr>
        <p:txBody>
          <a:bodyPr/>
          <a:lstStyle/>
          <a:p>
            <a:pPr marL="0" indent="0" algn="l" rtl="0"/>
            <a:r>
              <a:rPr sz="1600" lang="es-419">
                <a:solidFill>
                  <a:srgbClr val="000000"/>
                </a:solidFill>
              </a:rPr>
              <a:t>El switch se puede configurar para aprender direcciones MAC en un puerto seguro de tres maneras:</a:t>
            </a:r>
          </a:p>
          <a:p>
            <a:pPr marL="0" indent="0" algn="l" rtl="0"/>
            <a:r>
              <a:rPr sz="1600" b="true" lang="es-419">
                <a:solidFill>
                  <a:srgbClr val="000000"/>
                </a:solidFill>
              </a:rPr>
              <a:t>1. Configuración manual:</a:t>
            </a:r>
            <a:r>
              <a:rPr sz="1600" lang="es-419">
                <a:solidFill>
                  <a:srgbClr val="000000"/>
                </a:solidFill>
              </a:rPr>
              <a:t>el administrador configura manualmente una dirección MAC estática mediante el siguiente comando para cada dirección MAC segura en el puerto:</a:t>
            </a:r>
          </a:p>
          <a:p>
            <a:pPr marL="342900" indent="-342900" algn="l">
              <a:buFont typeface="+mj-lt"/>
              <a:buAutoNum type="arabicPeriod"/>
            </a:pPr>
            <a:endParaRPr lang="en-US" sz="1400" dirty="0">
              <a:solidFill>
                <a:srgbClr val="000000"/>
              </a:solidFill>
            </a:endParaRPr>
          </a:p>
          <a:p>
            <a:pPr marL="342900" indent="-342900" algn="l">
              <a:buFont typeface="+mj-lt"/>
              <a:buAutoNum type="arabicPeriod"/>
            </a:pPr>
            <a:endParaRPr lang="en-US" sz="1400" dirty="0">
              <a:solidFill>
                <a:srgbClr val="000000"/>
              </a:solidFill>
            </a:endParaRPr>
          </a:p>
          <a:p>
            <a:pPr marL="0" indent="0" algn="l"/>
            <a:endParaRPr lang="en-US" sz="1400" dirty="0">
              <a:solidFill>
                <a:srgbClr val="000000"/>
              </a:solidFill>
            </a:endParaRPr>
          </a:p>
          <a:p>
            <a:pPr marL="0" indent="0" algn="l"/>
            <a:endParaRPr lang="en-US" sz="1400" dirty="0">
              <a:solidFill>
                <a:srgbClr val="000000"/>
              </a:solidFill>
            </a:endParaRPr>
          </a:p>
          <a:p>
            <a:pPr marL="0" indent="0" algn="l" rtl="0"/>
            <a:r>
              <a:rPr sz="1400" lang="es-419">
                <a:solidFill>
                  <a:srgbClr val="000000"/>
                </a:solidFill>
              </a:rPr>
              <a:t>       </a:t>
            </a:r>
          </a:p>
        </p:txBody>
      </p:sp>
      <p:sp>
        <p:nvSpPr>
          <p:cNvPr id="5" name="Rectangle 2">
            <a:extLst>
              <a:ext uri="{FF2B5EF4-FFF2-40B4-BE49-F238E27FC236}">
                <a16:creationId xmlns:a16="http://schemas.microsoft.com/office/drawing/2014/main" id="{EE6B0FD2-F3AB-4AA6-93AE-5885E708BAD1}"/>
              </a:ext>
            </a:extLst>
          </p:cNvPr>
          <p:cNvSpPr>
            <a:spLocks noChangeArrowheads="1"/>
          </p:cNvSpPr>
          <p:nvPr/>
        </p:nvSpPr>
        <p:spPr bwMode="auto">
          <a:xfrm>
            <a:off x="858982" y="1894260"/>
            <a:ext cx="7303281"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false" sz="14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Switch(config-if)# </a:t>
            </a:r>
            <a:r>
              <a:rPr kumimoji="false" sz="1400" b="tru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switchport port-security mac-address</a:t>
            </a:r>
            <a:r>
              <a:rPr kumimoji="false" sz="14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 </a:t>
            </a:r>
            <a:r>
              <a:rPr kumimoji="false" sz="1400" b="false" i="tru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dirección MAC</a:t>
            </a:r>
            <a:r>
              <a:rPr kumimoji="false" sz="1400" b="false" i="false" u="none" strike="noStrike" cap="none" normalizeH="false" baseline="0" lang="es-419">
                <a:ln>
                  <a:noFill/>
                </a:ln>
                <a:solidFill>
                  <a:schemeClr val="tx1"/>
                </a:solidFill>
                <a:effectLst/>
                <a:latin typeface="Courier New" panose="02070309020205020404" pitchFamily="49" charset="0"/>
                <a:cs typeface="Courier New" panose="02070309020205020404" pitchFamily="49" charset="0"/>
              </a:rPr>
              <a:t> </a:t>
            </a:r>
          </a:p>
        </p:txBody>
      </p:sp>
      <p:sp>
        <p:nvSpPr>
          <p:cNvPr id="2" name="TextBox 1">
            <a:extLst>
              <a:ext uri="{FF2B5EF4-FFF2-40B4-BE49-F238E27FC236}">
                <a16:creationId xmlns:a16="http://schemas.microsoft.com/office/drawing/2014/main" id="{7EDCC5F7-8CBD-4D14-B587-FEE45C93A1B5}"/>
              </a:ext>
            </a:extLst>
          </p:cNvPr>
          <p:cNvSpPr txBox="1"/>
          <p:nvPr/>
        </p:nvSpPr>
        <p:spPr>
          <a:xfrm>
            <a:off x="523703" y="2072561"/>
            <a:ext cx="8010698" cy="2339102"/>
          </a:xfrm>
          <a:prstGeom prst="rect">
            <a:avLst/>
          </a:prstGeom>
          <a:noFill/>
        </p:spPr>
        <p:txBody>
          <a:bodyPr wrap="square" rtlCol="0">
            <a:spAutoFit/>
          </a:bodyPr>
          <a:lstStyle/>
          <a:p>
            <a:pPr rtl="0"/>
            <a:r>
              <a:rPr sz="1600" b="true" lang="es-419">
                <a:solidFill>
                  <a:srgbClr val="000000"/>
                </a:solidFill>
              </a:rPr>
              <a:t>2. Aprendizaje dinámico: </a:t>
            </a:r>
            <a:r>
              <a:rPr sz="1600" lang="es-419">
                <a:solidFill>
                  <a:srgbClr val="000000"/>
                </a:solidFill>
              </a:rPr>
              <a:t>cuando se ingresa el comando </a:t>
            </a:r>
            <a:r>
              <a:rPr sz="1600" b="true" lang="es-419">
                <a:solidFill>
                  <a:srgbClr val="000000"/>
                </a:solidFill>
              </a:rPr>
              <a:t>switchport port-security</a:t>
            </a:r>
            <a:r>
              <a:rPr sz="1600" lang="es-419">
                <a:solidFill>
                  <a:srgbClr val="000000"/>
                </a:solidFill>
              </a:rPr>
              <a:t> la fuente MAC actual para el dispositivo conectado al puerto se asegura automáticamente pero no se agrega a la configuración en ejecución. Si el switch es reiniciado, el puerto tendrá que re-aprender la direccion MAC del dispositivo.</a:t>
            </a:r>
          </a:p>
          <a:p>
            <a:pPr marL="342900" indent="-342900">
              <a:buFont typeface="+mj-lt"/>
              <a:buAutoNum type="arabicPeriod"/>
            </a:pPr>
            <a:endParaRPr lang="en-US" sz="1600" dirty="0">
              <a:solidFill>
                <a:srgbClr val="000000"/>
              </a:solidFill>
            </a:endParaRPr>
          </a:p>
          <a:p>
            <a:pPr rtl="0"/>
            <a:r>
              <a:rPr sz="1600" b="true" lang="es-419">
                <a:solidFill>
                  <a:srgbClr val="000000"/>
                </a:solidFill>
              </a:rPr>
              <a:t>3. Aprendizaje dinámico: – Sticky: </a:t>
            </a:r>
            <a:r>
              <a:rPr sz="1600" lang="es-419">
                <a:solidFill>
                  <a:srgbClr val="000000"/>
                </a:solidFill>
              </a:rPr>
              <a:t>el administrador puede configurar el switch para aprender dinámicamente la dirección MAC y "adherirla" a la configuración en ejecución mediante el siguiente comando:</a:t>
            </a:r>
          </a:p>
          <a:p>
            <a:endParaRPr lang="en-US" dirty="0"/>
          </a:p>
        </p:txBody>
      </p:sp>
      <p:sp>
        <p:nvSpPr>
          <p:cNvPr id="6" name="Rectangle 3">
            <a:extLst>
              <a:ext uri="{FF2B5EF4-FFF2-40B4-BE49-F238E27FC236}">
                <a16:creationId xmlns:a16="http://schemas.microsoft.com/office/drawing/2014/main" id="{DDE89190-47E4-4A23-8AE5-973E12F68E92}"/>
              </a:ext>
            </a:extLst>
          </p:cNvPr>
          <p:cNvSpPr>
            <a:spLocks noChangeArrowheads="1"/>
          </p:cNvSpPr>
          <p:nvPr/>
        </p:nvSpPr>
        <p:spPr bwMode="auto">
          <a:xfrm>
            <a:off x="1127484" y="4196219"/>
            <a:ext cx="6766276"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false" sz="14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Switch(config-if)# </a:t>
            </a:r>
            <a:r>
              <a:rPr kumimoji="false" sz="1400" b="tru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switchport port-security mac-address sticky</a:t>
            </a:r>
            <a:r>
              <a:rPr kumimoji="false" sz="1400" b="false" i="false" u="none" strike="noStrike" cap="none" normalizeH="false" baseline="0" lang="es-419">
                <a:ln>
                  <a:noFill/>
                </a:ln>
                <a:solidFill>
                  <a:schemeClr val="tx1"/>
                </a:solidFill>
                <a:effectLst/>
                <a:latin typeface="Courier New" panose="02070309020205020404" pitchFamily="49" charset="0"/>
                <a:cs typeface="Courier New" panose="02070309020205020404" pitchFamily="49" charset="0"/>
              </a:rPr>
              <a:t> </a:t>
            </a:r>
          </a:p>
        </p:txBody>
      </p:sp>
      <p:sp>
        <p:nvSpPr>
          <p:cNvPr id="7" name="TextBox 6">
            <a:extLst>
              <a:ext uri="{FF2B5EF4-FFF2-40B4-BE49-F238E27FC236}">
                <a16:creationId xmlns:a16="http://schemas.microsoft.com/office/drawing/2014/main" id="{CF7C2B72-C5BB-4FB2-8420-E07A3615E287}"/>
              </a:ext>
            </a:extLst>
          </p:cNvPr>
          <p:cNvSpPr txBox="1"/>
          <p:nvPr/>
        </p:nvSpPr>
        <p:spPr>
          <a:xfrm>
            <a:off x="723900" y="4411663"/>
            <a:ext cx="7896398" cy="584775"/>
          </a:xfrm>
          <a:prstGeom prst="rect">
            <a:avLst/>
          </a:prstGeom>
          <a:noFill/>
        </p:spPr>
        <p:txBody>
          <a:bodyPr wrap="square" rtlCol="0">
            <a:spAutoFit/>
          </a:bodyPr>
          <a:lstStyle/>
          <a:p>
            <a:pPr rtl="0"/>
            <a:r>
              <a:rPr sz="1400" lang="es-419">
                <a:solidFill>
                  <a:srgbClr val="000000"/>
                </a:solidFill>
              </a:rPr>
              <a:t>Al guardar la configuración en ejecución la dirección MAC aprendida automáticamente se quedara en NVRAM.</a:t>
            </a:r>
          </a:p>
          <a:p>
            <a:endParaRPr lang="en-US" dirty="0"/>
          </a:p>
        </p:txBody>
      </p:sp>
    </p:spTree>
    <p:extLst>
      <p:ext uri="{BB962C8B-B14F-4D97-AF65-F5344CB8AC3E}">
        <p14:creationId xmlns:p14="http://schemas.microsoft.com/office/powerpoint/2010/main" val="3387554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Limitar y Aprender direcciones MAC  (Cont.)</a:t>
            </a:r>
          </a:p>
        </p:txBody>
      </p:sp>
      <p:sp>
        <p:nvSpPr>
          <p:cNvPr id="4" name="Content Placeholder 3">
            <a:extLst>
              <a:ext uri="{FF2B5EF4-FFF2-40B4-BE49-F238E27FC236}">
                <a16:creationId xmlns:a16="http://schemas.microsoft.com/office/drawing/2014/main" id="{C0F48E29-EACB-4C02-A343-0E5B33F0F37C}"/>
              </a:ext>
            </a:extLst>
          </p:cNvPr>
          <p:cNvSpPr>
            <a:spLocks noGrp="1"/>
          </p:cNvSpPr>
          <p:nvPr>
            <p:ph idx="1"/>
          </p:nvPr>
        </p:nvSpPr>
        <p:spPr>
          <a:xfrm>
            <a:off x="200026" y="731837"/>
            <a:ext cx="3902828" cy="3848662"/>
          </a:xfrm>
        </p:spPr>
        <p:txBody>
          <a:bodyPr/>
          <a:lstStyle/>
          <a:p>
            <a:pPr marL="0" indent="0" algn="l" rtl="0"/>
            <a:r>
              <a:rPr sz="1600" lang="es-419">
                <a:solidFill>
                  <a:srgbClr val="000000"/>
                </a:solidFill>
              </a:rPr>
              <a:t>El ejemplo muestra una configuración de seguridad de puerto completa para FastEthernet 0/1. </a:t>
            </a:r>
          </a:p>
          <a:p>
            <a:pPr marL="285750" indent="-285750" algn="l" rtl="0">
              <a:buFont typeface="Arial" panose="020B0604020202020204" pitchFamily="34" charset="0"/>
              <a:buChar char="•"/>
            </a:pPr>
            <a:r>
              <a:rPr sz="1600" lang="es-419">
                <a:solidFill>
                  <a:srgbClr val="000000"/>
                </a:solidFill>
              </a:rPr>
              <a:t>El administrador especifica una cantidad máxima de 4 direcciones MAC, configura una direccion MAC segura, y luego configura el puerto para que aprenda mas direcciones MAC de manera automática hasta un máximo de 4 direcciones MAC. </a:t>
            </a:r>
          </a:p>
          <a:p>
            <a:pPr marL="285750" indent="-285750" algn="l" rtl="0">
              <a:buFont typeface="Arial" panose="020B0604020202020204" pitchFamily="34" charset="0"/>
              <a:buChar char="•"/>
            </a:pPr>
            <a:r>
              <a:rPr sz="1600" lang="es-419">
                <a:solidFill>
                  <a:srgbClr val="000000"/>
                </a:solidFill>
              </a:rPr>
              <a:t>Use los comandos </a:t>
            </a:r>
            <a:r>
              <a:rPr sz="1600" b="true" lang="es-419">
                <a:solidFill>
                  <a:srgbClr val="000000"/>
                </a:solidFill>
              </a:rPr>
              <a:t>show port-security interface</a:t>
            </a:r>
            <a:r>
              <a:rPr sz="1600" lang="es-419">
                <a:solidFill>
                  <a:srgbClr val="000000"/>
                </a:solidFill>
              </a:rPr>
              <a:t> y el </a:t>
            </a:r>
            <a:r>
              <a:rPr sz="1600" b="true" lang="es-419">
                <a:solidFill>
                  <a:srgbClr val="000000"/>
                </a:solidFill>
              </a:rPr>
              <a:t>show port-security address</a:t>
            </a:r>
            <a:r>
              <a:rPr sz="1600" lang="es-419">
                <a:solidFill>
                  <a:srgbClr val="000000"/>
                </a:solidFill>
              </a:rPr>
              <a:t> para verificar la configuración.</a:t>
            </a:r>
          </a:p>
        </p:txBody>
      </p:sp>
      <p:pic>
        <p:nvPicPr>
          <p:cNvPr id="2" name="Picture 1">
            <a:extLst>
              <a:ext uri="{FF2B5EF4-FFF2-40B4-BE49-F238E27FC236}">
                <a16:creationId xmlns:a16="http://schemas.microsoft.com/office/drawing/2014/main" id="{CEC3B8AF-B625-4EF6-B464-AFD5EBDD20BD}"/>
              </a:ext>
            </a:extLst>
          </p:cNvPr>
          <p:cNvPicPr>
            <a:picLocks noChangeAspect="1"/>
          </p:cNvPicPr>
          <p:nvPr/>
        </p:nvPicPr>
        <p:blipFill>
          <a:blip r:embed="rId3"/>
          <a:stretch>
            <a:fillRect/>
          </a:stretch>
        </p:blipFill>
        <p:spPr>
          <a:xfrm>
            <a:off x="4833130" y="573073"/>
            <a:ext cx="3628192" cy="4007426"/>
          </a:xfrm>
          <a:prstGeom prst="rect">
            <a:avLst/>
          </a:prstGeom>
        </p:spPr>
      </p:pic>
    </p:spTree>
    <p:extLst>
      <p:ext uri="{BB962C8B-B14F-4D97-AF65-F5344CB8AC3E}">
        <p14:creationId xmlns:p14="http://schemas.microsoft.com/office/powerpoint/2010/main" val="2118436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activar Port Security</a:t>
            </a:r>
          </a:p>
        </p:txBody>
      </p:sp>
      <p:sp>
        <p:nvSpPr>
          <p:cNvPr id="6" name="Content Placeholder 5">
            <a:extLst>
              <a:ext uri="{FF2B5EF4-FFF2-40B4-BE49-F238E27FC236}">
                <a16:creationId xmlns:a16="http://schemas.microsoft.com/office/drawing/2014/main" id="{70A53D06-4CE6-4730-8896-BAD7B9BF63B6}"/>
              </a:ext>
            </a:extLst>
          </p:cNvPr>
          <p:cNvSpPr>
            <a:spLocks noGrp="1"/>
          </p:cNvSpPr>
          <p:nvPr>
            <p:ph idx="1"/>
          </p:nvPr>
        </p:nvSpPr>
        <p:spPr>
          <a:xfrm>
            <a:off x="474662" y="731837"/>
            <a:ext cx="8280057" cy="2963863"/>
          </a:xfrm>
        </p:spPr>
        <p:txBody>
          <a:bodyPr/>
          <a:lstStyle/>
          <a:p>
            <a:pPr marL="0" indent="0" algn="l" rtl="0"/>
            <a:r>
              <a:rPr sz="1600" lang="es-419">
                <a:solidFill>
                  <a:srgbClr val="000000"/>
                </a:solidFill>
              </a:rPr>
              <a:t>El vencimiento del port security puede usarse para poner el tiempo de vencimiento de las direcciones seguras estáticas y dinámicas en un puerto.</a:t>
            </a:r>
          </a:p>
          <a:p>
            <a:pPr marL="358835" lvl="1" indent="-285750" rtl="0">
              <a:buFont typeface="Arial" panose="020B0604020202020204" pitchFamily="34" charset="0"/>
              <a:buChar char="•"/>
            </a:pPr>
            <a:r>
              <a:rPr b="true" lang="es-419">
                <a:solidFill>
                  <a:srgbClr val="000000"/>
                </a:solidFill>
              </a:rPr>
              <a:t>Absoluta</a:t>
            </a:r>
            <a:r>
              <a:rPr lang="es-419">
                <a:solidFill>
                  <a:srgbClr val="000000"/>
                </a:solidFill>
              </a:rPr>
              <a:t>- Las direcciones seguras en el puerto se eliminan después del tiempo de caducidad especificado.</a:t>
            </a:r>
          </a:p>
          <a:p>
            <a:pPr marL="358835" lvl="1" indent="-285750" rtl="0">
              <a:buFont typeface="Arial" panose="020B0604020202020204" pitchFamily="34" charset="0"/>
              <a:buChar char="•"/>
            </a:pPr>
            <a:r>
              <a:rPr b="true" lang="es-419">
                <a:solidFill>
                  <a:srgbClr val="000000"/>
                </a:solidFill>
              </a:rPr>
              <a:t>Inactiva</a:t>
            </a:r>
            <a:r>
              <a:rPr lang="es-419">
                <a:solidFill>
                  <a:srgbClr val="000000"/>
                </a:solidFill>
              </a:rPr>
              <a:t>- Las direcciones seguras en el puerto se eliminan si están inactivas durante un tiempo específico.</a:t>
            </a:r>
          </a:p>
          <a:p>
            <a:pPr marL="285750" indent="-285750" algn="l">
              <a:buFont typeface="Arial" panose="020B0604020202020204" pitchFamily="34" charset="0"/>
              <a:buChar char="•"/>
            </a:pPr>
            <a:endParaRPr lang="en-US" sz="1400" dirty="0">
              <a:solidFill>
                <a:srgbClr val="000000"/>
              </a:solidFill>
            </a:endParaRPr>
          </a:p>
          <a:p>
            <a:pPr marL="0" indent="0" algn="l" rtl="0"/>
            <a:r>
              <a:rPr sz="1600" lang="es-419">
                <a:solidFill>
                  <a:srgbClr val="000000"/>
                </a:solidFill>
              </a:rPr>
              <a:t>Utilice el vencimiento para remover las direcciones MAC seguras en un puerto seguro sin necesidad de eliminar manualmente las direcciones MAC existentes. </a:t>
            </a:r>
          </a:p>
          <a:p>
            <a:pPr marL="285750" indent="-285750" algn="l" rtl="0">
              <a:buFont typeface="Arial" panose="020B0604020202020204" pitchFamily="34" charset="0"/>
              <a:buChar char="•"/>
            </a:pPr>
            <a:r>
              <a:rPr sz="1400" lang="es-419">
                <a:solidFill>
                  <a:srgbClr val="000000"/>
                </a:solidFill>
              </a:rPr>
              <a:t>El vencimiento de direcciones seguras configuradas estáticamente puede ser habilitado o des-habilitado por puerto.</a:t>
            </a:r>
          </a:p>
          <a:p>
            <a:pPr marL="285750" indent="-285750" algn="l">
              <a:buFont typeface="Arial" panose="020B0604020202020204" pitchFamily="34" charset="0"/>
              <a:buChar char="•"/>
            </a:pPr>
            <a:endParaRPr lang="en-US" sz="1400" dirty="0">
              <a:solidFill>
                <a:srgbClr val="000000"/>
              </a:solidFill>
            </a:endParaRPr>
          </a:p>
          <a:p>
            <a:pPr marL="0" indent="0" algn="l" rtl="0"/>
            <a:r>
              <a:rPr sz="1600" lang="es-419">
                <a:solidFill>
                  <a:srgbClr val="000000"/>
                </a:solidFill>
              </a:rPr>
              <a:t>Use el comando</a:t>
            </a:r>
            <a:r>
              <a:rPr sz="1600" b="true" lang="es-419">
                <a:solidFill>
                  <a:srgbClr val="000000"/>
                </a:solidFill>
              </a:rPr>
              <a:t>switchport port-security aging</a:t>
            </a:r>
            <a:r>
              <a:rPr sz="1600" lang="es-419">
                <a:solidFill>
                  <a:srgbClr val="000000"/>
                </a:solidFill>
              </a:rPr>
              <a:t> para habilitar o deshabilitar el vencimiento estático para el puerto seguro, o para establecer el tiempo o el tipo de vencimiento.</a:t>
            </a:r>
          </a:p>
          <a:p>
            <a:pPr marL="285750" indent="-285750" algn="l">
              <a:buFont typeface="Arial" panose="020B0604020202020204" pitchFamily="34" charset="0"/>
              <a:buChar char="•"/>
            </a:pPr>
            <a:endParaRPr lang="en-US" sz="1400" dirty="0">
              <a:solidFill>
                <a:srgbClr val="000000"/>
              </a:solidFill>
            </a:endParaRPr>
          </a:p>
        </p:txBody>
      </p:sp>
      <p:sp>
        <p:nvSpPr>
          <p:cNvPr id="7" name="Rectangle 1">
            <a:extLst>
              <a:ext uri="{FF2B5EF4-FFF2-40B4-BE49-F238E27FC236}">
                <a16:creationId xmlns:a16="http://schemas.microsoft.com/office/drawing/2014/main" id="{C92F5141-7524-462C-A374-F5DFDF9C9839}"/>
              </a:ext>
            </a:extLst>
          </p:cNvPr>
          <p:cNvSpPr>
            <a:spLocks noChangeArrowheads="1"/>
          </p:cNvSpPr>
          <p:nvPr/>
        </p:nvSpPr>
        <p:spPr bwMode="auto">
          <a:xfrm>
            <a:off x="239293" y="3855133"/>
            <a:ext cx="8750793" cy="169277"/>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false" sz="11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Switch(config-if)# </a:t>
            </a:r>
            <a:r>
              <a:rPr kumimoji="false" sz="1100" b="tru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switchport port-security aging</a:t>
            </a:r>
            <a:r>
              <a:rPr kumimoji="false" sz="11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 {</a:t>
            </a:r>
            <a:r>
              <a:rPr kumimoji="false" sz="1100" b="tru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static</a:t>
            </a:r>
            <a:r>
              <a:rPr kumimoji="false" sz="11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 | </a:t>
            </a:r>
            <a:r>
              <a:rPr kumimoji="false" sz="1100" b="tru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time</a:t>
            </a:r>
            <a:r>
              <a:rPr kumimoji="false" sz="11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 </a:t>
            </a:r>
            <a:r>
              <a:rPr kumimoji="false" sz="1100" b="false" i="tru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time </a:t>
            </a:r>
            <a:r>
              <a:rPr kumimoji="false" sz="11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 </a:t>
            </a:r>
            <a:r>
              <a:rPr kumimoji="false" sz="1100" b="tru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type</a:t>
            </a:r>
            <a:r>
              <a:rPr kumimoji="false" sz="11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 {</a:t>
            </a:r>
            <a:r>
              <a:rPr kumimoji="false" sz="1100" b="tru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absolute</a:t>
            </a:r>
            <a:r>
              <a:rPr kumimoji="false" sz="11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 | </a:t>
            </a:r>
            <a:r>
              <a:rPr kumimoji="false" sz="1100" b="tru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inactivity</a:t>
            </a:r>
            <a:r>
              <a:rPr kumimoji="false" sz="11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226813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Vencimiento de Port Security (Cont.)</a:t>
            </a:r>
          </a:p>
        </p:txBody>
      </p:sp>
      <p:sp>
        <p:nvSpPr>
          <p:cNvPr id="4" name="Content Placeholder 3">
            <a:extLst>
              <a:ext uri="{FF2B5EF4-FFF2-40B4-BE49-F238E27FC236}">
                <a16:creationId xmlns:a16="http://schemas.microsoft.com/office/drawing/2014/main" id="{F4AFE619-ADE8-4781-8006-1168D3CA8A53}"/>
              </a:ext>
            </a:extLst>
          </p:cNvPr>
          <p:cNvSpPr>
            <a:spLocks noGrp="1"/>
          </p:cNvSpPr>
          <p:nvPr>
            <p:ph idx="1"/>
          </p:nvPr>
        </p:nvSpPr>
        <p:spPr>
          <a:xfrm>
            <a:off x="474662" y="731837"/>
            <a:ext cx="3044393" cy="3689897"/>
          </a:xfrm>
        </p:spPr>
        <p:txBody>
          <a:bodyPr/>
          <a:lstStyle/>
          <a:p>
            <a:pPr marL="0" indent="0" algn="l" rtl="0"/>
            <a:r>
              <a:rPr sz="1600" lang="es-419">
                <a:solidFill>
                  <a:srgbClr val="000000"/>
                </a:solidFill>
              </a:rPr>
              <a:t>El ejemplo muestra a un administrador configurando el tipo de vencimiento a 10 minutos de inactividad.</a:t>
            </a:r>
          </a:p>
          <a:p>
            <a:pPr marL="0" indent="0" algn="l"/>
            <a:endParaRPr lang="en-US" sz="1600" dirty="0">
              <a:solidFill>
                <a:srgbClr val="000000"/>
              </a:solidFill>
            </a:endParaRPr>
          </a:p>
          <a:p>
            <a:pPr marL="0" indent="0" algn="l" rtl="0"/>
            <a:r>
              <a:rPr sz="1600" lang="es-419">
                <a:solidFill>
                  <a:srgbClr val="000000"/>
                </a:solidFill>
              </a:rPr>
              <a:t>El comando </a:t>
            </a:r>
            <a:r>
              <a:rPr sz="1600" b="true" lang="es-419">
                <a:solidFill>
                  <a:srgbClr val="000000"/>
                </a:solidFill>
              </a:rPr>
              <a:t>show port-security </a:t>
            </a:r>
            <a:r>
              <a:rPr sz="1600" lang="es-419">
                <a:solidFill>
                  <a:srgbClr val="000000"/>
                </a:solidFill>
              </a:rPr>
              <a:t>confirma los cambios.</a:t>
            </a:r>
            <a:r>
              <a:rPr sz="1600" b="true" lang="es-419">
                <a:solidFill>
                  <a:srgbClr val="000000"/>
                </a:solidFill>
              </a:rPr>
              <a:t> </a:t>
            </a:r>
          </a:p>
        </p:txBody>
      </p:sp>
      <p:pic>
        <p:nvPicPr>
          <p:cNvPr id="5" name="Picture 4">
            <a:extLst>
              <a:ext uri="{FF2B5EF4-FFF2-40B4-BE49-F238E27FC236}">
                <a16:creationId xmlns:a16="http://schemas.microsoft.com/office/drawing/2014/main" id="{7109FAE2-0E5D-4B05-B999-5A0C0F5574C3}"/>
              </a:ext>
            </a:extLst>
          </p:cNvPr>
          <p:cNvPicPr>
            <a:picLocks noChangeAspect="1"/>
          </p:cNvPicPr>
          <p:nvPr/>
        </p:nvPicPr>
        <p:blipFill>
          <a:blip r:embed="rId3"/>
          <a:stretch>
            <a:fillRect/>
          </a:stretch>
        </p:blipFill>
        <p:spPr>
          <a:xfrm>
            <a:off x="3754438" y="764134"/>
            <a:ext cx="4914900" cy="3657600"/>
          </a:xfrm>
          <a:prstGeom prst="rect">
            <a:avLst/>
          </a:prstGeom>
        </p:spPr>
      </p:pic>
    </p:spTree>
    <p:extLst>
      <p:ext uri="{BB962C8B-B14F-4D97-AF65-F5344CB8AC3E}">
        <p14:creationId xmlns:p14="http://schemas.microsoft.com/office/powerpoint/2010/main" val="549545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 Modos de violación de Port Security</a:t>
            </a:r>
          </a:p>
        </p:txBody>
      </p:sp>
      <p:sp>
        <p:nvSpPr>
          <p:cNvPr id="6" name="Content Placeholder 5">
            <a:extLst>
              <a:ext uri="{FF2B5EF4-FFF2-40B4-BE49-F238E27FC236}">
                <a16:creationId xmlns:a16="http://schemas.microsoft.com/office/drawing/2014/main" id="{357C86E7-B5C8-4087-AB5E-299203C64742}"/>
              </a:ext>
            </a:extLst>
          </p:cNvPr>
          <p:cNvSpPr>
            <a:spLocks noGrp="1"/>
          </p:cNvSpPr>
          <p:nvPr>
            <p:ph idx="1"/>
          </p:nvPr>
        </p:nvSpPr>
        <p:spPr>
          <a:xfrm>
            <a:off x="474662" y="731837"/>
            <a:ext cx="8280057" cy="834691"/>
          </a:xfrm>
        </p:spPr>
        <p:txBody>
          <a:bodyPr/>
          <a:lstStyle/>
          <a:p>
            <a:pPr marL="0" indent="0" algn="l" rtl="0"/>
            <a:r>
              <a:rPr sz="1600" lang="es-419">
                <a:solidFill>
                  <a:srgbClr val="000000"/>
                </a:solidFill>
              </a:rPr>
              <a:t>Si la dirección MAC de un dispositivo conectado a un puerto difiere de la lista de direcciones seguras, se produce una violación del puerto y el puerto entra en estado de error desactivado.</a:t>
            </a:r>
          </a:p>
          <a:p>
            <a:pPr marL="285750" indent="-285750" algn="l" rtl="0">
              <a:buFont typeface="Arial" panose="020B0604020202020204" pitchFamily="34" charset="0"/>
              <a:buChar char="•"/>
            </a:pPr>
            <a:r>
              <a:rPr sz="1400" lang="es-419">
                <a:solidFill>
                  <a:srgbClr val="000000"/>
                </a:solidFill>
              </a:rPr>
              <a:t>Para poner el modo de violación de seguridad de puerto, use el siguiente comando:</a:t>
            </a:r>
          </a:p>
          <a:p>
            <a:pPr marL="285750" indent="-285750" algn="l">
              <a:buFont typeface="Arial" panose="020B0604020202020204" pitchFamily="34" charset="0"/>
              <a:buChar char="•"/>
            </a:pPr>
            <a:endParaRPr lang="en-US" sz="1400" dirty="0">
              <a:solidFill>
                <a:srgbClr val="000000"/>
              </a:solidFill>
            </a:endParaRPr>
          </a:p>
        </p:txBody>
      </p:sp>
      <p:sp>
        <p:nvSpPr>
          <p:cNvPr id="9" name="Rectangle 1">
            <a:extLst>
              <a:ext uri="{FF2B5EF4-FFF2-40B4-BE49-F238E27FC236}">
                <a16:creationId xmlns:a16="http://schemas.microsoft.com/office/drawing/2014/main" id="{72A00CD5-008D-45BC-9424-DBB739823FA3}"/>
              </a:ext>
            </a:extLst>
          </p:cNvPr>
          <p:cNvSpPr>
            <a:spLocks noChangeArrowheads="1"/>
          </p:cNvSpPr>
          <p:nvPr/>
        </p:nvSpPr>
        <p:spPr bwMode="auto">
          <a:xfrm>
            <a:off x="474662" y="1566528"/>
            <a:ext cx="7995779" cy="184666"/>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lvl="0" defTabSz="914400" eaLnBrk="0" hangingPunct="0" rtl="0"/>
            <a:r>
              <a:rPr kumimoji="false" sz="12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Switch(config-if)# </a:t>
            </a:r>
            <a:r>
              <a:rPr kumimoji="false" sz="1200" b="tru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switchport port-security violation </a:t>
            </a:r>
            <a:r>
              <a:rPr kumimoji="false" sz="12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a:t>
            </a:r>
            <a:r>
              <a:rPr sz="1200" b="true" lang="es-419">
                <a:solidFill>
                  <a:srgbClr val="58585B"/>
                </a:solidFill>
                <a:latin typeface="Courier New" panose="02070309020205020404" pitchFamily="49" charset="0"/>
                <a:cs typeface="Courier New" panose="02070309020205020404" pitchFamily="49" charset="0"/>
              </a:rPr>
              <a:t>shutdown </a:t>
            </a:r>
            <a:r>
              <a:rPr kumimoji="false" sz="12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 </a:t>
            </a:r>
            <a:r>
              <a:rPr kumimoji="false" sz="1200" b="tru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restrict</a:t>
            </a:r>
            <a:r>
              <a:rPr kumimoji="false" sz="12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 | </a:t>
            </a:r>
            <a:r>
              <a:rPr sz="1200" b="true" lang="es-419">
                <a:solidFill>
                  <a:srgbClr val="58585B"/>
                </a:solidFill>
                <a:latin typeface="Courier New" panose="02070309020205020404" pitchFamily="49" charset="0"/>
                <a:cs typeface="Courier New" panose="02070309020205020404" pitchFamily="49" charset="0"/>
              </a:rPr>
              <a:t>protect</a:t>
            </a:r>
            <a:r>
              <a:rPr kumimoji="false" sz="1200" b="false" i="false" u="none" strike="noStrike" cap="none" normalizeH="false" baseline="0" lang="es-419">
                <a:ln>
                  <a:noFill/>
                </a:ln>
                <a:solidFill>
                  <a:srgbClr val="58585B"/>
                </a:solidFill>
                <a:effectLst/>
                <a:latin typeface="Courier New" panose="02070309020205020404" pitchFamily="49" charset="0"/>
                <a:cs typeface="Courier New" panose="02070309020205020404" pitchFamily="49" charset="0"/>
              </a:rPr>
              <a:t>}</a:t>
            </a:r>
            <a:r>
              <a:rPr kumimoji="false" sz="1200" b="false" i="false" u="none" strike="noStrike" cap="none" normalizeH="false" baseline="0" lang="es-419">
                <a:ln>
                  <a:noFill/>
                </a:ln>
                <a:solidFill>
                  <a:schemeClr val="tx1"/>
                </a:solidFill>
                <a:effectLst/>
                <a:latin typeface="Courier New" panose="02070309020205020404" pitchFamily="49" charset="0"/>
                <a:cs typeface="Courier New" panose="02070309020205020404" pitchFamily="49" charset="0"/>
              </a:rPr>
              <a:t> </a:t>
            </a:r>
          </a:p>
        </p:txBody>
      </p:sp>
      <p:graphicFrame>
        <p:nvGraphicFramePr>
          <p:cNvPr id="7" name="Table 7">
            <a:extLst>
              <a:ext uri="{FF2B5EF4-FFF2-40B4-BE49-F238E27FC236}">
                <a16:creationId xmlns:a16="http://schemas.microsoft.com/office/drawing/2014/main" id="{891CB371-A089-4AAE-AED8-2DEBBD6F70FD}"/>
              </a:ext>
            </a:extLst>
          </p:cNvPr>
          <p:cNvGraphicFramePr>
            <a:graphicFrameLocks noGrp="1"/>
          </p:cNvGraphicFramePr>
          <p:nvPr>
            <p:extLst>
              <p:ext uri="{D42A27DB-BD31-4B8C-83A1-F6EECF244321}">
                <p14:modId xmlns:p14="http://schemas.microsoft.com/office/powerpoint/2010/main" val="2136762266"/>
              </p:ext>
            </p:extLst>
          </p:nvPr>
        </p:nvGraphicFramePr>
        <p:xfrm>
          <a:off x="889146" y="2355352"/>
          <a:ext cx="7780192" cy="2165350"/>
        </p:xfrm>
        <a:graphic>
          <a:graphicData uri="http://schemas.openxmlformats.org/drawingml/2006/table">
            <a:tbl>
              <a:tblPr firstRow="1" bandRow="1">
                <a:tableStyleId>{5C22544A-7EE6-4342-B048-85BDC9FD1C3A}</a:tableStyleId>
              </a:tblPr>
              <a:tblGrid>
                <a:gridCol w="947274">
                  <a:extLst>
                    <a:ext uri="{9D8B030D-6E8A-4147-A177-3AD203B41FA5}">
                      <a16:colId xmlns:a16="http://schemas.microsoft.com/office/drawing/2014/main" val="433698142"/>
                    </a:ext>
                  </a:extLst>
                </a:gridCol>
                <a:gridCol w="6832918">
                  <a:extLst>
                    <a:ext uri="{9D8B030D-6E8A-4147-A177-3AD203B41FA5}">
                      <a16:colId xmlns:a16="http://schemas.microsoft.com/office/drawing/2014/main" val="2632883523"/>
                    </a:ext>
                  </a:extLst>
                </a:gridCol>
              </a:tblGrid>
              <a:tr h="370840">
                <a:tc>
                  <a:txBody>
                    <a:bodyPr/>
                    <a:lstStyle/>
                    <a:p>
                      <a:pPr algn="l" fontAlgn="ctr" rtl="0"/>
                      <a:r>
                        <a:rPr sz="1100" lang="es-419">
                          <a:effectLst/>
                        </a:rPr>
                        <a:t>Modo</a:t>
                      </a:r>
                    </a:p>
                  </a:txBody>
                  <a:tcPr marL="47625" marR="47625" marT="47625" marB="47625" anchor="ctr"/>
                </a:tc>
                <a:tc>
                  <a:txBody>
                    <a:bodyPr/>
                    <a:lstStyle/>
                    <a:p>
                      <a:pPr algn="l" fontAlgn="ctr" rtl="0"/>
                      <a:r>
                        <a:rPr sz="1100" lang="es-419">
                          <a:effectLst/>
                        </a:rPr>
                        <a:t>Descripción</a:t>
                      </a:r>
                    </a:p>
                  </a:txBody>
                  <a:tcPr marL="47625" marR="47625" marT="47625" marB="47625" anchor="ctr"/>
                </a:tc>
                <a:extLst>
                  <a:ext uri="{0D108BD9-81ED-4DB2-BD59-A6C34878D82A}">
                    <a16:rowId xmlns:a16="http://schemas.microsoft.com/office/drawing/2014/main" val="1107387990"/>
                  </a:ext>
                </a:extLst>
              </a:tr>
              <a:tr h="370840">
                <a:tc>
                  <a:txBody>
                    <a:bodyPr/>
                    <a:lstStyle/>
                    <a:p>
                      <a:pPr fontAlgn="ctr"/>
                      <a:endParaRPr lang="en-US" sz="1100" b="0">
                        <a:effectLst/>
                      </a:endParaRPr>
                    </a:p>
                    <a:p>
                      <a:pPr rtl="0" fontAlgn="ctr"/>
                      <a:r>
                        <a:rPr sz="1100" b="true" lang="es-419">
                          <a:effectLst/>
                        </a:rPr>
                        <a:t>shutdown</a:t>
                      </a:r>
                    </a:p>
                    <a:p>
                      <a:pPr fontAlgn="ctr" rtl="0"/>
                      <a:r>
                        <a:rPr sz="1100" b="false" lang="es-419">
                          <a:effectLst/>
                        </a:rPr>
                        <a:t>(predeterminados)</a:t>
                      </a:r>
                    </a:p>
                  </a:txBody>
                  <a:tcPr marL="47625" marR="47625" marT="47625" marB="47625" anchor="ctr"/>
                </a:tc>
                <a:tc>
                  <a:txBody>
                    <a:bodyPr/>
                    <a:lstStyle/>
                    <a:p>
                      <a:pPr fontAlgn="ctr" rtl="0"/>
                      <a:r>
                        <a:rPr sz="1100" b="false" lang="es-419">
                          <a:effectLst/>
                        </a:rPr>
                        <a:t>El puerto pasa al estado de error desactivado de inmediato, apaga el LED del puerto y envía un mensaje de registro del sistema. Aumenta el contador de violaciones. Cuando un puerto seguro se encuentra en estado de error desactivado, un administrador debe volver a habilitarlo ingresando los comandos </a:t>
                      </a:r>
                      <a:r>
                        <a:rPr sz="1100" b="true" lang="es-419">
                          <a:effectLst/>
                        </a:rPr>
                        <a:t>shutdown</a:t>
                      </a:r>
                      <a:r>
                        <a:rPr sz="1100" b="false" lang="es-419">
                          <a:effectLst/>
                        </a:rPr>
                        <a:t> y </a:t>
                      </a:r>
                      <a:r>
                        <a:rPr sz="1100" b="true" lang="es-419">
                          <a:effectLst/>
                        </a:rPr>
                        <a:t>no shutdown</a:t>
                      </a:r>
                      <a:r>
                        <a:rPr sz="1100" b="false" lang="es-419">
                          <a:effectLst/>
                        </a:rPr>
                        <a:t>.</a:t>
                      </a:r>
                    </a:p>
                  </a:txBody>
                  <a:tcPr marL="47625" marR="47625" marT="47625" marB="47625" anchor="ctr"/>
                </a:tc>
                <a:extLst>
                  <a:ext uri="{0D108BD9-81ED-4DB2-BD59-A6C34878D82A}">
                    <a16:rowId xmlns:a16="http://schemas.microsoft.com/office/drawing/2014/main" val="148355350"/>
                  </a:ext>
                </a:extLst>
              </a:tr>
              <a:tr h="370840">
                <a:tc>
                  <a:txBody>
                    <a:bodyPr/>
                    <a:lstStyle/>
                    <a:p>
                      <a:pPr fontAlgn="ctr"/>
                      <a:endParaRPr lang="en-US" sz="1100" b="0">
                        <a:effectLst/>
                      </a:endParaRPr>
                    </a:p>
                    <a:p>
                      <a:pPr rtl="0" fontAlgn="ctr"/>
                      <a:r>
                        <a:rPr sz="1100" b="true" lang="es-419">
                          <a:effectLst/>
                        </a:rPr>
                        <a:t>restrict (Restricción)</a:t>
                      </a:r>
                    </a:p>
                  </a:txBody>
                  <a:tcPr marL="47625" marR="47625" marT="47625" marB="47625" anchor="ctr"/>
                </a:tc>
                <a:tc>
                  <a:txBody>
                    <a:bodyPr/>
                    <a:lstStyle/>
                    <a:p>
                      <a:pPr fontAlgn="ctr" rtl="0"/>
                      <a:r>
                        <a:rPr sz="1100" b="false" lang="es-419">
                          <a:effectLst/>
                        </a:rPr>
                        <a:t>El puerto descarta paquetes con direcciones de origen desconocidas hasta que elimine un número suficiente de direcciones MAC seguras para caer por debajo del valor máximo o aumentar el valor máximo. Este modo hace que el contador de Infracción de seguridad se incremente y genera un mensaje de syslog.</a:t>
                      </a:r>
                    </a:p>
                  </a:txBody>
                  <a:tcPr marL="47625" marR="47625" marT="47625" marB="47625" anchor="ctr"/>
                </a:tc>
                <a:extLst>
                  <a:ext uri="{0D108BD9-81ED-4DB2-BD59-A6C34878D82A}">
                    <a16:rowId xmlns:a16="http://schemas.microsoft.com/office/drawing/2014/main" val="3144406471"/>
                  </a:ext>
                </a:extLst>
              </a:tr>
              <a:tr h="370840">
                <a:tc>
                  <a:txBody>
                    <a:bodyPr/>
                    <a:lstStyle/>
                    <a:p>
                      <a:pPr fontAlgn="ctr"/>
                      <a:endParaRPr lang="en-US" sz="1100" b="0" dirty="0">
                        <a:effectLst/>
                      </a:endParaRPr>
                    </a:p>
                    <a:p>
                      <a:pPr rtl="0" fontAlgn="ctr"/>
                      <a:r>
                        <a:rPr sz="1100" b="true" lang="es-419">
                          <a:effectLst/>
                        </a:rPr>
                        <a:t>protect (protección)</a:t>
                      </a:r>
                    </a:p>
                  </a:txBody>
                  <a:tcPr marL="47625" marR="47625" marT="47625" marB="47625" anchor="ctr"/>
                </a:tc>
                <a:tc>
                  <a:txBody>
                    <a:bodyPr/>
                    <a:lstStyle/>
                    <a:p>
                      <a:pPr fontAlgn="ctr" rtl="0"/>
                      <a:r>
                        <a:rPr sz="1100" b="false" lang="es-419">
                          <a:effectLst/>
                        </a:rPr>
                        <a:t>Este modo es el menos seguro de los modos de violaciones de seguridad. El puerto descarta paquetes con direcciones de origen MAC desconocidas hasta que elimine un número suficiente de direcciones MAC seguras para colocar por debajo del valor máximo o aumentar el valor máximo. No se envía ningún mensaje syslog.</a:t>
                      </a:r>
                    </a:p>
                  </a:txBody>
                  <a:tcPr marL="47625" marR="47625" marT="47625" marB="47625" anchor="ctr"/>
                </a:tc>
                <a:extLst>
                  <a:ext uri="{0D108BD9-81ED-4DB2-BD59-A6C34878D82A}">
                    <a16:rowId xmlns:a16="http://schemas.microsoft.com/office/drawing/2014/main" val="1324108008"/>
                  </a:ext>
                </a:extLst>
              </a:tr>
            </a:tbl>
          </a:graphicData>
        </a:graphic>
      </p:graphicFrame>
      <p:sp>
        <p:nvSpPr>
          <p:cNvPr id="2" name="TextBox 1">
            <a:extLst>
              <a:ext uri="{FF2B5EF4-FFF2-40B4-BE49-F238E27FC236}">
                <a16:creationId xmlns:a16="http://schemas.microsoft.com/office/drawing/2014/main" id="{D1985A8C-C3A8-47BD-8F0B-15EF3254FF05}"/>
              </a:ext>
            </a:extLst>
          </p:cNvPr>
          <p:cNvSpPr txBox="1"/>
          <p:nvPr/>
        </p:nvSpPr>
        <p:spPr>
          <a:xfrm>
            <a:off x="474662" y="1639729"/>
            <a:ext cx="8420100" cy="861774"/>
          </a:xfrm>
          <a:prstGeom prst="rect">
            <a:avLst/>
          </a:prstGeom>
          <a:noFill/>
        </p:spPr>
        <p:txBody>
          <a:bodyPr wrap="square" rtlCol="0">
            <a:spAutoFit/>
          </a:bodyPr>
          <a:lstStyle/>
          <a:p>
            <a:pPr marL="285750" indent="-285750">
              <a:buFont typeface="Arial" panose="020B0604020202020204" pitchFamily="34" charset="0"/>
              <a:buChar char="•"/>
            </a:pPr>
            <a:endParaRPr lang="en-US" dirty="0">
              <a:solidFill>
                <a:srgbClr val="000000"/>
              </a:solidFill>
            </a:endParaRPr>
          </a:p>
          <a:p>
            <a:pPr rtl="0"/>
            <a:r>
              <a:rPr sz="1400" lang="es-419">
                <a:solidFill>
                  <a:srgbClr val="000000"/>
                </a:solidFill>
              </a:rPr>
              <a:t>La siguiente tabla muestra cómo reacciona un switch en función del modo de infracción configurado.</a:t>
            </a:r>
          </a:p>
          <a:p>
            <a:endParaRPr lang="en-US" dirty="0"/>
          </a:p>
        </p:txBody>
      </p:sp>
    </p:spTree>
    <p:extLst>
      <p:ext uri="{BB962C8B-B14F-4D97-AF65-F5344CB8AC3E}">
        <p14:creationId xmlns:p14="http://schemas.microsoft.com/office/powerpoint/2010/main" val="2259570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Modos de violación de Security (Cont.)</a:t>
            </a:r>
          </a:p>
        </p:txBody>
      </p:sp>
      <p:sp>
        <p:nvSpPr>
          <p:cNvPr id="4" name="Content Placeholder 3">
            <a:extLst>
              <a:ext uri="{FF2B5EF4-FFF2-40B4-BE49-F238E27FC236}">
                <a16:creationId xmlns:a16="http://schemas.microsoft.com/office/drawing/2014/main" id="{1CAEB930-B26C-40CB-B179-5E7EC27B0835}"/>
              </a:ext>
            </a:extLst>
          </p:cNvPr>
          <p:cNvSpPr>
            <a:spLocks noGrp="1"/>
          </p:cNvSpPr>
          <p:nvPr>
            <p:ph idx="1"/>
          </p:nvPr>
        </p:nvSpPr>
        <p:spPr>
          <a:xfrm>
            <a:off x="474662" y="731837"/>
            <a:ext cx="3754438" cy="3689897"/>
          </a:xfrm>
        </p:spPr>
        <p:txBody>
          <a:bodyPr/>
          <a:lstStyle/>
          <a:p>
            <a:pPr marL="0" indent="0" algn="l" rtl="0"/>
            <a:r>
              <a:rPr sz="1600" lang="es-419">
                <a:solidFill>
                  <a:srgbClr val="000000"/>
                </a:solidFill>
              </a:rPr>
              <a:t>El ejemplo muestra a un administrador cambiando la violación de seguridad a "Restrict" </a:t>
            </a:r>
          </a:p>
          <a:p>
            <a:pPr marL="0" indent="0" algn="l"/>
            <a:endParaRPr lang="en-US" sz="1600" dirty="0">
              <a:solidFill>
                <a:srgbClr val="000000"/>
              </a:solidFill>
            </a:endParaRPr>
          </a:p>
          <a:p>
            <a:pPr marL="0" indent="0" algn="l" rtl="0"/>
            <a:r>
              <a:rPr sz="1600" lang="es-419">
                <a:solidFill>
                  <a:srgbClr val="000000"/>
                </a:solidFill>
              </a:rPr>
              <a:t>El resultado del comando </a:t>
            </a:r>
            <a:r>
              <a:rPr sz="1600" b="true" lang="es-419">
                <a:solidFill>
                  <a:srgbClr val="000000"/>
                </a:solidFill>
              </a:rPr>
              <a:t>show port-security interface</a:t>
            </a:r>
            <a:r>
              <a:rPr sz="1600" lang="es-419">
                <a:solidFill>
                  <a:srgbClr val="000000"/>
                </a:solidFill>
              </a:rPr>
              <a:t>confirma que se ha realizado el cambio.</a:t>
            </a:r>
          </a:p>
        </p:txBody>
      </p:sp>
      <p:pic>
        <p:nvPicPr>
          <p:cNvPr id="5" name="Picture 4">
            <a:extLst>
              <a:ext uri="{FF2B5EF4-FFF2-40B4-BE49-F238E27FC236}">
                <a16:creationId xmlns:a16="http://schemas.microsoft.com/office/drawing/2014/main" id="{490792D8-65E6-44D4-8DDC-ADE39D2ABC07}"/>
              </a:ext>
            </a:extLst>
          </p:cNvPr>
          <p:cNvPicPr>
            <a:picLocks noChangeAspect="1"/>
          </p:cNvPicPr>
          <p:nvPr/>
        </p:nvPicPr>
        <p:blipFill>
          <a:blip r:embed="rId3"/>
          <a:stretch>
            <a:fillRect/>
          </a:stretch>
        </p:blipFill>
        <p:spPr>
          <a:xfrm>
            <a:off x="4755237" y="660660"/>
            <a:ext cx="3980259" cy="3285935"/>
          </a:xfrm>
          <a:prstGeom prst="rect">
            <a:avLst/>
          </a:prstGeom>
        </p:spPr>
      </p:pic>
    </p:spTree>
    <p:extLst>
      <p:ext uri="{BB962C8B-B14F-4D97-AF65-F5344CB8AC3E}">
        <p14:creationId xmlns:p14="http://schemas.microsoft.com/office/powerpoint/2010/main" val="63735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Puertos en estado de error-disabled </a:t>
            </a:r>
          </a:p>
        </p:txBody>
      </p:sp>
      <p:sp>
        <p:nvSpPr>
          <p:cNvPr id="6" name="Content Placeholder 5">
            <a:extLst>
              <a:ext uri="{FF2B5EF4-FFF2-40B4-BE49-F238E27FC236}">
                <a16:creationId xmlns:a16="http://schemas.microsoft.com/office/drawing/2014/main" id="{E61F80BD-E10C-492D-80A9-E3AAD5039B19}"/>
              </a:ext>
            </a:extLst>
          </p:cNvPr>
          <p:cNvSpPr>
            <a:spLocks noGrp="1"/>
          </p:cNvSpPr>
          <p:nvPr>
            <p:ph idx="1"/>
          </p:nvPr>
        </p:nvSpPr>
        <p:spPr>
          <a:xfrm>
            <a:off x="474662" y="731838"/>
            <a:ext cx="8280057" cy="1697038"/>
          </a:xfrm>
        </p:spPr>
        <p:txBody>
          <a:bodyPr/>
          <a:lstStyle/>
          <a:p>
            <a:pPr marL="0" indent="0" algn="l" rtl="0"/>
            <a:r>
              <a:rPr sz="1600" lang="es-419">
                <a:solidFill>
                  <a:srgbClr val="000000"/>
                </a:solidFill>
              </a:rPr>
              <a:t>Cuando un puerto está apagado y puesto en modo error-desabilitado, no se envía ni se recibe tráfico a través de ese puerto. </a:t>
            </a:r>
          </a:p>
          <a:p>
            <a:pPr marL="0" indent="0" algn="l" rtl="0"/>
            <a:r>
              <a:rPr sz="1600" lang="es-419">
                <a:solidFill>
                  <a:srgbClr val="000000"/>
                </a:solidFill>
              </a:rPr>
              <a:t>En la consola, se muestra una serie de mensajes relacionados con la seguridad del puerto.</a:t>
            </a:r>
          </a:p>
          <a:p>
            <a:pPr marL="0" indent="0" algn="l"/>
            <a:endParaRPr lang="en-US" sz="1400" dirty="0">
              <a:solidFill>
                <a:srgbClr val="000000"/>
              </a:solidFill>
            </a:endParaRPr>
          </a:p>
          <a:p>
            <a:pPr marL="0" indent="0" algn="l" rtl="0"/>
            <a:r>
              <a:rPr sz="1400" lang="es-419">
                <a:solidFill>
                  <a:srgbClr val="000000"/>
                </a:solidFill>
              </a:rPr>
              <a:t>Nota:</a:t>
            </a:r>
            <a:r>
              <a:rPr sz="1400" b="true" lang="es-419">
                <a:solidFill>
                  <a:srgbClr val="000000"/>
                </a:solidFill>
              </a:rPr>
              <a:t> El protocolo del puerto y el estado del enlace se cambian a inactivo y el LED del puerto se apaga.</a:t>
            </a:r>
          </a:p>
        </p:txBody>
      </p:sp>
      <p:pic>
        <p:nvPicPr>
          <p:cNvPr id="7" name="Picture 6">
            <a:extLst>
              <a:ext uri="{FF2B5EF4-FFF2-40B4-BE49-F238E27FC236}">
                <a16:creationId xmlns:a16="http://schemas.microsoft.com/office/drawing/2014/main" id="{B4543815-0277-4D17-90D9-138DA3032895}"/>
              </a:ext>
            </a:extLst>
          </p:cNvPr>
          <p:cNvPicPr>
            <a:picLocks noChangeAspect="1"/>
          </p:cNvPicPr>
          <p:nvPr/>
        </p:nvPicPr>
        <p:blipFill>
          <a:blip r:embed="rId3"/>
          <a:stretch>
            <a:fillRect/>
          </a:stretch>
        </p:blipFill>
        <p:spPr>
          <a:xfrm>
            <a:off x="1544896" y="2571750"/>
            <a:ext cx="6054207" cy="1295285"/>
          </a:xfrm>
          <a:prstGeom prst="rect">
            <a:avLst/>
          </a:prstGeom>
        </p:spPr>
      </p:pic>
    </p:spTree>
    <p:extLst>
      <p:ext uri="{BB962C8B-B14F-4D97-AF65-F5344CB8AC3E}">
        <p14:creationId xmlns:p14="http://schemas.microsoft.com/office/powerpoint/2010/main" val="3362080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Puertos en estado error-disabled (Cont.)</a:t>
            </a:r>
          </a:p>
        </p:txBody>
      </p:sp>
      <p:sp>
        <p:nvSpPr>
          <p:cNvPr id="6" name="Content Placeholder 5">
            <a:extLst>
              <a:ext uri="{FF2B5EF4-FFF2-40B4-BE49-F238E27FC236}">
                <a16:creationId xmlns:a16="http://schemas.microsoft.com/office/drawing/2014/main" id="{E61F80BD-E10C-492D-80A9-E3AAD5039B19}"/>
              </a:ext>
            </a:extLst>
          </p:cNvPr>
          <p:cNvSpPr>
            <a:spLocks noGrp="1"/>
          </p:cNvSpPr>
          <p:nvPr>
            <p:ph idx="1"/>
          </p:nvPr>
        </p:nvSpPr>
        <p:spPr>
          <a:xfrm>
            <a:off x="133350" y="731837"/>
            <a:ext cx="4528785" cy="3689897"/>
          </a:xfrm>
        </p:spPr>
        <p:txBody>
          <a:bodyPr/>
          <a:lstStyle/>
          <a:p>
            <a:pPr marL="285750" indent="-285750" algn="l" rtl="0">
              <a:buFont typeface="Arial" panose="020B0604020202020204" pitchFamily="34" charset="0"/>
              <a:buChar char="•"/>
            </a:pPr>
            <a:r>
              <a:rPr sz="1600" lang="es-419">
                <a:solidFill>
                  <a:srgbClr val="000000"/>
                </a:solidFill>
              </a:rPr>
              <a:t>En el ejemplo, el comando </a:t>
            </a:r>
            <a:r>
              <a:rPr sz="1600" b="true" lang="es-419">
                <a:solidFill>
                  <a:srgbClr val="000000"/>
                </a:solidFill>
              </a:rPr>
              <a:t>show interface</a:t>
            </a:r>
            <a:r>
              <a:rPr sz="1600" lang="es-419">
                <a:solidFill>
                  <a:srgbClr val="000000"/>
                </a:solidFill>
              </a:rPr>
              <a:t> identifica el estado del puerto como </a:t>
            </a:r>
            <a:r>
              <a:rPr sz="1600" b="true" lang="es-419">
                <a:solidFill>
                  <a:srgbClr val="000000"/>
                </a:solidFill>
              </a:rPr>
              <a:t>err-disabled</a:t>
            </a:r>
            <a:r>
              <a:rPr sz="1600" lang="es-419">
                <a:solidFill>
                  <a:srgbClr val="000000"/>
                </a:solidFill>
              </a:rPr>
              <a:t>. La salida del comando </a:t>
            </a:r>
            <a:r>
              <a:rPr sz="1600" b="true" lang="es-419">
                <a:solidFill>
                  <a:srgbClr val="000000"/>
                </a:solidFill>
              </a:rPr>
              <a:t>show port-security interface</a:t>
            </a:r>
            <a:r>
              <a:rPr sz="1600" lang="es-419">
                <a:solidFill>
                  <a:srgbClr val="000000"/>
                </a:solidFill>
              </a:rPr>
              <a:t> ahora muestra el estado del puerto como </a:t>
            </a:r>
            <a:r>
              <a:rPr sz="1600" b="true" lang="es-419">
                <a:solidFill>
                  <a:srgbClr val="000000"/>
                </a:solidFill>
              </a:rPr>
              <a:t>secure-shutdown</a:t>
            </a:r>
            <a:r>
              <a:rPr sz="1600" lang="es-419">
                <a:solidFill>
                  <a:srgbClr val="000000"/>
                </a:solidFill>
              </a:rPr>
              <a:t>. El contador de violación incrementa en uno.</a:t>
            </a:r>
          </a:p>
          <a:p>
            <a:pPr marL="285750" indent="-285750" algn="l" rtl="0">
              <a:buFont typeface="Arial" panose="020B0604020202020204" pitchFamily="34" charset="0"/>
              <a:buChar char="•"/>
            </a:pPr>
            <a:r>
              <a:rPr sz="1600" lang="es-419">
                <a:solidFill>
                  <a:srgbClr val="000000"/>
                </a:solidFill>
              </a:rPr>
              <a:t>El administrador debe determinar que causó la violación de seguridad, si un dispositivo no autorizado está conectado a un puerto seguro, la amenazas de seguridad es eliminada antes de restablecer el puerto.</a:t>
            </a:r>
          </a:p>
          <a:p>
            <a:pPr marL="285750" indent="-285750" algn="l" rtl="0">
              <a:buFont typeface="Arial" panose="020B0604020202020204" pitchFamily="34" charset="0"/>
              <a:buChar char="•"/>
            </a:pPr>
            <a:r>
              <a:rPr sz="1600" lang="es-419">
                <a:solidFill>
                  <a:srgbClr val="000000"/>
                </a:solidFill>
              </a:rPr>
              <a:t>Para volver a habilitar el puerto, primero use el </a:t>
            </a:r>
            <a:r>
              <a:rPr sz="1600" b="true" lang="es-419">
                <a:solidFill>
                  <a:srgbClr val="000000"/>
                </a:solidFill>
              </a:rPr>
              <a:t>shutdown</a:t>
            </a:r>
            <a:r>
              <a:rPr sz="1600" lang="es-419">
                <a:solidFill>
                  <a:srgbClr val="000000"/>
                </a:solidFill>
              </a:rPr>
              <a:t> luego, use el comando </a:t>
            </a:r>
            <a:r>
              <a:rPr sz="1600" b="true" lang="es-419">
                <a:solidFill>
                  <a:srgbClr val="000000"/>
                </a:solidFill>
              </a:rPr>
              <a:t>no shutdown</a:t>
            </a:r>
            <a:r>
              <a:rPr sz="1600" lang="es-419">
                <a:solidFill>
                  <a:srgbClr val="000000"/>
                </a:solidFill>
              </a:rPr>
              <a:t>. </a:t>
            </a:r>
          </a:p>
        </p:txBody>
      </p:sp>
      <p:pic>
        <p:nvPicPr>
          <p:cNvPr id="2" name="Picture 1">
            <a:extLst>
              <a:ext uri="{FF2B5EF4-FFF2-40B4-BE49-F238E27FC236}">
                <a16:creationId xmlns:a16="http://schemas.microsoft.com/office/drawing/2014/main" id="{BB381762-B658-4D28-B62B-9CC09293A1F6}"/>
              </a:ext>
            </a:extLst>
          </p:cNvPr>
          <p:cNvPicPr>
            <a:picLocks noChangeAspect="1"/>
          </p:cNvPicPr>
          <p:nvPr/>
        </p:nvPicPr>
        <p:blipFill>
          <a:blip r:embed="rId3"/>
          <a:stretch>
            <a:fillRect/>
          </a:stretch>
        </p:blipFill>
        <p:spPr>
          <a:xfrm>
            <a:off x="4664365" y="957607"/>
            <a:ext cx="4187473" cy="3003375"/>
          </a:xfrm>
          <a:prstGeom prst="rect">
            <a:avLst/>
          </a:prstGeom>
        </p:spPr>
      </p:pic>
    </p:spTree>
    <p:extLst>
      <p:ext uri="{BB962C8B-B14F-4D97-AF65-F5344CB8AC3E}">
        <p14:creationId xmlns:p14="http://schemas.microsoft.com/office/powerpoint/2010/main" val="822014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Verificar Port Security</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221640" y="731838"/>
            <a:ext cx="8533079" cy="1316038"/>
          </a:xfrm>
        </p:spPr>
        <p:txBody>
          <a:bodyPr/>
          <a:lstStyle/>
          <a:p>
            <a:pPr marL="0" indent="0" algn="l" rtl="0"/>
            <a:r>
              <a:rPr sz="1600" lang="es-419">
                <a:solidFill>
                  <a:srgbClr val="000000"/>
                </a:solidFill>
              </a:rPr>
              <a:t>Después de configurar la seguridad de puertos en un switch, revise cada interfaz para verificar que la seguridad de puertos y las direcciones MAC estáticas se configuraron correctamente.</a:t>
            </a:r>
          </a:p>
          <a:p>
            <a:pPr marL="0" indent="0" algn="l"/>
            <a:endParaRPr lang="en-US" sz="1600" dirty="0">
              <a:solidFill>
                <a:srgbClr val="000000"/>
              </a:solidFill>
            </a:endParaRPr>
          </a:p>
          <a:p>
            <a:pPr marL="0" indent="0" algn="l" rtl="0"/>
            <a:r>
              <a:rPr sz="1600" lang="es-419">
                <a:solidFill>
                  <a:srgbClr val="000000"/>
                </a:solidFill>
              </a:rPr>
              <a:t>Para mostrar la configuración de seguridad del puerto para el conmutador, use el comando </a:t>
            </a:r>
            <a:r>
              <a:rPr sz="1600" b="true" lang="es-419">
                <a:solidFill>
                  <a:srgbClr val="000000"/>
                </a:solidFill>
              </a:rPr>
              <a:t>show port-security</a:t>
            </a:r>
            <a:r>
              <a:rPr sz="1600" lang="es-419">
                <a:solidFill>
                  <a:srgbClr val="000000"/>
                </a:solidFill>
              </a:rPr>
              <a:t>. </a:t>
            </a:r>
          </a:p>
        </p:txBody>
      </p:sp>
      <p:sp>
        <p:nvSpPr>
          <p:cNvPr id="6" name="Content Placeholder 4">
            <a:extLst>
              <a:ext uri="{FF2B5EF4-FFF2-40B4-BE49-F238E27FC236}">
                <a16:creationId xmlns:a16="http://schemas.microsoft.com/office/drawing/2014/main" id="{E318649A-26AD-4A60-BC7A-9489848F18B1}"/>
              </a:ext>
            </a:extLst>
          </p:cNvPr>
          <p:cNvSpPr txBox="1">
            <a:spLocks/>
          </p:cNvSpPr>
          <p:nvPr/>
        </p:nvSpPr>
        <p:spPr>
          <a:xfrm>
            <a:off x="329881" y="2183447"/>
            <a:ext cx="4158298" cy="2354263"/>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rtl="0">
              <a:buFont typeface="Arial" panose="020B0604020202020204" pitchFamily="34" charset="0"/>
              <a:buChar char="•"/>
            </a:pPr>
            <a:r>
              <a:rPr sz="1600" lang="es-419">
                <a:solidFill>
                  <a:srgbClr val="000000"/>
                </a:solidFill>
              </a:rPr>
              <a:t>El ejemplo indica que las 24 interfaces están configuradas con el comando </a:t>
            </a:r>
            <a:r>
              <a:rPr sz="1600" b="true" lang="es-419">
                <a:solidFill>
                  <a:srgbClr val="000000"/>
                </a:solidFill>
              </a:rPr>
              <a:t>switchport port-security</a:t>
            </a:r>
            <a:r>
              <a:rPr sz="1600" lang="es-419">
                <a:solidFill>
                  <a:srgbClr val="000000"/>
                </a:solidFill>
              </a:rPr>
              <a:t> porque el máximo permitido es 1 y el modo de violación está apagado. </a:t>
            </a:r>
          </a:p>
          <a:p>
            <a:pPr marL="285750" indent="-285750" algn="l" rtl="0">
              <a:buFont typeface="Arial" panose="020B0604020202020204" pitchFamily="34" charset="0"/>
              <a:buChar char="•"/>
            </a:pPr>
            <a:r>
              <a:rPr sz="1600" lang="es-419">
                <a:solidFill>
                  <a:srgbClr val="000000"/>
                </a:solidFill>
              </a:rPr>
              <a:t>No hay dispositivos conectados, por lo tanto, el CurrentAddr (Count) es 0 para cada interfaz.</a:t>
            </a:r>
          </a:p>
          <a:p>
            <a:pPr marL="285750" indent="-285750" algn="l">
              <a:buFont typeface="Arial" panose="020B0604020202020204" pitchFamily="34" charset="0"/>
              <a:buChar char="•"/>
            </a:pPr>
            <a:endParaRPr lang="en-CA" sz="1400" dirty="0">
              <a:solidFill>
                <a:srgbClr val="000000"/>
              </a:solidFill>
            </a:endParaRPr>
          </a:p>
        </p:txBody>
      </p:sp>
      <p:pic>
        <p:nvPicPr>
          <p:cNvPr id="7" name="Picture 6">
            <a:extLst>
              <a:ext uri="{FF2B5EF4-FFF2-40B4-BE49-F238E27FC236}">
                <a16:creationId xmlns:a16="http://schemas.microsoft.com/office/drawing/2014/main" id="{BE7B108C-FC3C-4589-AC91-8A895FADE25D}"/>
              </a:ext>
            </a:extLst>
          </p:cNvPr>
          <p:cNvPicPr>
            <a:picLocks noChangeAspect="1"/>
          </p:cNvPicPr>
          <p:nvPr/>
        </p:nvPicPr>
        <p:blipFill>
          <a:blip r:embed="rId3"/>
          <a:stretch>
            <a:fillRect/>
          </a:stretch>
        </p:blipFill>
        <p:spPr>
          <a:xfrm>
            <a:off x="4655823" y="2328226"/>
            <a:ext cx="4230948" cy="2064703"/>
          </a:xfrm>
          <a:prstGeom prst="rect">
            <a:avLst/>
          </a:prstGeom>
        </p:spPr>
      </p:pic>
    </p:spTree>
    <p:extLst>
      <p:ext uri="{BB962C8B-B14F-4D97-AF65-F5344CB8AC3E}">
        <p14:creationId xmlns:p14="http://schemas.microsoft.com/office/powerpoint/2010/main" val="31232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Verificar Port Security (Cont.)</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474663" y="731837"/>
            <a:ext cx="3284538" cy="3689897"/>
          </a:xfrm>
        </p:spPr>
        <p:txBody>
          <a:bodyPr/>
          <a:lstStyle/>
          <a:p>
            <a:pPr marL="0" indent="0" algn="l" rtl="0"/>
            <a:r>
              <a:rPr sz="1600" lang="es-419">
                <a:solidFill>
                  <a:srgbClr val="000000"/>
                </a:solidFill>
              </a:rPr>
              <a:t>Use el comando </a:t>
            </a:r>
            <a:r>
              <a:rPr sz="1600" b="true" lang="es-419">
                <a:solidFill>
                  <a:srgbClr val="000000"/>
                </a:solidFill>
              </a:rPr>
              <a:t>show port-security interface</a:t>
            </a:r>
            <a:r>
              <a:rPr sz="1600" lang="es-419">
                <a:solidFill>
                  <a:srgbClr val="000000"/>
                </a:solidFill>
              </a:rPr>
              <a:t> para ver detalles de una interfaz específica, como se mostró anteriormente y en este ejemplo.</a:t>
            </a:r>
          </a:p>
        </p:txBody>
      </p:sp>
      <p:pic>
        <p:nvPicPr>
          <p:cNvPr id="2" name="Picture 1">
            <a:extLst>
              <a:ext uri="{FF2B5EF4-FFF2-40B4-BE49-F238E27FC236}">
                <a16:creationId xmlns:a16="http://schemas.microsoft.com/office/drawing/2014/main" id="{17AF24AE-476F-42C0-8EDA-4DC5762B049F}"/>
              </a:ext>
            </a:extLst>
          </p:cNvPr>
          <p:cNvPicPr>
            <a:picLocks noChangeAspect="1"/>
          </p:cNvPicPr>
          <p:nvPr/>
        </p:nvPicPr>
        <p:blipFill>
          <a:blip r:embed="rId3"/>
          <a:stretch>
            <a:fillRect/>
          </a:stretch>
        </p:blipFill>
        <p:spPr>
          <a:xfrm>
            <a:off x="4023519" y="1038225"/>
            <a:ext cx="4057650" cy="3067050"/>
          </a:xfrm>
          <a:prstGeom prst="rect">
            <a:avLst/>
          </a:prstGeom>
        </p:spPr>
      </p:pic>
    </p:spTree>
    <p:extLst>
      <p:ext uri="{BB962C8B-B14F-4D97-AF65-F5344CB8AC3E}">
        <p14:creationId xmlns:p14="http://schemas.microsoft.com/office/powerpoint/2010/main" val="148188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Verificar Port Security (Cont.)</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474663" y="1080655"/>
            <a:ext cx="3284538" cy="3341079"/>
          </a:xfrm>
        </p:spPr>
        <p:txBody>
          <a:bodyPr/>
          <a:lstStyle/>
          <a:p>
            <a:pPr marL="0" indent="0" algn="l" rtl="0"/>
            <a:r>
              <a:rPr sz="1600" lang="es-419">
                <a:solidFill>
                  <a:srgbClr val="000000"/>
                </a:solidFill>
              </a:rPr>
              <a:t>Para verificar que las direcciones MAC están configuradas “sticking” (pegadas) a la configuración, use el comando </a:t>
            </a:r>
            <a:r>
              <a:rPr sz="1600" b="true" lang="es-419">
                <a:solidFill>
                  <a:srgbClr val="000000"/>
                </a:solidFill>
              </a:rPr>
              <a:t>show run</a:t>
            </a:r>
            <a:r>
              <a:rPr sz="1600" lang="es-419">
                <a:solidFill>
                  <a:srgbClr val="000000"/>
                </a:solidFill>
              </a:rPr>
              <a:t> como se muestra en el ejemplo de FastEthernet 0/19.</a:t>
            </a:r>
          </a:p>
        </p:txBody>
      </p:sp>
      <p:pic>
        <p:nvPicPr>
          <p:cNvPr id="4" name="Picture 3">
            <a:extLst>
              <a:ext uri="{FF2B5EF4-FFF2-40B4-BE49-F238E27FC236}">
                <a16:creationId xmlns:a16="http://schemas.microsoft.com/office/drawing/2014/main" id="{86E12795-C168-4835-858E-236A55D82EAB}"/>
              </a:ext>
            </a:extLst>
          </p:cNvPr>
          <p:cNvPicPr>
            <a:picLocks noChangeAspect="1"/>
          </p:cNvPicPr>
          <p:nvPr/>
        </p:nvPicPr>
        <p:blipFill>
          <a:blip r:embed="rId3"/>
          <a:stretch>
            <a:fillRect/>
          </a:stretch>
        </p:blipFill>
        <p:spPr>
          <a:xfrm>
            <a:off x="3872923" y="1504950"/>
            <a:ext cx="4686300" cy="2133600"/>
          </a:xfrm>
          <a:prstGeom prst="rect">
            <a:avLst/>
          </a:prstGeom>
        </p:spPr>
      </p:pic>
    </p:spTree>
    <p:extLst>
      <p:ext uri="{BB962C8B-B14F-4D97-AF65-F5344CB8AC3E}">
        <p14:creationId xmlns:p14="http://schemas.microsoft.com/office/powerpoint/2010/main" val="150308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Verificar Port Security (Cont.)</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474663" y="1080655"/>
            <a:ext cx="3284538" cy="3341079"/>
          </a:xfrm>
        </p:spPr>
        <p:txBody>
          <a:bodyPr/>
          <a:lstStyle/>
          <a:p>
            <a:pPr marL="0" indent="0" algn="l" rtl="0"/>
            <a:r>
              <a:rPr sz="1600" lang="es-419">
                <a:solidFill>
                  <a:srgbClr val="000000"/>
                </a:solidFill>
              </a:rPr>
              <a:t>Para mostrar todas las direcciones MAC seguras que son configuradas manualmente o aprendidas dinámicamente en todas las interfaces del switch use el comando </a:t>
            </a:r>
            <a:r>
              <a:rPr sz="1600" b="true" lang="es-419">
                <a:solidFill>
                  <a:srgbClr val="000000"/>
                </a:solidFill>
              </a:rPr>
              <a:t>show port-security address</a:t>
            </a:r>
            <a:r>
              <a:rPr sz="1600" lang="es-419">
                <a:solidFill>
                  <a:srgbClr val="000000"/>
                </a:solidFill>
              </a:rPr>
              <a:t> como se muestra en el ejemplo.</a:t>
            </a:r>
          </a:p>
        </p:txBody>
      </p:sp>
      <p:pic>
        <p:nvPicPr>
          <p:cNvPr id="2" name="Picture 1">
            <a:extLst>
              <a:ext uri="{FF2B5EF4-FFF2-40B4-BE49-F238E27FC236}">
                <a16:creationId xmlns:a16="http://schemas.microsoft.com/office/drawing/2014/main" id="{BF305B6F-6776-426A-A059-C8ED4818A388}"/>
              </a:ext>
            </a:extLst>
          </p:cNvPr>
          <p:cNvPicPr>
            <a:picLocks noChangeAspect="1"/>
          </p:cNvPicPr>
          <p:nvPr/>
        </p:nvPicPr>
        <p:blipFill>
          <a:blip r:embed="rId3"/>
          <a:stretch>
            <a:fillRect/>
          </a:stretch>
        </p:blipFill>
        <p:spPr>
          <a:xfrm>
            <a:off x="3693823" y="1403406"/>
            <a:ext cx="5229225" cy="2695575"/>
          </a:xfrm>
          <a:prstGeom prst="rect">
            <a:avLst/>
          </a:prstGeom>
        </p:spPr>
      </p:pic>
    </p:spTree>
    <p:extLst>
      <p:ext uri="{BB962C8B-B14F-4D97-AF65-F5344CB8AC3E}">
        <p14:creationId xmlns:p14="http://schemas.microsoft.com/office/powerpoint/2010/main" val="3852681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Implementar Seguridad de Puertos (Port Security)</a:t>
            </a:r>
            <a:br>
              <a:rPr lang="en-US" dirty="0"/>
            </a:br>
            <a:r>
              <a:rPr sz="2400" lang="es-419"/>
              <a:t>Packet Tracer – Implementar Seguridad de Puertos (Port Security)</a:t>
            </a:r>
          </a:p>
        </p:txBody>
      </p:sp>
      <p:sp>
        <p:nvSpPr>
          <p:cNvPr id="6" name="Content Placeholder 5">
            <a:extLst>
              <a:ext uri="{FF2B5EF4-FFF2-40B4-BE49-F238E27FC236}">
                <a16:creationId xmlns:a16="http://schemas.microsoft.com/office/drawing/2014/main" id="{5400C982-0294-4935-8BA0-4271BA6D6B9E}"/>
              </a:ext>
            </a:extLst>
          </p:cNvPr>
          <p:cNvSpPr>
            <a:spLocks noGrp="1"/>
          </p:cNvSpPr>
          <p:nvPr>
            <p:ph idx="1"/>
          </p:nvPr>
        </p:nvSpPr>
        <p:spPr>
          <a:xfrm>
            <a:off x="474662" y="731837"/>
            <a:ext cx="8280057" cy="3689897"/>
          </a:xfrm>
        </p:spPr>
        <p:txBody>
          <a:bodyPr/>
          <a:lstStyle/>
          <a:p>
            <a:pPr marL="0" indent="0" algn="l" rtl="0"/>
            <a:r>
              <a:rPr sz="1800" lang="es-419">
                <a:solidFill>
                  <a:srgbClr val="000000"/>
                </a:solidFill>
              </a:rPr>
              <a:t>En esta actividad de Packet Tracer, cumplirá los siguientes objetivos:</a:t>
            </a:r>
          </a:p>
          <a:p>
            <a:pPr marL="285750" indent="-285750" algn="l" rtl="0">
              <a:buFont typeface="Arial" panose="020B0604020202020204" pitchFamily="34" charset="0"/>
              <a:buChar char="•"/>
            </a:pPr>
            <a:r>
              <a:rPr sz="1800" lang="es-419">
                <a:solidFill>
                  <a:srgbClr val="000000"/>
                </a:solidFill>
              </a:rPr>
              <a:t>Parte 1: Configurar la seguridad de los puertos</a:t>
            </a:r>
          </a:p>
          <a:p>
            <a:pPr marL="285750" indent="-285750" algn="l" rtl="0">
              <a:buFont typeface="Arial" panose="020B0604020202020204" pitchFamily="34" charset="0"/>
              <a:buChar char="•"/>
            </a:pPr>
            <a:r>
              <a:rPr sz="1800" lang="es-419">
                <a:solidFill>
                  <a:srgbClr val="000000"/>
                </a:solidFill>
              </a:rPr>
              <a:t>Parte 2: Verificar la seguridad de los puertos</a:t>
            </a:r>
          </a:p>
        </p:txBody>
      </p:sp>
    </p:spTree>
    <p:extLst>
      <p:ext uri="{BB962C8B-B14F-4D97-AF65-F5344CB8AC3E}">
        <p14:creationId xmlns:p14="http://schemas.microsoft.com/office/powerpoint/2010/main" val="707195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11.2 - Mitigación de los ataques de VLAN</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Mitigar ataques de VLAN</a:t>
            </a:r>
            <a:br>
              <a:rPr lang="en-US" dirty="0"/>
            </a:br>
            <a:r>
              <a:rPr sz="2400" lang="es-419"/>
              <a:t>Revisión de ataques de VLAN</a:t>
            </a:r>
          </a:p>
        </p:txBody>
      </p:sp>
      <p:sp>
        <p:nvSpPr>
          <p:cNvPr id="6" name="Content Placeholder 5">
            <a:extLst>
              <a:ext uri="{FF2B5EF4-FFF2-40B4-BE49-F238E27FC236}">
                <a16:creationId xmlns:a16="http://schemas.microsoft.com/office/drawing/2014/main" id="{5400C982-0294-4935-8BA0-4271BA6D6B9E}"/>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Un ataque de salto de VLAN se puede iniciar de una de tres maneras:</a:t>
            </a:r>
          </a:p>
          <a:p>
            <a:pPr marL="285750" indent="-285750" algn="l" rtl="0">
              <a:buFont typeface="Arial" panose="020B0604020202020204" pitchFamily="34" charset="0"/>
              <a:buChar char="•"/>
            </a:pPr>
            <a:r>
              <a:rPr sz="1600" lang="es-419">
                <a:solidFill>
                  <a:srgbClr val="000000"/>
                </a:solidFill>
              </a:rPr>
              <a:t>La suplantación de mensajes DTP del host atacante hace que el switch entre en modo de enlace troncal. Desde aquí, el atacante puede enviar tráfico etiquetado con la VLAN de destino, y el switch luego entrega los paquetes al destino.</a:t>
            </a:r>
          </a:p>
          <a:p>
            <a:pPr marL="285750" indent="-285750" algn="l" rtl="0">
              <a:buFont typeface="Arial" panose="020B0604020202020204" pitchFamily="34" charset="0"/>
              <a:buChar char="•"/>
            </a:pPr>
            <a:r>
              <a:rPr sz="1600" lang="es-419">
                <a:solidFill>
                  <a:srgbClr val="000000"/>
                </a:solidFill>
              </a:rPr>
              <a:t>Introduciendo un switch dudoso y habilitando enlaces troncales. El atacante puede acceder todas las VLANs del switch víctima desde el switch dudoso.</a:t>
            </a:r>
          </a:p>
          <a:p>
            <a:pPr marL="285750" indent="-285750" algn="l" rtl="0">
              <a:buFont typeface="Arial" panose="020B0604020202020204" pitchFamily="34" charset="0"/>
              <a:buChar char="•"/>
            </a:pPr>
            <a:r>
              <a:rPr sz="1600" lang="es-419">
                <a:solidFill>
                  <a:srgbClr val="000000"/>
                </a:solidFill>
              </a:rPr>
              <a:t>Otro tipo de ataque de salto a VLAN es el ataque doble etiqueta o doble encapsulado. Este ataque toma ventaja de la forma en la que opera el hardware en la mayoría de los switches.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Mitigar los ataques de VLAN</a:t>
            </a:r>
            <a:br>
              <a:rPr lang="en-US" dirty="0"/>
            </a:br>
            <a:r>
              <a:rPr sz="2400" lang="es-419"/>
              <a:t>Pasos para mitigar los ataques de salto de VLAN</a:t>
            </a:r>
          </a:p>
        </p:txBody>
      </p:sp>
      <p:sp>
        <p:nvSpPr>
          <p:cNvPr id="6" name="Content Placeholder 5">
            <a:extLst>
              <a:ext uri="{FF2B5EF4-FFF2-40B4-BE49-F238E27FC236}">
                <a16:creationId xmlns:a16="http://schemas.microsoft.com/office/drawing/2014/main" id="{5400C982-0294-4935-8BA0-4271BA6D6B9E}"/>
              </a:ext>
            </a:extLst>
          </p:cNvPr>
          <p:cNvSpPr>
            <a:spLocks noGrp="1"/>
          </p:cNvSpPr>
          <p:nvPr>
            <p:ph idx="1"/>
          </p:nvPr>
        </p:nvSpPr>
        <p:spPr>
          <a:xfrm>
            <a:off x="474663" y="731837"/>
            <a:ext cx="4943158" cy="3689897"/>
          </a:xfrm>
        </p:spPr>
        <p:txBody>
          <a:bodyPr/>
          <a:lstStyle/>
          <a:p>
            <a:pPr marL="0" indent="0" algn="l" rtl="0"/>
            <a:r>
              <a:rPr sz="1600" lang="es-419">
                <a:solidFill>
                  <a:srgbClr val="000000"/>
                </a:solidFill>
              </a:rPr>
              <a:t>Use los siguiente pasos para mitigar ataques de salto</a:t>
            </a:r>
          </a:p>
          <a:p>
            <a:pPr marL="73085" lvl="1" indent="0" rtl="0">
              <a:buNone/>
            </a:pPr>
            <a:r>
              <a:rPr b="true" lang="es-419">
                <a:solidFill>
                  <a:srgbClr val="000000"/>
                </a:solidFill>
              </a:rPr>
              <a:t>Paso 1</a:t>
            </a:r>
            <a:r>
              <a:rPr lang="es-419">
                <a:solidFill>
                  <a:srgbClr val="000000"/>
                </a:solidFill>
              </a:rPr>
              <a:t>: Deshabilitar las negociaciones DTP (enlace automático) en los puertos que no son enlaces mediante el comando </a:t>
            </a:r>
            <a:r>
              <a:rPr b="true" lang="es-419">
                <a:solidFill>
                  <a:srgbClr val="000000"/>
                </a:solidFill>
              </a:rPr>
              <a:t>switchport mode access</a:t>
            </a:r>
            <a:r>
              <a:rPr lang="es-419">
                <a:solidFill>
                  <a:srgbClr val="000000"/>
                </a:solidFill>
              </a:rPr>
              <a:t>en la interfaz del switch</a:t>
            </a:r>
            <a:r>
              <a:rPr b="true" lang="es-419">
                <a:solidFill>
                  <a:srgbClr val="000000"/>
                </a:solidFill>
              </a:rPr>
              <a:t>.</a:t>
            </a:r>
          </a:p>
          <a:p>
            <a:pPr marL="73085" lvl="1" indent="0" rtl="0">
              <a:buNone/>
            </a:pPr>
            <a:r>
              <a:rPr b="true" lang="es-419">
                <a:solidFill>
                  <a:srgbClr val="000000"/>
                </a:solidFill>
              </a:rPr>
              <a:t>Paso 2</a:t>
            </a:r>
            <a:r>
              <a:rPr lang="es-419">
                <a:solidFill>
                  <a:srgbClr val="000000"/>
                </a:solidFill>
              </a:rPr>
              <a:t>: Deshabilitar los puertos no utilizados y colocarlos en una VLAN no utilizada.</a:t>
            </a:r>
          </a:p>
          <a:p>
            <a:pPr marL="73085" lvl="1" indent="0" rtl="0">
              <a:buNone/>
            </a:pPr>
            <a:r>
              <a:rPr b="true" lang="es-419">
                <a:solidFill>
                  <a:srgbClr val="000000"/>
                </a:solidFill>
              </a:rPr>
              <a:t>Paso 3</a:t>
            </a:r>
            <a:r>
              <a:rPr lang="es-419">
                <a:solidFill>
                  <a:srgbClr val="000000"/>
                </a:solidFill>
              </a:rPr>
              <a:t>: Habilitar manualmente el enlace troncal en un puerto de enlace troncal utilizando el comando </a:t>
            </a:r>
            <a:r>
              <a:rPr b="true" lang="es-419">
                <a:solidFill>
                  <a:srgbClr val="000000"/>
                </a:solidFill>
              </a:rPr>
              <a:t>switchport mode trunk</a:t>
            </a:r>
            <a:r>
              <a:rPr lang="es-419">
                <a:solidFill>
                  <a:srgbClr val="000000"/>
                </a:solidFill>
              </a:rPr>
              <a:t>.</a:t>
            </a:r>
          </a:p>
          <a:p>
            <a:pPr marL="73085" lvl="1" indent="0" rtl="0">
              <a:buNone/>
            </a:pPr>
            <a:r>
              <a:rPr b="true" lang="es-419">
                <a:solidFill>
                  <a:srgbClr val="000000"/>
                </a:solidFill>
              </a:rPr>
              <a:t>Paso 4</a:t>
            </a:r>
            <a:r>
              <a:rPr lang="es-419">
                <a:solidFill>
                  <a:srgbClr val="000000"/>
                </a:solidFill>
              </a:rPr>
              <a:t>: Deshabilitar las negociaciones de DTP (enlace automático) en los puertos de enlace mediante el comando </a:t>
            </a:r>
            <a:r>
              <a:rPr b="true" lang="es-419">
                <a:solidFill>
                  <a:srgbClr val="000000"/>
                </a:solidFill>
              </a:rPr>
              <a:t>switchport nonegotiate</a:t>
            </a:r>
            <a:r>
              <a:rPr b="true" lang="es-419">
                <a:solidFill>
                  <a:srgbClr val="000000"/>
                </a:solidFill>
              </a:rPr>
              <a:t>.</a:t>
            </a:r>
          </a:p>
          <a:p>
            <a:pPr marL="73085" lvl="1" indent="0" rtl="0">
              <a:buNone/>
            </a:pPr>
            <a:r>
              <a:rPr b="true" lang="es-419">
                <a:solidFill>
                  <a:srgbClr val="000000"/>
                </a:solidFill>
              </a:rPr>
              <a:t>Paso 5</a:t>
            </a:r>
            <a:r>
              <a:rPr lang="es-419">
                <a:solidFill>
                  <a:srgbClr val="000000"/>
                </a:solidFill>
              </a:rPr>
              <a:t>: Configurar la VLAN nativa en una VLAN que no sea la VLAN 1 mediante el comando </a:t>
            </a:r>
            <a:r>
              <a:rPr b="true" lang="es-419">
                <a:solidFill>
                  <a:srgbClr val="000000"/>
                </a:solidFill>
              </a:rPr>
              <a:t>switchport trunk native vlan</a:t>
            </a:r>
            <a:r>
              <a:rPr i="true" lang="es-419">
                <a:solidFill>
                  <a:srgbClr val="000000"/>
                </a:solidFill>
              </a:rPr>
              <a:t>vlan_number</a:t>
            </a:r>
            <a:r>
              <a:rPr lang="es-419">
                <a:solidFill>
                  <a:srgbClr val="000000"/>
                </a:solidFill>
              </a:rPr>
              <a:t>.</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4B283275-97C2-4347-915A-A6F661DCE292}"/>
              </a:ext>
            </a:extLst>
          </p:cNvPr>
          <p:cNvPicPr>
            <a:picLocks noChangeAspect="1"/>
          </p:cNvPicPr>
          <p:nvPr/>
        </p:nvPicPr>
        <p:blipFill>
          <a:blip r:embed="rId3"/>
          <a:stretch>
            <a:fillRect/>
          </a:stretch>
        </p:blipFill>
        <p:spPr>
          <a:xfrm>
            <a:off x="5619029" y="1400115"/>
            <a:ext cx="3346622" cy="2343270"/>
          </a:xfrm>
          <a:prstGeom prst="rect">
            <a:avLst/>
          </a:prstGeom>
        </p:spPr>
      </p:pic>
    </p:spTree>
    <p:extLst>
      <p:ext uri="{BB962C8B-B14F-4D97-AF65-F5344CB8AC3E}">
        <p14:creationId xmlns:p14="http://schemas.microsoft.com/office/powerpoint/2010/main" val="99702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11.3 - Mitigación de ataques de DHCP</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Mitigación de ataques de DHCP</a:t>
            </a:r>
            <a:br>
              <a:rPr lang="en-US" dirty="0"/>
            </a:br>
            <a:r>
              <a:rPr sz="2400" lang="es-419"/>
              <a:t>Revisión de ataque de DHCP</a:t>
            </a:r>
          </a:p>
        </p:txBody>
      </p:sp>
      <p:sp>
        <p:nvSpPr>
          <p:cNvPr id="4" name="Content Placeholder 3">
            <a:extLst>
              <a:ext uri="{FF2B5EF4-FFF2-40B4-BE49-F238E27FC236}">
                <a16:creationId xmlns:a16="http://schemas.microsoft.com/office/drawing/2014/main" id="{0C58F69B-D5FE-8D40-85B1-1B48F21BF3A7}"/>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El objetivo de un ataque de agotamiento DHCP es que una herramienta de ataque como Gobbler cree una Denegación de servicio (DoS) para conectar clientes. </a:t>
            </a:r>
          </a:p>
          <a:p>
            <a:pPr marL="0" indent="0" algn="l"/>
            <a:endParaRPr lang="en-US" sz="1600" dirty="0">
              <a:solidFill>
                <a:srgbClr val="000000"/>
              </a:solidFill>
            </a:endParaRPr>
          </a:p>
          <a:p>
            <a:pPr marL="0" indent="0" algn="l" rtl="0"/>
            <a:r>
              <a:rPr sz="1600" lang="es-419">
                <a:solidFill>
                  <a:srgbClr val="000000"/>
                </a:solidFill>
              </a:rPr>
              <a:t>Recuerde que los ataques de agotamiento de DHCP pueden ser efectivamente mitigados usando seguridad de puertos, porque Gobbler usa una dirección MAC de origen única para cada solicitud DHCP enviada. Sin embargo mitigar ataques DHCP de suplantación de identidad requiere mas protección. </a:t>
            </a:r>
          </a:p>
          <a:p>
            <a:pPr marL="0" indent="0" algn="l"/>
            <a:endParaRPr lang="en-US" sz="1600" dirty="0">
              <a:solidFill>
                <a:srgbClr val="000000"/>
              </a:solidFill>
            </a:endParaRPr>
          </a:p>
          <a:p>
            <a:pPr marL="0" indent="0" algn="l" rtl="0"/>
            <a:r>
              <a:rPr sz="1600" lang="es-419">
                <a:solidFill>
                  <a:srgbClr val="000000"/>
                </a:solidFill>
              </a:rPr>
              <a:t>Gobbler podría configurarse para usar la dirección MAC de la interfaz real como la dirección Ethernet de origen, pero especifique una dirección Ethernet diferente en la carga útil de DHCP. Esto haría que la seguridad del puerto sea ineficaz porque la dirección MAC de origen sería legítima.</a:t>
            </a:r>
          </a:p>
          <a:p>
            <a:pPr marL="285750" indent="-285750" algn="l">
              <a:buFont typeface="Arial" panose="020B0604020202020204" pitchFamily="34" charset="0"/>
              <a:buChar char="•"/>
            </a:pPr>
            <a:endParaRPr lang="en-US" sz="1600" dirty="0">
              <a:solidFill>
                <a:srgbClr val="000000"/>
              </a:solidFill>
            </a:endParaRPr>
          </a:p>
          <a:p>
            <a:pPr marL="0" indent="0" algn="l" rtl="0"/>
            <a:r>
              <a:rPr sz="1600" lang="es-419">
                <a:solidFill>
                  <a:srgbClr val="000000"/>
                </a:solidFill>
              </a:rPr>
              <a:t>Los ataques de suplantación de DHCP se pueden mitigar mediante el uso de detección DHCP en puertos confiables.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Mitigación de ataques de DHCP</a:t>
            </a:r>
            <a:br>
              <a:rPr lang="en-US" dirty="0"/>
            </a:br>
            <a:r>
              <a:rPr sz="2400" lang="es-419"/>
              <a:t>Mediante detección de DHCP</a:t>
            </a:r>
          </a:p>
        </p:txBody>
      </p:sp>
      <p:sp>
        <p:nvSpPr>
          <p:cNvPr id="5" name="Content Placeholder 4">
            <a:extLst>
              <a:ext uri="{FF2B5EF4-FFF2-40B4-BE49-F238E27FC236}">
                <a16:creationId xmlns:a16="http://schemas.microsoft.com/office/drawing/2014/main" id="{8C7F84D1-2945-D742-9064-CE0075D0E541}"/>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La inspección de DHCP filtra los mensajes de DHCP y limita el tráfico de DHCP en puertos no confiables.</a:t>
            </a:r>
          </a:p>
          <a:p>
            <a:pPr marL="285750" indent="-285750" algn="l" rtl="0">
              <a:buFont typeface="Arial" panose="020B0604020202020204" pitchFamily="34" charset="0"/>
              <a:buChar char="•"/>
            </a:pPr>
            <a:r>
              <a:rPr sz="1600" lang="es-419">
                <a:solidFill>
                  <a:srgbClr val="000000"/>
                </a:solidFill>
              </a:rPr>
              <a:t>Los dispositivos bajo control administrativo (por ejemplo, switches, routers y servidores) son fuentes confiables. </a:t>
            </a:r>
          </a:p>
          <a:p>
            <a:pPr marL="285750" indent="-285750" algn="l" rtl="0">
              <a:buFont typeface="Arial" panose="020B0604020202020204" pitchFamily="34" charset="0"/>
              <a:buChar char="•"/>
            </a:pPr>
            <a:r>
              <a:rPr sz="1600" lang="es-419">
                <a:solidFill>
                  <a:srgbClr val="000000"/>
                </a:solidFill>
              </a:rPr>
              <a:t>Las interfaces confiables (por ejemplo, enlaces troncales, puertos del servidor) deben configurarse explícitamente como confiables.</a:t>
            </a:r>
          </a:p>
          <a:p>
            <a:pPr marL="285750" indent="-285750" algn="l" rtl="0">
              <a:buFont typeface="Arial" panose="020B0604020202020204" pitchFamily="34" charset="0"/>
              <a:buChar char="•"/>
            </a:pPr>
            <a:r>
              <a:rPr sz="1600" lang="es-419">
                <a:solidFill>
                  <a:srgbClr val="000000"/>
                </a:solidFill>
              </a:rPr>
              <a:t>Los dispositivos fuera de la red y todos los puertos de acceso generalmente se tratan como fuentes no confiables.</a:t>
            </a:r>
          </a:p>
          <a:p>
            <a:pPr marL="285750" indent="-285750" algn="l">
              <a:buFont typeface="Arial" panose="020B0604020202020204" pitchFamily="34" charset="0"/>
              <a:buChar char="•"/>
            </a:pPr>
            <a:endParaRPr lang="en-US" sz="1600" dirty="0">
              <a:solidFill>
                <a:srgbClr val="000000"/>
              </a:solidFill>
            </a:endParaRPr>
          </a:p>
          <a:p>
            <a:pPr marL="0" indent="0" algn="l" rtl="0"/>
            <a:r>
              <a:rPr sz="1600" lang="es-419">
                <a:solidFill>
                  <a:srgbClr val="000000"/>
                </a:solidFill>
              </a:rPr>
              <a:t>Se crea una tabla DHCP que incluye la dirección MAC de origen de un dispositivo en un puerto no confiable y la dirección IP asignada por el servidor DHCP a ese dispositivo. </a:t>
            </a:r>
          </a:p>
          <a:p>
            <a:pPr marL="285750" indent="-285750" algn="l" rtl="0">
              <a:buFont typeface="Arial" panose="020B0604020202020204" pitchFamily="34" charset="0"/>
              <a:buChar char="•"/>
            </a:pPr>
            <a:r>
              <a:rPr sz="1600" lang="es-419">
                <a:solidFill>
                  <a:srgbClr val="000000"/>
                </a:solidFill>
              </a:rPr>
              <a:t>La dirección MAC y la dirección IP están unidas. </a:t>
            </a:r>
          </a:p>
          <a:p>
            <a:pPr marL="285750" indent="-285750" algn="l" rtl="0">
              <a:buFont typeface="Arial" panose="020B0604020202020204" pitchFamily="34" charset="0"/>
              <a:buChar char="•"/>
            </a:pPr>
            <a:r>
              <a:rPr sz="1600" lang="es-419">
                <a:solidFill>
                  <a:srgbClr val="000000"/>
                </a:solidFill>
              </a:rPr>
              <a:t>Por lo tanto, esta tabla se denomina tabla de enlace DHCP snooping.</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3041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Mitigación de ataques de DHCP</a:t>
            </a:r>
            <a:br>
              <a:rPr lang="en-US" dirty="0"/>
            </a:br>
            <a:r>
              <a:rPr sz="2400" lang="es-419"/>
              <a:t>Pasos para implementar DHCP Snooping</a:t>
            </a:r>
          </a:p>
        </p:txBody>
      </p:sp>
      <p:sp>
        <p:nvSpPr>
          <p:cNvPr id="4" name="Content Placeholder 3">
            <a:extLst>
              <a:ext uri="{FF2B5EF4-FFF2-40B4-BE49-F238E27FC236}">
                <a16:creationId xmlns:a16="http://schemas.microsoft.com/office/drawing/2014/main" id="{5242A7CB-6D89-1245-97FB-53B3C507ED3F}"/>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Utilice las siguientes pasos para habilitar DHCP snooping:</a:t>
            </a:r>
          </a:p>
          <a:p>
            <a:pPr marL="73085" lvl="1" indent="0" rtl="0">
              <a:buNone/>
            </a:pPr>
            <a:r>
              <a:rPr sz="1600" b="true" lang="es-419">
                <a:solidFill>
                  <a:srgbClr val="000000"/>
                </a:solidFill>
              </a:rPr>
              <a:t>Paso 1</a:t>
            </a:r>
            <a:r>
              <a:rPr sz="1600" lang="es-419">
                <a:solidFill>
                  <a:srgbClr val="000000"/>
                </a:solidFill>
              </a:rPr>
              <a:t>. Habilite DHCP snooping usando el comando</a:t>
            </a:r>
            <a:r>
              <a:rPr sz="1600" b="true" lang="es-419">
                <a:solidFill>
                  <a:srgbClr val="000000"/>
                </a:solidFill>
              </a:rPr>
              <a:t>ip dhcp snooping</a:t>
            </a:r>
            <a:r>
              <a:rPr sz="1600" lang="es-419">
                <a:solidFill>
                  <a:srgbClr val="000000"/>
                </a:solidFill>
              </a:rPr>
              <a:t>en modo global</a:t>
            </a:r>
          </a:p>
          <a:p>
            <a:pPr marL="73085" lvl="1" indent="0" rtl="0">
              <a:buNone/>
            </a:pPr>
            <a:r>
              <a:rPr sz="1600" b="true" lang="es-419">
                <a:solidFill>
                  <a:srgbClr val="000000"/>
                </a:solidFill>
              </a:rPr>
              <a:t>Paso 2</a:t>
            </a:r>
            <a:r>
              <a:rPr sz="1600" lang="es-419">
                <a:solidFill>
                  <a:srgbClr val="000000"/>
                </a:solidFill>
              </a:rPr>
              <a:t>. En los puertos de confianza, use el comando </a:t>
            </a:r>
            <a:r>
              <a:rPr sz="1600" b="true" lang="es-419">
                <a:solidFill>
                  <a:srgbClr val="000000"/>
                </a:solidFill>
              </a:rPr>
              <a:t>ip dhcp snooping trust</a:t>
            </a:r>
            <a:r>
              <a:rPr sz="1600" lang="es-419">
                <a:solidFill>
                  <a:srgbClr val="000000"/>
                </a:solidFill>
              </a:rPr>
              <a:t>.</a:t>
            </a:r>
          </a:p>
          <a:p>
            <a:pPr marL="73085" lvl="1" indent="0" rtl="0">
              <a:buNone/>
            </a:pPr>
            <a:r>
              <a:rPr sz="1600" b="true" lang="es-419">
                <a:solidFill>
                  <a:srgbClr val="000000"/>
                </a:solidFill>
              </a:rPr>
              <a:t>Paso 3</a:t>
            </a:r>
            <a:r>
              <a:rPr sz="1600" lang="es-419">
                <a:solidFill>
                  <a:srgbClr val="000000"/>
                </a:solidFill>
              </a:rPr>
              <a:t>: En las interfaces que no son de confianza, limite la cantidad de mensajes de descubrimiento de DHCP que se pueden recibir con el comando </a:t>
            </a:r>
            <a:r>
              <a:rPr sz="1600" b="true" lang="es-419">
                <a:solidFill>
                  <a:srgbClr val="000000"/>
                </a:solidFill>
              </a:rPr>
              <a:t>ip dhcp snooping limit rate</a:t>
            </a:r>
            <a:r>
              <a:rPr sz="1600" lang="es-419">
                <a:solidFill>
                  <a:srgbClr val="000000"/>
                </a:solidFill>
              </a:rPr>
              <a:t> </a:t>
            </a:r>
            <a:r>
              <a:rPr sz="1600" i="true" lang="es-419">
                <a:solidFill>
                  <a:srgbClr val="000000"/>
                </a:solidFill>
              </a:rPr>
              <a:t>packets-per-second </a:t>
            </a:r>
            <a:r>
              <a:rPr sz="1600" lang="es-419">
                <a:solidFill>
                  <a:srgbClr val="000000"/>
                </a:solidFill>
              </a:rPr>
              <a:t>.</a:t>
            </a:r>
          </a:p>
          <a:p>
            <a:pPr marL="73085" lvl="1" indent="0" rtl="0">
              <a:buNone/>
            </a:pPr>
            <a:r>
              <a:rPr sz="1600" b="true" lang="es-419">
                <a:solidFill>
                  <a:srgbClr val="000000"/>
                </a:solidFill>
              </a:rPr>
              <a:t>Paso 4</a:t>
            </a:r>
            <a:r>
              <a:rPr sz="1600" lang="es-419">
                <a:solidFill>
                  <a:srgbClr val="000000"/>
                </a:solidFill>
              </a:rPr>
              <a:t>. Habilite la inspección DHCP por VLAN, o por un rango de VLAN, utilizando el comando </a:t>
            </a:r>
            <a:r>
              <a:rPr sz="1600" b="true" lang="es-419">
                <a:solidFill>
                  <a:srgbClr val="000000"/>
                </a:solidFill>
              </a:rPr>
              <a:t>ip dhcp snooping</a:t>
            </a:r>
            <a:r>
              <a:rPr sz="1600" lang="es-419">
                <a:solidFill>
                  <a:srgbClr val="000000"/>
                </a:solidFill>
              </a:rPr>
              <a:t> </a:t>
            </a:r>
            <a:r>
              <a:rPr sz="1600" i="true" lang="es-419">
                <a:solidFill>
                  <a:srgbClr val="000000"/>
                </a:solidFill>
              </a:rPr>
              <a:t>vlan</a:t>
            </a:r>
            <a:r>
              <a:rPr sz="1600" lang="es-419">
                <a:solidFill>
                  <a:srgbClr val="000000"/>
                </a:solidFill>
              </a:rPr>
              <a:t>.</a:t>
            </a:r>
          </a:p>
          <a:p>
            <a:pPr marL="0" indent="0" algn="l"/>
            <a:endParaRPr lang="en-US" sz="1600" dirty="0">
              <a:solidFill>
                <a:srgbClr val="000000"/>
              </a:solidFill>
            </a:endParaRPr>
          </a:p>
        </p:txBody>
      </p:sp>
    </p:spTree>
    <p:extLst>
      <p:ext uri="{BB962C8B-B14F-4D97-AF65-F5344CB8AC3E}">
        <p14:creationId xmlns:p14="http://schemas.microsoft.com/office/powerpoint/2010/main" val="4026393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Mitigar los ataques DHCP</a:t>
            </a:r>
            <a:br>
              <a:rPr lang="en-US" dirty="0"/>
            </a:br>
            <a:r>
              <a:rPr sz="2400" lang="es-419"/>
              <a:t>Ejemplo de configuración de DHCP Snooping</a:t>
            </a:r>
          </a:p>
        </p:txBody>
      </p:sp>
      <p:sp>
        <p:nvSpPr>
          <p:cNvPr id="5" name="Content Placeholder 4">
            <a:extLst>
              <a:ext uri="{FF2B5EF4-FFF2-40B4-BE49-F238E27FC236}">
                <a16:creationId xmlns:a16="http://schemas.microsoft.com/office/drawing/2014/main" id="{4F959CB0-6F69-B048-8917-9A08CE7C5960}"/>
              </a:ext>
            </a:extLst>
          </p:cNvPr>
          <p:cNvSpPr>
            <a:spLocks noGrp="1"/>
          </p:cNvSpPr>
          <p:nvPr>
            <p:ph idx="1"/>
          </p:nvPr>
        </p:nvSpPr>
        <p:spPr>
          <a:xfrm>
            <a:off x="474662" y="731838"/>
            <a:ext cx="8280057" cy="1529304"/>
          </a:xfrm>
        </p:spPr>
        <p:txBody>
          <a:bodyPr/>
          <a:lstStyle/>
          <a:p>
            <a:pPr marL="0" indent="0" algn="l" rtl="0"/>
            <a:r>
              <a:rPr sz="1600" lang="es-419">
                <a:solidFill>
                  <a:srgbClr val="000000"/>
                </a:solidFill>
              </a:rPr>
              <a:t>Consulte la topología de ejemplo de indagación DHCP con puertos confiables y no confiables. </a:t>
            </a:r>
          </a:p>
        </p:txBody>
      </p:sp>
      <p:pic>
        <p:nvPicPr>
          <p:cNvPr id="7" name="Picture 6">
            <a:extLst>
              <a:ext uri="{FF2B5EF4-FFF2-40B4-BE49-F238E27FC236}">
                <a16:creationId xmlns:a16="http://schemas.microsoft.com/office/drawing/2014/main" id="{DE88A6EC-215E-A144-91AA-892E1DB2DF8F}"/>
              </a:ext>
            </a:extLst>
          </p:cNvPr>
          <p:cNvPicPr>
            <a:picLocks noChangeAspect="1"/>
          </p:cNvPicPr>
          <p:nvPr/>
        </p:nvPicPr>
        <p:blipFill>
          <a:blip r:embed="rId3"/>
          <a:stretch>
            <a:fillRect/>
          </a:stretch>
        </p:blipFill>
        <p:spPr>
          <a:xfrm>
            <a:off x="2191334" y="1181714"/>
            <a:ext cx="5945547" cy="928301"/>
          </a:xfrm>
          <a:prstGeom prst="rect">
            <a:avLst/>
          </a:prstGeom>
        </p:spPr>
      </p:pic>
      <p:pic>
        <p:nvPicPr>
          <p:cNvPr id="9" name="Picture 8">
            <a:extLst>
              <a:ext uri="{FF2B5EF4-FFF2-40B4-BE49-F238E27FC236}">
                <a16:creationId xmlns:a16="http://schemas.microsoft.com/office/drawing/2014/main" id="{08DAE703-C19E-0A4E-A4F9-EFAB850B27A9}"/>
              </a:ext>
            </a:extLst>
          </p:cNvPr>
          <p:cNvPicPr>
            <a:picLocks noChangeAspect="1"/>
          </p:cNvPicPr>
          <p:nvPr/>
        </p:nvPicPr>
        <p:blipFill>
          <a:blip r:embed="rId4"/>
          <a:stretch>
            <a:fillRect/>
          </a:stretch>
        </p:blipFill>
        <p:spPr>
          <a:xfrm>
            <a:off x="917661" y="1181714"/>
            <a:ext cx="1130300" cy="787400"/>
          </a:xfrm>
          <a:prstGeom prst="rect">
            <a:avLst/>
          </a:prstGeom>
        </p:spPr>
      </p:pic>
      <p:sp>
        <p:nvSpPr>
          <p:cNvPr id="10" name="Rectangle 9">
            <a:extLst>
              <a:ext uri="{FF2B5EF4-FFF2-40B4-BE49-F238E27FC236}">
                <a16:creationId xmlns:a16="http://schemas.microsoft.com/office/drawing/2014/main" id="{F2F00749-AF3F-F642-A6CF-D035C4FE7873}"/>
              </a:ext>
            </a:extLst>
          </p:cNvPr>
          <p:cNvSpPr/>
          <p:nvPr/>
        </p:nvSpPr>
        <p:spPr>
          <a:xfrm>
            <a:off x="389281" y="2317725"/>
            <a:ext cx="4455684" cy="2062103"/>
          </a:xfrm>
          <a:prstGeom prst="rect">
            <a:avLst/>
          </a:prstGeom>
        </p:spPr>
        <p:txBody>
          <a:bodyPr wrap="square">
            <a:spAutoFit/>
          </a:bodyPr>
          <a:lstStyle/>
          <a:p>
            <a:pPr marL="285750" indent="-285750" rtl="0">
              <a:buFont typeface="Arial" panose="020B0604020202020204" pitchFamily="34" charset="0"/>
              <a:buChar char="•"/>
            </a:pPr>
            <a:r>
              <a:rPr sz="1600" lang="es-419">
                <a:solidFill>
                  <a:srgbClr val="000000"/>
                </a:solidFill>
                <a:latin typeface="+mn-lt"/>
              </a:rPr>
              <a:t>La inspección DHCP se habilita primero en S1. </a:t>
            </a:r>
          </a:p>
          <a:p>
            <a:pPr marL="285750" indent="-285750" rtl="0">
              <a:buFont typeface="Arial" panose="020B0604020202020204" pitchFamily="34" charset="0"/>
              <a:buChar char="•"/>
            </a:pPr>
            <a:r>
              <a:rPr sz="1600" lang="es-419">
                <a:solidFill>
                  <a:srgbClr val="000000"/>
                </a:solidFill>
                <a:latin typeface="+mn-lt"/>
              </a:rPr>
              <a:t>La interfaz ascendente al servidor DHCP es explícitamente confiable. </a:t>
            </a:r>
          </a:p>
          <a:p>
            <a:pPr marL="285750" indent="-285750" rtl="0">
              <a:buFont typeface="Arial" panose="020B0604020202020204" pitchFamily="34" charset="0"/>
              <a:buChar char="•"/>
            </a:pPr>
            <a:r>
              <a:rPr sz="1600" lang="es-419">
                <a:solidFill>
                  <a:srgbClr val="000000"/>
                </a:solidFill>
                <a:latin typeface="+mn-lt"/>
              </a:rPr>
              <a:t>F0/5 a F0/24 no son de confianza y, por lo tanto, su velocidad se limita a seis paquetes por segundo. </a:t>
            </a:r>
          </a:p>
          <a:p>
            <a:pPr marL="285750" indent="-285750" rtl="0">
              <a:buFont typeface="Arial" panose="020B0604020202020204" pitchFamily="34" charset="0"/>
              <a:buChar char="•"/>
            </a:pPr>
            <a:r>
              <a:rPr sz="1600" lang="es-419">
                <a:solidFill>
                  <a:srgbClr val="000000"/>
                </a:solidFill>
                <a:latin typeface="+mn-lt"/>
              </a:rPr>
              <a:t>Finalmente, la inspección DHCP está habilitada en VLANS 5, 10, 50, 51 y 52.</a:t>
            </a:r>
          </a:p>
        </p:txBody>
      </p:sp>
      <p:pic>
        <p:nvPicPr>
          <p:cNvPr id="12" name="Picture 11">
            <a:extLst>
              <a:ext uri="{FF2B5EF4-FFF2-40B4-BE49-F238E27FC236}">
                <a16:creationId xmlns:a16="http://schemas.microsoft.com/office/drawing/2014/main" id="{E2B4C735-B52B-ED4F-BA6D-D041D2D552E2}"/>
              </a:ext>
            </a:extLst>
          </p:cNvPr>
          <p:cNvPicPr>
            <a:picLocks noChangeAspect="1"/>
          </p:cNvPicPr>
          <p:nvPr/>
        </p:nvPicPr>
        <p:blipFill>
          <a:blip r:embed="rId5"/>
          <a:stretch>
            <a:fillRect/>
          </a:stretch>
        </p:blipFill>
        <p:spPr>
          <a:xfrm>
            <a:off x="4930346" y="2261141"/>
            <a:ext cx="3502058" cy="1815882"/>
          </a:xfrm>
          <a:prstGeom prst="rect">
            <a:avLst/>
          </a:prstGeom>
        </p:spPr>
      </p:pic>
    </p:spTree>
    <p:extLst>
      <p:ext uri="{BB962C8B-B14F-4D97-AF65-F5344CB8AC3E}">
        <p14:creationId xmlns:p14="http://schemas.microsoft.com/office/powerpoint/2010/main" val="1613858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Mitigar los ataques DHCP</a:t>
            </a:r>
            <a:br>
              <a:rPr lang="en-US" dirty="0"/>
            </a:br>
            <a:r>
              <a:rPr sz="2400" lang="es-419"/>
              <a:t>Ejemplo de configuración de DHCP Snooping (Cont.)</a:t>
            </a:r>
          </a:p>
        </p:txBody>
      </p:sp>
      <p:sp>
        <p:nvSpPr>
          <p:cNvPr id="5" name="Content Placeholder 4">
            <a:extLst>
              <a:ext uri="{FF2B5EF4-FFF2-40B4-BE49-F238E27FC236}">
                <a16:creationId xmlns:a16="http://schemas.microsoft.com/office/drawing/2014/main" id="{4F959CB0-6F69-B048-8917-9A08CE7C5960}"/>
              </a:ext>
            </a:extLst>
          </p:cNvPr>
          <p:cNvSpPr>
            <a:spLocks noGrp="1"/>
          </p:cNvSpPr>
          <p:nvPr>
            <p:ph idx="1"/>
          </p:nvPr>
        </p:nvSpPr>
        <p:spPr>
          <a:xfrm>
            <a:off x="474662" y="746982"/>
            <a:ext cx="2916129" cy="3689897"/>
          </a:xfrm>
        </p:spPr>
        <p:txBody>
          <a:bodyPr/>
          <a:lstStyle/>
          <a:p>
            <a:pPr marL="0" indent="0" algn="l" rtl="0"/>
            <a:r>
              <a:rPr sz="1600" lang="es-419">
                <a:solidFill>
                  <a:srgbClr val="000000"/>
                </a:solidFill>
              </a:rPr>
              <a:t>Utilice el comando </a:t>
            </a:r>
            <a:r>
              <a:rPr sz="1600" b="true" lang="es-419">
                <a:solidFill>
                  <a:srgbClr val="000000"/>
                </a:solidFill>
              </a:rPr>
              <a:t>show ip dhcp snooping</a:t>
            </a:r>
            <a:r>
              <a:rPr sz="1600" lang="es-419">
                <a:solidFill>
                  <a:srgbClr val="000000"/>
                </a:solidFill>
              </a:rPr>
              <a:t> para verificar la configuración de inspección DHCP.</a:t>
            </a:r>
          </a:p>
          <a:p>
            <a:pPr marL="0" indent="0" algn="l"/>
            <a:endParaRPr lang="en-US" sz="1600" dirty="0">
              <a:solidFill>
                <a:srgbClr val="000000"/>
              </a:solidFill>
            </a:endParaRPr>
          </a:p>
          <a:p>
            <a:pPr marL="0" indent="0" algn="l" rtl="0"/>
            <a:r>
              <a:rPr sz="1600" lang="es-419">
                <a:solidFill>
                  <a:srgbClr val="000000"/>
                </a:solidFill>
              </a:rPr>
              <a:t>Use el comando</a:t>
            </a:r>
            <a:r>
              <a:rPr sz="1600" b="true" lang="es-419">
                <a:solidFill>
                  <a:srgbClr val="000000"/>
                </a:solidFill>
              </a:rPr>
              <a:t>show ip dhcp snooping binding</a:t>
            </a:r>
            <a:r>
              <a:rPr sz="1600" lang="es-419">
                <a:solidFill>
                  <a:srgbClr val="000000"/>
                </a:solidFill>
              </a:rPr>
              <a:t> para ver los clientes que han recibido información de DHCP.</a:t>
            </a:r>
          </a:p>
          <a:p>
            <a:pPr marL="0" indent="0" algn="l"/>
            <a:endParaRPr lang="en-US" sz="1600" dirty="0">
              <a:solidFill>
                <a:srgbClr val="000000"/>
              </a:solidFill>
            </a:endParaRPr>
          </a:p>
          <a:p>
            <a:pPr marL="0" indent="0" algn="l" rtl="0"/>
            <a:r>
              <a:rPr sz="1400" b="true" lang="es-419">
                <a:solidFill>
                  <a:srgbClr val="000000"/>
                </a:solidFill>
              </a:rPr>
              <a:t>Nota</a:t>
            </a:r>
            <a:r>
              <a:rPr sz="1400" lang="es-419">
                <a:solidFill>
                  <a:srgbClr val="000000"/>
                </a:solidFill>
              </a:rPr>
              <a:t>: DHCP snooping también requiere Dynamic ARP Inspection (DAI).</a:t>
            </a:r>
          </a:p>
          <a:p>
            <a:pPr marL="0" indent="0" algn="l"/>
            <a:endParaRPr lang="en-US" sz="1600" dirty="0">
              <a:solidFill>
                <a:srgbClr val="000000"/>
              </a:solidFill>
            </a:endParaRPr>
          </a:p>
        </p:txBody>
      </p:sp>
      <p:pic>
        <p:nvPicPr>
          <p:cNvPr id="4" name="Picture 3">
            <a:extLst>
              <a:ext uri="{FF2B5EF4-FFF2-40B4-BE49-F238E27FC236}">
                <a16:creationId xmlns:a16="http://schemas.microsoft.com/office/drawing/2014/main" id="{7C26B0D8-0CFE-0C4C-B8D9-0ACFF42F2532}"/>
              </a:ext>
            </a:extLst>
          </p:cNvPr>
          <p:cNvPicPr>
            <a:picLocks noChangeAspect="1"/>
          </p:cNvPicPr>
          <p:nvPr/>
        </p:nvPicPr>
        <p:blipFill>
          <a:blip r:embed="rId3"/>
          <a:stretch>
            <a:fillRect/>
          </a:stretch>
        </p:blipFill>
        <p:spPr>
          <a:xfrm>
            <a:off x="3390791" y="731837"/>
            <a:ext cx="5429359" cy="3566029"/>
          </a:xfrm>
          <a:prstGeom prst="rect">
            <a:avLst/>
          </a:prstGeom>
        </p:spPr>
      </p:pic>
    </p:spTree>
    <p:extLst>
      <p:ext uri="{BB962C8B-B14F-4D97-AF65-F5344CB8AC3E}">
        <p14:creationId xmlns:p14="http://schemas.microsoft.com/office/powerpoint/2010/main" val="3408175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11.4 - Mitigación de ataques de ARP</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Mitigar los ataques ARP</a:t>
            </a:r>
            <a:br>
              <a:rPr lang="en-US" dirty="0"/>
            </a:br>
            <a:r>
              <a:rPr sz="2400" lang="es-419"/>
              <a:t>Inspección dinámica de ARP</a:t>
            </a:r>
          </a:p>
        </p:txBody>
      </p:sp>
      <p:sp>
        <p:nvSpPr>
          <p:cNvPr id="6" name="Content Placeholder 5">
            <a:extLst>
              <a:ext uri="{FF2B5EF4-FFF2-40B4-BE49-F238E27FC236}">
                <a16:creationId xmlns:a16="http://schemas.microsoft.com/office/drawing/2014/main" id="{AF0D3419-545B-B24A-9B1C-EA3F67EB84C2}"/>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En un ataque típico el atacante puede enviar respuestas ARP no solicitadas, a otros hosts en la subred con la dirección MAC del atacante y la dirección IP de la puerta de enlace predeterminada. Para evitar la suplantación de ARP y el envenenamiento por ARP resultante, un interruptor debe garantizar que solo se transmitan las Solicitudes y Respuestas de ARP válidas.</a:t>
            </a:r>
          </a:p>
          <a:p>
            <a:pPr marL="285750" indent="-285750" algn="l">
              <a:buFont typeface="Arial" panose="020B0604020202020204" pitchFamily="34" charset="0"/>
              <a:buChar char="•"/>
            </a:pPr>
            <a:endParaRPr lang="en-US" sz="1600" dirty="0">
              <a:solidFill>
                <a:srgbClr val="000000"/>
              </a:solidFill>
            </a:endParaRPr>
          </a:p>
          <a:p>
            <a:pPr marL="0" indent="0" algn="l" rtl="0"/>
            <a:r>
              <a:rPr sz="1600" lang="es-419">
                <a:solidFill>
                  <a:srgbClr val="000000"/>
                </a:solidFill>
              </a:rPr>
              <a:t>La inspección dinámica(DAI) requiere de DHCP snooping y ayuda a prevenir ataques ARP así:</a:t>
            </a:r>
          </a:p>
          <a:p>
            <a:pPr marL="358835" lvl="1" indent="-285750" rtl="0">
              <a:buFont typeface="Arial" panose="020B0604020202020204" pitchFamily="34" charset="0"/>
              <a:buChar char="•"/>
            </a:pPr>
            <a:r>
              <a:rPr lang="es-419">
                <a:solidFill>
                  <a:srgbClr val="000000"/>
                </a:solidFill>
              </a:rPr>
              <a:t>No retransmitiendo respuestas ARP invalidas o gratuitas a otros puertos en la misma VLAN.</a:t>
            </a:r>
          </a:p>
          <a:p>
            <a:pPr marL="358835" lvl="1" indent="-285750" rtl="0">
              <a:buFont typeface="Arial" panose="020B0604020202020204" pitchFamily="34" charset="0"/>
              <a:buChar char="•"/>
            </a:pPr>
            <a:r>
              <a:rPr lang="es-419">
                <a:solidFill>
                  <a:srgbClr val="000000"/>
                </a:solidFill>
              </a:rPr>
              <a:t>Intercepta todas las solicitudes y respuestas ARP en puertos no confiables.</a:t>
            </a:r>
          </a:p>
          <a:p>
            <a:pPr marL="358835" lvl="1" indent="-285750" rtl="0">
              <a:buFont typeface="Arial" panose="020B0604020202020204" pitchFamily="34" charset="0"/>
              <a:buChar char="•"/>
            </a:pPr>
            <a:r>
              <a:rPr lang="es-419">
                <a:solidFill>
                  <a:srgbClr val="000000"/>
                </a:solidFill>
              </a:rPr>
              <a:t>Verificando cada paquete interceptado para una IP-to-MAC Binding válida.</a:t>
            </a:r>
          </a:p>
          <a:p>
            <a:pPr marL="358835" lvl="1" indent="-285750" rtl="0">
              <a:buFont typeface="Arial" panose="020B0604020202020204" pitchFamily="34" charset="0"/>
              <a:buChar char="•"/>
            </a:pPr>
            <a:r>
              <a:rPr lang="es-419">
                <a:solidFill>
                  <a:srgbClr val="000000"/>
                </a:solidFill>
              </a:rPr>
              <a:t>Descarte y registre ARP Replies no válidos para evitar el envenenamiento de ARP.</a:t>
            </a:r>
          </a:p>
          <a:p>
            <a:pPr marL="358835" lvl="1" indent="-285750" rtl="0">
              <a:buFont typeface="Arial" panose="020B0604020202020204" pitchFamily="34" charset="0"/>
              <a:buChar char="•"/>
            </a:pPr>
            <a:r>
              <a:rPr lang="es-419">
                <a:solidFill>
                  <a:srgbClr val="000000"/>
                </a:solidFill>
              </a:rPr>
              <a:t>Error-disabling deshabilita la interfaz si se excede el número DAI configurado de paquetes ARP.</a:t>
            </a:r>
          </a:p>
          <a:p>
            <a:pPr marL="0" indent="0" algn="l"/>
            <a:endParaRPr lang="en-US" sz="1600" dirty="0">
              <a:solidFill>
                <a:srgbClr val="000000"/>
              </a:solidFill>
            </a:endParaRP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Mitigar los ataques ARP</a:t>
            </a:r>
            <a:br>
              <a:rPr lang="en-US" dirty="0"/>
            </a:br>
            <a:r>
              <a:rPr sz="2400" lang="es-419"/>
              <a:t>Pautas de implementación de DAI</a:t>
            </a:r>
          </a:p>
        </p:txBody>
      </p:sp>
      <p:sp>
        <p:nvSpPr>
          <p:cNvPr id="6" name="Content Placeholder 5">
            <a:extLst>
              <a:ext uri="{FF2B5EF4-FFF2-40B4-BE49-F238E27FC236}">
                <a16:creationId xmlns:a16="http://schemas.microsoft.com/office/drawing/2014/main" id="{AF0D3419-545B-B24A-9B1C-EA3F67EB84C2}"/>
              </a:ext>
            </a:extLst>
          </p:cNvPr>
          <p:cNvSpPr>
            <a:spLocks noGrp="1"/>
          </p:cNvSpPr>
          <p:nvPr>
            <p:ph idx="1"/>
          </p:nvPr>
        </p:nvSpPr>
        <p:spPr>
          <a:xfrm>
            <a:off x="474662" y="731837"/>
            <a:ext cx="4381543" cy="3689897"/>
          </a:xfrm>
        </p:spPr>
        <p:txBody>
          <a:bodyPr/>
          <a:lstStyle/>
          <a:p>
            <a:pPr marL="0" indent="0" algn="l" rtl="0"/>
            <a:r>
              <a:rPr sz="1600" lang="es-419">
                <a:solidFill>
                  <a:srgbClr val="000000"/>
                </a:solidFill>
              </a:rPr>
              <a:t>Para mitigar las probabilidades de ARP spoofing y envenenamiento ARP, siga estas pautas de implementación DAI:</a:t>
            </a:r>
          </a:p>
          <a:p>
            <a:pPr marL="285750" indent="-285750" algn="l" rtl="0">
              <a:buFont typeface="Arial" panose="020B0604020202020204" pitchFamily="34" charset="0"/>
              <a:buChar char="•"/>
            </a:pPr>
            <a:r>
              <a:rPr sz="1600" lang="es-419">
                <a:solidFill>
                  <a:srgbClr val="000000"/>
                </a:solidFill>
              </a:rPr>
              <a:t>Habilite la detección de DHCP.</a:t>
            </a:r>
          </a:p>
          <a:p>
            <a:pPr marL="285750" indent="-285750" algn="l" rtl="0">
              <a:buFont typeface="Arial" panose="020B0604020202020204" pitchFamily="34" charset="0"/>
              <a:buChar char="•"/>
            </a:pPr>
            <a:r>
              <a:rPr sz="1600" lang="es-419">
                <a:solidFill>
                  <a:srgbClr val="000000"/>
                </a:solidFill>
              </a:rPr>
              <a:t>Habilite la detección de DHCP en las VLAN seleccionadas.</a:t>
            </a:r>
          </a:p>
          <a:p>
            <a:pPr marL="285750" indent="-285750" algn="l" rtl="0">
              <a:buFont typeface="Arial" panose="020B0604020202020204" pitchFamily="34" charset="0"/>
              <a:buChar char="•"/>
            </a:pPr>
            <a:r>
              <a:rPr sz="1600" lang="es-419">
                <a:solidFill>
                  <a:srgbClr val="000000"/>
                </a:solidFill>
              </a:rPr>
              <a:t>Habilite el DAI en los VLANs seleccionados.</a:t>
            </a:r>
          </a:p>
          <a:p>
            <a:pPr marL="285750" indent="-285750" algn="l" rtl="0">
              <a:buFont typeface="Arial" panose="020B0604020202020204" pitchFamily="34" charset="0"/>
              <a:buChar char="•"/>
            </a:pPr>
            <a:r>
              <a:rPr sz="1600" lang="es-419">
                <a:solidFill>
                  <a:srgbClr val="000000"/>
                </a:solidFill>
              </a:rPr>
              <a:t>Configure las interfaces de confianza para la detección de DHCP y la inspección de ARP ("no confiable" es la configuración predeterminada).</a:t>
            </a:r>
          </a:p>
          <a:p>
            <a:pPr marL="0" indent="0" algn="l" rtl="0"/>
            <a:r>
              <a:rPr sz="1600" lang="es-419">
                <a:solidFill>
                  <a:srgbClr val="000000"/>
                </a:solidFill>
              </a:rPr>
              <a:t>Generalmente, es aconsejable configurar todos los puertos de switch de acceso como no confiables y configurar todos los puertos de enlace ascendente que están conectados a otros switches como confiables.</a:t>
            </a:r>
          </a:p>
          <a:p>
            <a:pPr marL="285750" indent="-28575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0B83BA0A-C7D6-714E-B942-4F954B9BB492}"/>
              </a:ext>
            </a:extLst>
          </p:cNvPr>
          <p:cNvPicPr>
            <a:picLocks noChangeAspect="1"/>
          </p:cNvPicPr>
          <p:nvPr/>
        </p:nvPicPr>
        <p:blipFill>
          <a:blip r:embed="rId3"/>
          <a:stretch>
            <a:fillRect/>
          </a:stretch>
        </p:blipFill>
        <p:spPr>
          <a:xfrm>
            <a:off x="4873065" y="851930"/>
            <a:ext cx="3796273" cy="3114589"/>
          </a:xfrm>
          <a:prstGeom prst="rect">
            <a:avLst/>
          </a:prstGeom>
        </p:spPr>
      </p:pic>
    </p:spTree>
    <p:extLst>
      <p:ext uri="{BB962C8B-B14F-4D97-AF65-F5344CB8AC3E}">
        <p14:creationId xmlns:p14="http://schemas.microsoft.com/office/powerpoint/2010/main" val="799212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Mitigar ataques ARP</a:t>
            </a:r>
            <a:br>
              <a:rPr lang="en-US" dirty="0"/>
            </a:br>
            <a:r>
              <a:rPr sz="2400" lang="es-419"/>
              <a:t>Ejemplo de configuración de DAI</a:t>
            </a:r>
          </a:p>
        </p:txBody>
      </p:sp>
      <p:sp>
        <p:nvSpPr>
          <p:cNvPr id="5" name="Content Placeholder 4">
            <a:extLst>
              <a:ext uri="{FF2B5EF4-FFF2-40B4-BE49-F238E27FC236}">
                <a16:creationId xmlns:a16="http://schemas.microsoft.com/office/drawing/2014/main" id="{51CBCB29-E920-014C-90E3-3FAAC6870057}"/>
              </a:ext>
            </a:extLst>
          </p:cNvPr>
          <p:cNvSpPr>
            <a:spLocks noGrp="1"/>
          </p:cNvSpPr>
          <p:nvPr>
            <p:ph idx="1"/>
          </p:nvPr>
        </p:nvSpPr>
        <p:spPr>
          <a:xfrm>
            <a:off x="474663" y="731838"/>
            <a:ext cx="8194674" cy="268288"/>
          </a:xfrm>
        </p:spPr>
        <p:txBody>
          <a:bodyPr/>
          <a:lstStyle/>
          <a:p>
            <a:pPr marL="0" indent="0" algn="l" rtl="0"/>
            <a:r>
              <a:rPr sz="1600" lang="es-419">
                <a:solidFill>
                  <a:srgbClr val="000000"/>
                </a:solidFill>
              </a:rPr>
              <a:t>En la topología anterior S1 está conectado a dos usuarios en la VLAN 10. </a:t>
            </a:r>
          </a:p>
          <a:p>
            <a:pPr marL="285750" indent="-285750" algn="l" rtl="0">
              <a:buFont typeface="Arial" panose="020B0604020202020204" pitchFamily="34" charset="0"/>
              <a:buChar char="•"/>
            </a:pPr>
            <a:r>
              <a:rPr sz="1600" lang="es-419">
                <a:solidFill>
                  <a:srgbClr val="000000"/>
                </a:solidFill>
              </a:rPr>
              <a:t>DAI será configurado para mitigar ataques ARP spoofing y envenenamiento ARP.</a:t>
            </a:r>
          </a:p>
        </p:txBody>
      </p:sp>
      <p:sp>
        <p:nvSpPr>
          <p:cNvPr id="6" name="Content Placeholder 4">
            <a:extLst>
              <a:ext uri="{FF2B5EF4-FFF2-40B4-BE49-F238E27FC236}">
                <a16:creationId xmlns:a16="http://schemas.microsoft.com/office/drawing/2014/main" id="{F253CBC2-84F9-4234-BD72-877A84D2FC04}"/>
              </a:ext>
            </a:extLst>
          </p:cNvPr>
          <p:cNvSpPr txBox="1">
            <a:spLocks/>
          </p:cNvSpPr>
          <p:nvPr/>
        </p:nvSpPr>
        <p:spPr>
          <a:xfrm>
            <a:off x="474663" y="1310641"/>
            <a:ext cx="4226878" cy="240029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rtl="0">
              <a:buFont typeface="Arial" panose="020B0604020202020204" pitchFamily="34" charset="0"/>
              <a:buChar char="•"/>
            </a:pPr>
            <a:r>
              <a:rPr sz="1600" lang="es-419">
                <a:solidFill>
                  <a:srgbClr val="000000"/>
                </a:solidFill>
              </a:rPr>
              <a:t>La inspección DHCP está habilitada porque DAI requiere que funcione la tabla de enlace de inspección DHCP. </a:t>
            </a:r>
          </a:p>
          <a:p>
            <a:pPr marL="285750" indent="-285750" algn="l" rtl="0">
              <a:buFont typeface="Arial" panose="020B0604020202020204" pitchFamily="34" charset="0"/>
              <a:buChar char="•"/>
            </a:pPr>
            <a:r>
              <a:rPr sz="1600" lang="es-419">
                <a:solidFill>
                  <a:srgbClr val="000000"/>
                </a:solidFill>
              </a:rPr>
              <a:t>Continua, la detección de DHCP y la inspección de ARP están habilitados para la computadora en la VLAN 10. </a:t>
            </a:r>
          </a:p>
          <a:p>
            <a:pPr marL="285750" indent="-285750" algn="l" rtl="0">
              <a:buFont typeface="Arial" panose="020B0604020202020204" pitchFamily="34" charset="0"/>
              <a:buChar char="•"/>
            </a:pPr>
            <a:r>
              <a:rPr sz="1600" lang="es-419">
                <a:solidFill>
                  <a:srgbClr val="000000"/>
                </a:solidFill>
              </a:rPr>
              <a:t>El puerto de enlace ascendente al router es confiable y, por lo tanto, está configurado como confiable para la inspección DHP y ARP.</a:t>
            </a:r>
          </a:p>
          <a:p>
            <a:pPr marL="0" indent="0" algn="l"/>
            <a:endParaRPr lang="en-CA" sz="1400" dirty="0">
              <a:solidFill>
                <a:srgbClr val="000000"/>
              </a:solidFill>
            </a:endParaRPr>
          </a:p>
        </p:txBody>
      </p:sp>
      <p:pic>
        <p:nvPicPr>
          <p:cNvPr id="8" name="Picture 7">
            <a:extLst>
              <a:ext uri="{FF2B5EF4-FFF2-40B4-BE49-F238E27FC236}">
                <a16:creationId xmlns:a16="http://schemas.microsoft.com/office/drawing/2014/main" id="{FA07842E-B8BB-5647-83A0-EB23DF85624A}"/>
              </a:ext>
            </a:extLst>
          </p:cNvPr>
          <p:cNvPicPr>
            <a:picLocks noChangeAspect="1"/>
          </p:cNvPicPr>
          <p:nvPr/>
        </p:nvPicPr>
        <p:blipFill>
          <a:blip r:embed="rId3"/>
          <a:stretch>
            <a:fillRect/>
          </a:stretch>
        </p:blipFill>
        <p:spPr>
          <a:xfrm>
            <a:off x="4994574" y="1310641"/>
            <a:ext cx="3350914" cy="1509021"/>
          </a:xfrm>
          <a:prstGeom prst="rect">
            <a:avLst/>
          </a:prstGeom>
        </p:spPr>
      </p:pic>
    </p:spTree>
    <p:extLst>
      <p:ext uri="{BB962C8B-B14F-4D97-AF65-F5344CB8AC3E}">
        <p14:creationId xmlns:p14="http://schemas.microsoft.com/office/powerpoint/2010/main" val="34823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Mitigar ataques ARP</a:t>
            </a:r>
            <a:br>
              <a:rPr lang="en-US" dirty="0"/>
            </a:br>
            <a:r>
              <a:rPr sz="2400" lang="es-419"/>
              <a:t>Ejemplo de configuración de DAI (Cont.)</a:t>
            </a:r>
          </a:p>
        </p:txBody>
      </p:sp>
      <p:sp>
        <p:nvSpPr>
          <p:cNvPr id="5" name="Content Placeholder 4">
            <a:extLst>
              <a:ext uri="{FF2B5EF4-FFF2-40B4-BE49-F238E27FC236}">
                <a16:creationId xmlns:a16="http://schemas.microsoft.com/office/drawing/2014/main" id="{51CBCB29-E920-014C-90E3-3FAAC6870057}"/>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DAI se puede configurar para revisar si hay direcciones MAC e IP de destino o de origen:</a:t>
            </a:r>
          </a:p>
          <a:p>
            <a:pPr marL="358835" lvl="1" indent="-285750" rtl="0">
              <a:buFont typeface="Arial" panose="020B0604020202020204" pitchFamily="34" charset="0"/>
              <a:buChar char="•"/>
            </a:pPr>
            <a:r>
              <a:rPr sz="1600" b="true" lang="es-419">
                <a:solidFill>
                  <a:srgbClr val="000000"/>
                </a:solidFill>
              </a:rPr>
              <a:t>MAC de destino</a:t>
            </a:r>
            <a:r>
              <a:rPr sz="1600" lang="es-419">
                <a:solidFill>
                  <a:srgbClr val="000000"/>
                </a:solidFill>
              </a:rPr>
              <a:t> Comprueba la dirección MAC de destino en el encabezado de Ethernet con la dirección MAC de destino en el cuerpo ARP.</a:t>
            </a:r>
          </a:p>
          <a:p>
            <a:pPr marL="358835" lvl="1" indent="-285750" rtl="0">
              <a:buFont typeface="Arial" panose="020B0604020202020204" pitchFamily="34" charset="0"/>
              <a:buChar char="•"/>
            </a:pPr>
            <a:r>
              <a:rPr sz="1600" b="true" lang="es-419">
                <a:solidFill>
                  <a:srgbClr val="000000"/>
                </a:solidFill>
              </a:rPr>
              <a:t>MAC de origen</a:t>
            </a:r>
            <a:r>
              <a:rPr sz="1600" lang="es-419">
                <a:solidFill>
                  <a:srgbClr val="000000"/>
                </a:solidFill>
              </a:rPr>
              <a:t>- Comprueba la dirección MAC de origen en el encabezado de Ethernet con la dirección MAC del remitente en el cuerpo ARP.</a:t>
            </a:r>
          </a:p>
          <a:p>
            <a:pPr marL="358835" lvl="1" indent="-285750" rtl="0">
              <a:buFont typeface="Arial" panose="020B0604020202020204" pitchFamily="34" charset="0"/>
              <a:buChar char="•"/>
            </a:pPr>
            <a:r>
              <a:rPr sz="1600" b="true" lang="es-419">
                <a:solidFill>
                  <a:srgbClr val="000000"/>
                </a:solidFill>
              </a:rPr>
              <a:t>Dirección IP</a:t>
            </a:r>
            <a:r>
              <a:rPr sz="1600" lang="es-419">
                <a:solidFill>
                  <a:srgbClr val="000000"/>
                </a:solidFill>
              </a:rPr>
              <a:t>- Comprueba el cuerpo ARP para direcciones IP no válidas e inesperadas, incluidas las direcciones 0.0.0.0, 255.255.255.255 y todas las direcciones de multidifusión IP.</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769787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Mitigar ataques ARP</a:t>
            </a:r>
            <a:br>
              <a:rPr lang="en-US" dirty="0"/>
            </a:br>
            <a:r>
              <a:rPr sz="2400" lang="es-419"/>
              <a:t>Ejemplo de configuración de DAI (Cont.)</a:t>
            </a:r>
          </a:p>
        </p:txBody>
      </p:sp>
      <p:sp>
        <p:nvSpPr>
          <p:cNvPr id="5" name="Content Placeholder 4">
            <a:extLst>
              <a:ext uri="{FF2B5EF4-FFF2-40B4-BE49-F238E27FC236}">
                <a16:creationId xmlns:a16="http://schemas.microsoft.com/office/drawing/2014/main" id="{51CBCB29-E920-014C-90E3-3FAAC6870057}"/>
              </a:ext>
            </a:extLst>
          </p:cNvPr>
          <p:cNvSpPr>
            <a:spLocks noGrp="1"/>
          </p:cNvSpPr>
          <p:nvPr>
            <p:ph idx="1"/>
          </p:nvPr>
        </p:nvSpPr>
        <p:spPr>
          <a:xfrm>
            <a:off x="474662" y="731837"/>
            <a:ext cx="8486458" cy="1020763"/>
          </a:xfrm>
        </p:spPr>
        <p:txBody>
          <a:bodyPr/>
          <a:lstStyle/>
          <a:p>
            <a:pPr marL="0" indent="0" algn="l" rtl="0"/>
            <a:r>
              <a:rPr sz="1600" lang="es-419">
                <a:solidFill>
                  <a:srgbClr val="000000"/>
                </a:solidFill>
              </a:rPr>
              <a:t>El </a:t>
            </a:r>
            <a:r>
              <a:rPr sz="1600" b="true" lang="es-419">
                <a:solidFill>
                  <a:srgbClr val="000000"/>
                </a:solidFill>
              </a:rPr>
              <a:t>comando de configuración global: ip arp inspección validate </a:t>
            </a:r>
            <a:r>
              <a:rPr sz="1600" lang="es-419">
                <a:solidFill>
                  <a:srgbClr val="000000"/>
                </a:solidFill>
              </a:rPr>
              <a:t>{[</a:t>
            </a:r>
            <a:r>
              <a:rPr sz="1600" b="true" lang="es-419">
                <a:solidFill>
                  <a:srgbClr val="000000"/>
                </a:solidFill>
              </a:rPr>
              <a:t>src-mac</a:t>
            </a:r>
            <a:r>
              <a:rPr sz="1600" lang="es-419">
                <a:solidFill>
                  <a:srgbClr val="000000"/>
                </a:solidFill>
              </a:rPr>
              <a:t>] [</a:t>
            </a:r>
            <a:r>
              <a:rPr sz="1600" b="true" lang="es-419">
                <a:solidFill>
                  <a:srgbClr val="000000"/>
                </a:solidFill>
              </a:rPr>
              <a:t>dst-mac</a:t>
            </a:r>
            <a:r>
              <a:rPr sz="1600" lang="es-419">
                <a:solidFill>
                  <a:srgbClr val="000000"/>
                </a:solidFill>
              </a:rPr>
              <a:t>] [</a:t>
            </a:r>
            <a:r>
              <a:rPr sz="1600" b="true" lang="es-419">
                <a:solidFill>
                  <a:srgbClr val="000000"/>
                </a:solidFill>
              </a:rPr>
              <a:t>ip</a:t>
            </a:r>
            <a:r>
              <a:rPr sz="1600" lang="es-419">
                <a:solidFill>
                  <a:srgbClr val="000000"/>
                </a:solidFill>
              </a:rPr>
              <a:t>]} se utiliza para configurar DAI para descartar paquetes ARP cuando las direcciones IP no son válidas. </a:t>
            </a:r>
          </a:p>
          <a:p>
            <a:pPr marL="285750" indent="-285750" algn="l" rtl="0">
              <a:buFont typeface="Arial" panose="020B0604020202020204" pitchFamily="34" charset="0"/>
              <a:buChar char="•"/>
            </a:pPr>
            <a:r>
              <a:rPr sz="1600" lang="es-419">
                <a:solidFill>
                  <a:srgbClr val="000000"/>
                </a:solidFill>
              </a:rPr>
              <a:t>Se puede usar cuando las direcciones MAC en el cuerpo de los paquetes ARP no coinciden con las direcciones que se especifican en el encabezado Ethernet. </a:t>
            </a:r>
          </a:p>
          <a:p>
            <a:pPr marL="285750" indent="-285750" algn="l" rtl="0">
              <a:buFont typeface="Arial" panose="020B0604020202020204" pitchFamily="34" charset="0"/>
              <a:buChar char="•"/>
            </a:pPr>
            <a:r>
              <a:rPr sz="1600" lang="es-419">
                <a:solidFill>
                  <a:srgbClr val="000000"/>
                </a:solidFill>
              </a:rPr>
              <a:t>Note como en el siguiente ejemplo, sólo un comando puede ser configurado. </a:t>
            </a:r>
          </a:p>
          <a:p>
            <a:pPr marL="285750" indent="-285750" algn="l">
              <a:buFont typeface="Arial" panose="020B0604020202020204" pitchFamily="34" charset="0"/>
              <a:buChar char="•"/>
            </a:pPr>
            <a:endParaRPr lang="en-CA" sz="1400" dirty="0">
              <a:solidFill>
                <a:srgbClr val="000000"/>
              </a:solidFill>
            </a:endParaRPr>
          </a:p>
          <a:p>
            <a:pPr marL="0" indent="0" algn="l"/>
            <a:endParaRPr lang="en-US" sz="1400" dirty="0">
              <a:solidFill>
                <a:srgbClr val="000000"/>
              </a:solidFill>
            </a:endParaRPr>
          </a:p>
        </p:txBody>
      </p:sp>
      <p:sp>
        <p:nvSpPr>
          <p:cNvPr id="6" name="Content Placeholder 4">
            <a:extLst>
              <a:ext uri="{FF2B5EF4-FFF2-40B4-BE49-F238E27FC236}">
                <a16:creationId xmlns:a16="http://schemas.microsoft.com/office/drawing/2014/main" id="{E3B76157-5448-4D3A-8ED9-3915A794D611}"/>
              </a:ext>
            </a:extLst>
          </p:cNvPr>
          <p:cNvSpPr txBox="1">
            <a:spLocks/>
          </p:cNvSpPr>
          <p:nvPr/>
        </p:nvSpPr>
        <p:spPr>
          <a:xfrm>
            <a:off x="474662" y="2167890"/>
            <a:ext cx="4097338" cy="301965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rtl="0">
              <a:buFont typeface="Arial" panose="020B0604020202020204" pitchFamily="34" charset="0"/>
              <a:buChar char="•"/>
            </a:pPr>
            <a:r>
              <a:rPr sz="1600" lang="es-419">
                <a:solidFill>
                  <a:srgbClr val="000000"/>
                </a:solidFill>
              </a:rPr>
              <a:t>Por lo tanto, al ingresar múltiples </a:t>
            </a:r>
            <a:r>
              <a:rPr sz="1600" b="true" lang="es-419">
                <a:solidFill>
                  <a:srgbClr val="000000"/>
                </a:solidFill>
              </a:rPr>
              <a:t>comandos de validación de inspección de arp sobre escribe el</a:t>
            </a:r>
            <a:r>
              <a:rPr sz="1600" lang="es-419">
                <a:solidFill>
                  <a:srgbClr val="000000"/>
                </a:solidFill>
              </a:rPr>
              <a:t> comando anterior. </a:t>
            </a:r>
          </a:p>
          <a:p>
            <a:pPr marL="285750" indent="-285750" algn="l" rtl="0">
              <a:buFont typeface="Arial" panose="020B0604020202020204" pitchFamily="34" charset="0"/>
              <a:buChar char="•"/>
            </a:pPr>
            <a:r>
              <a:rPr sz="1600" lang="es-419">
                <a:solidFill>
                  <a:srgbClr val="000000"/>
                </a:solidFill>
              </a:rPr>
              <a:t>Para incluir más de un método de validación, ingréselos en la misma línea de comando como se muestra y verifíquelos en la siguiente salida.</a:t>
            </a:r>
          </a:p>
          <a:p>
            <a:pPr marL="285750" indent="-285750" algn="l">
              <a:buFont typeface="Arial" panose="020B0604020202020204" pitchFamily="34" charset="0"/>
              <a:buChar char="•"/>
            </a:pPr>
            <a:endParaRPr lang="en-CA" sz="1400" dirty="0">
              <a:solidFill>
                <a:srgbClr val="000000"/>
              </a:solidFill>
            </a:endParaRPr>
          </a:p>
        </p:txBody>
      </p:sp>
      <p:pic>
        <p:nvPicPr>
          <p:cNvPr id="4" name="Picture 3">
            <a:extLst>
              <a:ext uri="{FF2B5EF4-FFF2-40B4-BE49-F238E27FC236}">
                <a16:creationId xmlns:a16="http://schemas.microsoft.com/office/drawing/2014/main" id="{504D14C8-E0DA-5340-82E7-06ABA5F2B81F}"/>
              </a:ext>
            </a:extLst>
          </p:cNvPr>
          <p:cNvPicPr>
            <a:picLocks noChangeAspect="1"/>
          </p:cNvPicPr>
          <p:nvPr/>
        </p:nvPicPr>
        <p:blipFill>
          <a:blip r:embed="rId3"/>
          <a:stretch>
            <a:fillRect/>
          </a:stretch>
        </p:blipFill>
        <p:spPr>
          <a:xfrm>
            <a:off x="4767532" y="2103120"/>
            <a:ext cx="3998055" cy="2217103"/>
          </a:xfrm>
          <a:prstGeom prst="rect">
            <a:avLst/>
          </a:prstGeom>
        </p:spPr>
      </p:pic>
    </p:spTree>
    <p:extLst>
      <p:ext uri="{BB962C8B-B14F-4D97-AF65-F5344CB8AC3E}">
        <p14:creationId xmlns:p14="http://schemas.microsoft.com/office/powerpoint/2010/main" val="2832716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11.5 - Mitigar ataques STP</a:t>
            </a:r>
          </a:p>
        </p:txBody>
      </p:sp>
    </p:spTree>
    <p:custDataLst>
      <p:tags r:id="rId1"/>
    </p:custDataLst>
    <p:extLst>
      <p:ext uri="{BB962C8B-B14F-4D97-AF65-F5344CB8AC3E}">
        <p14:creationId xmlns:p14="http://schemas.microsoft.com/office/powerpoint/2010/main" val="2732502007"/>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Mitigar ataques STP</a:t>
            </a:r>
            <a:br>
              <a:rPr lang="en-US" dirty="0"/>
            </a:br>
            <a:r>
              <a:rPr sz="2400" lang="es-419"/>
              <a:t>PortFast y protección de BPDU</a:t>
            </a:r>
          </a:p>
        </p:txBody>
      </p:sp>
      <p:sp>
        <p:nvSpPr>
          <p:cNvPr id="6" name="Content Placeholder 5">
            <a:extLst>
              <a:ext uri="{FF2B5EF4-FFF2-40B4-BE49-F238E27FC236}">
                <a16:creationId xmlns:a16="http://schemas.microsoft.com/office/drawing/2014/main" id="{65FC0057-C4C5-284D-BE0F-69850418000A}"/>
              </a:ext>
            </a:extLst>
          </p:cNvPr>
          <p:cNvSpPr>
            <a:spLocks noGrp="1"/>
          </p:cNvSpPr>
          <p:nvPr>
            <p:ph idx="1"/>
          </p:nvPr>
        </p:nvSpPr>
        <p:spPr>
          <a:xfrm>
            <a:off x="431971" y="731837"/>
            <a:ext cx="8280057" cy="3702253"/>
          </a:xfrm>
        </p:spPr>
        <p:txBody>
          <a:bodyPr/>
          <a:lstStyle/>
          <a:p>
            <a:pPr marL="0" indent="0" algn="l" rtl="0"/>
            <a:r>
              <a:rPr sz="1600" lang="es-419">
                <a:solidFill>
                  <a:srgbClr val="000000"/>
                </a:solidFill>
              </a:rPr>
              <a:t>Recuerde que los atacantes de red pueden manipular el Protocolo de árbol de expansión (STP) para realizar un ataque falsificando el puente raíz y cambiando la topología de una red. </a:t>
            </a:r>
          </a:p>
          <a:p>
            <a:pPr marL="0" indent="0" algn="l" rtl="0"/>
            <a:r>
              <a:rPr sz="1600" lang="es-419">
                <a:solidFill>
                  <a:srgbClr val="000000"/>
                </a:solidFill>
              </a:rPr>
              <a:t>Para mitigar los ataques STP, use PortFast y la protección de la unidad de datos de protocolo de puente (BPDU):</a:t>
            </a:r>
          </a:p>
          <a:p>
            <a:pPr marL="73085" lvl="1" indent="0" rtl="0">
              <a:buNone/>
            </a:pPr>
            <a:r>
              <a:rPr sz="1600" b="true" lang="es-419">
                <a:solidFill>
                  <a:srgbClr val="000000"/>
                </a:solidFill>
              </a:rPr>
              <a:t>PortFast</a:t>
            </a:r>
          </a:p>
          <a:p>
            <a:pPr marL="415985" lvl="1" indent="-342900" rtl="0">
              <a:buFont typeface="Arial" panose="020B0604020202020204" pitchFamily="34" charset="0"/>
              <a:buChar char="•"/>
            </a:pPr>
            <a:r>
              <a:rPr sz="1600" lang="es-419">
                <a:solidFill>
                  <a:srgbClr val="000000"/>
                </a:solidFill>
              </a:rPr>
              <a:t>PortFast lleva inmediatamente un puerto al estado de reenvío desde un estado de bloqueo, sin pasar por los estados de escucha y aprendizaje. </a:t>
            </a:r>
          </a:p>
          <a:p>
            <a:pPr marL="415985" lvl="1" indent="-342900" rtl="0">
              <a:buFont typeface="Arial" panose="020B0604020202020204" pitchFamily="34" charset="0"/>
              <a:buChar char="•"/>
            </a:pPr>
            <a:r>
              <a:rPr sz="1600" lang="es-419">
                <a:solidFill>
                  <a:srgbClr val="000000"/>
                </a:solidFill>
              </a:rPr>
              <a:t>Aplica a todos los puertos de acceso de usuario final. </a:t>
            </a:r>
          </a:p>
          <a:p>
            <a:pPr marL="73085" lvl="1" indent="0">
              <a:buNone/>
            </a:pPr>
            <a:endParaRPr lang="en-US" sz="1600" b="1" dirty="0">
              <a:solidFill>
                <a:srgbClr val="000000"/>
              </a:solidFill>
            </a:endParaRPr>
          </a:p>
          <a:p>
            <a:pPr marL="73085" lvl="1" indent="0" rtl="0">
              <a:buNone/>
            </a:pPr>
            <a:r>
              <a:rPr sz="1600" b="true" lang="es-419">
                <a:solidFill>
                  <a:srgbClr val="000000"/>
                </a:solidFill>
              </a:rPr>
              <a:t>Protección de BPDU</a:t>
            </a:r>
          </a:p>
          <a:p>
            <a:pPr marL="415985" lvl="1" indent="-342900" rtl="0">
              <a:buFont typeface="Arial" panose="020B0604020202020204" pitchFamily="34" charset="0"/>
              <a:buChar char="•"/>
            </a:pPr>
            <a:r>
              <a:rPr sz="1600" lang="es-419">
                <a:solidFill>
                  <a:srgbClr val="000000"/>
                </a:solidFill>
              </a:rPr>
              <a:t>El error de protección de BPDU deshabilita inmediatamente un puerto que recibe una BPDU. </a:t>
            </a:r>
          </a:p>
          <a:p>
            <a:pPr marL="415985" lvl="1" indent="-342900" rtl="0">
              <a:buFont typeface="Arial" panose="020B0604020202020204" pitchFamily="34" charset="0"/>
              <a:buChar char="•"/>
            </a:pPr>
            <a:r>
              <a:rPr sz="1600" lang="es-419">
                <a:solidFill>
                  <a:srgbClr val="000000"/>
                </a:solidFill>
              </a:rPr>
              <a:t>Al igual que PortFast, la protección BPDU sólo debe configurarse en interfaces conectadas a dispositivos finales.</a:t>
            </a:r>
          </a:p>
          <a:p>
            <a:pPr marL="342900" indent="-342900" algn="l">
              <a:buFont typeface="Arial" panose="020B0604020202020204" pitchFamily="34" charset="0"/>
              <a:buChar char="•"/>
            </a:pPr>
            <a:endParaRPr lang="en-US" sz="1800" dirty="0">
              <a:solidFill>
                <a:srgbClr val="000000"/>
              </a:solidFill>
            </a:endParaRPr>
          </a:p>
        </p:txBody>
      </p:sp>
    </p:spTree>
    <p:extLst>
      <p:ext uri="{BB962C8B-B14F-4D97-AF65-F5344CB8AC3E}">
        <p14:creationId xmlns:p14="http://schemas.microsoft.com/office/powerpoint/2010/main" val="1970481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Mitigar ataques STP</a:t>
            </a:r>
            <a:br>
              <a:rPr lang="en-US" sz="1600" dirty="0"/>
            </a:br>
            <a:r>
              <a:rPr sz="2400" lang="es-419"/>
              <a:t>Configurar PortFast</a:t>
            </a:r>
          </a:p>
        </p:txBody>
      </p:sp>
      <p:sp>
        <p:nvSpPr>
          <p:cNvPr id="4" name="Content Placeholder 3">
            <a:extLst>
              <a:ext uri="{FF2B5EF4-FFF2-40B4-BE49-F238E27FC236}">
                <a16:creationId xmlns:a16="http://schemas.microsoft.com/office/drawing/2014/main" id="{33C6255F-D9F4-0A4C-AA46-FF2FE6FC9FEA}"/>
              </a:ext>
            </a:extLst>
          </p:cNvPr>
          <p:cNvSpPr>
            <a:spLocks noGrp="1"/>
          </p:cNvSpPr>
          <p:nvPr>
            <p:ph idx="1"/>
          </p:nvPr>
        </p:nvSpPr>
        <p:spPr>
          <a:xfrm>
            <a:off x="474662" y="731838"/>
            <a:ext cx="8280057" cy="1310640"/>
          </a:xfrm>
        </p:spPr>
        <p:txBody>
          <a:bodyPr/>
          <a:lstStyle/>
          <a:p>
            <a:pPr marL="0" indent="0" algn="l" rtl="0"/>
            <a:r>
              <a:rPr sz="1600" lang="es-419">
                <a:solidFill>
                  <a:srgbClr val="000000"/>
                </a:solidFill>
              </a:rPr>
              <a:t>PortFast omite los estados de escucha y aprendizaje de STP para minimizar el tiempo que los puertos de acceso deben esperar a que STP converja. </a:t>
            </a:r>
          </a:p>
          <a:p>
            <a:pPr marL="342900" indent="-342900" algn="l" rtl="0">
              <a:buFont typeface="Arial" panose="020B0604020202020204" pitchFamily="34" charset="0"/>
              <a:buChar char="•"/>
            </a:pPr>
            <a:r>
              <a:rPr sz="1600" lang="es-419">
                <a:solidFill>
                  <a:srgbClr val="000000"/>
                </a:solidFill>
              </a:rPr>
              <a:t>Sólo habilite PortFast en los puertos de acceso.</a:t>
            </a:r>
          </a:p>
          <a:p>
            <a:pPr marL="342900" indent="-342900" algn="l" rtl="0">
              <a:buFont typeface="Arial" panose="020B0604020202020204" pitchFamily="34" charset="0"/>
              <a:buChar char="•"/>
            </a:pPr>
            <a:r>
              <a:rPr sz="1600" lang="es-419">
                <a:solidFill>
                  <a:srgbClr val="000000"/>
                </a:solidFill>
              </a:rPr>
              <a:t>PortFast en enlaces entre conmutadores puede crear un bucle de árbol de expansión.</a:t>
            </a:r>
          </a:p>
        </p:txBody>
      </p:sp>
      <p:sp>
        <p:nvSpPr>
          <p:cNvPr id="6" name="Content Placeholder 3">
            <a:extLst>
              <a:ext uri="{FF2B5EF4-FFF2-40B4-BE49-F238E27FC236}">
                <a16:creationId xmlns:a16="http://schemas.microsoft.com/office/drawing/2014/main" id="{E0ABB6FA-1C8E-47DF-91D1-289FB4659956}"/>
              </a:ext>
            </a:extLst>
          </p:cNvPr>
          <p:cNvSpPr txBox="1">
            <a:spLocks/>
          </p:cNvSpPr>
          <p:nvPr/>
        </p:nvSpPr>
        <p:spPr>
          <a:xfrm>
            <a:off x="474663" y="2042477"/>
            <a:ext cx="4257358" cy="2224723"/>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sz="1600" lang="es-419">
                <a:solidFill>
                  <a:srgbClr val="000000"/>
                </a:solidFill>
              </a:rPr>
              <a:t>PortFast se puede habilitar:</a:t>
            </a:r>
          </a:p>
          <a:p>
            <a:pPr marL="285750" indent="-285750" algn="l" rtl="0">
              <a:buFont typeface="Arial" panose="020B0604020202020204" pitchFamily="34" charset="0"/>
              <a:buChar char="•"/>
            </a:pPr>
            <a:r>
              <a:rPr sz="1600" b="true" lang="es-419">
                <a:solidFill>
                  <a:srgbClr val="000000"/>
                </a:solidFill>
              </a:rPr>
              <a:t>En una interfaz: </a:t>
            </a:r>
            <a:r>
              <a:rPr sz="1600" lang="es-419">
                <a:solidFill>
                  <a:srgbClr val="000000"/>
                </a:solidFill>
              </a:rPr>
              <a:t>– utilice el comando de </a:t>
            </a:r>
            <a:r>
              <a:rPr sz="1600" b="true" lang="es-419">
                <a:solidFill>
                  <a:srgbClr val="000000"/>
                </a:solidFill>
              </a:rPr>
              <a:t>spanning-tree portfast</a:t>
            </a:r>
            <a:r>
              <a:rPr sz="1600" lang="es-419">
                <a:solidFill>
                  <a:srgbClr val="000000"/>
                </a:solidFill>
              </a:rPr>
              <a:t>.</a:t>
            </a:r>
            <a:r>
              <a:rPr sz="1600" b="true" lang="es-419">
                <a:solidFill>
                  <a:srgbClr val="000000"/>
                </a:solidFill>
              </a:rPr>
              <a:t> </a:t>
            </a:r>
          </a:p>
          <a:p>
            <a:pPr marL="285750" indent="-285750" algn="l" rtl="0">
              <a:buFont typeface="Arial" panose="020B0604020202020204" pitchFamily="34" charset="0"/>
              <a:buChar char="•"/>
            </a:pPr>
            <a:r>
              <a:rPr sz="1600" b="true" lang="es-419">
                <a:solidFill>
                  <a:srgbClr val="000000"/>
                </a:solidFill>
              </a:rPr>
              <a:t>Globalmente:</a:t>
            </a:r>
            <a:r>
              <a:rPr sz="1600" lang="es-419">
                <a:solidFill>
                  <a:srgbClr val="000000"/>
                </a:solidFill>
              </a:rPr>
              <a:t> – use el comando de </a:t>
            </a:r>
            <a:r>
              <a:rPr sz="1600" b="true" lang="es-419">
                <a:solidFill>
                  <a:srgbClr val="000000"/>
                </a:solidFill>
              </a:rPr>
              <a:t>spanning-tree portfast default</a:t>
            </a:r>
            <a:r>
              <a:rPr sz="1600" lang="es-419">
                <a:solidFill>
                  <a:srgbClr val="000000"/>
                </a:solidFill>
              </a:rPr>
              <a:t> para habilitar PortFast en todos los puertos de acceso.</a:t>
            </a:r>
          </a:p>
          <a:p>
            <a:pPr marL="342900" indent="-342900" algn="l">
              <a:buFont typeface="Arial" panose="020B0604020202020204" pitchFamily="34" charset="0"/>
              <a:buChar char="•"/>
            </a:pPr>
            <a:endParaRPr lang="en-CA" sz="1400" dirty="0">
              <a:solidFill>
                <a:srgbClr val="000000"/>
              </a:solidFill>
            </a:endParaRPr>
          </a:p>
          <a:p>
            <a:pPr marL="342900" indent="-342900" algn="l">
              <a:buFont typeface="Arial" panose="020B0604020202020204" pitchFamily="34" charset="0"/>
              <a:buChar char="•"/>
            </a:pPr>
            <a:endParaRPr lang="en-CA" sz="1400" dirty="0">
              <a:solidFill>
                <a:srgbClr val="000000"/>
              </a:solidFill>
            </a:endParaRPr>
          </a:p>
        </p:txBody>
      </p:sp>
      <p:pic>
        <p:nvPicPr>
          <p:cNvPr id="5" name="Picture 4">
            <a:extLst>
              <a:ext uri="{FF2B5EF4-FFF2-40B4-BE49-F238E27FC236}">
                <a16:creationId xmlns:a16="http://schemas.microsoft.com/office/drawing/2014/main" id="{4140213E-AD93-4F68-86B7-32BF6D95CD59}"/>
              </a:ext>
            </a:extLst>
          </p:cNvPr>
          <p:cNvPicPr>
            <a:picLocks noChangeAspect="1"/>
          </p:cNvPicPr>
          <p:nvPr/>
        </p:nvPicPr>
        <p:blipFill>
          <a:blip r:embed="rId3"/>
          <a:stretch>
            <a:fillRect/>
          </a:stretch>
        </p:blipFill>
        <p:spPr>
          <a:xfrm>
            <a:off x="5001676" y="2042477"/>
            <a:ext cx="3753043" cy="1911448"/>
          </a:xfrm>
          <a:prstGeom prst="rect">
            <a:avLst/>
          </a:prstGeom>
        </p:spPr>
      </p:pic>
    </p:spTree>
    <p:extLst>
      <p:ext uri="{BB962C8B-B14F-4D97-AF65-F5344CB8AC3E}">
        <p14:creationId xmlns:p14="http://schemas.microsoft.com/office/powerpoint/2010/main" val="426333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Mitigar ataques STP</a:t>
            </a:r>
            <a:br>
              <a:rPr lang="en-US" sz="1600" dirty="0"/>
            </a:br>
            <a:r>
              <a:rPr sz="2400" lang="es-419"/>
              <a:t>Configurar PortFast(Cont.)</a:t>
            </a:r>
          </a:p>
        </p:txBody>
      </p:sp>
      <p:sp>
        <p:nvSpPr>
          <p:cNvPr id="4" name="Content Placeholder 3">
            <a:extLst>
              <a:ext uri="{FF2B5EF4-FFF2-40B4-BE49-F238E27FC236}">
                <a16:creationId xmlns:a16="http://schemas.microsoft.com/office/drawing/2014/main" id="{33C6255F-D9F4-0A4C-AA46-FF2FE6FC9FEA}"/>
              </a:ext>
            </a:extLst>
          </p:cNvPr>
          <p:cNvSpPr>
            <a:spLocks noGrp="1"/>
          </p:cNvSpPr>
          <p:nvPr>
            <p:ph idx="1"/>
          </p:nvPr>
        </p:nvSpPr>
        <p:spPr>
          <a:xfrm>
            <a:off x="474662" y="731837"/>
            <a:ext cx="8120698" cy="3689897"/>
          </a:xfrm>
        </p:spPr>
        <p:txBody>
          <a:bodyPr/>
          <a:lstStyle/>
          <a:p>
            <a:pPr marL="0" indent="0" algn="l" rtl="0"/>
            <a:r>
              <a:rPr sz="1600" lang="es-419">
                <a:solidFill>
                  <a:srgbClr val="000000"/>
                </a:solidFill>
              </a:rPr>
              <a:t>Para verificar si PortFast está habilitado globalmente, puede usar:</a:t>
            </a:r>
          </a:p>
          <a:p>
            <a:pPr marL="285750" indent="-285750" algn="l" rtl="0">
              <a:buFont typeface="Arial" panose="020B0604020202020204" pitchFamily="34" charset="0"/>
              <a:buChar char="•"/>
            </a:pPr>
            <a:r>
              <a:rPr sz="1400" b="true" lang="es-419">
                <a:solidFill>
                  <a:srgbClr val="000000"/>
                </a:solidFill>
              </a:rPr>
              <a:t>Comando show running-config | begin span</a:t>
            </a:r>
            <a:r>
              <a:rPr sz="1400" lang="es-419">
                <a:solidFill>
                  <a:srgbClr val="000000"/>
                </a:solidFill>
              </a:rPr>
              <a:t> </a:t>
            </a:r>
          </a:p>
          <a:p>
            <a:pPr marL="285750" indent="-285750" algn="l" rtl="0">
              <a:buFont typeface="Arial" panose="020B0604020202020204" pitchFamily="34" charset="0"/>
              <a:buChar char="•"/>
            </a:pPr>
            <a:r>
              <a:rPr sz="1400" b="true" lang="es-419">
                <a:solidFill>
                  <a:srgbClr val="000000"/>
                </a:solidFill>
              </a:rPr>
              <a:t>Comando show spanning-tree summary</a:t>
            </a:r>
            <a:r>
              <a:rPr sz="1400" lang="es-419">
                <a:solidFill>
                  <a:srgbClr val="000000"/>
                </a:solidFill>
              </a:rPr>
              <a:t> </a:t>
            </a:r>
          </a:p>
          <a:p>
            <a:pPr marL="0" indent="0" algn="l"/>
            <a:endParaRPr lang="en-US" sz="1600" dirty="0">
              <a:solidFill>
                <a:srgbClr val="000000"/>
              </a:solidFill>
            </a:endParaRPr>
          </a:p>
          <a:p>
            <a:pPr marL="0" indent="0" algn="l" rtl="0"/>
            <a:r>
              <a:rPr sz="1400" lang="es-419">
                <a:solidFill>
                  <a:srgbClr val="000000"/>
                </a:solidFill>
              </a:rPr>
              <a:t>Para verificar si PortFast tiene habilitada una interfaz, use el comando </a:t>
            </a:r>
            <a:r>
              <a:rPr sz="1400" b="true" lang="es-419">
                <a:solidFill>
                  <a:srgbClr val="000000"/>
                </a:solidFill>
              </a:rPr>
              <a:t>show running-config interface </a:t>
            </a:r>
            <a:r>
              <a:rPr sz="1400" i="true" lang="es-419">
                <a:solidFill>
                  <a:srgbClr val="000000"/>
                </a:solidFill>
              </a:rPr>
              <a:t>type/number </a:t>
            </a:r>
            <a:r>
              <a:rPr sz="1400" lang="es-419">
                <a:solidFill>
                  <a:srgbClr val="000000"/>
                </a:solidFill>
              </a:rPr>
              <a:t>. </a:t>
            </a:r>
          </a:p>
          <a:p>
            <a:pPr marL="0" indent="0" algn="l"/>
            <a:endParaRPr lang="en-US" sz="1400" dirty="0">
              <a:solidFill>
                <a:srgbClr val="000000"/>
              </a:solidFill>
            </a:endParaRPr>
          </a:p>
          <a:p>
            <a:pPr marL="0" indent="0" algn="l" rtl="0"/>
            <a:r>
              <a:rPr sz="1400" lang="es-419">
                <a:solidFill>
                  <a:srgbClr val="000000"/>
                </a:solidFill>
              </a:rPr>
              <a:t>El comando </a:t>
            </a:r>
            <a:r>
              <a:rPr sz="1400" b="true" lang="es-419">
                <a:solidFill>
                  <a:srgbClr val="000000"/>
                </a:solidFill>
              </a:rPr>
              <a:t>show spanning-tree interface </a:t>
            </a:r>
            <a:r>
              <a:rPr sz="1400" i="true" lang="es-419">
                <a:solidFill>
                  <a:srgbClr val="000000"/>
                </a:solidFill>
              </a:rPr>
              <a:t>type/number </a:t>
            </a:r>
            <a:r>
              <a:rPr sz="1400" b="true" lang="es-419">
                <a:solidFill>
                  <a:srgbClr val="000000"/>
                </a:solidFill>
              </a:rPr>
              <a:t>detail</a:t>
            </a:r>
            <a:r>
              <a:rPr sz="1400" lang="es-419">
                <a:solidFill>
                  <a:srgbClr val="000000"/>
                </a:solidFill>
              </a:rPr>
              <a:t> también se puede utilizar para la verificación.</a:t>
            </a:r>
          </a:p>
        </p:txBody>
      </p:sp>
    </p:spTree>
    <p:extLst>
      <p:ext uri="{BB962C8B-B14F-4D97-AF65-F5344CB8AC3E}">
        <p14:creationId xmlns:p14="http://schemas.microsoft.com/office/powerpoint/2010/main" val="2373729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Mitigar ataques STP</a:t>
            </a:r>
            <a:br>
              <a:rPr lang="en-US" sz="1600" dirty="0"/>
            </a:br>
            <a:r>
              <a:rPr sz="2400" lang="es-419"/>
              <a:t>Configure BPDU Guard</a:t>
            </a:r>
          </a:p>
        </p:txBody>
      </p:sp>
      <p:sp>
        <p:nvSpPr>
          <p:cNvPr id="6" name="Content Placeholder 5">
            <a:extLst>
              <a:ext uri="{FF2B5EF4-FFF2-40B4-BE49-F238E27FC236}">
                <a16:creationId xmlns:a16="http://schemas.microsoft.com/office/drawing/2014/main" id="{797BF870-B116-964B-8319-6DEA2EC18A45}"/>
              </a:ext>
            </a:extLst>
          </p:cNvPr>
          <p:cNvSpPr>
            <a:spLocks noGrp="1"/>
          </p:cNvSpPr>
          <p:nvPr>
            <p:ph idx="1"/>
          </p:nvPr>
        </p:nvSpPr>
        <p:spPr>
          <a:xfrm>
            <a:off x="474662" y="731837"/>
            <a:ext cx="8280057" cy="1439863"/>
          </a:xfrm>
        </p:spPr>
        <p:txBody>
          <a:bodyPr/>
          <a:lstStyle/>
          <a:p>
            <a:pPr marL="0" indent="0" algn="l" rtl="0"/>
            <a:r>
              <a:rPr sz="1400" lang="es-419">
                <a:solidFill>
                  <a:srgbClr val="000000"/>
                </a:solidFill>
              </a:rPr>
              <a:t>Un puerto de acceso podría recibir un BPDU inesperado accidentalmente o porque un usuario conectó un switch no autorizado al puerto de acceso.</a:t>
            </a:r>
          </a:p>
          <a:p>
            <a:pPr marL="285750" indent="-285750" algn="l" rtl="0">
              <a:buFont typeface="Arial" panose="020B0604020202020204" pitchFamily="34" charset="0"/>
              <a:buChar char="•"/>
            </a:pPr>
            <a:r>
              <a:rPr sz="1400" lang="es-419">
                <a:solidFill>
                  <a:srgbClr val="000000"/>
                </a:solidFill>
              </a:rPr>
              <a:t>Si se recibe una BPDU en un puerto de acceso habilitado para BPDU Guard, el puerto se pone en estado de error deshabilitado. </a:t>
            </a:r>
          </a:p>
          <a:p>
            <a:pPr marL="285750" indent="-285750" algn="l" rtl="0">
              <a:buFont typeface="Arial" panose="020B0604020202020204" pitchFamily="34" charset="0"/>
              <a:buChar char="•"/>
            </a:pPr>
            <a:r>
              <a:rPr sz="1400" lang="es-419">
                <a:solidFill>
                  <a:srgbClr val="000000"/>
                </a:solidFill>
              </a:rPr>
              <a:t>Esto significa que el puerto se cierra y debe volver a habilitarse manualmente o recuperarse automáticamente a través del comando </a:t>
            </a:r>
            <a:r>
              <a:rPr sz="1400" b="true" lang="es-419">
                <a:solidFill>
                  <a:srgbClr val="000000"/>
                </a:solidFill>
              </a:rPr>
              <a:t>errdisable recovery cause psecure_violation</a:t>
            </a:r>
            <a:r>
              <a:rPr sz="1400" lang="es-419">
                <a:solidFill>
                  <a:srgbClr val="000000"/>
                </a:solidFill>
              </a:rPr>
              <a:t>.</a:t>
            </a:r>
          </a:p>
        </p:txBody>
      </p:sp>
      <p:sp>
        <p:nvSpPr>
          <p:cNvPr id="5" name="Content Placeholder 3">
            <a:extLst>
              <a:ext uri="{FF2B5EF4-FFF2-40B4-BE49-F238E27FC236}">
                <a16:creationId xmlns:a16="http://schemas.microsoft.com/office/drawing/2014/main" id="{FC532A87-3944-4C97-A223-9033B81A4236}"/>
              </a:ext>
            </a:extLst>
          </p:cNvPr>
          <p:cNvSpPr txBox="1">
            <a:spLocks/>
          </p:cNvSpPr>
          <p:nvPr/>
        </p:nvSpPr>
        <p:spPr>
          <a:xfrm>
            <a:off x="474662" y="2247900"/>
            <a:ext cx="4874577" cy="2019300"/>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sz="1600" lang="es-419">
                <a:solidFill>
                  <a:srgbClr val="000000"/>
                </a:solidFill>
              </a:rPr>
              <a:t>BPDU Guard se puede habilitar:</a:t>
            </a:r>
          </a:p>
          <a:p>
            <a:pPr marL="285750" indent="-285750" algn="l" rtl="0">
              <a:buFont typeface="Arial" panose="020B0604020202020204" pitchFamily="34" charset="0"/>
              <a:buChar char="•"/>
            </a:pPr>
            <a:r>
              <a:rPr sz="1400" b="true" lang="es-419">
                <a:solidFill>
                  <a:srgbClr val="000000"/>
                </a:solidFill>
              </a:rPr>
              <a:t>En una interfaz: </a:t>
            </a:r>
            <a:r>
              <a:rPr sz="1400" lang="es-419">
                <a:solidFill>
                  <a:srgbClr val="000000"/>
                </a:solidFill>
              </a:rPr>
              <a:t>– use el comando </a:t>
            </a:r>
            <a:r>
              <a:rPr sz="1400" b="true" lang="es-419">
                <a:solidFill>
                  <a:srgbClr val="000000"/>
                </a:solidFill>
              </a:rPr>
              <a:t>spanning-tree bpduguard enable </a:t>
            </a:r>
            <a:r>
              <a:rPr sz="1400" lang="es-419">
                <a:solidFill>
                  <a:srgbClr val="000000"/>
                </a:solidFill>
              </a:rPr>
              <a:t>.</a:t>
            </a:r>
            <a:r>
              <a:rPr sz="1400" b="true" lang="es-419">
                <a:solidFill>
                  <a:srgbClr val="000000"/>
                </a:solidFill>
              </a:rPr>
              <a:t> </a:t>
            </a:r>
          </a:p>
          <a:p>
            <a:pPr marL="285750" indent="-285750" algn="l" rtl="0">
              <a:buFont typeface="Arial" panose="020B0604020202020204" pitchFamily="34" charset="0"/>
              <a:buChar char="•"/>
            </a:pPr>
            <a:r>
              <a:rPr sz="1400" b="true" lang="es-419">
                <a:solidFill>
                  <a:srgbClr val="000000"/>
                </a:solidFill>
              </a:rPr>
              <a:t>Globalmente:</a:t>
            </a:r>
            <a:r>
              <a:rPr sz="1400" lang="es-419">
                <a:solidFill>
                  <a:srgbClr val="000000"/>
                </a:solidFill>
              </a:rPr>
              <a:t> – use el comando de configuración </a:t>
            </a:r>
            <a:r>
              <a:rPr sz="1400" b="true" lang="es-419">
                <a:solidFill>
                  <a:srgbClr val="000000"/>
                </a:solidFill>
              </a:rPr>
              <a:t>spanning-tree portfast bpduguard default</a:t>
            </a:r>
            <a:r>
              <a:rPr sz="1400" lang="es-419">
                <a:solidFill>
                  <a:srgbClr val="000000"/>
                </a:solidFill>
              </a:rPr>
              <a:t> para habilitar BPDU Guard en todos los puertos de acceso.</a:t>
            </a:r>
          </a:p>
          <a:p>
            <a:pPr marL="285750" indent="-28575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CA" sz="1400" dirty="0">
              <a:solidFill>
                <a:srgbClr val="000000"/>
              </a:solidFill>
            </a:endParaRPr>
          </a:p>
        </p:txBody>
      </p:sp>
      <p:pic>
        <p:nvPicPr>
          <p:cNvPr id="2" name="Picture 1">
            <a:extLst>
              <a:ext uri="{FF2B5EF4-FFF2-40B4-BE49-F238E27FC236}">
                <a16:creationId xmlns:a16="http://schemas.microsoft.com/office/drawing/2014/main" id="{8E3F4A26-FB15-408B-BECA-EC19798B1FF1}"/>
              </a:ext>
            </a:extLst>
          </p:cNvPr>
          <p:cNvPicPr>
            <a:picLocks noChangeAspect="1"/>
          </p:cNvPicPr>
          <p:nvPr/>
        </p:nvPicPr>
        <p:blipFill>
          <a:blip r:embed="rId3"/>
          <a:stretch>
            <a:fillRect/>
          </a:stretch>
        </p:blipFill>
        <p:spPr>
          <a:xfrm>
            <a:off x="5864631" y="2247900"/>
            <a:ext cx="2794144" cy="2508379"/>
          </a:xfrm>
          <a:prstGeom prst="rect">
            <a:avLst/>
          </a:prstGeom>
        </p:spPr>
      </p:pic>
    </p:spTree>
    <p:extLst>
      <p:ext uri="{BB962C8B-B14F-4D97-AF65-F5344CB8AC3E}">
        <p14:creationId xmlns:p14="http://schemas.microsoft.com/office/powerpoint/2010/main" val="3999047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11.6 - Módulo de práctica y cuestionario</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Práctica del módulo y cuestionario</a:t>
            </a:r>
            <a:br>
              <a:rPr lang="en-US" sz="1600" dirty="0"/>
            </a:br>
            <a:r>
              <a:rPr sz="2400" lang="es-419"/>
              <a:t>Packet Tracer – Switch configuraciones de seguridad</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74662" y="731837"/>
            <a:ext cx="8280057" cy="3689897"/>
          </a:xfrm>
        </p:spPr>
        <p:txBody>
          <a:bodyPr/>
          <a:lstStyle/>
          <a:p>
            <a:pPr marL="0" indent="0" algn="l" rtl="0"/>
            <a:r>
              <a:rPr sz="1800" lang="es-419">
                <a:solidFill>
                  <a:srgbClr val="000000"/>
                </a:solidFill>
              </a:rPr>
              <a:t>En esta actividad de Packet Tracer, usted puede:</a:t>
            </a:r>
          </a:p>
          <a:p>
            <a:pPr marL="342900" indent="-342900" algn="l" rtl="0">
              <a:buFont typeface="Arial" panose="020B0604020202020204" pitchFamily="34" charset="0"/>
              <a:buChar char="•"/>
            </a:pPr>
            <a:r>
              <a:rPr sz="1800" lang="es-419">
                <a:solidFill>
                  <a:srgbClr val="000000"/>
                </a:solidFill>
              </a:rPr>
              <a:t>Proteger los puertos sin utilizar.</a:t>
            </a:r>
          </a:p>
          <a:p>
            <a:pPr marL="342900" indent="-342900" algn="l" rtl="0">
              <a:buFont typeface="Arial" panose="020B0604020202020204" pitchFamily="34" charset="0"/>
              <a:buChar char="•"/>
            </a:pPr>
            <a:r>
              <a:rPr sz="1800" lang="es-419">
                <a:solidFill>
                  <a:srgbClr val="000000"/>
                </a:solidFill>
              </a:rPr>
              <a:t>Implementar seguridad de puertos</a:t>
            </a:r>
          </a:p>
          <a:p>
            <a:pPr marL="342900" indent="-342900" algn="l" rtl="0">
              <a:buFont typeface="Arial" panose="020B0604020202020204" pitchFamily="34" charset="0"/>
              <a:buChar char="•"/>
            </a:pPr>
            <a:r>
              <a:rPr sz="1800" lang="es-419">
                <a:solidFill>
                  <a:srgbClr val="000000"/>
                </a:solidFill>
              </a:rPr>
              <a:t>Mitigar los ataques de salto de VLAN</a:t>
            </a:r>
          </a:p>
          <a:p>
            <a:pPr marL="342900" indent="-342900" algn="l" rtl="0">
              <a:buFont typeface="Arial" panose="020B0604020202020204" pitchFamily="34" charset="0"/>
              <a:buChar char="•"/>
            </a:pPr>
            <a:r>
              <a:rPr sz="1800" lang="es-419">
                <a:solidFill>
                  <a:srgbClr val="000000"/>
                </a:solidFill>
              </a:rPr>
              <a:t>Mitigar los ataques de DHCP</a:t>
            </a:r>
          </a:p>
          <a:p>
            <a:pPr marL="342900" indent="-342900" algn="l" rtl="0">
              <a:buFont typeface="Arial" panose="020B0604020202020204" pitchFamily="34" charset="0"/>
              <a:buChar char="•"/>
            </a:pPr>
            <a:r>
              <a:rPr sz="1800" lang="es-419">
                <a:solidFill>
                  <a:srgbClr val="000000"/>
                </a:solidFill>
              </a:rPr>
              <a:t>Mitigar de ataques de ARP</a:t>
            </a:r>
          </a:p>
          <a:p>
            <a:pPr marL="342900" indent="-342900" algn="l" rtl="0">
              <a:buFont typeface="Arial" panose="020B0604020202020204" pitchFamily="34" charset="0"/>
              <a:buChar char="•"/>
            </a:pPr>
            <a:r>
              <a:rPr sz="1800" lang="es-419">
                <a:solidFill>
                  <a:srgbClr val="000000"/>
                </a:solidFill>
              </a:rPr>
              <a:t>Mitigar de ataques de STP</a:t>
            </a:r>
          </a:p>
          <a:p>
            <a:pPr marL="342900" indent="-342900" algn="l" rtl="0">
              <a:buFont typeface="Arial" panose="020B0604020202020204" pitchFamily="34" charset="0"/>
              <a:buChar char="•"/>
            </a:pPr>
            <a:r>
              <a:rPr sz="1800" lang="es-419">
                <a:solidFill>
                  <a:srgbClr val="000000"/>
                </a:solidFill>
              </a:rPr>
              <a:t>Verificar de la configuración del switch</a:t>
            </a:r>
            <a:br>
              <a:rPr lang="en-US" sz="1600" dirty="0">
                <a:solidFill>
                  <a:srgbClr val="000000"/>
                </a:solidFill>
              </a:rPr>
            </a:br>
          </a:p>
        </p:txBody>
      </p:sp>
    </p:spTree>
    <p:extLst>
      <p:ext uri="{BB962C8B-B14F-4D97-AF65-F5344CB8AC3E}">
        <p14:creationId xmlns:p14="http://schemas.microsoft.com/office/powerpoint/2010/main" val="649655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Módulo de Práctica y Prueba</a:t>
            </a:r>
            <a:br>
              <a:rPr lang="en-US" sz="1600" dirty="0"/>
            </a:br>
            <a:r>
              <a:rPr sz="2400" lang="es-419"/>
              <a:t>Lab – Switch configuraciones de seguridad</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74662" y="731837"/>
            <a:ext cx="8280057" cy="3689897"/>
          </a:xfrm>
        </p:spPr>
        <p:txBody>
          <a:bodyPr/>
          <a:lstStyle/>
          <a:p>
            <a:pPr marL="0" indent="0" algn="l" rtl="0"/>
            <a:r>
              <a:rPr sz="1800" lang="es-419">
                <a:solidFill>
                  <a:srgbClr val="000000"/>
                </a:solidFill>
              </a:rPr>
              <a:t>En esta práctica de laboratorio, usted puede:</a:t>
            </a:r>
          </a:p>
          <a:p>
            <a:pPr marL="342900" indent="-342900" algn="l" rtl="0">
              <a:buFont typeface="Arial" panose="020B0604020202020204" pitchFamily="34" charset="0"/>
              <a:buChar char="•"/>
            </a:pPr>
            <a:r>
              <a:rPr sz="1800" lang="es-419">
                <a:solidFill>
                  <a:srgbClr val="000000"/>
                </a:solidFill>
              </a:rPr>
              <a:t>Proteger los puertos sin utilizar.</a:t>
            </a:r>
          </a:p>
          <a:p>
            <a:pPr marL="342900" indent="-342900" algn="l" rtl="0">
              <a:buFont typeface="Arial" panose="020B0604020202020204" pitchFamily="34" charset="0"/>
              <a:buChar char="•"/>
            </a:pPr>
            <a:r>
              <a:rPr sz="1800" lang="es-419">
                <a:solidFill>
                  <a:srgbClr val="000000"/>
                </a:solidFill>
              </a:rPr>
              <a:t>Implementar seguridad de puertos</a:t>
            </a:r>
          </a:p>
          <a:p>
            <a:pPr marL="342900" indent="-342900" algn="l" rtl="0">
              <a:buFont typeface="Arial" panose="020B0604020202020204" pitchFamily="34" charset="0"/>
              <a:buChar char="•"/>
            </a:pPr>
            <a:r>
              <a:rPr sz="1800" lang="es-419">
                <a:solidFill>
                  <a:srgbClr val="000000"/>
                </a:solidFill>
              </a:rPr>
              <a:t>Mitigar los ataques de salto de VLAN</a:t>
            </a:r>
          </a:p>
          <a:p>
            <a:pPr marL="342900" indent="-342900" algn="l" rtl="0">
              <a:buFont typeface="Arial" panose="020B0604020202020204" pitchFamily="34" charset="0"/>
              <a:buChar char="•"/>
            </a:pPr>
            <a:r>
              <a:rPr sz="1800" lang="es-419">
                <a:solidFill>
                  <a:srgbClr val="000000"/>
                </a:solidFill>
              </a:rPr>
              <a:t>Mitigar ataques de DHCP</a:t>
            </a:r>
          </a:p>
          <a:p>
            <a:pPr marL="342900" indent="-342900" algn="l" rtl="0">
              <a:buFont typeface="Arial" panose="020B0604020202020204" pitchFamily="34" charset="0"/>
              <a:buChar char="•"/>
            </a:pPr>
            <a:r>
              <a:rPr sz="1800" lang="es-419">
                <a:solidFill>
                  <a:srgbClr val="000000"/>
                </a:solidFill>
              </a:rPr>
              <a:t>Mitigar ataques de ARP</a:t>
            </a:r>
          </a:p>
          <a:p>
            <a:pPr marL="342900" indent="-342900" algn="l" rtl="0">
              <a:buFont typeface="Arial" panose="020B0604020202020204" pitchFamily="34" charset="0"/>
              <a:buChar char="•"/>
            </a:pPr>
            <a:r>
              <a:rPr sz="1800" lang="es-419">
                <a:solidFill>
                  <a:srgbClr val="000000"/>
                </a:solidFill>
              </a:rPr>
              <a:t>Mitigar ataques de STP</a:t>
            </a:r>
          </a:p>
          <a:p>
            <a:pPr marL="342900" indent="-342900" algn="l" rtl="0">
              <a:buFont typeface="Arial" panose="020B0604020202020204" pitchFamily="34" charset="0"/>
              <a:buChar char="•"/>
            </a:pPr>
            <a:r>
              <a:rPr sz="1800" lang="es-419">
                <a:solidFill>
                  <a:srgbClr val="000000"/>
                </a:solidFill>
              </a:rPr>
              <a:t>Verificar la configuración del switch</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1881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sz="1400" lang="es-419">
                <a:latin typeface="Arial" charset="0"/>
              </a:rPr>
              <a:t>Práctica del módulo y cuestionario</a:t>
            </a:r>
            <a:br>
              <a:rPr lang="en-US" dirty="0">
                <a:latin typeface="Arial" charset="0"/>
              </a:rPr>
            </a:br>
            <a:r>
              <a:rPr lang="es-419">
                <a:latin typeface="Arial" charset="0"/>
              </a:rPr>
              <a:t>¿Qué aprendí en este módulo?</a:t>
            </a:r>
          </a:p>
        </p:txBody>
      </p:sp>
      <p:sp>
        <p:nvSpPr>
          <p:cNvPr id="2" name="Content Placeholder 1">
            <a:extLst>
              <a:ext uri="{FF2B5EF4-FFF2-40B4-BE49-F238E27FC236}">
                <a16:creationId xmlns:a16="http://schemas.microsoft.com/office/drawing/2014/main" id="{2797EA73-3103-C348-9EE9-151275DED7CD}"/>
              </a:ext>
            </a:extLst>
          </p:cNvPr>
          <p:cNvSpPr>
            <a:spLocks noGrp="1"/>
          </p:cNvSpPr>
          <p:nvPr>
            <p:ph idx="1"/>
          </p:nvPr>
        </p:nvSpPr>
        <p:spPr/>
        <p:txBody>
          <a:bodyPr/>
          <a:lstStyle/>
          <a:p>
            <a:pPr rtl="0">
              <a:buFont typeface="Arial" panose="020B0604020202020204" pitchFamily="34" charset="0"/>
              <a:buChar char="•"/>
            </a:pPr>
            <a:r>
              <a:rPr sz="1600" lang="es-419"/>
              <a:t>Se deben proteger todos los puertos (interfaces) del switch antes de implementar el dispositivo para la producción. </a:t>
            </a:r>
          </a:p>
          <a:p>
            <a:pPr rtl="0">
              <a:buFont typeface="Arial" panose="020B0604020202020204" pitchFamily="34" charset="0"/>
              <a:buChar char="•"/>
            </a:pPr>
            <a:r>
              <a:rPr sz="1600" lang="es-419"/>
              <a:t>Los puertos capa 2 del switch están definidos como dynamic auto (troncal encendido), de manera predeterminada. </a:t>
            </a:r>
          </a:p>
          <a:p>
            <a:pPr rtl="0">
              <a:buFont typeface="Arial" panose="020B0604020202020204" pitchFamily="34" charset="0"/>
              <a:buChar char="•"/>
            </a:pPr>
            <a:r>
              <a:rPr sz="1600" lang="es-419"/>
              <a:t>El método más simple y eficaz de evitar ataques por saturación de la tabla de direcciones MAC es habilitar la seguridad de los puertos (port security). </a:t>
            </a:r>
          </a:p>
          <a:p>
            <a:pPr rtl="0">
              <a:buFont typeface="Arial" panose="020B0604020202020204" pitchFamily="34" charset="0"/>
              <a:buChar char="•"/>
            </a:pPr>
            <a:r>
              <a:rPr sz="1600" lang="es-419"/>
              <a:t>El switch se puede configurar para obtener información sobre las direcciones MAC en un puerto seguro de una de las siguientes tres maneras: configurado manualmente, aprendido dinámicamente y aprendido dinámicamente-fijo. </a:t>
            </a:r>
          </a:p>
          <a:p>
            <a:pPr rtl="0">
              <a:buFont typeface="Arial" panose="020B0604020202020204" pitchFamily="34" charset="0"/>
              <a:buChar char="•"/>
            </a:pPr>
            <a:r>
              <a:rPr sz="1600" lang="es-419"/>
              <a:t>Si la dirección MAC de un dispositivo conectado a el puerto difiere de la lista de direcciones seguras, entonces ocurre una violación de puerto. El puerto entra en el estado de error-disabled de manera predeterminada. Cuando un puerto esta apagado y puesto en modo error-deshabilitado, no se envía ni se recibe tráfico a través de ese puerto. </a:t>
            </a:r>
          </a:p>
          <a:p>
            <a:pPr rtl="0">
              <a:buFont typeface="Arial" panose="020B0604020202020204" pitchFamily="34" charset="0"/>
              <a:buChar char="•"/>
            </a:pPr>
            <a:r>
              <a:rPr sz="1600" lang="es-419"/>
              <a:t>Mitigue los ataques de salto de VLAN deshabilitando las negociaciones de DTP, deshabilitando los puertos no utilizados, configurando manualmente el enlace troncal donde sea necesario y usando una VLAN nativa que no sea la VLAN 1.</a:t>
            </a:r>
          </a:p>
          <a:p>
            <a:endParaRPr lang="en-US" sz="16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sz="1400" lang="es-419">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2" name="Content Placeholder 1">
            <a:extLst>
              <a:ext uri="{FF2B5EF4-FFF2-40B4-BE49-F238E27FC236}">
                <a16:creationId xmlns:a16="http://schemas.microsoft.com/office/drawing/2014/main" id="{2797EA73-3103-C348-9EE9-151275DED7CD}"/>
              </a:ext>
            </a:extLst>
          </p:cNvPr>
          <p:cNvSpPr>
            <a:spLocks noGrp="1"/>
          </p:cNvSpPr>
          <p:nvPr>
            <p:ph idx="1"/>
          </p:nvPr>
        </p:nvSpPr>
        <p:spPr/>
        <p:txBody>
          <a:bodyPr/>
          <a:lstStyle/>
          <a:p>
            <a:pPr rtl="0">
              <a:buFont typeface="Arial" panose="020B0604020202020204" pitchFamily="34" charset="0"/>
              <a:buChar char="•"/>
            </a:pPr>
            <a:r>
              <a:rPr sz="1600" lang="es-419"/>
              <a:t>El objetivo de un ataque de inanición de DHCP es crear una denegación de servicio(DoS) para la conexión de los clientes. Los ataques de suplantación de DHCP se pueden mitigar mediante el uso de detección DHCP en puertos confiables. </a:t>
            </a:r>
          </a:p>
          <a:p>
            <a:pPr rtl="0">
              <a:buFont typeface="Arial" panose="020B0604020202020204" pitchFamily="34" charset="0"/>
              <a:buChar char="•"/>
            </a:pPr>
            <a:r>
              <a:rPr sz="1600" lang="es-419"/>
              <a:t>La inspección DHCP determina si los mensajes DHCP provienen de una fuente confiable o no confiable configurada administrativamente. Luego filtra los mensajes de DHCP y limita la velocidad del tráfico DHCP viniendo desde fuentes no confiables. </a:t>
            </a:r>
          </a:p>
          <a:p>
            <a:pPr rtl="0">
              <a:buFont typeface="Arial" panose="020B0604020202020204" pitchFamily="34" charset="0"/>
              <a:buChar char="•"/>
            </a:pPr>
            <a:r>
              <a:rPr sz="1600" lang="es-419"/>
              <a:t>La inspección ARP dinámica(DAI) requiere de DHCP snooping y ayuda a prevenir ataques ARP al verificar el tráfico ARP. </a:t>
            </a:r>
          </a:p>
          <a:p>
            <a:pPr rtl="0">
              <a:buFont typeface="Arial" panose="020B0604020202020204" pitchFamily="34" charset="0"/>
              <a:buChar char="•"/>
            </a:pPr>
            <a:r>
              <a:rPr sz="1600" lang="es-419"/>
              <a:t>Implemente la inspección ARP dinámica para mitigar la falsificación de ARP y el envenenamiento por ARP.</a:t>
            </a:r>
          </a:p>
          <a:p>
            <a:pPr rtl="0">
              <a:buFont typeface="Arial" panose="020B0604020202020204" pitchFamily="34" charset="0"/>
              <a:buChar char="•"/>
            </a:pPr>
            <a:r>
              <a:rPr sz="1600" lang="es-419"/>
              <a:t>Para mitigar los ataques de manipulación del Protocolo de Árbol de Expansión (STP), use PortFast y la Unidad de Datos de Protocolo de Puente (BPDU) Guard.</a:t>
            </a:r>
          </a:p>
          <a:p>
            <a:endParaRPr lang="en-US" sz="1600" dirty="0"/>
          </a:p>
        </p:txBody>
      </p:sp>
    </p:spTree>
    <p:custDataLst>
      <p:tags r:id="rId1"/>
    </p:custDataLst>
    <p:extLst>
      <p:ext uri="{BB962C8B-B14F-4D97-AF65-F5344CB8AC3E}">
        <p14:creationId xmlns:p14="http://schemas.microsoft.com/office/powerpoint/2010/main" val="970937469"/>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rtl="0"/>
            <a:r>
              <a:rPr sz="1400" lang="es-419">
                <a:latin typeface="Arial" charset="0"/>
              </a:rPr>
              <a:t>Module 11: LAN Security Concepts</a:t>
            </a:r>
            <a:br>
              <a:rPr lang="en-US" dirty="0">
                <a:latin typeface="Arial" charset="0"/>
              </a:rPr>
            </a:br>
            <a:r>
              <a:rPr lang="es-419">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502411" y="732269"/>
            <a:ext cx="4069589" cy="3934981"/>
          </a:xfrm>
          <a:ln>
            <a:solidFill>
              <a:srgbClr val="000000"/>
            </a:solidFill>
          </a:ln>
        </p:spPr>
        <p:txBody>
          <a:bodyPr/>
          <a:lstStyle/>
          <a:p>
            <a:pPr rtl="0">
              <a:buFont typeface="Arial" panose="020B0604020202020204" pitchFamily="34" charset="0"/>
              <a:buChar char="•"/>
            </a:pPr>
            <a:r>
              <a:rPr sz="1200" b="true" lang="es-419"/>
              <a:t>interface range</a:t>
            </a:r>
          </a:p>
          <a:p>
            <a:pPr rtl="0">
              <a:buFont typeface="Arial" panose="020B0604020202020204" pitchFamily="34" charset="0"/>
              <a:buChar char="•"/>
            </a:pPr>
            <a:r>
              <a:rPr sz="1200" b="true" lang="es-419"/>
              <a:t>switchport port-security</a:t>
            </a:r>
          </a:p>
          <a:p>
            <a:pPr rtl="0">
              <a:buFont typeface="Arial" panose="020B0604020202020204" pitchFamily="34" charset="0"/>
              <a:buChar char="•"/>
            </a:pPr>
            <a:r>
              <a:rPr sz="1200" b="true" lang="es-419"/>
              <a:t>switchport port-security interface</a:t>
            </a:r>
          </a:p>
          <a:p>
            <a:pPr rtl="0">
              <a:buFont typeface="Arial" panose="020B0604020202020204" pitchFamily="34" charset="0"/>
              <a:buChar char="•"/>
            </a:pPr>
            <a:r>
              <a:rPr sz="1200" b="true" lang="es-419"/>
              <a:t>switchport port-security maximum</a:t>
            </a:r>
          </a:p>
          <a:p>
            <a:pPr rtl="0">
              <a:buFont typeface="Arial" panose="020B0604020202020204" pitchFamily="34" charset="0"/>
              <a:buChar char="•"/>
            </a:pPr>
            <a:r>
              <a:rPr sz="1200" b="true" lang="es-419"/>
              <a:t>switchport port-security mac-address</a:t>
            </a:r>
          </a:p>
          <a:p>
            <a:pPr rtl="0">
              <a:buFont typeface="Arial" panose="020B0604020202020204" pitchFamily="34" charset="0"/>
              <a:buChar char="•"/>
            </a:pPr>
            <a:r>
              <a:rPr sz="1200" b="true" lang="es-419"/>
              <a:t>switchport port-security mac-address sticky</a:t>
            </a:r>
          </a:p>
          <a:p>
            <a:pPr rtl="0">
              <a:buFont typeface="Arial" panose="020B0604020202020204" pitchFamily="34" charset="0"/>
              <a:buChar char="•"/>
            </a:pPr>
            <a:r>
              <a:rPr sz="1200" b="true" lang="es-419"/>
              <a:t>switchport port-security aging time #</a:t>
            </a:r>
          </a:p>
          <a:p>
            <a:pPr rtl="0">
              <a:buFont typeface="Arial" panose="020B0604020202020204" pitchFamily="34" charset="0"/>
              <a:buChar char="•"/>
            </a:pPr>
            <a:r>
              <a:rPr sz="1200" b="true" lang="es-419"/>
              <a:t>switchport port-security aging type </a:t>
            </a:r>
          </a:p>
          <a:p>
            <a:pPr rtl="0">
              <a:buFont typeface="Arial" panose="020B0604020202020204" pitchFamily="34" charset="0"/>
              <a:buChar char="•"/>
            </a:pPr>
            <a:r>
              <a:rPr sz="1200" b="true" lang="es-419"/>
              <a:t>switchport port-security violation</a:t>
            </a:r>
          </a:p>
          <a:p>
            <a:pPr rtl="0">
              <a:buFont typeface="Arial" panose="020B0604020202020204" pitchFamily="34" charset="0"/>
              <a:buChar char="•"/>
            </a:pPr>
            <a:r>
              <a:rPr sz="1200" b="true" lang="es-419"/>
              <a:t>show switchport port-security</a:t>
            </a:r>
          </a:p>
          <a:p>
            <a:pPr rtl="0">
              <a:buFont typeface="Arial" panose="020B0604020202020204" pitchFamily="34" charset="0"/>
              <a:buChar char="•"/>
            </a:pPr>
            <a:r>
              <a:rPr sz="1200" b="true" lang="es-419"/>
              <a:t>switchport mode access|trunk</a:t>
            </a:r>
          </a:p>
          <a:p>
            <a:pPr rtl="0">
              <a:buFont typeface="Arial" panose="020B0604020202020204" pitchFamily="34" charset="0"/>
              <a:buChar char="•"/>
            </a:pPr>
            <a:r>
              <a:rPr sz="1200" b="true" lang="es-419"/>
              <a:t>switchport nonegotiate</a:t>
            </a:r>
          </a:p>
        </p:txBody>
      </p:sp>
      <p:sp>
        <p:nvSpPr>
          <p:cNvPr id="6" name="Content Placeholder 2">
            <a:extLst>
              <a:ext uri="{FF2B5EF4-FFF2-40B4-BE49-F238E27FC236}">
                <a16:creationId xmlns:a16="http://schemas.microsoft.com/office/drawing/2014/main" id="{B1627BFE-6B32-CC4C-95DE-D9696B38972C}"/>
              </a:ext>
            </a:extLst>
          </p:cNvPr>
          <p:cNvSpPr txBox="1">
            <a:spLocks/>
          </p:cNvSpPr>
          <p:nvPr/>
        </p:nvSpPr>
        <p:spPr bwMode="auto">
          <a:xfrm>
            <a:off x="4572000" y="732268"/>
            <a:ext cx="4069589" cy="3934981"/>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sz="1200" b="true" lang="es-419"/>
              <a:t>switchport trunk native vlan #</a:t>
            </a:r>
          </a:p>
          <a:p>
            <a:pPr rtl="0">
              <a:buFont typeface="Arial" panose="020B0604020202020204" pitchFamily="34" charset="0"/>
              <a:buChar char="•"/>
            </a:pPr>
            <a:r>
              <a:rPr sz="1200" b="true" lang="es-419"/>
              <a:t>ip dhcp snooping</a:t>
            </a:r>
          </a:p>
          <a:p>
            <a:pPr rtl="0">
              <a:buFont typeface="Arial" panose="020B0604020202020204" pitchFamily="34" charset="0"/>
              <a:buChar char="•"/>
            </a:pPr>
            <a:r>
              <a:rPr sz="1200" b="true" lang="es-419"/>
              <a:t>ip dhcp snooping vlan #</a:t>
            </a:r>
          </a:p>
          <a:p>
            <a:pPr rtl="0">
              <a:buFont typeface="Arial" panose="020B0604020202020204" pitchFamily="34" charset="0"/>
              <a:buChar char="•"/>
            </a:pPr>
            <a:r>
              <a:rPr sz="1200" b="true" lang="es-419"/>
              <a:t>ip dhcp snooping limit rate</a:t>
            </a:r>
          </a:p>
          <a:p>
            <a:pPr rtl="0">
              <a:buFont typeface="Arial" panose="020B0604020202020204" pitchFamily="34" charset="0"/>
              <a:buChar char="•"/>
            </a:pPr>
            <a:r>
              <a:rPr sz="1200" b="true" lang="es-419"/>
              <a:t>show ip dhcp snooping</a:t>
            </a:r>
          </a:p>
          <a:p>
            <a:pPr rtl="0">
              <a:buFont typeface="Arial" panose="020B0604020202020204" pitchFamily="34" charset="0"/>
              <a:buChar char="•"/>
            </a:pPr>
            <a:r>
              <a:rPr sz="1200" b="true" lang="es-419"/>
              <a:t>ip arp inspection vlan #</a:t>
            </a:r>
          </a:p>
          <a:p>
            <a:pPr rtl="0">
              <a:buFont typeface="Arial" panose="020B0604020202020204" pitchFamily="34" charset="0"/>
              <a:buChar char="•"/>
            </a:pPr>
            <a:r>
              <a:rPr sz="1200" b="true" lang="es-419"/>
              <a:t>ip dhcp snooping trust</a:t>
            </a:r>
          </a:p>
          <a:p>
            <a:pPr rtl="0">
              <a:buFont typeface="Arial" panose="020B0604020202020204" pitchFamily="34" charset="0"/>
              <a:buChar char="•"/>
            </a:pPr>
            <a:r>
              <a:rPr sz="1200" b="true" lang="es-419"/>
              <a:t>ip arp inspection trust</a:t>
            </a:r>
          </a:p>
          <a:p>
            <a:pPr rtl="0">
              <a:buFont typeface="Arial" panose="020B0604020202020204" pitchFamily="34" charset="0"/>
              <a:buChar char="•"/>
            </a:pPr>
            <a:r>
              <a:rPr sz="1200" b="true" lang="es-419"/>
              <a:t>ip arp inspection validate</a:t>
            </a:r>
          </a:p>
          <a:p>
            <a:pPr rtl="0">
              <a:buFont typeface="Arial" panose="020B0604020202020204" pitchFamily="34" charset="0"/>
              <a:buChar char="•"/>
            </a:pPr>
            <a:r>
              <a:rPr sz="1200" b="true" lang="es-419"/>
              <a:t>spanning-tree portfast {default}</a:t>
            </a:r>
          </a:p>
          <a:p>
            <a:pPr rtl="0">
              <a:buFont typeface="Arial" panose="020B0604020202020204" pitchFamily="34" charset="0"/>
              <a:buChar char="•"/>
            </a:pPr>
            <a:r>
              <a:rPr sz="1200" b="true" lang="es-419"/>
              <a:t>spanning-tree bpduguard enable</a:t>
            </a:r>
          </a:p>
          <a:p>
            <a:pPr rtl="0">
              <a:buFont typeface="Arial" panose="020B0604020202020204" pitchFamily="34" charset="0"/>
              <a:buChar char="•"/>
            </a:pPr>
            <a:r>
              <a:rPr sz="1200" b="true" lang="es-419"/>
              <a:t>spanning-tree porfast bpduguard default</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4867</TotalTime>
  <Words>4279</Words>
  <Application>Microsoft Office PowerPoint</Application>
  <PresentationFormat>On-screen Show (16:9)</PresentationFormat>
  <Paragraphs>622</Paragraphs>
  <Slides>57</Slides>
  <Notes>55</Notes>
  <HiddenSlides>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Calibri</vt:lpstr>
      <vt:lpstr>CiscoSans ExtraLight</vt:lpstr>
      <vt:lpstr>Courier New</vt:lpstr>
      <vt:lpstr>Wingdings</vt:lpstr>
      <vt:lpstr>Default Theme</vt:lpstr>
      <vt:lpstr>Module 11: Switch Security Configuration</vt:lpstr>
      <vt:lpstr>Instructor Materials – Module 11 Planning Guide</vt:lpstr>
      <vt:lpstr>What to Expect in this Module</vt:lpstr>
      <vt:lpstr>What to Expect in this Module (Cont.)</vt:lpstr>
      <vt:lpstr>Check Your Understanding</vt:lpstr>
      <vt:lpstr>Module 11: Activities</vt:lpstr>
      <vt:lpstr>Module 11: Best Practices</vt:lpstr>
      <vt:lpstr>Module 11: Best Practices (Cont.)</vt:lpstr>
      <vt:lpstr>Module 11: Switch Security Configuration</vt:lpstr>
      <vt:lpstr>Module Objectives</vt:lpstr>
      <vt:lpstr>11.1 Implement Port Security</vt:lpstr>
      <vt:lpstr>Implement Port Security Secure Unused Ports</vt:lpstr>
      <vt:lpstr>Implement Port Security Mitigate MAC Address Table Attacks</vt:lpstr>
      <vt:lpstr>Implement Port Security Enable Port Security</vt:lpstr>
      <vt:lpstr>Implement Port Security Enable Port Security (Cont.)</vt:lpstr>
      <vt:lpstr>Implement Port Security Enable Port Security (Cont.)</vt:lpstr>
      <vt:lpstr>Implement Port Security Limit and Learn MAC Addresses</vt:lpstr>
      <vt:lpstr>Implement Port Security Limit and Learn MAC Addresses (Cont.)</vt:lpstr>
      <vt:lpstr>Implement Port Security Limit and Learn MAC Addresses (Cont.)</vt:lpstr>
      <vt:lpstr>Implement Port Security Port Security Aging</vt:lpstr>
      <vt:lpstr>Implement Port Security Port Security Aging (Cont.)</vt:lpstr>
      <vt:lpstr>Implement Port Security Port Security Violation Modes</vt:lpstr>
      <vt:lpstr>Implement Port Security Port Security Violation Modes (Cont.)</vt:lpstr>
      <vt:lpstr>Implement Port Security Ports in error-disabled State</vt:lpstr>
      <vt:lpstr>Implement Port Security Ports in error-disabled State (Cont.)</vt:lpstr>
      <vt:lpstr>Implement Port Security Verify Port Security</vt:lpstr>
      <vt:lpstr>Implement Port Security Verify Port Security (Cont.)</vt:lpstr>
      <vt:lpstr>Implement Port Security Verify Port Security (Cont.)</vt:lpstr>
      <vt:lpstr>Implement Port Security Verify Port Security (Cont.)</vt:lpstr>
      <vt:lpstr>Implement Port Security Packet Tracer – Implement Port Security</vt:lpstr>
      <vt:lpstr>11.2 Mitigate VLAN Attacks</vt:lpstr>
      <vt:lpstr>Mitigate VLAN Attacks VLAN Attacks Review</vt:lpstr>
      <vt:lpstr>Mitigate VLAN Attacks Steps to Mitigate VLAN Hopping Attacks</vt:lpstr>
      <vt:lpstr>11.3 Mitigate DHCP Attacks</vt:lpstr>
      <vt:lpstr>Mitigate DHCP Attacks DHCP Attack Review</vt:lpstr>
      <vt:lpstr>Mitigate DHCP Attacks DHCP Snooping</vt:lpstr>
      <vt:lpstr>Mitigate DHCP Attacks Steps to Implement DHCP Snooping</vt:lpstr>
      <vt:lpstr>Mitigate DHCP Attacks DHCP Snooping Configuration Example</vt:lpstr>
      <vt:lpstr>Mitigate DHCP Attacks DHCP Snooping Configuration Example (Cont.)</vt:lpstr>
      <vt:lpstr>11.4 Mitigate ARP Attacks</vt:lpstr>
      <vt:lpstr>Mitigate ARP Attacks Dynamic ARP Inspection</vt:lpstr>
      <vt:lpstr>Mitigate ARP Attacks DAI Implementation Guidelines</vt:lpstr>
      <vt:lpstr>Mitigate ARP Attacks DAI Configuration Example</vt:lpstr>
      <vt:lpstr>Mitigate ARP Attacks DAI Configuration Example (Cont.)</vt:lpstr>
      <vt:lpstr>Mitigate ARP Attacks DAI Configuration Example (Cont.)</vt:lpstr>
      <vt:lpstr>11.5 Mitigate STP Attacks</vt:lpstr>
      <vt:lpstr>Mitigate STP Attacks PortFast and BPDU Guard</vt:lpstr>
      <vt:lpstr>Mitigate STP Attacks Configure PortFast</vt:lpstr>
      <vt:lpstr>Mitigate STP Attacks Configure PortFast (Cont.)</vt:lpstr>
      <vt:lpstr>Mitigate STP Attacks Configure BPDU Guard</vt:lpstr>
      <vt:lpstr>11.6 Module Practice and Quiz</vt:lpstr>
      <vt:lpstr>Module Practice and Quiz Packet Tracer – Switch Security Configuration</vt:lpstr>
      <vt:lpstr>Module Practice and Quiz Lab – Switch Security Configuration</vt:lpstr>
      <vt:lpstr>Module Practice and Quiz What Did I Learn In This Module?</vt:lpstr>
      <vt:lpstr>Module Practice and Quiz What Did I Learn In This Module? (Cont.)</vt:lpstr>
      <vt:lpstr>Module 11: LAN Security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Sue Livingston -X (suliving - UNICON INC at Cisco)</cp:lastModifiedBy>
  <cp:revision>312</cp:revision>
  <dcterms:created xsi:type="dcterms:W3CDTF">2019-10-18T06:21:22Z</dcterms:created>
  <dcterms:modified xsi:type="dcterms:W3CDTF">2019-12-06T17:20:25Z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