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4.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5.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6.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7.xml" ContentType="application/vnd.openxmlformats-officedocument.presentationml.tags+xml"/>
  <Override PartName="/ppt/notesSlides/notesSlide42.xml" ContentType="application/vnd.openxmlformats-officedocument.presentationml.notesSlide+xml"/>
  <Override PartName="/ppt/tags/tag18.xml" ContentType="application/vnd.openxmlformats-officedocument.presentationml.tags+xml"/>
  <Override PartName="/ppt/notesSlides/notesSlide43.xml" ContentType="application/vnd.openxmlformats-officedocument.presentationml.notesSlide+xml"/>
  <Override PartName="/ppt/tags/tag19.xml" ContentType="application/vnd.openxmlformats-officedocument.presentationml.tags+xml"/>
  <Override PartName="/ppt/notesSlides/notesSlide44.xml" ContentType="application/vnd.openxmlformats-officedocument.presentationml.notesSlide+xml"/>
  <Override PartName="/ppt/tags/tag20.xml" ContentType="application/vnd.openxmlformats-officedocument.presentationml.tags+xml"/>
  <Override PartName="/ppt/notesSlides/notesSlide45.xml" ContentType="application/vnd.openxmlformats-officedocument.presentationml.notesSlide+xml"/>
  <Override PartName="/ppt/tags/tag21.xml" ContentType="application/vnd.openxmlformats-officedocument.presentationml.tags+xml"/>
  <Override PartName="/ppt/notesSlides/notesSlide46.xml" ContentType="application/vnd.openxmlformats-officedocument.presentationml.notesSlide+xml"/>
  <Override PartName="/ppt/tags/tag22.xml" ContentType="application/vnd.openxmlformats-officedocument.presentationml.tags+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1"/>
  </p:notesMasterIdLst>
  <p:sldIdLst>
    <p:sldId id="513" r:id="rId2"/>
    <p:sldId id="730" r:id="rId3"/>
    <p:sldId id="1184" r:id="rId4"/>
    <p:sldId id="1071" r:id="rId5"/>
    <p:sldId id="1185" r:id="rId6"/>
    <p:sldId id="763" r:id="rId7"/>
    <p:sldId id="1052" r:id="rId8"/>
    <p:sldId id="1069" r:id="rId9"/>
    <p:sldId id="876" r:id="rId10"/>
    <p:sldId id="860" r:id="rId11"/>
    <p:sldId id="759" r:id="rId12"/>
    <p:sldId id="1108" r:id="rId13"/>
    <p:sldId id="1143" r:id="rId14"/>
    <p:sldId id="1141" r:id="rId15"/>
    <p:sldId id="1142" r:id="rId16"/>
    <p:sldId id="1144" r:id="rId17"/>
    <p:sldId id="1056" r:id="rId18"/>
    <p:sldId id="1145" r:id="rId19"/>
    <p:sldId id="1146" r:id="rId20"/>
    <p:sldId id="1147" r:id="rId21"/>
    <p:sldId id="1148" r:id="rId22"/>
    <p:sldId id="1149" r:id="rId23"/>
    <p:sldId id="1150" r:id="rId24"/>
    <p:sldId id="1103" r:id="rId25"/>
    <p:sldId id="1151" r:id="rId26"/>
    <p:sldId id="1152" r:id="rId27"/>
    <p:sldId id="1153" r:id="rId28"/>
    <p:sldId id="1104" r:id="rId29"/>
    <p:sldId id="1118" r:id="rId30"/>
    <p:sldId id="1154" r:id="rId31"/>
    <p:sldId id="1155" r:id="rId32"/>
    <p:sldId id="1139" r:id="rId33"/>
    <p:sldId id="1156" r:id="rId34"/>
    <p:sldId id="1157" r:id="rId35"/>
    <p:sldId id="1158" r:id="rId36"/>
    <p:sldId id="1159" r:id="rId37"/>
    <p:sldId id="1160" r:id="rId38"/>
    <p:sldId id="1161" r:id="rId39"/>
    <p:sldId id="1162" r:id="rId40"/>
    <p:sldId id="1163" r:id="rId41"/>
    <p:sldId id="1164" r:id="rId42"/>
    <p:sldId id="1165" r:id="rId43"/>
    <p:sldId id="1166" r:id="rId44"/>
    <p:sldId id="957" r:id="rId45"/>
    <p:sldId id="1138" r:id="rId46"/>
    <p:sldId id="1167" r:id="rId47"/>
    <p:sldId id="1168" r:id="rId48"/>
    <p:sldId id="874" r:id="rId49"/>
    <p:sldId id="291" r:id="rId50"/>
  </p:sldIdLst>
  <p:sldSz cx="9144000" cy="5143500" type="screen16x9"/>
  <p:notesSz cx="6858000" cy="9144000"/>
  <p:custDataLst>
    <p:tags r:id="rId52"/>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09" autoAdjust="0"/>
    <p:restoredTop sz="75082" autoAdjust="0"/>
  </p:normalViewPr>
  <p:slideViewPr>
    <p:cSldViewPr snapToGrid="0" showGuides="1">
      <p:cViewPr varScale="1">
        <p:scale>
          <a:sx n="67" d="100"/>
          <a:sy n="67" d="100"/>
        </p:scale>
        <p:origin x="1004" y="4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1254"/>
    </p:cViewPr>
  </p:sorterViewPr>
  <p:gridSpacing cx="76200" cy="76200"/>
</p:viewPr>
</file>

<file path=ppt/_rels/presentation.xml.rels><?xml version="1.0" encoding="utf-8"?>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12/6/2019</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b="false" lang="es-419"/>
              <a:t>Cisco Networking Academy Program</a:t>
            </a:r>
          </a:p>
          <a:p>
            <a:pPr rtl="0"/>
            <a:r>
              <a:rPr lang="es-419">
                <a:solidFill>
                  <a:schemeClr val="accent5">
                    <a:lumMod val="40000"/>
                    <a:lumOff val="60000"/>
                  </a:schemeClr>
                </a:solidFill>
              </a:rPr>
              <a:t>Switching, Routing y Wireless Essentials (SRWE)</a:t>
            </a:r>
          </a:p>
          <a:p>
            <a:pPr rtl="0">
              <a:buFontTx/>
              <a:buNone/>
            </a:pPr>
            <a:r>
              <a:rPr lang="es-419">
                <a:solidFill>
                  <a:schemeClr val="accent5">
                    <a:lumMod val="40000"/>
                    <a:lumOff val="60000"/>
                  </a:schemeClr>
                </a:solidFill>
              </a:rPr>
              <a:t>Módulo 10: Conceptos de Seguridad de LAN</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false"/>
              <a:pPr algn="r"/>
              <a:t>2</a:t>
            </a:fld>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false">
                <a:ea typeface="ＭＳ Ｐゴシック" pitchFamily="34" charset="-128"/>
              </a:rPr>
              <a:pPr algn="r"/>
              <a:t>5</a:t>
            </a:fld>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false"/>
              <a:pPr algn="r"/>
              <a:t>6</a:t>
            </a:fld>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false"/>
              <a:pPr algn="r"/>
              <a:t>7</a:t>
            </a:fld>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false"/>
              <a:pPr algn="r"/>
              <a:t>8</a:t>
            </a:fld>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b="false" lang="es-419"/>
              <a:t>Programa de Cisco Networking Academy</a:t>
            </a:r>
          </a:p>
          <a:p>
            <a:pPr rtl="0"/>
            <a:r>
              <a:rPr lang="es-419">
                <a:solidFill>
                  <a:schemeClr val="accent5">
                    <a:lumMod val="40000"/>
                    <a:lumOff val="60000"/>
                  </a:schemeClr>
                </a:solidFill>
              </a:rPr>
              <a:t>Switching, Routing y Wireless Essentials (SRWE)</a:t>
            </a:r>
          </a:p>
          <a:p>
            <a:pPr rtl="0">
              <a:buFontTx/>
              <a:buNone/>
            </a:pPr>
            <a:r>
              <a:rPr lang="es-419">
                <a:solidFill>
                  <a:schemeClr val="accent5">
                    <a:lumMod val="40000"/>
                    <a:lumOff val="60000"/>
                  </a:schemeClr>
                </a:solidFill>
              </a:rPr>
              <a:t>Módulo 10: Conceptos de Seguridad de LAN</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9</a:t>
            </a:fld>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false">
                <a:solidFill>
                  <a:prstClr val="black"/>
                </a:solidFill>
              </a:rPr>
              <a:pPr algn="r"/>
              <a:t>10</a:t>
            </a:fld>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a:t>10- Introducción</a:t>
            </a:r>
          </a:p>
          <a:p>
            <a:pPr rtl="0">
              <a:buFontTx/>
              <a:buNone/>
            </a:pPr>
            <a:r>
              <a:rPr lang="es-419"/>
              <a:t>10.0.2 – ¿Qué aprenderé en este módulo?</a:t>
            </a:r>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10 - Conceptos de seguridad de LAN</a:t>
            </a:r>
          </a:p>
          <a:p>
            <a:pPr rtl="0"/>
            <a:r>
              <a:rPr lang="es-419"/>
              <a:t>10.1 - Seguridad de punto final (endpoint security)</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11</a:t>
            </a:fld>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Seguridad de punto final (endpoint security)</a:t>
            </a:r>
          </a:p>
          <a:p>
            <a:pPr rtl="0"/>
            <a:r>
              <a:rPr lang="es-419"/>
              <a:t>10.1.1 – Ataques de Red de Hoy</a:t>
            </a:r>
          </a:p>
        </p:txBody>
      </p:sp>
      <p:sp>
        <p:nvSpPr>
          <p:cNvPr id="4" name="Slide Number Placeholder 3"/>
          <p:cNvSpPr>
            <a:spLocks noGrp="1"/>
          </p:cNvSpPr>
          <p:nvPr>
            <p:ph type="sldNum" sz="quarter" idx="5"/>
          </p:nvPr>
        </p:nvSpPr>
        <p:spPr/>
        <p:txBody>
          <a:bodyPr/>
          <a:lstStyle/>
          <a:p>
            <a:pPr rtl="0"/>
            <a:fld id="{5641018C-6CAF-B84E-B92C-ECB119457FBA}" type="slidenum">
              <a:rPr/>
              <a:t>12</a:t>
            </a:fld>
          </a:p>
        </p:txBody>
      </p:sp>
    </p:spTree>
    <p:extLst>
      <p:ext uri="{BB962C8B-B14F-4D97-AF65-F5344CB8AC3E}">
        <p14:creationId xmlns:p14="http://schemas.microsoft.com/office/powerpoint/2010/main" val="751550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Seguridad de punto final (endpoint security)</a:t>
            </a:r>
          </a:p>
          <a:p>
            <a:pPr rtl="0"/>
            <a:r>
              <a:rPr lang="es-419"/>
              <a:t>10.1.2 – Dispositivos de seguridad de red</a:t>
            </a:r>
          </a:p>
        </p:txBody>
      </p:sp>
      <p:sp>
        <p:nvSpPr>
          <p:cNvPr id="4" name="Slide Number Placeholder 3"/>
          <p:cNvSpPr>
            <a:spLocks noGrp="1"/>
          </p:cNvSpPr>
          <p:nvPr>
            <p:ph type="sldNum" sz="quarter" idx="5"/>
          </p:nvPr>
        </p:nvSpPr>
        <p:spPr/>
        <p:txBody>
          <a:bodyPr/>
          <a:lstStyle/>
          <a:p>
            <a:pPr rtl="0"/>
            <a:fld id="{5641018C-6CAF-B84E-B92C-ECB119457FBA}" type="slidenum">
              <a:rPr/>
              <a:t>13</a:t>
            </a:fld>
          </a:p>
        </p:txBody>
      </p:sp>
    </p:spTree>
    <p:extLst>
      <p:ext uri="{BB962C8B-B14F-4D97-AF65-F5344CB8AC3E}">
        <p14:creationId xmlns:p14="http://schemas.microsoft.com/office/powerpoint/2010/main" val="1846363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Seguridad de punto final (endpoint security)</a:t>
            </a:r>
          </a:p>
          <a:p>
            <a:pPr rtl="0"/>
            <a:r>
              <a:rPr lang="es-419"/>
              <a:t>10.1.3 – Protección de punto final (Endpoint Security)</a:t>
            </a:r>
          </a:p>
        </p:txBody>
      </p:sp>
      <p:sp>
        <p:nvSpPr>
          <p:cNvPr id="4" name="Slide Number Placeholder 3"/>
          <p:cNvSpPr>
            <a:spLocks noGrp="1"/>
          </p:cNvSpPr>
          <p:nvPr>
            <p:ph type="sldNum" sz="quarter" idx="5"/>
          </p:nvPr>
        </p:nvSpPr>
        <p:spPr/>
        <p:txBody>
          <a:bodyPr/>
          <a:lstStyle/>
          <a:p>
            <a:pPr rtl="0"/>
            <a:fld id="{5641018C-6CAF-B84E-B92C-ECB119457FBA}" type="slidenum">
              <a:rPr/>
              <a:t>14</a:t>
            </a:fld>
          </a:p>
        </p:txBody>
      </p:sp>
    </p:spTree>
    <p:extLst>
      <p:ext uri="{BB962C8B-B14F-4D97-AF65-F5344CB8AC3E}">
        <p14:creationId xmlns:p14="http://schemas.microsoft.com/office/powerpoint/2010/main" val="34741616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Seguridad de punto final (Endpoint Security)</a:t>
            </a:r>
          </a:p>
          <a:p>
            <a:pPr rtl="0"/>
            <a:r>
              <a:rPr lang="es-419"/>
              <a:t>10.1.4 – Dispositivo de Seguridad de Correo Electrónico Cisco (Cisco Email Security Appliance)</a:t>
            </a:r>
          </a:p>
        </p:txBody>
      </p:sp>
      <p:sp>
        <p:nvSpPr>
          <p:cNvPr id="4" name="Slide Number Placeholder 3"/>
          <p:cNvSpPr>
            <a:spLocks noGrp="1"/>
          </p:cNvSpPr>
          <p:nvPr>
            <p:ph type="sldNum" sz="quarter" idx="5"/>
          </p:nvPr>
        </p:nvSpPr>
        <p:spPr/>
        <p:txBody>
          <a:bodyPr/>
          <a:lstStyle/>
          <a:p>
            <a:pPr rtl="0"/>
            <a:fld id="{5641018C-6CAF-B84E-B92C-ECB119457FBA}" type="slidenum">
              <a:rPr/>
              <a:t>15</a:t>
            </a:fld>
          </a:p>
        </p:txBody>
      </p:sp>
    </p:spTree>
    <p:extLst>
      <p:ext uri="{BB962C8B-B14F-4D97-AF65-F5344CB8AC3E}">
        <p14:creationId xmlns:p14="http://schemas.microsoft.com/office/powerpoint/2010/main" val="1890582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Seguridad de punto final (Endpoint Security)</a:t>
            </a:r>
          </a:p>
          <a:p>
            <a:pPr rtl="0"/>
            <a:r>
              <a:rPr lang="es-419"/>
              <a:t>10.1.5 – Dispositivo de Seguridad de Correo Electrónico Cisco (Cisco Email Security Appliance)</a:t>
            </a:r>
          </a:p>
          <a:p>
            <a:pPr rtl="0"/>
            <a:r>
              <a:rPr lang="es-419"/>
              <a:t>10.1.6 – Ponga a prueba su conocimiento - Seguridad de punto final (Endpoint Security)</a:t>
            </a:r>
          </a:p>
        </p:txBody>
      </p:sp>
      <p:sp>
        <p:nvSpPr>
          <p:cNvPr id="4" name="Slide Number Placeholder 3"/>
          <p:cNvSpPr>
            <a:spLocks noGrp="1"/>
          </p:cNvSpPr>
          <p:nvPr>
            <p:ph type="sldNum" sz="quarter" idx="5"/>
          </p:nvPr>
        </p:nvSpPr>
        <p:spPr/>
        <p:txBody>
          <a:bodyPr/>
          <a:lstStyle/>
          <a:p>
            <a:pPr rtl="0"/>
            <a:fld id="{5641018C-6CAF-B84E-B92C-ECB119457FBA}" type="slidenum">
              <a:rPr/>
              <a:t>16</a:t>
            </a:fld>
          </a:p>
        </p:txBody>
      </p:sp>
    </p:spTree>
    <p:extLst>
      <p:ext uri="{BB962C8B-B14F-4D97-AF65-F5344CB8AC3E}">
        <p14:creationId xmlns:p14="http://schemas.microsoft.com/office/powerpoint/2010/main" val="40034012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10.2 Control de acceso</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17</a:t>
            </a:fld>
          </a:p>
        </p:txBody>
      </p:sp>
    </p:spTree>
    <p:extLst>
      <p:ext uri="{BB962C8B-B14F-4D97-AF65-F5344CB8AC3E}">
        <p14:creationId xmlns:p14="http://schemas.microsoft.com/office/powerpoint/2010/main" val="3963291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10.2 Control de acceso</a:t>
            </a:r>
          </a:p>
          <a:p>
            <a:pPr rtl="0"/>
            <a:r>
              <a:rPr lang="es-419"/>
              <a:t>10.2.1 – Autenticación con una contraseña local</a:t>
            </a:r>
          </a:p>
        </p:txBody>
      </p:sp>
      <p:sp>
        <p:nvSpPr>
          <p:cNvPr id="4" name="Slide Number Placeholder 3"/>
          <p:cNvSpPr>
            <a:spLocks noGrp="1"/>
          </p:cNvSpPr>
          <p:nvPr>
            <p:ph type="sldNum" sz="quarter" idx="5"/>
          </p:nvPr>
        </p:nvSpPr>
        <p:spPr/>
        <p:txBody>
          <a:bodyPr/>
          <a:lstStyle/>
          <a:p>
            <a:pPr rtl="0"/>
            <a:fld id="{5641018C-6CAF-B84E-B92C-ECB119457FBA}" type="slidenum">
              <a:rPr/>
              <a:t>18</a:t>
            </a:fld>
          </a:p>
        </p:txBody>
      </p:sp>
    </p:spTree>
    <p:extLst>
      <p:ext uri="{BB962C8B-B14F-4D97-AF65-F5344CB8AC3E}">
        <p14:creationId xmlns:p14="http://schemas.microsoft.com/office/powerpoint/2010/main" val="2691726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10.2 Control de acceso</a:t>
            </a:r>
          </a:p>
          <a:p>
            <a:pPr rtl="0"/>
            <a:r>
              <a:rPr lang="es-419"/>
              <a:t>10.2.2 – Componentes AAA</a:t>
            </a:r>
          </a:p>
        </p:txBody>
      </p:sp>
      <p:sp>
        <p:nvSpPr>
          <p:cNvPr id="4" name="Slide Number Placeholder 3"/>
          <p:cNvSpPr>
            <a:spLocks noGrp="1"/>
          </p:cNvSpPr>
          <p:nvPr>
            <p:ph type="sldNum" sz="quarter" idx="5"/>
          </p:nvPr>
        </p:nvSpPr>
        <p:spPr/>
        <p:txBody>
          <a:bodyPr/>
          <a:lstStyle/>
          <a:p>
            <a:pPr rtl="0"/>
            <a:fld id="{5641018C-6CAF-B84E-B92C-ECB119457FBA}" type="slidenum">
              <a:rPr/>
              <a:t>19</a:t>
            </a:fld>
          </a:p>
        </p:txBody>
      </p:sp>
    </p:spTree>
    <p:extLst>
      <p:ext uri="{BB962C8B-B14F-4D97-AF65-F5344CB8AC3E}">
        <p14:creationId xmlns:p14="http://schemas.microsoft.com/office/powerpoint/2010/main" val="3315394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10.2 Control de acceso</a:t>
            </a:r>
          </a:p>
          <a:p>
            <a:pPr rtl="0"/>
            <a:r>
              <a:rPr lang="es-419"/>
              <a:t>10.2.3 - Autenticación</a:t>
            </a:r>
          </a:p>
        </p:txBody>
      </p:sp>
      <p:sp>
        <p:nvSpPr>
          <p:cNvPr id="4" name="Slide Number Placeholder 3"/>
          <p:cNvSpPr>
            <a:spLocks noGrp="1"/>
          </p:cNvSpPr>
          <p:nvPr>
            <p:ph type="sldNum" sz="quarter" idx="5"/>
          </p:nvPr>
        </p:nvSpPr>
        <p:spPr/>
        <p:txBody>
          <a:bodyPr/>
          <a:lstStyle/>
          <a:p>
            <a:pPr rtl="0"/>
            <a:fld id="{5641018C-6CAF-B84E-B92C-ECB119457FBA}" type="slidenum">
              <a:rPr/>
              <a:t>20</a:t>
            </a:fld>
          </a:p>
        </p:txBody>
      </p:sp>
    </p:spTree>
    <p:extLst>
      <p:ext uri="{BB962C8B-B14F-4D97-AF65-F5344CB8AC3E}">
        <p14:creationId xmlns:p14="http://schemas.microsoft.com/office/powerpoint/2010/main" val="36821753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10.2 Control de acceso</a:t>
            </a:r>
          </a:p>
          <a:p>
            <a:pPr rtl="0"/>
            <a:r>
              <a:rPr lang="es-419"/>
              <a:t>10.2.4 - Autorización</a:t>
            </a:r>
          </a:p>
        </p:txBody>
      </p:sp>
      <p:sp>
        <p:nvSpPr>
          <p:cNvPr id="4" name="Slide Number Placeholder 3"/>
          <p:cNvSpPr>
            <a:spLocks noGrp="1"/>
          </p:cNvSpPr>
          <p:nvPr>
            <p:ph type="sldNum" sz="quarter" idx="5"/>
          </p:nvPr>
        </p:nvSpPr>
        <p:spPr/>
        <p:txBody>
          <a:bodyPr/>
          <a:lstStyle/>
          <a:p>
            <a:pPr rtl="0"/>
            <a:fld id="{5641018C-6CAF-B84E-B92C-ECB119457FBA}" type="slidenum">
              <a:rPr/>
              <a:t>21</a:t>
            </a:fld>
          </a:p>
        </p:txBody>
      </p:sp>
    </p:spTree>
    <p:extLst>
      <p:ext uri="{BB962C8B-B14F-4D97-AF65-F5344CB8AC3E}">
        <p14:creationId xmlns:p14="http://schemas.microsoft.com/office/powerpoint/2010/main" val="15195693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10.2 Control de acceso</a:t>
            </a:r>
          </a:p>
          <a:p>
            <a:pPr rtl="0"/>
            <a:r>
              <a:rPr lang="es-419"/>
              <a:t>10.2.5 - Contabilidad</a:t>
            </a:r>
          </a:p>
        </p:txBody>
      </p:sp>
      <p:sp>
        <p:nvSpPr>
          <p:cNvPr id="4" name="Slide Number Placeholder 3"/>
          <p:cNvSpPr>
            <a:spLocks noGrp="1"/>
          </p:cNvSpPr>
          <p:nvPr>
            <p:ph type="sldNum" sz="quarter" idx="5"/>
          </p:nvPr>
        </p:nvSpPr>
        <p:spPr/>
        <p:txBody>
          <a:bodyPr/>
          <a:lstStyle/>
          <a:p>
            <a:pPr rtl="0"/>
            <a:fld id="{5641018C-6CAF-B84E-B92C-ECB119457FBA}" type="slidenum">
              <a:rPr/>
              <a:t>22</a:t>
            </a:fld>
          </a:p>
        </p:txBody>
      </p:sp>
    </p:spTree>
    <p:extLst>
      <p:ext uri="{BB962C8B-B14F-4D97-AF65-F5344CB8AC3E}">
        <p14:creationId xmlns:p14="http://schemas.microsoft.com/office/powerpoint/2010/main" val="30312858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10.2 Control de acceso</a:t>
            </a:r>
          </a:p>
          <a:p>
            <a:pPr rtl="0"/>
            <a:r>
              <a:rPr lang="es-419"/>
              <a:t>10.2.6 – 802.1X</a:t>
            </a:r>
          </a:p>
          <a:p>
            <a:pPr rtl="0"/>
            <a:r>
              <a:rPr lang="es-419"/>
              <a:t>10.2.7 – Verifique su comprensión: Control de Acceso</a:t>
            </a:r>
          </a:p>
        </p:txBody>
      </p:sp>
      <p:sp>
        <p:nvSpPr>
          <p:cNvPr id="4" name="Slide Number Placeholder 3"/>
          <p:cNvSpPr>
            <a:spLocks noGrp="1"/>
          </p:cNvSpPr>
          <p:nvPr>
            <p:ph type="sldNum" sz="quarter" idx="5"/>
          </p:nvPr>
        </p:nvSpPr>
        <p:spPr/>
        <p:txBody>
          <a:bodyPr/>
          <a:lstStyle/>
          <a:p>
            <a:pPr rtl="0"/>
            <a:fld id="{5641018C-6CAF-B84E-B92C-ECB119457FBA}" type="slidenum">
              <a:rPr/>
              <a:t>23</a:t>
            </a:fld>
          </a:p>
        </p:txBody>
      </p:sp>
    </p:spTree>
    <p:extLst>
      <p:ext uri="{BB962C8B-B14F-4D97-AF65-F5344CB8AC3E}">
        <p14:creationId xmlns:p14="http://schemas.microsoft.com/office/powerpoint/2010/main" val="4287480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10.3 - Amenazas de seguridad de capa 2</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24</a:t>
            </a:fld>
          </a:p>
        </p:txBody>
      </p:sp>
    </p:spTree>
    <p:extLst>
      <p:ext uri="{BB962C8B-B14F-4D97-AF65-F5344CB8AC3E}">
        <p14:creationId xmlns:p14="http://schemas.microsoft.com/office/powerpoint/2010/main" val="12004353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10.3 - Amenazas de seguridad de capa 2</a:t>
            </a:r>
          </a:p>
          <a:p>
            <a:pPr rtl="0"/>
            <a:r>
              <a:rPr lang="es-419"/>
              <a:t>10.3.1 - Capa 2 Vulnerabilidades</a:t>
            </a:r>
          </a:p>
        </p:txBody>
      </p:sp>
      <p:sp>
        <p:nvSpPr>
          <p:cNvPr id="4" name="Slide Number Placeholder 3"/>
          <p:cNvSpPr>
            <a:spLocks noGrp="1"/>
          </p:cNvSpPr>
          <p:nvPr>
            <p:ph type="sldNum" sz="quarter" idx="5"/>
          </p:nvPr>
        </p:nvSpPr>
        <p:spPr/>
        <p:txBody>
          <a:bodyPr/>
          <a:lstStyle/>
          <a:p>
            <a:pPr rtl="0"/>
            <a:fld id="{5641018C-6CAF-B84E-B92C-ECB119457FBA}" type="slidenum">
              <a:rPr/>
              <a:t>25</a:t>
            </a:fld>
          </a:p>
        </p:txBody>
      </p:sp>
    </p:spTree>
    <p:extLst>
      <p:ext uri="{BB962C8B-B14F-4D97-AF65-F5344CB8AC3E}">
        <p14:creationId xmlns:p14="http://schemas.microsoft.com/office/powerpoint/2010/main" val="32524956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10.3 - Amenazas de seguridad de capa 2</a:t>
            </a:r>
          </a:p>
          <a:p>
            <a:pPr rtl="0"/>
            <a:r>
              <a:rPr lang="es-419"/>
              <a:t>10.3.2 -Categorías de ataques en el Switches</a:t>
            </a:r>
          </a:p>
        </p:txBody>
      </p:sp>
      <p:sp>
        <p:nvSpPr>
          <p:cNvPr id="4" name="Slide Number Placeholder 3"/>
          <p:cNvSpPr>
            <a:spLocks noGrp="1"/>
          </p:cNvSpPr>
          <p:nvPr>
            <p:ph type="sldNum" sz="quarter" idx="5"/>
          </p:nvPr>
        </p:nvSpPr>
        <p:spPr/>
        <p:txBody>
          <a:bodyPr/>
          <a:lstStyle/>
          <a:p>
            <a:pPr rtl="0"/>
            <a:fld id="{5641018C-6CAF-B84E-B92C-ECB119457FBA}" type="slidenum">
              <a:rPr/>
              <a:t>26</a:t>
            </a:fld>
          </a:p>
        </p:txBody>
      </p:sp>
    </p:spTree>
    <p:extLst>
      <p:ext uri="{BB962C8B-B14F-4D97-AF65-F5344CB8AC3E}">
        <p14:creationId xmlns:p14="http://schemas.microsoft.com/office/powerpoint/2010/main" val="26614552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10.3 - Amenazas de seguridad de capa 2</a:t>
            </a:r>
          </a:p>
          <a:p>
            <a:pPr rtl="0"/>
            <a:r>
              <a:rPr lang="es-419"/>
              <a:t>10.3.3 - Técnicas de mitigación de ataque en el switch</a:t>
            </a:r>
          </a:p>
          <a:p>
            <a:pPr rtl="0"/>
            <a:r>
              <a:rPr lang="es-419"/>
              <a:t>10.3.4 – Ponga a prueba su conocimiento: Amenazas de Seguridad de Capa 2</a:t>
            </a:r>
          </a:p>
        </p:txBody>
      </p:sp>
      <p:sp>
        <p:nvSpPr>
          <p:cNvPr id="4" name="Slide Number Placeholder 3"/>
          <p:cNvSpPr>
            <a:spLocks noGrp="1"/>
          </p:cNvSpPr>
          <p:nvPr>
            <p:ph type="sldNum" sz="quarter" idx="5"/>
          </p:nvPr>
        </p:nvSpPr>
        <p:spPr/>
        <p:txBody>
          <a:bodyPr/>
          <a:lstStyle/>
          <a:p>
            <a:pPr rtl="0"/>
            <a:fld id="{5641018C-6CAF-B84E-B92C-ECB119457FBA}" type="slidenum">
              <a:rPr/>
              <a:t>27</a:t>
            </a:fld>
          </a:p>
        </p:txBody>
      </p:sp>
    </p:spTree>
    <p:extLst>
      <p:ext uri="{BB962C8B-B14F-4D97-AF65-F5344CB8AC3E}">
        <p14:creationId xmlns:p14="http://schemas.microsoft.com/office/powerpoint/2010/main" val="38432264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10.4 – Ataque de tablas de direcciones MAC</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28</a:t>
            </a:fld>
          </a:p>
        </p:txBody>
      </p:sp>
    </p:spTree>
    <p:extLst>
      <p:ext uri="{BB962C8B-B14F-4D97-AF65-F5344CB8AC3E}">
        <p14:creationId xmlns:p14="http://schemas.microsoft.com/office/powerpoint/2010/main" val="26683847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10.4 – Ataque de tablas de direcciones MAC</a:t>
            </a:r>
          </a:p>
          <a:p>
            <a:pPr rtl="0"/>
            <a:r>
              <a:rPr lang="es-419"/>
              <a:t>10.4.1 – Revisar la opercaión del Switch</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29</a:t>
            </a:fld>
          </a:p>
        </p:txBody>
      </p:sp>
    </p:spTree>
    <p:extLst>
      <p:ext uri="{BB962C8B-B14F-4D97-AF65-F5344CB8AC3E}">
        <p14:creationId xmlns:p14="http://schemas.microsoft.com/office/powerpoint/2010/main" val="21015713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10.4 – Ataque de tablas de direcciones MAC</a:t>
            </a:r>
          </a:p>
          <a:p>
            <a:pPr rtl="0"/>
            <a:r>
              <a:rPr lang="es-419"/>
              <a:t>10.4.2 – Saturación de tablas de direcciones MAC</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30</a:t>
            </a:fld>
          </a:p>
        </p:txBody>
      </p:sp>
    </p:spTree>
    <p:extLst>
      <p:ext uri="{BB962C8B-B14F-4D97-AF65-F5344CB8AC3E}">
        <p14:creationId xmlns:p14="http://schemas.microsoft.com/office/powerpoint/2010/main" val="31688998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10.4 – Ataque de tablas de direcciones MAC</a:t>
            </a:r>
          </a:p>
          <a:p>
            <a:pPr rtl="0"/>
            <a:r>
              <a:rPr lang="es-419"/>
              <a:t>10.4.3 – Mitigación de ataques a la tabla de direcciones MAC.</a:t>
            </a:r>
          </a:p>
          <a:p>
            <a:pPr rtl="0"/>
            <a:r>
              <a:rPr lang="es-419"/>
              <a:t>10.4.4 – Verifica tu entendimiento- ataques a tablas de direcciones MAC.</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31</a:t>
            </a:fld>
          </a:p>
        </p:txBody>
      </p:sp>
    </p:spTree>
    <p:extLst>
      <p:ext uri="{BB962C8B-B14F-4D97-AF65-F5344CB8AC3E}">
        <p14:creationId xmlns:p14="http://schemas.microsoft.com/office/powerpoint/2010/main" val="35789133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10.5 – Ataques a la LAN</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32</a:t>
            </a:fld>
          </a:p>
        </p:txBody>
      </p:sp>
    </p:spTree>
    <p:extLst>
      <p:ext uri="{BB962C8B-B14F-4D97-AF65-F5344CB8AC3E}">
        <p14:creationId xmlns:p14="http://schemas.microsoft.com/office/powerpoint/2010/main" val="9622305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10.5 – Ataques a la LAN</a:t>
            </a:r>
          </a:p>
          <a:p>
            <a:pPr rtl="0"/>
            <a:r>
              <a:rPr lang="es-419"/>
              <a:t>10.5.1 – Video –VLAN y ataques DHCP</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33</a:t>
            </a:fld>
          </a:p>
        </p:txBody>
      </p:sp>
    </p:spTree>
    <p:extLst>
      <p:ext uri="{BB962C8B-B14F-4D97-AF65-F5344CB8AC3E}">
        <p14:creationId xmlns:p14="http://schemas.microsoft.com/office/powerpoint/2010/main" val="4624230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10.5 – Ataques a la LAN</a:t>
            </a:r>
          </a:p>
          <a:p>
            <a:pPr rtl="0"/>
            <a:r>
              <a:rPr lang="es-419"/>
              <a:t>10.5.2 – Ataque de salto de VLAN</a:t>
            </a:r>
          </a:p>
        </p:txBody>
      </p:sp>
      <p:sp>
        <p:nvSpPr>
          <p:cNvPr id="4" name="Slide Number Placeholder 3"/>
          <p:cNvSpPr>
            <a:spLocks noGrp="1"/>
          </p:cNvSpPr>
          <p:nvPr>
            <p:ph type="sldNum" sz="quarter" idx="5"/>
          </p:nvPr>
        </p:nvSpPr>
        <p:spPr/>
        <p:txBody>
          <a:bodyPr/>
          <a:lstStyle/>
          <a:p>
            <a:pPr rtl="0"/>
            <a:fld id="{5641018C-6CAF-B84E-B92C-ECB119457FBA}" type="slidenum">
              <a:rPr/>
              <a:t>34</a:t>
            </a:fld>
          </a:p>
        </p:txBody>
      </p:sp>
    </p:spTree>
    <p:extLst>
      <p:ext uri="{BB962C8B-B14F-4D97-AF65-F5344CB8AC3E}">
        <p14:creationId xmlns:p14="http://schemas.microsoft.com/office/powerpoint/2010/main" val="28774086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10.5 – Ataques a la LAN</a:t>
            </a:r>
          </a:p>
          <a:p>
            <a:pPr rtl="0"/>
            <a:r>
              <a:rPr lang="es-419"/>
              <a:t>10.5.3 – Ataque de doble-etiqueta de VLAN</a:t>
            </a:r>
          </a:p>
        </p:txBody>
      </p:sp>
      <p:sp>
        <p:nvSpPr>
          <p:cNvPr id="4" name="Slide Number Placeholder 3"/>
          <p:cNvSpPr>
            <a:spLocks noGrp="1"/>
          </p:cNvSpPr>
          <p:nvPr>
            <p:ph type="sldNum" sz="quarter" idx="5"/>
          </p:nvPr>
        </p:nvSpPr>
        <p:spPr/>
        <p:txBody>
          <a:bodyPr/>
          <a:lstStyle/>
          <a:p>
            <a:pPr rtl="0"/>
            <a:fld id="{5641018C-6CAF-B84E-B92C-ECB119457FBA}" type="slidenum">
              <a:rPr/>
              <a:t>35</a:t>
            </a:fld>
          </a:p>
        </p:txBody>
      </p:sp>
    </p:spTree>
    <p:extLst>
      <p:ext uri="{BB962C8B-B14F-4D97-AF65-F5344CB8AC3E}">
        <p14:creationId xmlns:p14="http://schemas.microsoft.com/office/powerpoint/2010/main" val="4744602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10.5 – Ataques a la LAN</a:t>
            </a:r>
          </a:p>
          <a:p>
            <a:pPr rtl="0"/>
            <a:r>
              <a:rPr lang="es-419"/>
              <a:t>10.5.3 – Ataque de doble-etiqueta de VLAN (Cont.)</a:t>
            </a:r>
          </a:p>
        </p:txBody>
      </p:sp>
      <p:sp>
        <p:nvSpPr>
          <p:cNvPr id="4" name="Slide Number Placeholder 3"/>
          <p:cNvSpPr>
            <a:spLocks noGrp="1"/>
          </p:cNvSpPr>
          <p:nvPr>
            <p:ph type="sldNum" sz="quarter" idx="5"/>
          </p:nvPr>
        </p:nvSpPr>
        <p:spPr/>
        <p:txBody>
          <a:bodyPr/>
          <a:lstStyle/>
          <a:p>
            <a:pPr rtl="0"/>
            <a:fld id="{5641018C-6CAF-B84E-B92C-ECB119457FBA}" type="slidenum">
              <a:rPr/>
              <a:t>36</a:t>
            </a:fld>
          </a:p>
        </p:txBody>
      </p:sp>
    </p:spTree>
    <p:extLst>
      <p:ext uri="{BB962C8B-B14F-4D97-AF65-F5344CB8AC3E}">
        <p14:creationId xmlns:p14="http://schemas.microsoft.com/office/powerpoint/2010/main" val="16343782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10.5 – Ataques a la LAN</a:t>
            </a:r>
          </a:p>
          <a:p>
            <a:pPr rtl="0"/>
            <a:r>
              <a:rPr lang="es-419"/>
              <a:t>10.5.4 – Mensajes DHCP</a:t>
            </a:r>
          </a:p>
        </p:txBody>
      </p:sp>
      <p:sp>
        <p:nvSpPr>
          <p:cNvPr id="4" name="Slide Number Placeholder 3"/>
          <p:cNvSpPr>
            <a:spLocks noGrp="1"/>
          </p:cNvSpPr>
          <p:nvPr>
            <p:ph type="sldNum" sz="quarter" idx="5"/>
          </p:nvPr>
        </p:nvSpPr>
        <p:spPr/>
        <p:txBody>
          <a:bodyPr/>
          <a:lstStyle/>
          <a:p>
            <a:pPr rtl="0"/>
            <a:fld id="{5641018C-6CAF-B84E-B92C-ECB119457FBA}" type="slidenum">
              <a:rPr/>
              <a:t>37</a:t>
            </a:fld>
          </a:p>
        </p:txBody>
      </p:sp>
    </p:spTree>
    <p:extLst>
      <p:ext uri="{BB962C8B-B14F-4D97-AF65-F5344CB8AC3E}">
        <p14:creationId xmlns:p14="http://schemas.microsoft.com/office/powerpoint/2010/main" val="17821757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10.5 – Ataques a la LAN</a:t>
            </a:r>
          </a:p>
          <a:p>
            <a:pPr rtl="0"/>
            <a:r>
              <a:rPr lang="es-419"/>
              <a:t>10.5.5 – Ataques de DHCP</a:t>
            </a:r>
          </a:p>
        </p:txBody>
      </p:sp>
      <p:sp>
        <p:nvSpPr>
          <p:cNvPr id="4" name="Slide Number Placeholder 3"/>
          <p:cNvSpPr>
            <a:spLocks noGrp="1"/>
          </p:cNvSpPr>
          <p:nvPr>
            <p:ph type="sldNum" sz="quarter" idx="5"/>
          </p:nvPr>
        </p:nvSpPr>
        <p:spPr/>
        <p:txBody>
          <a:bodyPr/>
          <a:lstStyle/>
          <a:p>
            <a:pPr rtl="0"/>
            <a:fld id="{5641018C-6CAF-B84E-B92C-ECB119457FBA}" type="slidenum">
              <a:rPr/>
              <a:t>38</a:t>
            </a:fld>
          </a:p>
        </p:txBody>
      </p:sp>
    </p:spTree>
    <p:extLst>
      <p:ext uri="{BB962C8B-B14F-4D97-AF65-F5344CB8AC3E}">
        <p14:creationId xmlns:p14="http://schemas.microsoft.com/office/powerpoint/2010/main" val="18147012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10.5 – Ataques a la LAN</a:t>
            </a:r>
          </a:p>
          <a:p>
            <a:pPr rtl="0"/>
            <a:r>
              <a:rPr lang="es-419"/>
              <a:t>10.5.6 - </a:t>
            </a:r>
            <a:r>
              <a:rPr sz="1200" lang="es-419"/>
              <a:t>Video – Ataques ARP, Ataques STP y Reconocimiento CDP</a:t>
            </a:r>
          </a:p>
        </p:txBody>
      </p:sp>
      <p:sp>
        <p:nvSpPr>
          <p:cNvPr id="4" name="Slide Number Placeholder 3"/>
          <p:cNvSpPr>
            <a:spLocks noGrp="1"/>
          </p:cNvSpPr>
          <p:nvPr>
            <p:ph type="sldNum" sz="quarter" idx="5"/>
          </p:nvPr>
        </p:nvSpPr>
        <p:spPr/>
        <p:txBody>
          <a:bodyPr/>
          <a:lstStyle/>
          <a:p>
            <a:pPr rtl="0"/>
            <a:fld id="{5641018C-6CAF-B84E-B92C-ECB119457FBA}" type="slidenum">
              <a:rPr/>
              <a:t>39</a:t>
            </a:fld>
          </a:p>
        </p:txBody>
      </p:sp>
    </p:spTree>
    <p:extLst>
      <p:ext uri="{BB962C8B-B14F-4D97-AF65-F5344CB8AC3E}">
        <p14:creationId xmlns:p14="http://schemas.microsoft.com/office/powerpoint/2010/main" val="36541680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10.5 – Ataques a la LAN</a:t>
            </a:r>
          </a:p>
          <a:p>
            <a:pPr rtl="0"/>
            <a:r>
              <a:rPr lang="es-419"/>
              <a:t>10.5.7- </a:t>
            </a:r>
            <a:r>
              <a:rPr sz="1200" lang="es-419"/>
              <a:t>Ataques ARP</a:t>
            </a:r>
          </a:p>
        </p:txBody>
      </p:sp>
      <p:sp>
        <p:nvSpPr>
          <p:cNvPr id="4" name="Slide Number Placeholder 3"/>
          <p:cNvSpPr>
            <a:spLocks noGrp="1"/>
          </p:cNvSpPr>
          <p:nvPr>
            <p:ph type="sldNum" sz="quarter" idx="5"/>
          </p:nvPr>
        </p:nvSpPr>
        <p:spPr/>
        <p:txBody>
          <a:bodyPr/>
          <a:lstStyle/>
          <a:p>
            <a:pPr rtl="0"/>
            <a:fld id="{5641018C-6CAF-B84E-B92C-ECB119457FBA}" type="slidenum">
              <a:rPr/>
              <a:t>40</a:t>
            </a:fld>
          </a:p>
        </p:txBody>
      </p:sp>
    </p:spTree>
    <p:extLst>
      <p:ext uri="{BB962C8B-B14F-4D97-AF65-F5344CB8AC3E}">
        <p14:creationId xmlns:p14="http://schemas.microsoft.com/office/powerpoint/2010/main" val="7908604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10.5 – Ataques a la LAN</a:t>
            </a:r>
          </a:p>
          <a:p>
            <a:pPr rtl="0"/>
            <a:r>
              <a:rPr lang="es-419"/>
              <a:t>10.5.8 – Ataques de suplantación de direcciones</a:t>
            </a:r>
          </a:p>
        </p:txBody>
      </p:sp>
      <p:sp>
        <p:nvSpPr>
          <p:cNvPr id="4" name="Slide Number Placeholder 3"/>
          <p:cNvSpPr>
            <a:spLocks noGrp="1"/>
          </p:cNvSpPr>
          <p:nvPr>
            <p:ph type="sldNum" sz="quarter" idx="5"/>
          </p:nvPr>
        </p:nvSpPr>
        <p:spPr/>
        <p:txBody>
          <a:bodyPr/>
          <a:lstStyle/>
          <a:p>
            <a:pPr rtl="0"/>
            <a:fld id="{5641018C-6CAF-B84E-B92C-ECB119457FBA}" type="slidenum">
              <a:rPr/>
              <a:t>41</a:t>
            </a:fld>
          </a:p>
        </p:txBody>
      </p:sp>
    </p:spTree>
    <p:extLst>
      <p:ext uri="{BB962C8B-B14F-4D97-AF65-F5344CB8AC3E}">
        <p14:creationId xmlns:p14="http://schemas.microsoft.com/office/powerpoint/2010/main" val="19474768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10.5 – Ataques a la LAN</a:t>
            </a:r>
          </a:p>
          <a:p>
            <a:pPr rtl="0"/>
            <a:r>
              <a:rPr lang="es-419"/>
              <a:t>10.5.9 – Ataques STP</a:t>
            </a:r>
          </a:p>
        </p:txBody>
      </p:sp>
      <p:sp>
        <p:nvSpPr>
          <p:cNvPr id="4" name="Slide Number Placeholder 3"/>
          <p:cNvSpPr>
            <a:spLocks noGrp="1"/>
          </p:cNvSpPr>
          <p:nvPr>
            <p:ph type="sldNum" sz="quarter" idx="5"/>
          </p:nvPr>
        </p:nvSpPr>
        <p:spPr/>
        <p:txBody>
          <a:bodyPr/>
          <a:lstStyle/>
          <a:p>
            <a:pPr rtl="0"/>
            <a:fld id="{5641018C-6CAF-B84E-B92C-ECB119457FBA}" type="slidenum">
              <a:rPr/>
              <a:t>42</a:t>
            </a:fld>
          </a:p>
        </p:txBody>
      </p:sp>
    </p:spTree>
    <p:extLst>
      <p:ext uri="{BB962C8B-B14F-4D97-AF65-F5344CB8AC3E}">
        <p14:creationId xmlns:p14="http://schemas.microsoft.com/office/powerpoint/2010/main" val="22587785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Conceptos de seguridad de LAN</a:t>
            </a:r>
          </a:p>
          <a:p>
            <a:pPr rtl="0"/>
            <a:r>
              <a:rPr lang="es-419"/>
              <a:t>10.5 – Ataques a la LAN</a:t>
            </a:r>
          </a:p>
          <a:p>
            <a:pPr rtl="0"/>
            <a:r>
              <a:rPr lang="es-419"/>
              <a:t>10.5.10 – Reconocimiento CDP</a:t>
            </a:r>
          </a:p>
          <a:p>
            <a:pPr rtl="0"/>
            <a:r>
              <a:rPr lang="es-419"/>
              <a:t>10.5.11 – Verifique su comprensión - Ataques LAN</a:t>
            </a:r>
          </a:p>
        </p:txBody>
      </p:sp>
      <p:sp>
        <p:nvSpPr>
          <p:cNvPr id="4" name="Slide Number Placeholder 3"/>
          <p:cNvSpPr>
            <a:spLocks noGrp="1"/>
          </p:cNvSpPr>
          <p:nvPr>
            <p:ph type="sldNum" sz="quarter" idx="5"/>
          </p:nvPr>
        </p:nvSpPr>
        <p:spPr/>
        <p:txBody>
          <a:bodyPr/>
          <a:lstStyle/>
          <a:p>
            <a:pPr rtl="0"/>
            <a:fld id="{5641018C-6CAF-B84E-B92C-ECB119457FBA}" type="slidenum">
              <a:rPr/>
              <a:t>43</a:t>
            </a:fld>
          </a:p>
        </p:txBody>
      </p:sp>
    </p:spTree>
    <p:extLst>
      <p:ext uri="{BB962C8B-B14F-4D97-AF65-F5344CB8AC3E}">
        <p14:creationId xmlns:p14="http://schemas.microsoft.com/office/powerpoint/2010/main" val="17372386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Conceptos de seguridad de LAN</a:t>
            </a:r>
          </a:p>
          <a:p>
            <a:pPr rtl="0"/>
            <a:r>
              <a:rPr sz="1200" lang="es-419"/>
              <a:t>10.6 – Práctica del módulo y cuestionario</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44</a:t>
            </a:fld>
          </a:p>
        </p:txBody>
      </p:sp>
    </p:spTree>
    <p:extLst>
      <p:ext uri="{BB962C8B-B14F-4D97-AF65-F5344CB8AC3E}">
        <p14:creationId xmlns:p14="http://schemas.microsoft.com/office/powerpoint/2010/main" val="22171436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45</a:t>
            </a:fld>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Conceptos de seguridad de LAN</a:t>
            </a:r>
          </a:p>
          <a:p>
            <a:pPr rtl="0"/>
            <a:r>
              <a:rPr sz="1200" lang="es-419"/>
              <a:t>10.6 – Práctica del módulo y cuestionario</a:t>
            </a:r>
          </a:p>
          <a:p>
            <a:pPr rtl="0"/>
            <a:r>
              <a:rPr sz="1200" lang="es-419"/>
              <a:t>10.6.1 – ¿Qué aprendí en este módulo?</a:t>
            </a:r>
          </a:p>
        </p:txBody>
      </p:sp>
    </p:spTree>
    <p:extLst>
      <p:ext uri="{BB962C8B-B14F-4D97-AF65-F5344CB8AC3E}">
        <p14:creationId xmlns:p14="http://schemas.microsoft.com/office/powerpoint/2010/main" val="25279157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46</a:t>
            </a:fld>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Conceptos de seguridad de LAN</a:t>
            </a:r>
          </a:p>
          <a:p>
            <a:pPr rtl="0"/>
            <a:r>
              <a:rPr sz="1200" lang="es-419"/>
              <a:t>10.6 – Práctica del módulo y cuestionario</a:t>
            </a:r>
          </a:p>
          <a:p>
            <a:pPr rtl="0"/>
            <a:r>
              <a:rPr sz="1200" lang="es-419"/>
              <a:t>10.6.1 – ¿Qué aprendí en este módulo? (continuación)</a:t>
            </a:r>
          </a:p>
        </p:txBody>
      </p:sp>
    </p:spTree>
    <p:extLst>
      <p:ext uri="{BB962C8B-B14F-4D97-AF65-F5344CB8AC3E}">
        <p14:creationId xmlns:p14="http://schemas.microsoft.com/office/powerpoint/2010/main" val="641256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47</a:t>
            </a:fld>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Conceptos de seguridad de LAN</a:t>
            </a:r>
          </a:p>
          <a:p>
            <a:pPr rtl="0"/>
            <a:r>
              <a:rPr sz="1200" lang="es-419"/>
              <a:t>10.6 – Práctica del módulo y cuestionario</a:t>
            </a:r>
          </a:p>
          <a:p>
            <a:pPr rtl="0"/>
            <a:r>
              <a:rPr sz="1200" lang="es-419"/>
              <a:t>10.6.1 – ¿Qué aprendí en este módulo? (continuación)</a:t>
            </a:r>
          </a:p>
          <a:p>
            <a:pPr rtl="0"/>
            <a:r>
              <a:rPr sz="1200" lang="es-419"/>
              <a:t>10.6.2 – Cuestionario del Módulo: Conceptos de Seguridad de LAN</a:t>
            </a:r>
          </a:p>
        </p:txBody>
      </p:sp>
    </p:spTree>
    <p:extLst>
      <p:ext uri="{BB962C8B-B14F-4D97-AF65-F5344CB8AC3E}">
        <p14:creationId xmlns:p14="http://schemas.microsoft.com/office/powerpoint/2010/main" val="20979691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48</a:t>
            </a:fld>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49</a:t>
            </a:fld>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rtl="0">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rtl="0">
              <a:spcBef>
                <a:spcPts val="0"/>
              </a:spcBef>
              <a:spcAft>
                <a:spcPts val="0"/>
              </a:spcAft>
              <a:defRPr/>
            </a:pPr>
            <a:r>
              <a:rPr sz="600" lang="es-419">
                <a:solidFill>
                  <a:schemeClr val="accent5">
                    <a:lumMod val="50000"/>
                  </a:schemeClr>
                </a:solidFill>
                <a:latin typeface="+mn-lt"/>
                <a:ea typeface="+mn-ea"/>
                <a:cs typeface="CiscoSans Thin"/>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rtl="0">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rtl="0">
              <a:spcBef>
                <a:spcPts val="0"/>
              </a:spcBef>
              <a:spcAft>
                <a:spcPts val="0"/>
              </a:spcAft>
              <a:defRPr/>
            </a:pPr>
            <a:r>
              <a:rPr sz="600" lang="es-419">
                <a:solidFill>
                  <a:schemeClr val="accent3">
                    <a:lumMod val="85000"/>
                  </a:schemeClr>
                </a:solidFill>
                <a:latin typeface="+mn-lt"/>
                <a:ea typeface="+mn-ea"/>
                <a:cs typeface="CiscoSans Thin"/>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8.xml.rels><?xml version="1.0" encoding="utf-8"?>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19.xml.rels><?xml version="1.0" encoding="utf-8"?>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5.xml.rels><?xml version="1.0" encoding="utf-8"?>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29.xml.rels><?xml version="1.0" encoding="utf-8"?>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33.xml.rels><?xml version="1.0" encoding="utf-8"?>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45.xml.rels><?xml version="1.0" encoding="utf-8"?>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46.xml.rels><?xml version="1.0" encoding="utf-8"?>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47.xml.rels><?xml version="1.0" encoding="utf-8"?>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48.xml.rels><?xml version="1.0" encoding="utf-8"?>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49.xml.rels><?xml version="1.0" encoding="utf-8"?>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0.xml"/><Relationship Id="rId1" Type="http://schemas.openxmlformats.org/officeDocument/2006/relationships/tags" Target="../tags/tag22.xml"/></Relationships>
</file>

<file path=ppt/slides/slide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es-419">
                <a:solidFill>
                  <a:schemeClr val="accent5">
                    <a:lumMod val="40000"/>
                    <a:lumOff val="60000"/>
                  </a:schemeClr>
                </a:solidFill>
              </a:rPr>
              <a:t>Módulo 10: Conceptos de Seguridad de LAN</a:t>
            </a:r>
          </a:p>
        </p:txBody>
      </p:sp>
      <p:sp>
        <p:nvSpPr>
          <p:cNvPr id="5" name="Text Placeholder 4"/>
          <p:cNvSpPr>
            <a:spLocks noGrp="1"/>
          </p:cNvSpPr>
          <p:nvPr>
            <p:ph type="body" sz="quarter" idx="13"/>
          </p:nvPr>
        </p:nvSpPr>
        <p:spPr>
          <a:xfrm>
            <a:off x="469497" y="3127609"/>
            <a:ext cx="5925246" cy="299001"/>
          </a:xfrm>
        </p:spPr>
        <p:txBody>
          <a:bodyPr/>
          <a:lstStyle/>
          <a:p>
            <a:pPr rtl="0"/>
            <a:r>
              <a:rPr lang="es-419">
                <a:solidFill>
                  <a:schemeClr val="bg2">
                    <a:lumMod val="40000"/>
                    <a:lumOff val="60000"/>
                  </a:schemeClr>
                </a:solidFill>
              </a:rPr>
              <a:t>Materiales del Instructor</a:t>
            </a:r>
          </a:p>
        </p:txBody>
      </p:sp>
      <p:sp>
        <p:nvSpPr>
          <p:cNvPr id="7" name="Subtitle 6"/>
          <p:cNvSpPr>
            <a:spLocks noGrp="1"/>
          </p:cNvSpPr>
          <p:nvPr>
            <p:ph type="subTitle" idx="1"/>
          </p:nvPr>
        </p:nvSpPr>
        <p:spPr>
          <a:xfrm>
            <a:off x="469497" y="3809526"/>
            <a:ext cx="2368954" cy="902174"/>
          </a:xfrm>
        </p:spPr>
        <p:txBody>
          <a:bodyPr/>
          <a:lstStyle/>
          <a:p>
            <a:pPr rtl="0"/>
            <a:r>
              <a:rPr lang="es-419">
                <a:solidFill>
                  <a:schemeClr val="accent5">
                    <a:lumMod val="40000"/>
                    <a:lumOff val="60000"/>
                  </a:schemeClr>
                </a:solidFill>
              </a:rPr>
              <a:t>Switching, Routing y Wireless Essentials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es-419"/>
              <a:t>Instructor Materials – Module 10 Planning Guide</a:t>
            </a:r>
          </a:p>
        </p:txBody>
      </p:sp>
      <p:sp>
        <p:nvSpPr>
          <p:cNvPr id="4099" name="Rectangle 34"/>
          <p:cNvSpPr>
            <a:spLocks noGrp="1" noChangeArrowheads="1"/>
          </p:cNvSpPr>
          <p:nvPr>
            <p:ph idx="1"/>
          </p:nvPr>
        </p:nvSpPr>
        <p:spPr>
          <a:xfrm>
            <a:off x="145357" y="808180"/>
            <a:ext cx="8998642" cy="3193936"/>
          </a:xfrm>
        </p:spPr>
        <p:txBody>
          <a:bodyPr/>
          <a:lstStyle/>
          <a:p>
            <a:pPr marL="0" indent="0" rtl="0">
              <a:buNone/>
            </a:pPr>
            <a:r>
              <a:rPr lang="es-419"/>
              <a:t>This PowerPoint deck is divided in two parts:</a:t>
            </a:r>
          </a:p>
          <a:p>
            <a:pPr rtl="0">
              <a:buFont typeface="Arial" panose="020B0604020202020204" pitchFamily="34" charset="0"/>
              <a:buChar char="•"/>
            </a:pPr>
            <a:r>
              <a:rPr lang="es-419"/>
              <a:t>Instructor Planning Guide</a:t>
            </a:r>
          </a:p>
          <a:p>
            <a:pPr lvl="1" rtl="0"/>
            <a:r>
              <a:rPr lang="es-419"/>
              <a:t>Information to help you become familiar with the module</a:t>
            </a:r>
          </a:p>
          <a:p>
            <a:pPr lvl="1" rtl="0"/>
            <a:r>
              <a:rPr lang="es-419"/>
              <a:t>Teaching aids</a:t>
            </a:r>
          </a:p>
          <a:p>
            <a:pPr rtl="0">
              <a:buFont typeface="Arial" panose="020B0604020202020204" pitchFamily="34" charset="0"/>
              <a:buChar char="•"/>
            </a:pPr>
            <a:r>
              <a:rPr lang="es-419"/>
              <a:t>Instructor Class Presentation</a:t>
            </a:r>
          </a:p>
          <a:p>
            <a:pPr lvl="1" rtl="0"/>
            <a:r>
              <a:rPr lang="es-419"/>
              <a:t>Optional slides that you can use in the classroom</a:t>
            </a:r>
          </a:p>
          <a:p>
            <a:pPr lvl="1" rtl="0"/>
            <a:r>
              <a:rPr lang="es-419"/>
              <a:t>Begins on slide # 9</a:t>
            </a:r>
          </a:p>
          <a:p>
            <a:pPr marL="142875" lvl="1" indent="0" algn="ctr" rtl="0">
              <a:buNone/>
            </a:pPr>
            <a:r>
              <a:rPr sz="1600" b="true" lang="es-419"/>
              <a:t>Note</a:t>
            </a:r>
            <a:r>
              <a:rPr sz="1600" lang="es-419"/>
              <a:t>: Remove the Planning Guide from this presentation before sharing with anyone.</a:t>
            </a:r>
          </a:p>
          <a:p>
            <a:pPr marL="0" indent="0" rtl="0">
              <a:buNone/>
            </a:pPr>
            <a:r>
              <a:rPr sz="1600" b="true" lang="es-419">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es-419"/>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rtl="0">
              <a:buNone/>
            </a:pPr>
            <a:r>
              <a:rPr lang="es-419"/>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extLst/>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es-419"/>
                        <a:t>Feature</a:t>
                      </a:r>
                    </a:p>
                  </a:txBody>
                  <a:tcPr/>
                </a:tc>
                <a:tc>
                  <a:txBody>
                    <a:bodyPr/>
                    <a:lstStyle/>
                    <a:p>
                      <a:pPr rtl="0"/>
                      <a:r>
                        <a:rPr lang="es-419"/>
                        <a:t>Description</a:t>
                      </a:r>
                    </a:p>
                  </a:txBody>
                  <a:tcPr/>
                </a:tc>
                <a:extLst>
                  <a:ext uri="{0D108BD9-81ED-4DB2-BD59-A6C34878D82A}">
                    <a16:rowId xmlns:a16="http://schemas.microsoft.com/office/drawing/2014/main" val="367710602"/>
                  </a:ext>
                </a:extLst>
              </a:tr>
              <a:tr h="331556">
                <a:tc>
                  <a:txBody>
                    <a:bodyPr/>
                    <a:lstStyle/>
                    <a:p>
                      <a:pPr algn="l" fontAlgn="b" rtl="0"/>
                      <a:r>
                        <a:rPr sz="1400" b="false" i="false" u="none" strike="noStrike" lang="es-419">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es-419">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es-419">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es-419"/>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es-419">
                          <a:solidFill>
                            <a:srgbClr val="000000"/>
                          </a:solidFill>
                          <a:effectLst/>
                          <a:latin typeface="+mn-lt"/>
                        </a:rPr>
                        <a:t>Interactive Activities</a:t>
                      </a:r>
                    </a:p>
                  </a:txBody>
                  <a:tcPr marL="9525" marR="9525" marT="9525" marB="0" anchor="b"/>
                </a:tc>
                <a:tc>
                  <a:txBody>
                    <a:bodyPr/>
                    <a:lstStyle/>
                    <a:p>
                      <a:pPr rtl="0"/>
                      <a:r>
                        <a:rPr lang="es-419"/>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rtl="0"/>
                      <a:r>
                        <a:rPr sz="1400" b="false" i="false" u="none" strike="noStrike" lang="es-419">
                          <a:solidFill>
                            <a:srgbClr val="000000"/>
                          </a:solidFill>
                          <a:effectLst/>
                          <a:latin typeface="+mn-lt"/>
                        </a:rPr>
                        <a:t>Syntax Checker</a:t>
                      </a:r>
                    </a:p>
                  </a:txBody>
                  <a:tcPr marL="9525" marR="9525" marT="9525" marB="0" anchor="b"/>
                </a:tc>
                <a:tc>
                  <a:txBody>
                    <a:bodyPr/>
                    <a:lstStyle/>
                    <a:p>
                      <a:pPr rtl="0"/>
                      <a:r>
                        <a:rPr lang="es-419"/>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rtl="0"/>
                      <a:r>
                        <a:rPr sz="1400" b="false" i="false" u="none" strike="noStrike" lang="es-419">
                          <a:solidFill>
                            <a:srgbClr val="000000"/>
                          </a:solidFill>
                          <a:effectLst/>
                          <a:latin typeface="+mn-lt"/>
                        </a:rPr>
                        <a:t>PT Activity</a:t>
                      </a:r>
                    </a:p>
                  </a:txBody>
                  <a:tcPr marL="9525" marR="9525" marT="9525" marB="0" anchor="b"/>
                </a:tc>
                <a:tc>
                  <a:txBody>
                    <a:bodyPr/>
                    <a:lstStyle/>
                    <a:p>
                      <a:pPr rtl="0"/>
                      <a:r>
                        <a:rPr lang="es-419"/>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es-419"/>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rtl="0">
              <a:buNone/>
            </a:pPr>
            <a:r>
              <a:rPr lang="es-419"/>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extLst/>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rtl="0"/>
                      <a:r>
                        <a:rPr sz="1400" b="true" i="false" u="none" strike="noStrike" lang="es-419">
                          <a:solidFill>
                            <a:schemeClr val="bg1"/>
                          </a:solidFill>
                          <a:effectLst/>
                          <a:latin typeface="+mn-lt"/>
                        </a:rPr>
                        <a:t>Feature</a:t>
                      </a:r>
                    </a:p>
                  </a:txBody>
                  <a:tcPr marL="9525" marR="9525" marT="9525" marB="0" anchor="b"/>
                </a:tc>
                <a:tc>
                  <a:txBody>
                    <a:bodyPr/>
                    <a:lstStyle/>
                    <a:p>
                      <a:pPr rtl="0"/>
                      <a:r>
                        <a:rPr lang="es-419"/>
                        <a:t>Description</a:t>
                      </a:r>
                    </a:p>
                  </a:txBody>
                  <a:tcPr/>
                </a:tc>
                <a:extLst>
                  <a:ext uri="{0D108BD9-81ED-4DB2-BD59-A6C34878D82A}">
                    <a16:rowId xmlns:a16="http://schemas.microsoft.com/office/drawing/2014/main" val="3768427975"/>
                  </a:ext>
                </a:extLst>
              </a:tr>
              <a:tr h="265091">
                <a:tc>
                  <a:txBody>
                    <a:bodyPr/>
                    <a:lstStyle/>
                    <a:p>
                      <a:pPr algn="l" fontAlgn="b" rtl="0"/>
                      <a:r>
                        <a:rPr sz="1400" b="false" i="false" u="none" strike="noStrike" lang="es-419">
                          <a:solidFill>
                            <a:srgbClr val="000000"/>
                          </a:solidFill>
                          <a:effectLst/>
                          <a:latin typeface="+mn-lt"/>
                        </a:rPr>
                        <a:t>Hands-On Labs</a:t>
                      </a:r>
                    </a:p>
                  </a:txBody>
                  <a:tcPr marL="9525" marR="9525" marT="9525" marB="0" anchor="b"/>
                </a:tc>
                <a:tc>
                  <a:txBody>
                    <a:bodyPr/>
                    <a:lstStyle/>
                    <a:p>
                      <a:pPr rtl="0"/>
                      <a:r>
                        <a:rPr lang="es-419"/>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es-419">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es-419"/>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rtl="0"/>
                      <a:r>
                        <a:rPr sz="1400" b="false" i="false" u="none" strike="noStrike" lang="es-419">
                          <a:solidFill>
                            <a:srgbClr val="000000"/>
                          </a:solidFill>
                          <a:effectLst/>
                          <a:latin typeface="+mn-lt"/>
                        </a:rPr>
                        <a:t>Module Quizzes</a:t>
                      </a:r>
                    </a:p>
                  </a:txBody>
                  <a:tcPr marL="9525" marR="9525" marT="9525" marB="0" anchor="b"/>
                </a:tc>
                <a:tc>
                  <a:txBody>
                    <a:bodyPr/>
                    <a:lstStyle/>
                    <a:p>
                      <a:pPr rtl="0"/>
                      <a:r>
                        <a:rPr lang="es-419"/>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rtl="0"/>
                      <a:r>
                        <a:rPr sz="1400" b="false" i="false" u="none" strike="noStrike" lang="es-419">
                          <a:solidFill>
                            <a:srgbClr val="000000"/>
                          </a:solidFill>
                          <a:effectLst/>
                          <a:latin typeface="+mn-lt"/>
                        </a:rPr>
                        <a:t>Module Summary</a:t>
                      </a:r>
                    </a:p>
                  </a:txBody>
                  <a:tcPr marL="9525" marR="9525" marT="9525" marB="0" anchor="b"/>
                </a:tc>
                <a:tc>
                  <a:txBody>
                    <a:bodyPr/>
                    <a:lstStyle/>
                    <a:p>
                      <a:pPr rtl="0"/>
                      <a:r>
                        <a:rPr lang="es-419"/>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rtl="0"/>
            <a:r>
              <a:rPr lang="es-419"/>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sz="1600" lang="es-419"/>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sz="1600" lang="es-419"/>
              <a:t>Check Your Understanding activities </a:t>
            </a:r>
            <a:r>
              <a:rPr sz="1600" b="true" i="true" lang="es-419"/>
              <a:t>do not </a:t>
            </a:r>
            <a:r>
              <a:rPr sz="1600" lang="es-419"/>
              <a:t>affect student grades.</a:t>
            </a:r>
          </a:p>
          <a:p>
            <a:pPr rtl="0">
              <a:spcBef>
                <a:spcPct val="30000"/>
              </a:spcBef>
              <a:buFont typeface="Arial" panose="020B0604020202020204" pitchFamily="34" charset="0"/>
              <a:buChar char="•"/>
            </a:pPr>
            <a:r>
              <a:rPr sz="1600" lang="es-419"/>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73643951"/>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rtl="0"/>
            <a:r>
              <a:rPr lang="es-419"/>
              <a:t>Module 10: Activities</a:t>
            </a:r>
          </a:p>
        </p:txBody>
      </p:sp>
      <p:sp>
        <p:nvSpPr>
          <p:cNvPr id="6147" name="Rectangle 34"/>
          <p:cNvSpPr>
            <a:spLocks noGrp="1" noChangeArrowheads="1"/>
          </p:cNvSpPr>
          <p:nvPr>
            <p:ph idx="1"/>
          </p:nvPr>
        </p:nvSpPr>
        <p:spPr>
          <a:xfrm>
            <a:off x="144065" y="733629"/>
            <a:ext cx="8695135" cy="348414"/>
          </a:xfrm>
        </p:spPr>
        <p:txBody>
          <a:bodyPr/>
          <a:lstStyle/>
          <a:p>
            <a:pPr marL="0" indent="0" rtl="0">
              <a:spcBef>
                <a:spcPct val="30000"/>
              </a:spcBef>
              <a:buNone/>
            </a:pPr>
            <a:r>
              <a:rPr lang="es-419"/>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138890235"/>
              </p:ext>
            </p:extLst>
          </p:nvPr>
        </p:nvGraphicFramePr>
        <p:xfrm>
          <a:off x="455999" y="1082042"/>
          <a:ext cx="8229418" cy="2756922"/>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sz="1200" lang="es-419"/>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t>Activity Type</a:t>
                      </a:r>
                    </a:p>
                  </a:txBody>
                  <a:tcPr marL="68580" marR="68580" marT="34290" marB="34290" anchor="ctr"/>
                </a:tc>
                <a:tc>
                  <a:txBody>
                    <a:bodyPr/>
                    <a:lstStyle/>
                    <a:p>
                      <a:pPr rtl="0"/>
                      <a:r>
                        <a:rPr sz="1200" lang="es-419"/>
                        <a:t>Activity Name</a:t>
                      </a:r>
                    </a:p>
                  </a:txBody>
                  <a:tcPr marL="68580" marR="68580" marT="34290" marB="34290" anchor="ctr"/>
                </a:tc>
                <a:tc>
                  <a:txBody>
                    <a:bodyPr/>
                    <a:lstStyle/>
                    <a:p>
                      <a:pPr rtl="0"/>
                      <a:r>
                        <a:rPr sz="1200" lang="es-419"/>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sz="1100" lang="es-419">
                          <a:solidFill>
                            <a:srgbClr val="000000"/>
                          </a:solidFill>
                        </a:rPr>
                        <a:t>10.1.6</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es-419">
                          <a:solidFill>
                            <a:srgbClr val="000000"/>
                          </a:solidFill>
                        </a:rPr>
                        <a:t>Check Your Understanding</a:t>
                      </a:r>
                    </a:p>
                  </a:txBody>
                  <a:tcPr marL="68580" marR="68580" marT="34290" marB="34290" anchor="ctr"/>
                </a:tc>
                <a:tc>
                  <a:txBody>
                    <a:bodyPr/>
                    <a:lstStyle/>
                    <a:p>
                      <a:pPr rtl="0"/>
                      <a:r>
                        <a:rPr sz="1100" lang="es-419">
                          <a:solidFill>
                            <a:srgbClr val="000000"/>
                          </a:solidFill>
                        </a:rPr>
                        <a:t>Endpoint Security</a:t>
                      </a:r>
                    </a:p>
                  </a:txBody>
                  <a:tcPr marL="68580" marR="68580" marT="34290" marB="34290" anchor="ctr"/>
                </a:tc>
                <a:tc>
                  <a:txBody>
                    <a:bodyPr/>
                    <a:lstStyle/>
                    <a:p>
                      <a:pPr rtl="0"/>
                      <a:r>
                        <a:rPr sz="1100" lang="es-419">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sz="1100" lang="es-419">
                          <a:solidFill>
                            <a:srgbClr val="000000"/>
                          </a:solidFill>
                        </a:rPr>
                        <a:t>10.2.7</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es-419">
                          <a:solidFill>
                            <a:srgbClr val="000000"/>
                          </a:solidFill>
                        </a:rPr>
                        <a:t>Check Your Understanding</a:t>
                      </a:r>
                    </a:p>
                  </a:txBody>
                  <a:tcPr marL="68580" marR="68580" marT="34290" marB="34290" anchor="ctr"/>
                </a:tc>
                <a:tc>
                  <a:txBody>
                    <a:bodyPr/>
                    <a:lstStyle/>
                    <a:p>
                      <a:pPr rtl="0"/>
                      <a:r>
                        <a:rPr sz="1100" lang="es-419">
                          <a:solidFill>
                            <a:srgbClr val="000000"/>
                          </a:solidFill>
                        </a:rPr>
                        <a:t>Access Control</a:t>
                      </a:r>
                    </a:p>
                  </a:txBody>
                  <a:tcPr marL="68580" marR="68580" marT="34290" marB="34290" anchor="ctr"/>
                </a:tc>
                <a:tc>
                  <a:txBody>
                    <a:bodyPr/>
                    <a:lstStyle/>
                    <a:p>
                      <a:pPr rtl="0"/>
                      <a:r>
                        <a:rPr sz="1100" lang="es-419">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sz="1100" lang="es-419">
                          <a:solidFill>
                            <a:srgbClr val="000000"/>
                          </a:solidFill>
                        </a:rPr>
                        <a:t>10.3.4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Layer 2 Security Threats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sz="1100" lang="es-419">
                          <a:solidFill>
                            <a:srgbClr val="000000"/>
                          </a:solidFill>
                        </a:rPr>
                        <a:t>10.4.4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MAC Address Table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sz="1100" lang="es-419">
                          <a:solidFill>
                            <a:srgbClr val="000000"/>
                          </a:solidFill>
                        </a:rPr>
                        <a:t>10.5.1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VLAN and DHCP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sz="1100" lang="es-419">
                          <a:solidFill>
                            <a:srgbClr val="000000"/>
                          </a:solidFill>
                        </a:rPr>
                        <a:t>10.5.6</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sz="1100" lang="es-419">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ARP Attacks, STP Attacks, and CDP Reconnaissance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001172460"/>
                  </a:ext>
                </a:extLst>
              </a:tr>
              <a:tr h="350784">
                <a:tc>
                  <a:txBody>
                    <a:bodyPr/>
                    <a:lstStyle/>
                    <a:p>
                      <a:pPr algn="ctr" rtl="0"/>
                      <a:r>
                        <a:rPr sz="1100" lang="es-419">
                          <a:solidFill>
                            <a:srgbClr val="000000"/>
                          </a:solidFill>
                        </a:rPr>
                        <a:t>10.5.11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sz="1100" lang="es-419">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solidFill>
                            <a:srgbClr val="000000"/>
                          </a:solidFill>
                        </a:rPr>
                        <a:t>LAN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22206681"/>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4"/>
            <a:ext cx="9144000" cy="538476"/>
          </a:xfrm>
        </p:spPr>
        <p:txBody>
          <a:bodyPr/>
          <a:lstStyle/>
          <a:p>
            <a:pPr rtl="0"/>
            <a:r>
              <a:rPr lang="es-419"/>
              <a:t>Module 10: Best Practices</a:t>
            </a:r>
          </a:p>
        </p:txBody>
      </p:sp>
      <p:sp>
        <p:nvSpPr>
          <p:cNvPr id="11266" name="Rectangle 34"/>
          <p:cNvSpPr>
            <a:spLocks noGrp="1" noChangeArrowheads="1"/>
          </p:cNvSpPr>
          <p:nvPr>
            <p:ph idx="1"/>
          </p:nvPr>
        </p:nvSpPr>
        <p:spPr>
          <a:xfrm>
            <a:off x="145357" y="579869"/>
            <a:ext cx="8853286" cy="4155319"/>
          </a:xfrm>
        </p:spPr>
        <p:txBody>
          <a:bodyPr/>
          <a:lstStyle/>
          <a:p>
            <a:pPr marL="0" indent="0" rtl="0">
              <a:lnSpc>
                <a:spcPct val="85000"/>
              </a:lnSpc>
              <a:spcBef>
                <a:spcPct val="30000"/>
              </a:spcBef>
              <a:buNone/>
            </a:pPr>
            <a:r>
              <a:rPr sz="1600" lang="es-419"/>
              <a:t>Prior to teaching Module 10, the instructor should:</a:t>
            </a:r>
          </a:p>
          <a:p>
            <a:pPr rtl="0">
              <a:lnSpc>
                <a:spcPct val="85000"/>
              </a:lnSpc>
              <a:spcBef>
                <a:spcPct val="30000"/>
              </a:spcBef>
              <a:buFont typeface="Arial" panose="020B0604020202020204" pitchFamily="34" charset="0"/>
              <a:buChar char="•"/>
            </a:pPr>
            <a:r>
              <a:rPr sz="1600" lang="es-419"/>
              <a:t>Review the activities and assessments for this module.</a:t>
            </a:r>
          </a:p>
          <a:p>
            <a:pPr rtl="0">
              <a:lnSpc>
                <a:spcPct val="85000"/>
              </a:lnSpc>
              <a:spcBef>
                <a:spcPct val="30000"/>
              </a:spcBef>
              <a:buFont typeface="Arial" panose="020B0604020202020204" pitchFamily="34" charset="0"/>
              <a:buChar char="•"/>
            </a:pPr>
            <a:r>
              <a:rPr sz="1600" lang="es-419"/>
              <a:t>Try to include as many questions as possible to keep students engaged during classroom presentation.</a:t>
            </a:r>
          </a:p>
          <a:p>
            <a:pPr marL="0" indent="0" rtl="0">
              <a:lnSpc>
                <a:spcPct val="85000"/>
              </a:lnSpc>
              <a:spcBef>
                <a:spcPct val="30000"/>
              </a:spcBef>
              <a:buNone/>
            </a:pPr>
            <a:r>
              <a:rPr sz="1600" lang="es-419"/>
              <a:t>Topic 10.1</a:t>
            </a:r>
          </a:p>
          <a:p>
            <a:pPr lvl="1" rtl="0">
              <a:lnSpc>
                <a:spcPct val="85000"/>
              </a:lnSpc>
              <a:spcBef>
                <a:spcPct val="30000"/>
              </a:spcBef>
            </a:pPr>
            <a:r>
              <a:rPr sz="1600" lang="es-419"/>
              <a:t>Ask the students or have a class discussion</a:t>
            </a:r>
          </a:p>
          <a:p>
            <a:pPr lvl="2" rtl="0">
              <a:lnSpc>
                <a:spcPct val="85000"/>
              </a:lnSpc>
              <a:spcBef>
                <a:spcPct val="30000"/>
              </a:spcBef>
            </a:pPr>
            <a:r>
              <a:rPr sz="1600" lang="es-419"/>
              <a:t>What is another threat that you can think of?</a:t>
            </a:r>
          </a:p>
          <a:p>
            <a:pPr lvl="2" rtl="0">
              <a:lnSpc>
                <a:spcPct val="85000"/>
              </a:lnSpc>
              <a:spcBef>
                <a:spcPct val="30000"/>
              </a:spcBef>
            </a:pPr>
            <a:r>
              <a:rPr sz="1600" lang="es-419"/>
              <a:t>What methods do you employ to protect yourself against SPAM and phishing?</a:t>
            </a:r>
          </a:p>
          <a:p>
            <a:pPr marL="0" indent="0" rtl="0">
              <a:lnSpc>
                <a:spcPct val="85000"/>
              </a:lnSpc>
              <a:spcBef>
                <a:spcPct val="30000"/>
              </a:spcBef>
              <a:buNone/>
            </a:pPr>
            <a:r>
              <a:rPr sz="1600" lang="es-419"/>
              <a:t>Topic 10.2</a:t>
            </a:r>
          </a:p>
          <a:p>
            <a:pPr lvl="1" rtl="0">
              <a:lnSpc>
                <a:spcPct val="85000"/>
              </a:lnSpc>
              <a:spcBef>
                <a:spcPct val="30000"/>
              </a:spcBef>
            </a:pPr>
            <a:r>
              <a:rPr sz="1600" lang="es-419"/>
              <a:t>Ask the students or have a class discussion</a:t>
            </a:r>
          </a:p>
          <a:p>
            <a:pPr lvl="2" rtl="0">
              <a:lnSpc>
                <a:spcPct val="85000"/>
              </a:lnSpc>
              <a:spcBef>
                <a:spcPct val="30000"/>
              </a:spcBef>
            </a:pPr>
            <a:r>
              <a:rPr sz="1600" lang="es-419"/>
              <a:t>Can you think of an instance where using a local database would be preferable to using a centralized database?</a:t>
            </a:r>
          </a:p>
          <a:p>
            <a:pPr lvl="2" rtl="0">
              <a:lnSpc>
                <a:spcPct val="85000"/>
              </a:lnSpc>
              <a:spcBef>
                <a:spcPct val="30000"/>
              </a:spcBef>
            </a:pPr>
            <a:r>
              <a:rPr sz="1600" lang="es-419"/>
              <a:t>Why is layer 2 security so important?</a:t>
            </a:r>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s-419"/>
              <a:t>Module 10: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sz="1400" lang="es-419"/>
              <a:t>Topic</a:t>
            </a:r>
            <a:r>
              <a:rPr lang="es-419"/>
              <a:t> 10.3</a:t>
            </a:r>
          </a:p>
          <a:p>
            <a:pPr lvl="1" rtl="0">
              <a:lnSpc>
                <a:spcPct val="85000"/>
              </a:lnSpc>
              <a:spcBef>
                <a:spcPct val="30000"/>
              </a:spcBef>
            </a:pPr>
            <a:r>
              <a:rPr sz="1500" lang="es-419"/>
              <a:t>Ask the students or have a class discussion</a:t>
            </a:r>
          </a:p>
          <a:p>
            <a:pPr lvl="2" rtl="0">
              <a:lnSpc>
                <a:spcPct val="85000"/>
              </a:lnSpc>
              <a:spcBef>
                <a:spcPct val="30000"/>
              </a:spcBef>
            </a:pPr>
            <a:r>
              <a:rPr sz="1500" lang="es-419"/>
              <a:t>What configuration or process do you consider to be the cornerstone of layer 2 security?</a:t>
            </a:r>
          </a:p>
          <a:p>
            <a:pPr lvl="2" rtl="0">
              <a:lnSpc>
                <a:spcPct val="85000"/>
              </a:lnSpc>
              <a:spcBef>
                <a:spcPct val="30000"/>
              </a:spcBef>
            </a:pPr>
            <a:r>
              <a:rPr sz="1500" lang="es-419"/>
              <a:t>In what instances would a dedicated management VLAN be too cumbersome to implement?</a:t>
            </a:r>
          </a:p>
          <a:p>
            <a:pPr marL="0" indent="0" rtl="0">
              <a:lnSpc>
                <a:spcPct val="85000"/>
              </a:lnSpc>
              <a:spcBef>
                <a:spcPct val="30000"/>
              </a:spcBef>
              <a:buNone/>
            </a:pPr>
            <a:r>
              <a:rPr sz="1400" lang="es-419"/>
              <a:t>Topic</a:t>
            </a:r>
            <a:r>
              <a:rPr lang="es-419"/>
              <a:t> 10.4</a:t>
            </a:r>
          </a:p>
          <a:p>
            <a:pPr lvl="1" rtl="0">
              <a:lnSpc>
                <a:spcPct val="85000"/>
              </a:lnSpc>
              <a:spcBef>
                <a:spcPct val="30000"/>
              </a:spcBef>
            </a:pPr>
            <a:r>
              <a:rPr sz="1500" lang="es-419"/>
              <a:t>Ask the students or have a class discussion</a:t>
            </a:r>
          </a:p>
          <a:p>
            <a:pPr lvl="2" rtl="0">
              <a:lnSpc>
                <a:spcPct val="85000"/>
              </a:lnSpc>
              <a:spcBef>
                <a:spcPct val="30000"/>
              </a:spcBef>
            </a:pPr>
            <a:r>
              <a:rPr sz="1500" lang="es-419"/>
              <a:t>Do you know of any other tools that could generate a MAC address flooding attack?</a:t>
            </a:r>
          </a:p>
          <a:p>
            <a:pPr lvl="2" rtl="0">
              <a:lnSpc>
                <a:spcPct val="85000"/>
              </a:lnSpc>
              <a:spcBef>
                <a:spcPct val="30000"/>
              </a:spcBef>
            </a:pPr>
            <a:r>
              <a:rPr sz="1500" lang="es-419"/>
              <a:t>What is the danger in the flooding of unknown unicast frames?</a:t>
            </a:r>
          </a:p>
          <a:p>
            <a:pPr marL="0" indent="0" rtl="0">
              <a:lnSpc>
                <a:spcPct val="85000"/>
              </a:lnSpc>
              <a:spcBef>
                <a:spcPct val="30000"/>
              </a:spcBef>
              <a:buNone/>
            </a:pPr>
            <a:r>
              <a:rPr sz="1400" lang="es-419"/>
              <a:t>Topic</a:t>
            </a:r>
            <a:r>
              <a:rPr lang="es-419"/>
              <a:t> 10.5</a:t>
            </a:r>
          </a:p>
          <a:p>
            <a:pPr lvl="1" rtl="0">
              <a:lnSpc>
                <a:spcPct val="85000"/>
              </a:lnSpc>
              <a:spcBef>
                <a:spcPct val="30000"/>
              </a:spcBef>
            </a:pPr>
            <a:r>
              <a:rPr sz="1500" lang="es-419"/>
              <a:t>Ask the students or have a class discussion</a:t>
            </a:r>
          </a:p>
          <a:p>
            <a:pPr lvl="2" rtl="0">
              <a:lnSpc>
                <a:spcPct val="85000"/>
              </a:lnSpc>
              <a:spcBef>
                <a:spcPct val="30000"/>
              </a:spcBef>
            </a:pPr>
            <a:r>
              <a:rPr sz="1500" lang="es-419"/>
              <a:t>What configuration(s) could you implement to prevent unauthorized trunks, and thus VLAN Hopping attacks?</a:t>
            </a:r>
          </a:p>
          <a:p>
            <a:pPr lvl="2" rtl="0">
              <a:lnSpc>
                <a:spcPct val="85000"/>
              </a:lnSpc>
              <a:spcBef>
                <a:spcPct val="30000"/>
              </a:spcBef>
            </a:pPr>
            <a:r>
              <a:rPr sz="1500" lang="es-419"/>
              <a:t>Where in the network should a layer 2 discovery protocol be enabled?</a:t>
            </a:r>
          </a:p>
          <a:p>
            <a:pPr marL="261937" lvl="2" indent="0">
              <a:lnSpc>
                <a:spcPct val="85000"/>
              </a:lnSpc>
              <a:spcBef>
                <a:spcPct val="30000"/>
              </a:spcBef>
              <a:buNone/>
            </a:pPr>
            <a:endParaRPr lang="en-US" sz="1100" dirty="0"/>
          </a:p>
          <a:p>
            <a:pPr>
              <a:lnSpc>
                <a:spcPct val="85000"/>
              </a:lnSpc>
              <a:spcBef>
                <a:spcPct val="30000"/>
              </a:spcBef>
            </a:pPr>
            <a:endParaRPr lang="en-US" sz="1400" dirty="0"/>
          </a:p>
          <a:p>
            <a:pPr marL="261937" lvl="2" indent="0">
              <a:lnSpc>
                <a:spcPct val="85000"/>
              </a:lnSpc>
              <a:spcBef>
                <a:spcPct val="30000"/>
              </a:spcBef>
              <a:buNone/>
            </a:pPr>
            <a:endParaRPr lang="en-US" sz="1100" dirty="0"/>
          </a:p>
          <a:p>
            <a:pPr>
              <a:lnSpc>
                <a:spcPct val="85000"/>
              </a:lnSpc>
              <a:spcBef>
                <a:spcPct val="30000"/>
              </a:spcBef>
            </a:pPr>
            <a:endParaRPr lang="en-US" sz="14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es-419">
                <a:solidFill>
                  <a:schemeClr val="accent5">
                    <a:lumMod val="40000"/>
                    <a:lumOff val="60000"/>
                  </a:schemeClr>
                </a:solidFill>
              </a:rPr>
              <a:t>Módulo 10: Conceptos de Seguridad de LAN</a:t>
            </a:r>
          </a:p>
        </p:txBody>
      </p:sp>
      <p:sp>
        <p:nvSpPr>
          <p:cNvPr id="7" name="Subtitle 6"/>
          <p:cNvSpPr>
            <a:spLocks noGrp="1"/>
          </p:cNvSpPr>
          <p:nvPr>
            <p:ph type="subTitle" idx="1"/>
          </p:nvPr>
        </p:nvSpPr>
        <p:spPr>
          <a:xfrm>
            <a:off x="469497" y="3809526"/>
            <a:ext cx="2368954" cy="902174"/>
          </a:xfrm>
        </p:spPr>
        <p:txBody>
          <a:bodyPr/>
          <a:lstStyle/>
          <a:p>
            <a:pPr rtl="0"/>
            <a:r>
              <a:rPr lang="es-419">
                <a:solidFill>
                  <a:schemeClr val="accent5">
                    <a:lumMod val="40000"/>
                    <a:lumOff val="60000"/>
                  </a:schemeClr>
                </a:solidFill>
              </a:rPr>
              <a:t>Switching, Routing y Wireless Essentials (SRWE)</a:t>
            </a:r>
          </a:p>
          <a:p>
            <a:endParaRPr lang="en-US" dirty="0">
              <a:solidFill>
                <a:schemeClr val="accent5">
                  <a:lumMod val="40000"/>
                  <a:lumOff val="60000"/>
                </a:schemeClr>
              </a:solidFill>
            </a:endParaRP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rtl="0"/>
            <a:r>
              <a:rPr lang="es-419"/>
              <a:t>Objetivos del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rtl="0">
              <a:spcBef>
                <a:spcPct val="0"/>
              </a:spcBef>
              <a:spcAft>
                <a:spcPct val="0"/>
              </a:spcAft>
              <a:buClrTx/>
              <a:buSzTx/>
              <a:buNone/>
            </a:pPr>
            <a:r>
              <a:rPr sz="1400" b="true" lang="es-419">
                <a:solidFill>
                  <a:schemeClr val="tx1"/>
                </a:solidFill>
                <a:ea typeface="Calibri" panose="020F0502020204030204" pitchFamily="34" charset="0"/>
                <a:cs typeface="Calibri" panose="020F0502020204030204" pitchFamily="34" charset="0"/>
              </a:rPr>
              <a:t>Título del Módulo:</a:t>
            </a:r>
            <a:r>
              <a:rPr sz="1400" lang="es-419">
                <a:solidFill>
                  <a:schemeClr val="tx1"/>
                </a:solidFill>
                <a:ea typeface="Calibri" panose="020F0502020204030204" pitchFamily="34" charset="0"/>
                <a:cs typeface="Calibri" panose="020F0502020204030204" pitchFamily="34" charset="0"/>
              </a:rPr>
              <a:t>Conceptos de Seguridad de LAN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rtl="0">
              <a:spcBef>
                <a:spcPct val="0"/>
              </a:spcBef>
              <a:spcAft>
                <a:spcPct val="0"/>
              </a:spcAft>
              <a:buClrTx/>
              <a:buSzTx/>
              <a:buNone/>
            </a:pPr>
            <a:r>
              <a:rPr sz="1400" b="true" lang="es-419">
                <a:solidFill>
                  <a:schemeClr val="tx1"/>
                </a:solidFill>
                <a:ea typeface="Calibri" panose="020F0502020204030204" pitchFamily="34" charset="0"/>
                <a:cs typeface="Calibri" panose="020F0502020204030204" pitchFamily="34" charset="0"/>
              </a:rPr>
              <a:t>Objetivo del Módulo</a:t>
            </a:r>
            <a:r>
              <a:rPr sz="1400" lang="es-419">
                <a:solidFill>
                  <a:schemeClr val="tx1"/>
                </a:solidFill>
                <a:ea typeface="Calibri" panose="020F0502020204030204" pitchFamily="34" charset="0"/>
                <a:cs typeface="Calibri" panose="020F0502020204030204" pitchFamily="34" charset="0"/>
              </a:rPr>
              <a:t>: </a:t>
            </a:r>
            <a:r>
              <a:rPr sz="1400" lang="es-419"/>
              <a:t>Explique cómo las vulnerabilidades ponen en riesgo la seguridad de LAN.</a:t>
            </a: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4013994266"/>
              </p:ext>
            </p:extLst>
          </p:nvPr>
        </p:nvGraphicFramePr>
        <p:xfrm>
          <a:off x="655782" y="1732166"/>
          <a:ext cx="7555085" cy="267843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rtl="0"/>
                      <a:r>
                        <a:rPr b="true" lang="es-419">
                          <a:effectLst/>
                        </a:rPr>
                        <a:t>Título del tema</a:t>
                      </a:r>
                    </a:p>
                  </a:txBody>
                  <a:tcPr marL="47625" marR="47625" marT="47625" marB="47625" anchor="ctr"/>
                </a:tc>
                <a:tc>
                  <a:txBody>
                    <a:bodyPr/>
                    <a:lstStyle/>
                    <a:p>
                      <a:pPr algn="l" fontAlgn="ctr" rtl="0"/>
                      <a:r>
                        <a:rPr b="true" lang="es-419">
                          <a:effectLst/>
                        </a:rPr>
                        <a:t>Objetivo del tema</a:t>
                      </a:r>
                    </a:p>
                  </a:txBody>
                  <a:tcPr marL="47625" marR="47625" marT="47625" marB="47625" anchor="ctr"/>
                </a:tc>
                <a:extLst>
                  <a:ext uri="{0D108BD9-81ED-4DB2-BD59-A6C34878D82A}">
                    <a16:rowId xmlns:a16="http://schemas.microsoft.com/office/drawing/2014/main" val="742401779"/>
                  </a:ext>
                </a:extLst>
              </a:tr>
              <a:tr h="370840">
                <a:tc>
                  <a:txBody>
                    <a:bodyPr/>
                    <a:lstStyle/>
                    <a:p>
                      <a:pPr fontAlgn="ctr" rtl="0"/>
                      <a:r>
                        <a:rPr b="false" lang="es-419">
                          <a:solidFill>
                            <a:schemeClr val="bg1"/>
                          </a:solidFill>
                          <a:effectLst/>
                        </a:rPr>
                        <a:t>Seguridad de punto de finalización</a:t>
                      </a:r>
                    </a:p>
                  </a:txBody>
                  <a:tcPr marL="47625" marR="47625" marT="47625" marB="47625" anchor="ctr">
                    <a:solidFill>
                      <a:schemeClr val="accent1"/>
                    </a:solidFill>
                  </a:tcPr>
                </a:tc>
                <a:tc>
                  <a:txBody>
                    <a:bodyPr/>
                    <a:lstStyle/>
                    <a:p>
                      <a:pPr fontAlgn="ctr" rtl="0"/>
                      <a:r>
                        <a:rPr b="false" lang="es-419">
                          <a:effectLst/>
                        </a:rPr>
                        <a:t>Explique cómo usar la seguridad de para mitigar los ataques.</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rtl="0"/>
                      <a:r>
                        <a:rPr b="false" lang="es-419">
                          <a:solidFill>
                            <a:schemeClr val="bg1"/>
                          </a:solidFill>
                          <a:effectLst/>
                        </a:rPr>
                        <a:t>Control de acceso</a:t>
                      </a:r>
                    </a:p>
                  </a:txBody>
                  <a:tcPr marL="47625" marR="47625" marT="47625" marB="47625" anchor="ctr">
                    <a:solidFill>
                      <a:schemeClr val="accent1"/>
                    </a:solidFill>
                  </a:tcPr>
                </a:tc>
                <a:tc>
                  <a:txBody>
                    <a:bodyPr/>
                    <a:lstStyle/>
                    <a:p>
                      <a:pPr fontAlgn="ctr" rtl="0"/>
                      <a:r>
                        <a:rPr b="false" lang="es-419">
                          <a:effectLst/>
                        </a:rPr>
                        <a:t>Explique cómo se utilizan AAA y 802.1x para autenticar los terminales y los dispositivos LAN.</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rtl="0"/>
                      <a:r>
                        <a:rPr b="false" lang="es-419">
                          <a:solidFill>
                            <a:schemeClr val="bg1"/>
                          </a:solidFill>
                          <a:effectLst/>
                        </a:rPr>
                        <a:t>Amenazas a la seguridad de capa 2</a:t>
                      </a:r>
                    </a:p>
                  </a:txBody>
                  <a:tcPr marL="47625" marR="47625" marT="47625" marB="47625" anchor="ctr">
                    <a:solidFill>
                      <a:schemeClr val="accent1"/>
                    </a:solidFill>
                  </a:tcPr>
                </a:tc>
                <a:tc>
                  <a:txBody>
                    <a:bodyPr/>
                    <a:lstStyle/>
                    <a:p>
                      <a:pPr fontAlgn="ctr" rtl="0"/>
                      <a:r>
                        <a:rPr b="false" lang="es-419">
                          <a:effectLst/>
                        </a:rPr>
                        <a:t>Identifique vulnerabilidades de capa 2</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rtl="0"/>
                      <a:r>
                        <a:rPr b="false" lang="es-419">
                          <a:solidFill>
                            <a:schemeClr val="bg1"/>
                          </a:solidFill>
                          <a:effectLst/>
                        </a:rPr>
                        <a:t>Ataque de tablas de direcciones MAC</a:t>
                      </a:r>
                    </a:p>
                  </a:txBody>
                  <a:tcPr marL="47625" marR="47625" marT="47625" marB="47625" anchor="ctr">
                    <a:solidFill>
                      <a:schemeClr val="accent1"/>
                    </a:solidFill>
                  </a:tcPr>
                </a:tc>
                <a:tc>
                  <a:txBody>
                    <a:bodyPr/>
                    <a:lstStyle/>
                    <a:p>
                      <a:pPr fontAlgn="ctr" rtl="0"/>
                      <a:r>
                        <a:rPr b="false" lang="es-419">
                          <a:effectLst/>
                        </a:rPr>
                        <a:t>Explique cómo un ataque de tablas de direcciones MAC compromete la seguridad de LAN.</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rtl="0"/>
                      <a:r>
                        <a:rPr b="false" lang="es-419">
                          <a:solidFill>
                            <a:schemeClr val="bg1"/>
                          </a:solidFill>
                          <a:effectLst/>
                        </a:rPr>
                        <a:t>Ataques a la LAN</a:t>
                      </a:r>
                    </a:p>
                  </a:txBody>
                  <a:tcPr marL="47625" marR="47625" marT="47625" marB="47625" anchor="ctr">
                    <a:solidFill>
                      <a:schemeClr val="accent1"/>
                    </a:solidFill>
                  </a:tcPr>
                </a:tc>
                <a:tc>
                  <a:txBody>
                    <a:bodyPr/>
                    <a:lstStyle/>
                    <a:p>
                      <a:pPr fontAlgn="ctr" rtl="0"/>
                      <a:r>
                        <a:rPr b="false" lang="es-419">
                          <a:effectLst/>
                        </a:rPr>
                        <a:t>Explique cómo los ataques a la LAN comprometen la seguridad de LAN.</a:t>
                      </a:r>
                    </a:p>
                  </a:txBody>
                  <a:tcPr marL="47625" marR="47625" marT="47625" marB="47625" anchor="ctr"/>
                </a:tc>
                <a:extLst>
                  <a:ext uri="{0D108BD9-81ED-4DB2-BD59-A6C34878D82A}">
                    <a16:rowId xmlns:a16="http://schemas.microsoft.com/office/drawing/2014/main" val="503933313"/>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es-419">
                <a:solidFill>
                  <a:schemeClr val="accent5">
                    <a:lumMod val="40000"/>
                    <a:lumOff val="60000"/>
                  </a:schemeClr>
                </a:solidFill>
              </a:rPr>
              <a:t>10.1 - Seguridad de punto final (endpoint security)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Seguridad de punto final</a:t>
            </a:r>
            <a:br>
              <a:rPr lang="en-US" dirty="0"/>
            </a:br>
            <a:r>
              <a:rPr sz="2400" lang="es-419"/>
              <a:t>Ataques de red en la actualidad</a:t>
            </a:r>
          </a:p>
        </p:txBody>
      </p:sp>
      <p:sp>
        <p:nvSpPr>
          <p:cNvPr id="5" name="Content Placeholder 4">
            <a:extLst>
              <a:ext uri="{FF2B5EF4-FFF2-40B4-BE49-F238E27FC236}">
                <a16:creationId xmlns:a16="http://schemas.microsoft.com/office/drawing/2014/main" id="{199AB72D-A10F-44DE-BB7A-39459EC64294}"/>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Normalmente, los medios de comunicación cubren los ataques de red externos a redes empresariales. Sencillamente busque en el internet por "Los más nuevos ataques de red" y encontrara información actualizada de ataques actuales. Muy posiblemente, estos ataques envuelven una o más de las siguientes:</a:t>
            </a:r>
          </a:p>
          <a:p>
            <a:pPr marL="415985" lvl="1" indent="-342900" rtl="0">
              <a:buFont typeface="Arial" panose="020B0604020202020204" pitchFamily="34" charset="0"/>
              <a:buChar char="•"/>
            </a:pPr>
            <a:r>
              <a:rPr sz="1600" b="true" lang="es-419">
                <a:solidFill>
                  <a:srgbClr val="000000"/>
                </a:solidFill>
              </a:rPr>
              <a:t>Denegación de servicio distribuida (DDoS)</a:t>
            </a:r>
            <a:r>
              <a:rPr sz="1600" lang="es-419">
                <a:solidFill>
                  <a:srgbClr val="000000"/>
                </a:solidFill>
              </a:rPr>
              <a:t> Se trata de un ataque coordinado desde muchos dispositivos, llamados zombis, con la intención de degradar o detener el acceso público al sitio web y los recursos de una organización.</a:t>
            </a:r>
          </a:p>
          <a:p>
            <a:pPr marL="415985" lvl="1" indent="-342900" rtl="0">
              <a:buFont typeface="Arial" panose="020B0604020202020204" pitchFamily="34" charset="0"/>
              <a:buChar char="•"/>
            </a:pPr>
            <a:r>
              <a:rPr sz="1600" b="true" lang="es-419">
                <a:solidFill>
                  <a:srgbClr val="000000"/>
                </a:solidFill>
              </a:rPr>
              <a:t>Data Breach</a:t>
            </a:r>
            <a:r>
              <a:rPr sz="1600" lang="es-419">
                <a:solidFill>
                  <a:srgbClr val="000000"/>
                </a:solidFill>
              </a:rPr>
              <a:t>- Se trata de un ataque en el que los servidores de datos o los hosts de una organización se ven comprometidos a robar información confidencial.</a:t>
            </a:r>
          </a:p>
          <a:p>
            <a:pPr marL="415985" lvl="1" indent="-342900" rtl="0">
              <a:buFont typeface="Arial" panose="020B0604020202020204" pitchFamily="34" charset="0"/>
              <a:buChar char="•"/>
            </a:pPr>
            <a:r>
              <a:rPr sz="1600" b="true" lang="es-419">
                <a:solidFill>
                  <a:srgbClr val="000000"/>
                </a:solidFill>
              </a:rPr>
              <a:t>Malware</a:t>
            </a:r>
            <a:r>
              <a:rPr sz="1600" lang="es-419">
                <a:solidFill>
                  <a:srgbClr val="000000"/>
                </a:solidFill>
              </a:rPr>
              <a:t>– Este es un ataque en el que los hosts de una organización son infectados con software malicioso que causa una serie de problemas. Por ejemplo, ransomware como WannaCry, mostrado en la figura, encripta los datos en un host y bloquea el acceso hasta que se le pague un rescate.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Seguridad de punto final (endpoint security) </a:t>
            </a:r>
            <a:br>
              <a:rPr lang="en-US" dirty="0"/>
            </a:br>
            <a:r>
              <a:rPr sz="2400" lang="es-419"/>
              <a:t>Seguridad de dispositivos de redes </a:t>
            </a:r>
          </a:p>
        </p:txBody>
      </p:sp>
      <p:sp>
        <p:nvSpPr>
          <p:cNvPr id="4" name="Content Placeholder 3">
            <a:extLst>
              <a:ext uri="{FF2B5EF4-FFF2-40B4-BE49-F238E27FC236}">
                <a16:creationId xmlns:a16="http://schemas.microsoft.com/office/drawing/2014/main" id="{1B47481C-BE29-4F04-A259-DA8BFDA30BF7}"/>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Se necesitan diversos dispositivos de seguridad de la red para proteger el perímetro de la red del acceso exterior. Estos dispositivos podrían incluir lo siguiente:</a:t>
            </a:r>
          </a:p>
          <a:p>
            <a:pPr marL="285750" indent="-285750" algn="l" rtl="0">
              <a:buFont typeface="Arial" panose="020B0604020202020204" pitchFamily="34" charset="0"/>
              <a:buChar char="•"/>
            </a:pPr>
            <a:r>
              <a:rPr sz="1600" lang="es-419">
                <a:solidFill>
                  <a:srgbClr val="000000"/>
                </a:solidFill>
              </a:rPr>
              <a:t>Virtual Private Network (VPN) - proporciona una conexión segura a usuarios remotos a través de una red pública y en la red empresarial. Los servicios VPN pueden ser integrados en el cortafuegos.</a:t>
            </a:r>
          </a:p>
          <a:p>
            <a:pPr marL="285750" indent="-285750" algn="l" rtl="0">
              <a:buFont typeface="Arial" panose="020B0604020202020204" pitchFamily="34" charset="0"/>
              <a:buChar char="•"/>
            </a:pPr>
            <a:r>
              <a:rPr sz="1600" lang="es-419">
                <a:solidFill>
                  <a:srgbClr val="000000"/>
                </a:solidFill>
              </a:rPr>
              <a:t>Firewall de próxima generación (NGFW) - proporciona inspección de paquetes con estado, visibilidad y control de aplicaciones, un sistema de prevención de intrusos de próxima generación (NGIPS), protección avanzada contra malware (AMP) y filtrado de URL.</a:t>
            </a:r>
          </a:p>
          <a:p>
            <a:pPr marL="285750" indent="-285750" algn="l" rtl="0">
              <a:buFont typeface="Arial" panose="020B0604020202020204" pitchFamily="34" charset="0"/>
              <a:buChar char="•"/>
            </a:pPr>
            <a:r>
              <a:rPr sz="1600" lang="es-419">
                <a:solidFill>
                  <a:srgbClr val="000000"/>
                </a:solidFill>
              </a:rPr>
              <a:t>Network Access Control (NAC) - incluye servicios de autenticación, autorización y contabilidad (AAA). En empresas más grandes, estos servicios podrían incorporarse en un dispositivo que pueda administrar políticas de acceso en una amplia variedad de usuarios y tipos de dispositivos. El Cisco Identity Services Engine (ISE) en un ejemplo de dispositivo NAC.</a:t>
            </a:r>
          </a:p>
        </p:txBody>
      </p:sp>
    </p:spTree>
    <p:extLst>
      <p:ext uri="{BB962C8B-B14F-4D97-AF65-F5344CB8AC3E}">
        <p14:creationId xmlns:p14="http://schemas.microsoft.com/office/powerpoint/2010/main" val="2094826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Seguridad de punto final (endpoint security)</a:t>
            </a:r>
            <a:br>
              <a:rPr lang="en-US" dirty="0"/>
            </a:br>
            <a:r>
              <a:rPr sz="2400" lang="es-419"/>
              <a:t>Protección de terminales</a:t>
            </a:r>
          </a:p>
        </p:txBody>
      </p:sp>
      <p:sp>
        <p:nvSpPr>
          <p:cNvPr id="8" name="Content Placeholder 7">
            <a:extLst>
              <a:ext uri="{FF2B5EF4-FFF2-40B4-BE49-F238E27FC236}">
                <a16:creationId xmlns:a16="http://schemas.microsoft.com/office/drawing/2014/main" id="{F4949C1C-F141-477B-A2A9-5141BA42ED97}"/>
              </a:ext>
            </a:extLst>
          </p:cNvPr>
          <p:cNvSpPr>
            <a:spLocks noGrp="1"/>
          </p:cNvSpPr>
          <p:nvPr>
            <p:ph idx="1"/>
          </p:nvPr>
        </p:nvSpPr>
        <p:spPr>
          <a:xfrm>
            <a:off x="474662" y="731837"/>
            <a:ext cx="4014211" cy="3689897"/>
          </a:xfrm>
        </p:spPr>
        <p:txBody>
          <a:bodyPr/>
          <a:lstStyle/>
          <a:p>
            <a:pPr marL="342900" indent="-342900" algn="l" rtl="0">
              <a:buFont typeface="Arial" panose="020B0604020202020204" pitchFamily="34" charset="0"/>
              <a:buChar char="•"/>
            </a:pPr>
            <a:r>
              <a:rPr sz="1500" lang="es-419">
                <a:solidFill>
                  <a:srgbClr val="000000"/>
                </a:solidFill>
              </a:rPr>
              <a:t>Los puntos finales son hosts que generalmente consisten en computadoras portátiles, computadoras de escritorio, servidores y teléfonos IP, así como dispositivos propiedad de los empleados. Los puntos finales son particularmente susceptibles a ataques relacionados con malware que se originan a través del correo electrónico o la navegación web. </a:t>
            </a:r>
          </a:p>
          <a:p>
            <a:pPr marL="342900" indent="-342900" algn="l" rtl="0">
              <a:buFont typeface="Arial" panose="020B0604020202020204" pitchFamily="34" charset="0"/>
              <a:buChar char="•"/>
            </a:pPr>
            <a:r>
              <a:rPr sz="1500" lang="es-419">
                <a:solidFill>
                  <a:srgbClr val="000000"/>
                </a:solidFill>
              </a:rPr>
              <a:t>Los puntos finales suelen utilizar características de seguridad tradicionales basadas en host, como antivirus antimalware, firewalls basados en host y sistemas de prevención de intrusiones (HIPS) basados en host. </a:t>
            </a:r>
          </a:p>
          <a:p>
            <a:pPr marL="342900" indent="-342900" algn="l" rtl="0">
              <a:buFont typeface="Arial" panose="020B0604020202020204" pitchFamily="34" charset="0"/>
              <a:buChar char="•"/>
            </a:pPr>
            <a:r>
              <a:rPr sz="1500" lang="es-419">
                <a:solidFill>
                  <a:srgbClr val="000000"/>
                </a:solidFill>
              </a:rPr>
              <a:t>Los puntos finales de hoy están mejor protegidos por una combinación de NAC, software AMP, un dispositivo de seguridad de correo electrónico (ESA) y un dispositivo de seguridad web (WSA). </a:t>
            </a:r>
          </a:p>
        </p:txBody>
      </p:sp>
      <p:pic>
        <p:nvPicPr>
          <p:cNvPr id="9" name="Picture 8">
            <a:extLst>
              <a:ext uri="{FF2B5EF4-FFF2-40B4-BE49-F238E27FC236}">
                <a16:creationId xmlns:a16="http://schemas.microsoft.com/office/drawing/2014/main" id="{398061EE-EF18-4FB7-BA04-AD5478D5782D}"/>
              </a:ext>
            </a:extLst>
          </p:cNvPr>
          <p:cNvPicPr>
            <a:picLocks noChangeAspect="1"/>
          </p:cNvPicPr>
          <p:nvPr/>
        </p:nvPicPr>
        <p:blipFill>
          <a:blip r:embed="rId3"/>
          <a:stretch>
            <a:fillRect/>
          </a:stretch>
        </p:blipFill>
        <p:spPr>
          <a:xfrm>
            <a:off x="4399967" y="1107337"/>
            <a:ext cx="4361124" cy="2707281"/>
          </a:xfrm>
          <a:prstGeom prst="rect">
            <a:avLst/>
          </a:prstGeom>
        </p:spPr>
      </p:pic>
    </p:spTree>
    <p:extLst>
      <p:ext uri="{BB962C8B-B14F-4D97-AF65-F5344CB8AC3E}">
        <p14:creationId xmlns:p14="http://schemas.microsoft.com/office/powerpoint/2010/main" val="1792321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Seguridad de punto final (endpoint security)</a:t>
            </a:r>
            <a:br>
              <a:rPr lang="en-US" dirty="0"/>
            </a:br>
            <a:r>
              <a:rPr sz="2400" lang="es-419"/>
              <a:t>Cisco Email Security Appliance</a:t>
            </a:r>
          </a:p>
        </p:txBody>
      </p:sp>
      <p:sp>
        <p:nvSpPr>
          <p:cNvPr id="4" name="Content Placeholder 3">
            <a:extLst>
              <a:ext uri="{FF2B5EF4-FFF2-40B4-BE49-F238E27FC236}">
                <a16:creationId xmlns:a16="http://schemas.microsoft.com/office/drawing/2014/main" id="{20CA0A23-B3F8-4AB8-86E1-DEAA911151A7}"/>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El dispositivo Cisco ESA está diseñado para monitorear el Protocolo simple de transferencia de correo (SMTP). Cisco ESA se actualiza constantemente mediante datos en tiempo real de Cisco Talos, que detecta y correlaciona las amenazas con un sistema de monitoreo que utiliza una base de datos mundial. Cisco ESA extrae estos datos de inteligencia de amenazas cada tres o cinco minutos. </a:t>
            </a:r>
          </a:p>
          <a:p>
            <a:pPr marL="0" indent="0" algn="l"/>
            <a:endParaRPr lang="en-US" sz="1600" dirty="0">
              <a:solidFill>
                <a:srgbClr val="000000"/>
              </a:solidFill>
            </a:endParaRPr>
          </a:p>
          <a:p>
            <a:pPr marL="0" indent="0" algn="l" rtl="0"/>
            <a:r>
              <a:rPr sz="1600" lang="es-419">
                <a:solidFill>
                  <a:srgbClr val="000000"/>
                </a:solidFill>
              </a:rPr>
              <a:t>Estas son algunas funciones de Cisco ESA:</a:t>
            </a:r>
          </a:p>
          <a:p>
            <a:pPr marL="358835" lvl="1" indent="-285750" rtl="0">
              <a:buFont typeface="Arial" panose="020B0604020202020204" pitchFamily="34" charset="0"/>
              <a:buChar char="•"/>
            </a:pPr>
            <a:r>
              <a:rPr sz="1600" lang="es-419">
                <a:solidFill>
                  <a:srgbClr val="000000"/>
                </a:solidFill>
              </a:rPr>
              <a:t>Bloquear amenazas conocidas</a:t>
            </a:r>
          </a:p>
          <a:p>
            <a:pPr marL="358835" lvl="1" indent="-285750" rtl="0">
              <a:buFont typeface="Arial" panose="020B0604020202020204" pitchFamily="34" charset="0"/>
              <a:buChar char="•"/>
            </a:pPr>
            <a:r>
              <a:rPr sz="1600" lang="es-419">
                <a:solidFill>
                  <a:srgbClr val="000000"/>
                </a:solidFill>
              </a:rPr>
              <a:t>Remediar contra el malware invisible que evade la detección inicial</a:t>
            </a:r>
          </a:p>
          <a:p>
            <a:pPr marL="358835" lvl="1" indent="-285750" rtl="0">
              <a:buFont typeface="Arial" panose="020B0604020202020204" pitchFamily="34" charset="0"/>
              <a:buChar char="•"/>
            </a:pPr>
            <a:r>
              <a:rPr sz="1600" lang="es-419">
                <a:solidFill>
                  <a:srgbClr val="000000"/>
                </a:solidFill>
              </a:rPr>
              <a:t>Descartar correos electrónicos con enlaces incorrectos</a:t>
            </a:r>
          </a:p>
          <a:p>
            <a:pPr marL="358835" lvl="1" indent="-285750" rtl="0">
              <a:buFont typeface="Arial" panose="020B0604020202020204" pitchFamily="34" charset="0"/>
              <a:buChar char="•"/>
            </a:pPr>
            <a:r>
              <a:rPr sz="1600" lang="es-419">
                <a:solidFill>
                  <a:srgbClr val="000000"/>
                </a:solidFill>
              </a:rPr>
              <a:t>Bloquear el acceso a sitios recién infectados</a:t>
            </a:r>
          </a:p>
          <a:p>
            <a:pPr marL="358835" lvl="1" indent="-285750" rtl="0">
              <a:buFont typeface="Arial" panose="020B0604020202020204" pitchFamily="34" charset="0"/>
              <a:buChar char="•"/>
            </a:pPr>
            <a:r>
              <a:rPr sz="1600" lang="es-419">
                <a:solidFill>
                  <a:srgbClr val="000000"/>
                </a:solidFill>
              </a:rPr>
              <a:t>Encriptar el contenido de los correos salientes para prevenir perdida de datos.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624983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Seguridad de punto final (Endpoint Security)</a:t>
            </a:r>
            <a:br>
              <a:rPr lang="en-US" dirty="0"/>
            </a:br>
            <a:r>
              <a:rPr sz="2400" lang="es-419"/>
              <a:t>Cisco Web Security Appliance</a:t>
            </a:r>
          </a:p>
        </p:txBody>
      </p:sp>
      <p:sp>
        <p:nvSpPr>
          <p:cNvPr id="5" name="Content Placeholder 4">
            <a:extLst>
              <a:ext uri="{FF2B5EF4-FFF2-40B4-BE49-F238E27FC236}">
                <a16:creationId xmlns:a16="http://schemas.microsoft.com/office/drawing/2014/main" id="{A3D5E8D4-6382-47F5-BEAB-D7AFE6B0D403}"/>
              </a:ext>
            </a:extLst>
          </p:cNvPr>
          <p:cNvSpPr>
            <a:spLocks noGrp="1"/>
          </p:cNvSpPr>
          <p:nvPr>
            <p:ph idx="1"/>
          </p:nvPr>
        </p:nvSpPr>
        <p:spPr>
          <a:xfrm>
            <a:off x="474662" y="731837"/>
            <a:ext cx="8280057" cy="3689897"/>
          </a:xfrm>
        </p:spPr>
        <p:txBody>
          <a:bodyPr/>
          <a:lstStyle/>
          <a:p>
            <a:pPr marL="285750" indent="-285750" algn="l" rtl="0">
              <a:buFont typeface="Arial" panose="020B0604020202020204" pitchFamily="34" charset="0"/>
              <a:buChar char="•"/>
            </a:pPr>
            <a:r>
              <a:rPr sz="1600" lang="es-419">
                <a:solidFill>
                  <a:srgbClr val="000000"/>
                </a:solidFill>
              </a:rPr>
              <a:t>Cisco Web Security Appliance (WSA) es una tecnología de mitigación para amenazas basadas en la web. Ayuda a las organizaciones a abordar los desafíos de asegurar y controlar el tráfico web. </a:t>
            </a:r>
          </a:p>
          <a:p>
            <a:pPr marL="285750" indent="-285750" algn="l" rtl="0">
              <a:buFont typeface="Arial" panose="020B0604020202020204" pitchFamily="34" charset="0"/>
              <a:buChar char="•"/>
            </a:pPr>
            <a:r>
              <a:rPr sz="1600" lang="es-419">
                <a:solidFill>
                  <a:srgbClr val="000000"/>
                </a:solidFill>
              </a:rPr>
              <a:t>Cisco WSA combina protección avanzada contra malware, visibilidad y control de aplicaciones, controles de políticas de uso aceptable e informes.</a:t>
            </a:r>
          </a:p>
          <a:p>
            <a:pPr marL="285750" indent="-285750" algn="l" rtl="0">
              <a:buFont typeface="Arial" panose="020B0604020202020204" pitchFamily="34" charset="0"/>
              <a:buChar char="•"/>
            </a:pPr>
            <a:r>
              <a:rPr sz="1600" lang="es-419">
                <a:solidFill>
                  <a:srgbClr val="000000"/>
                </a:solidFill>
              </a:rPr>
              <a:t>Cisco WSA proporciona un control total sobre cómo los usuarios acceden a internet. Ciertas funciones y aplicaciones, como chat, mensajería, video y audio, pueden permitirse, restringirse con límites de tiempo y ancho de banda, o bloquearse, de acuerdo con los requisitos de la organización. </a:t>
            </a:r>
          </a:p>
          <a:p>
            <a:pPr marL="285750" indent="-285750" algn="l" rtl="0">
              <a:buFont typeface="Arial" panose="020B0604020202020204" pitchFamily="34" charset="0"/>
              <a:buChar char="•"/>
            </a:pPr>
            <a:r>
              <a:rPr sz="1600" lang="es-419">
                <a:solidFill>
                  <a:srgbClr val="000000"/>
                </a:solidFill>
              </a:rPr>
              <a:t>La WSA puede realizar listas negras de URL, filtrado de URL, escaneo de malware, categorización de URL, filtrado de aplicaciones web y cifrado y descifrado del tráfico web.</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714086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10.2 Control de acceso</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Control de acceso </a:t>
            </a:r>
            <a:br>
              <a:rPr lang="en-US" dirty="0"/>
            </a:br>
            <a:r>
              <a:rPr sz="2400" lang="es-419"/>
              <a:t>Autenticación con una contraseña local</a:t>
            </a:r>
          </a:p>
        </p:txBody>
      </p:sp>
      <p:sp>
        <p:nvSpPr>
          <p:cNvPr id="4" name="Content Placeholder 3">
            <a:extLst>
              <a:ext uri="{FF2B5EF4-FFF2-40B4-BE49-F238E27FC236}">
                <a16:creationId xmlns:a16="http://schemas.microsoft.com/office/drawing/2014/main" id="{03C9973F-CE82-4083-8DDD-A0DA84502960}"/>
              </a:ext>
            </a:extLst>
          </p:cNvPr>
          <p:cNvSpPr>
            <a:spLocks noGrp="1"/>
          </p:cNvSpPr>
          <p:nvPr>
            <p:ph idx="1"/>
          </p:nvPr>
        </p:nvSpPr>
        <p:spPr>
          <a:xfrm>
            <a:off x="0" y="731092"/>
            <a:ext cx="8345488" cy="548323"/>
          </a:xfrm>
        </p:spPr>
        <p:txBody>
          <a:bodyPr/>
          <a:lstStyle/>
          <a:p>
            <a:pPr marL="0" indent="0" algn="l" rtl="0"/>
            <a:r>
              <a:rPr sz="1600" lang="es-419">
                <a:solidFill>
                  <a:srgbClr val="000000"/>
                </a:solidFill>
              </a:rPr>
              <a:t>Muchas formas de autenticación pueden ser llevadas a cabo en dispositivos de red, y cada método ofrece diferentes niveles de seguridad. </a:t>
            </a:r>
          </a:p>
        </p:txBody>
      </p:sp>
      <p:sp>
        <p:nvSpPr>
          <p:cNvPr id="5" name="Content Placeholder 3">
            <a:extLst>
              <a:ext uri="{FF2B5EF4-FFF2-40B4-BE49-F238E27FC236}">
                <a16:creationId xmlns:a16="http://schemas.microsoft.com/office/drawing/2014/main" id="{72153A09-85FF-4ACB-8507-A7BA6E0BB06B}"/>
              </a:ext>
            </a:extLst>
          </p:cNvPr>
          <p:cNvSpPr txBox="1">
            <a:spLocks/>
          </p:cNvSpPr>
          <p:nvPr/>
        </p:nvSpPr>
        <p:spPr>
          <a:xfrm>
            <a:off x="0" y="1323149"/>
            <a:ext cx="5346192" cy="368989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sz="1600" lang="es-419">
                <a:solidFill>
                  <a:srgbClr val="000000"/>
                </a:solidFill>
              </a:rPr>
              <a:t>El simple método de autenticación por acceso remoto es para configurar un inicio de sesión y contraseña combinación en consola, lineas vty, y puertos auxiliares, como se muestra en las lineas vty en el siguiente ejemplo.</a:t>
            </a:r>
          </a:p>
          <a:p>
            <a:pPr marL="0" indent="0" algn="l"/>
            <a:endParaRPr lang="en-CA" sz="1600" dirty="0">
              <a:solidFill>
                <a:srgbClr val="000000"/>
              </a:solidFill>
            </a:endParaRPr>
          </a:p>
          <a:p>
            <a:pPr marL="0" indent="0" algn="l" rtl="0"/>
            <a:r>
              <a:rPr sz="1600" lang="es-419">
                <a:solidFill>
                  <a:srgbClr val="000000"/>
                </a:solidFill>
              </a:rPr>
              <a:t>SSH es un tipo de acceso remoto más seguro:</a:t>
            </a:r>
          </a:p>
          <a:p>
            <a:pPr marL="244535" lvl="1" indent="-171450" rtl="0">
              <a:buFont typeface="Arial" panose="020B0604020202020204" pitchFamily="34" charset="0"/>
              <a:buChar char="•"/>
            </a:pPr>
            <a:r>
              <a:rPr lang="es-419">
                <a:solidFill>
                  <a:srgbClr val="000000"/>
                </a:solidFill>
              </a:rPr>
              <a:t>Requiere un nombre de usuario y una contraseña.</a:t>
            </a:r>
          </a:p>
          <a:p>
            <a:pPr marL="244535" lvl="1" indent="-171450" rtl="0">
              <a:buFont typeface="Arial" panose="020B0604020202020204" pitchFamily="34" charset="0"/>
              <a:buChar char="•"/>
            </a:pPr>
            <a:r>
              <a:rPr lang="es-419">
                <a:solidFill>
                  <a:srgbClr val="000000"/>
                </a:solidFill>
              </a:rPr>
              <a:t>El nombre de usuario y la contraseña se pueden autenticar localmente.</a:t>
            </a:r>
          </a:p>
          <a:p>
            <a:pPr marL="171450" indent="-171450" algn="l">
              <a:buFont typeface="Arial" panose="020B0604020202020204" pitchFamily="34" charset="0"/>
              <a:buChar char="•"/>
            </a:pPr>
            <a:endParaRPr lang="en-CA" sz="1600" dirty="0">
              <a:solidFill>
                <a:srgbClr val="000000"/>
              </a:solidFill>
            </a:endParaRPr>
          </a:p>
          <a:p>
            <a:pPr marL="0" indent="0" algn="l" rtl="0"/>
            <a:r>
              <a:rPr sz="1600" lang="es-419">
                <a:solidFill>
                  <a:srgbClr val="000000"/>
                </a:solidFill>
              </a:rPr>
              <a:t>El método de base de datos local tiene algunas limitaciones:</a:t>
            </a:r>
          </a:p>
          <a:p>
            <a:pPr marL="244535" lvl="1" indent="-171450" rtl="0">
              <a:buFont typeface="Arial" panose="020B0604020202020204" pitchFamily="34" charset="0"/>
              <a:buChar char="•"/>
            </a:pPr>
            <a:r>
              <a:rPr lang="es-419">
                <a:solidFill>
                  <a:srgbClr val="000000"/>
                </a:solidFill>
              </a:rPr>
              <a:t>Las cuentas de usuario deben configurarse localmente en cada dispositivo que no sea escalable.</a:t>
            </a:r>
          </a:p>
          <a:p>
            <a:pPr marL="244535" lvl="1" indent="-171450" rtl="0">
              <a:buFont typeface="Arial" panose="020B0604020202020204" pitchFamily="34" charset="0"/>
              <a:buChar char="•"/>
            </a:pPr>
            <a:r>
              <a:rPr lang="es-419">
                <a:solidFill>
                  <a:srgbClr val="000000"/>
                </a:solidFill>
              </a:rPr>
              <a:t>El método no proporciona ningún método de autenticación alternativa. </a:t>
            </a:r>
          </a:p>
        </p:txBody>
      </p:sp>
      <p:pic>
        <p:nvPicPr>
          <p:cNvPr id="2" name="Picture 1">
            <a:extLst>
              <a:ext uri="{FF2B5EF4-FFF2-40B4-BE49-F238E27FC236}">
                <a16:creationId xmlns:a16="http://schemas.microsoft.com/office/drawing/2014/main" id="{7FFDAF46-C269-4B44-A171-8A301B4C0045}"/>
              </a:ext>
            </a:extLst>
          </p:cNvPr>
          <p:cNvPicPr>
            <a:picLocks noChangeAspect="1"/>
          </p:cNvPicPr>
          <p:nvPr/>
        </p:nvPicPr>
        <p:blipFill>
          <a:blip r:embed="rId3"/>
          <a:stretch>
            <a:fillRect/>
          </a:stretch>
        </p:blipFill>
        <p:spPr>
          <a:xfrm>
            <a:off x="6783984" y="1443865"/>
            <a:ext cx="1981302" cy="552478"/>
          </a:xfrm>
          <a:prstGeom prst="rect">
            <a:avLst/>
          </a:prstGeom>
        </p:spPr>
      </p:pic>
      <p:pic>
        <p:nvPicPr>
          <p:cNvPr id="6" name="Picture 5">
            <a:extLst>
              <a:ext uri="{FF2B5EF4-FFF2-40B4-BE49-F238E27FC236}">
                <a16:creationId xmlns:a16="http://schemas.microsoft.com/office/drawing/2014/main" id="{D027A625-C943-4271-BCA2-3EC7E2E7D240}"/>
              </a:ext>
            </a:extLst>
          </p:cNvPr>
          <p:cNvPicPr>
            <a:picLocks noChangeAspect="1"/>
          </p:cNvPicPr>
          <p:nvPr/>
        </p:nvPicPr>
        <p:blipFill>
          <a:blip r:embed="rId4"/>
          <a:stretch>
            <a:fillRect/>
          </a:stretch>
        </p:blipFill>
        <p:spPr>
          <a:xfrm>
            <a:off x="5346192" y="2543175"/>
            <a:ext cx="3695890" cy="1155759"/>
          </a:xfrm>
          <a:prstGeom prst="rect">
            <a:avLst/>
          </a:prstGeom>
        </p:spPr>
      </p:pic>
    </p:spTree>
    <p:extLst>
      <p:ext uri="{BB962C8B-B14F-4D97-AF65-F5344CB8AC3E}">
        <p14:creationId xmlns:p14="http://schemas.microsoft.com/office/powerpoint/2010/main" val="2801623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Control de acceso</a:t>
            </a:r>
            <a:br>
              <a:rPr lang="en-US" dirty="0"/>
            </a:br>
            <a:r>
              <a:rPr sz="2400" lang="es-419"/>
              <a:t>Componentes AAA</a:t>
            </a:r>
          </a:p>
        </p:txBody>
      </p:sp>
      <p:sp>
        <p:nvSpPr>
          <p:cNvPr id="5" name="Content Placeholder 4">
            <a:extLst>
              <a:ext uri="{FF2B5EF4-FFF2-40B4-BE49-F238E27FC236}">
                <a16:creationId xmlns:a16="http://schemas.microsoft.com/office/drawing/2014/main" id="{B87D6B45-365E-4860-9505-8F730D264CC8}"/>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AAA significa Autenticación, Autorización y Contabilidad, y proporciona el marco principal para configurar el control de acceso en un dispositivo de red. </a:t>
            </a:r>
          </a:p>
          <a:p>
            <a:pPr marL="342900" indent="-342900" algn="l">
              <a:buFont typeface="Arial" panose="020B0604020202020204" pitchFamily="34" charset="0"/>
              <a:buChar char="•"/>
            </a:pPr>
            <a:endParaRPr lang="en-US" sz="1600" dirty="0">
              <a:solidFill>
                <a:srgbClr val="000000"/>
              </a:solidFill>
            </a:endParaRPr>
          </a:p>
          <a:p>
            <a:pPr marL="0" indent="0" algn="l" rtl="0"/>
            <a:r>
              <a:rPr sz="1600" lang="es-419">
                <a:solidFill>
                  <a:srgbClr val="000000"/>
                </a:solidFill>
              </a:rPr>
              <a:t>AAA es un modo de controlar quién tiene permitido acceder a una red (autenticar), controlar lo que las personas pueden hacer mientras se encuentran allí (autorizar) y qué acciones realizan mientras acceden a la red (contabilizar).</a:t>
            </a:r>
          </a:p>
        </p:txBody>
      </p:sp>
    </p:spTree>
    <p:extLst>
      <p:ext uri="{BB962C8B-B14F-4D97-AF65-F5344CB8AC3E}">
        <p14:creationId xmlns:p14="http://schemas.microsoft.com/office/powerpoint/2010/main" val="2686411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Control de acceso</a:t>
            </a:r>
            <a:br>
              <a:rPr lang="en-US" dirty="0"/>
            </a:br>
            <a:r>
              <a:rPr sz="2400" lang="es-419"/>
              <a:t>autenticación</a:t>
            </a:r>
          </a:p>
        </p:txBody>
      </p:sp>
      <p:sp>
        <p:nvSpPr>
          <p:cNvPr id="4" name="Content Placeholder 3">
            <a:extLst>
              <a:ext uri="{FF2B5EF4-FFF2-40B4-BE49-F238E27FC236}">
                <a16:creationId xmlns:a16="http://schemas.microsoft.com/office/drawing/2014/main" id="{5C1F8BF2-0F01-40AC-9598-B0E7AEC1C86D}"/>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Dos métodos de implementación de autenticación AAA son Local y basada en el servidor (server-based).</a:t>
            </a:r>
          </a:p>
          <a:p>
            <a:pPr marL="0" indent="0" algn="l"/>
            <a:endParaRPr lang="en-US" sz="1600" dirty="0">
              <a:solidFill>
                <a:srgbClr val="000000"/>
              </a:solidFill>
            </a:endParaRPr>
          </a:p>
          <a:p>
            <a:pPr marL="0" indent="0" algn="l" rtl="0"/>
            <a:r>
              <a:rPr sz="1400" b="true" lang="es-419">
                <a:solidFill>
                  <a:srgbClr val="000000"/>
                </a:solidFill>
              </a:rPr>
              <a:t>Autenticación AAA local: </a:t>
            </a:r>
          </a:p>
          <a:p>
            <a:pPr marL="342900" indent="-342900" algn="l" rtl="0">
              <a:buFont typeface="Arial" panose="020B0604020202020204" pitchFamily="34" charset="0"/>
              <a:buChar char="•"/>
            </a:pPr>
            <a:r>
              <a:rPr sz="1400" lang="es-419">
                <a:solidFill>
                  <a:srgbClr val="000000"/>
                </a:solidFill>
              </a:rPr>
              <a:t>El método almacena nombres de usuario y contraseñas localmente en un dispositivo de red (por ejemplo, router Cisco). </a:t>
            </a:r>
          </a:p>
          <a:p>
            <a:pPr marL="342900" indent="-342900" algn="l" rtl="0">
              <a:buFont typeface="Arial" panose="020B0604020202020204" pitchFamily="34" charset="0"/>
              <a:buChar char="•"/>
            </a:pPr>
            <a:r>
              <a:rPr sz="1400" lang="es-419">
                <a:solidFill>
                  <a:srgbClr val="000000"/>
                </a:solidFill>
              </a:rPr>
              <a:t>Los usuarios se autentican contra la base de datos local. </a:t>
            </a:r>
          </a:p>
          <a:p>
            <a:pPr marL="342900" indent="-342900" algn="l" rtl="0">
              <a:buFont typeface="Arial" panose="020B0604020202020204" pitchFamily="34" charset="0"/>
              <a:buChar char="•"/>
            </a:pPr>
            <a:r>
              <a:rPr sz="1400" lang="es-419">
                <a:solidFill>
                  <a:srgbClr val="000000"/>
                </a:solidFill>
              </a:rPr>
              <a:t>AAA local es ideal para las redes pequeñas.</a:t>
            </a:r>
          </a:p>
          <a:p>
            <a:pPr marL="342900" indent="-342900" algn="l">
              <a:buFont typeface="Arial" panose="020B0604020202020204" pitchFamily="34" charset="0"/>
              <a:buChar char="•"/>
            </a:pPr>
            <a:endParaRPr lang="en-US" sz="1400" b="1" dirty="0">
              <a:solidFill>
                <a:srgbClr val="000000"/>
              </a:solidFill>
            </a:endParaRPr>
          </a:p>
          <a:p>
            <a:pPr marL="0" indent="0" algn="l" rtl="0"/>
            <a:r>
              <a:rPr sz="1400" b="true" lang="es-419">
                <a:solidFill>
                  <a:srgbClr val="000000"/>
                </a:solidFill>
              </a:rPr>
              <a:t>Autenticación AAA basada en el servidor: </a:t>
            </a:r>
          </a:p>
          <a:p>
            <a:pPr marL="342900" indent="-342900" algn="l" rtl="0">
              <a:buFont typeface="Arial" panose="020B0604020202020204" pitchFamily="34" charset="0"/>
              <a:buChar char="•"/>
            </a:pPr>
            <a:r>
              <a:rPr sz="1400" lang="es-419">
                <a:solidFill>
                  <a:srgbClr val="000000"/>
                </a:solidFill>
              </a:rPr>
              <a:t>Con el método basado en el servidor, el enrutador accede a un servidor central AAA. </a:t>
            </a:r>
          </a:p>
          <a:p>
            <a:pPr marL="342900" indent="-342900" algn="l" rtl="0">
              <a:buFont typeface="Arial" panose="020B0604020202020204" pitchFamily="34" charset="0"/>
              <a:buChar char="•"/>
            </a:pPr>
            <a:r>
              <a:rPr sz="1400" lang="es-419">
                <a:solidFill>
                  <a:srgbClr val="000000"/>
                </a:solidFill>
              </a:rPr>
              <a:t>El servidor AAA contiene los nombres de usuario y contraseñas de todos los usuarios. </a:t>
            </a:r>
          </a:p>
          <a:p>
            <a:pPr marL="342900" indent="-342900" algn="l" rtl="0">
              <a:buFont typeface="Arial" panose="020B0604020202020204" pitchFamily="34" charset="0"/>
              <a:buChar char="•"/>
            </a:pPr>
            <a:r>
              <a:rPr sz="1400" lang="es-419">
                <a:solidFill>
                  <a:srgbClr val="000000"/>
                </a:solidFill>
              </a:rPr>
              <a:t>El router AAA usa el protocolo de sistema de control de acceso del controlador de acceso a terminales (TACACS+) o el protocolo de servicio de autenticación remota para usuarios de entrada telefónica (RADIUS) para comunicarse con el servidor de AAA. </a:t>
            </a:r>
          </a:p>
          <a:p>
            <a:pPr marL="342900" indent="-342900" algn="l" rtl="0">
              <a:buFont typeface="Arial" panose="020B0604020202020204" pitchFamily="34" charset="0"/>
              <a:buChar char="•"/>
            </a:pPr>
            <a:r>
              <a:rPr sz="1400" lang="es-419">
                <a:solidFill>
                  <a:srgbClr val="000000"/>
                </a:solidFill>
              </a:rPr>
              <a:t>Cuando hay múltiples enrutadores y switches basado en el servidor es más apropiado.</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221757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Control de acceso</a:t>
            </a:r>
            <a:br>
              <a:rPr lang="en-US" dirty="0"/>
            </a:br>
            <a:r>
              <a:rPr sz="2400" lang="es-419"/>
              <a:t>Autorización</a:t>
            </a:r>
          </a:p>
        </p:txBody>
      </p:sp>
      <p:sp>
        <p:nvSpPr>
          <p:cNvPr id="5" name="Content Placeholder 4">
            <a:extLst>
              <a:ext uri="{FF2B5EF4-FFF2-40B4-BE49-F238E27FC236}">
                <a16:creationId xmlns:a16="http://schemas.microsoft.com/office/drawing/2014/main" id="{785A9BEB-1AEA-4323-931E-5E8EE2F82404}"/>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sz="1600" lang="es-419">
                <a:solidFill>
                  <a:srgbClr val="000000"/>
                </a:solidFill>
              </a:rPr>
              <a:t>La autorización es automática y no requiere que los usuarios tomen medidas adicionales después de la autenticación. </a:t>
            </a:r>
          </a:p>
          <a:p>
            <a:pPr marL="342900" indent="-342900" algn="l">
              <a:buFont typeface="Arial" panose="020B0604020202020204" pitchFamily="34" charset="0"/>
              <a:buChar char="•"/>
            </a:pPr>
            <a:endParaRPr lang="en-US" sz="1600" dirty="0">
              <a:solidFill>
                <a:srgbClr val="000000"/>
              </a:solidFill>
            </a:endParaRPr>
          </a:p>
          <a:p>
            <a:pPr marL="342900" indent="-342900" algn="l" rtl="0">
              <a:buFont typeface="Arial" panose="020B0604020202020204" pitchFamily="34" charset="0"/>
              <a:buChar char="•"/>
            </a:pPr>
            <a:r>
              <a:rPr sz="1600" lang="es-419">
                <a:solidFill>
                  <a:srgbClr val="000000"/>
                </a:solidFill>
              </a:rPr>
              <a:t>La autorización controla lo que el usuario puede hacer o no en la red después de una autenticación satisfactoria:</a:t>
            </a:r>
          </a:p>
          <a:p>
            <a:pPr marL="342900" indent="-342900" algn="l">
              <a:buFont typeface="Arial" panose="020B0604020202020204" pitchFamily="34" charset="0"/>
              <a:buChar char="•"/>
            </a:pPr>
            <a:endParaRPr lang="en-US" sz="1600" dirty="0">
              <a:solidFill>
                <a:srgbClr val="000000"/>
              </a:solidFill>
            </a:endParaRPr>
          </a:p>
          <a:p>
            <a:pPr marL="342900" indent="-342900" algn="l" rtl="0">
              <a:buFont typeface="Arial" panose="020B0604020202020204" pitchFamily="34" charset="0"/>
              <a:buChar char="•"/>
            </a:pPr>
            <a:r>
              <a:rPr sz="1600" lang="es-419">
                <a:solidFill>
                  <a:srgbClr val="000000"/>
                </a:solidFill>
              </a:rPr>
              <a:t>La autorización utiliza un conjunto de atributos que describe el acceso del usuario a la red. El servidor AAA utiliza estos atributos para determinar los privilegios y restricciones para ese usuario.</a:t>
            </a:r>
          </a:p>
          <a:p>
            <a:pPr marL="342900" indent="-342900" algn="l">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731697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Control de acceso</a:t>
            </a:r>
            <a:br>
              <a:rPr lang="en-US" dirty="0"/>
            </a:br>
            <a:r>
              <a:rPr sz="2400" lang="es-419"/>
              <a:t>Contabilidad</a:t>
            </a:r>
          </a:p>
        </p:txBody>
      </p:sp>
      <p:sp>
        <p:nvSpPr>
          <p:cNvPr id="4" name="Content Placeholder 3">
            <a:extLst>
              <a:ext uri="{FF2B5EF4-FFF2-40B4-BE49-F238E27FC236}">
                <a16:creationId xmlns:a16="http://schemas.microsoft.com/office/drawing/2014/main" id="{C9EDFD36-0218-4B82-A94F-2CA9410BD403}"/>
              </a:ext>
            </a:extLst>
          </p:cNvPr>
          <p:cNvSpPr>
            <a:spLocks noGrp="1"/>
          </p:cNvSpPr>
          <p:nvPr>
            <p:ph idx="1"/>
          </p:nvPr>
        </p:nvSpPr>
        <p:spPr>
          <a:xfrm>
            <a:off x="474662" y="731837"/>
            <a:ext cx="8280057" cy="3689897"/>
          </a:xfrm>
        </p:spPr>
        <p:txBody>
          <a:bodyPr/>
          <a:lstStyle/>
          <a:p>
            <a:pPr marL="0" indent="0" algn="l" rtl="0"/>
            <a:r>
              <a:rPr sz="1600" lang="es-419">
                <a:solidFill>
                  <a:srgbClr val="000000"/>
                </a:solidFill>
              </a:rPr>
              <a:t>La auditoría de AAA recopila datos de uso en los registros de AAA y los informa. La organización puede utilizar estos datos para fines como auditorías o facturación. Los datos recopilados pueden incluir la hora de inicio y finalización de la conexión, los comandos ejecutados, la cantidad de paquetes y el número de bytes.</a:t>
            </a:r>
          </a:p>
          <a:p>
            <a:pPr marL="342900" indent="-342900" algn="l">
              <a:buFont typeface="Arial" panose="020B0604020202020204" pitchFamily="34" charset="0"/>
              <a:buChar char="•"/>
            </a:pPr>
            <a:endParaRPr lang="en-US" sz="1600" dirty="0">
              <a:solidFill>
                <a:srgbClr val="000000"/>
              </a:solidFill>
            </a:endParaRPr>
          </a:p>
          <a:p>
            <a:pPr marL="0" indent="0" algn="l" rtl="0"/>
            <a:r>
              <a:rPr sz="1600" lang="es-419">
                <a:solidFill>
                  <a:srgbClr val="000000"/>
                </a:solidFill>
              </a:rPr>
              <a:t>Un uso muy implementado de la contabilidad es combinarlo con la autenticación AAA. </a:t>
            </a:r>
          </a:p>
          <a:p>
            <a:pPr marL="415985" lvl="1" indent="-342900" rtl="0">
              <a:buFont typeface="Arial" panose="020B0604020202020204" pitchFamily="34" charset="0"/>
              <a:buChar char="•"/>
            </a:pPr>
            <a:r>
              <a:rPr sz="1600" lang="es-419">
                <a:solidFill>
                  <a:srgbClr val="000000"/>
                </a:solidFill>
              </a:rPr>
              <a:t>Los servidores AAA mantienen un registro detallado de lo que el usuario autenticado hace exactamente en el dispositivo, como se muestra en la imagen Esto incluye todos los comandos EXEC y de configuración que emite el usuario. </a:t>
            </a:r>
          </a:p>
          <a:p>
            <a:pPr marL="415985" lvl="1" indent="-342900" rtl="0">
              <a:buFont typeface="Arial" panose="020B0604020202020204" pitchFamily="34" charset="0"/>
              <a:buChar char="•"/>
            </a:pPr>
            <a:r>
              <a:rPr sz="1600" lang="es-419">
                <a:solidFill>
                  <a:srgbClr val="000000"/>
                </a:solidFill>
              </a:rPr>
              <a:t>El registro contiene varios campos de datos, incluidos el nombre de usuario, la fecha y hora, y el comando real que introdujo el usuario. Esta información resulta útil para solucionar problemas de dispositivos También proporciona evidencia de cuándo las personas realizan actos maliciosos.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959540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Control de acceso</a:t>
            </a:r>
            <a:br>
              <a:rPr lang="en-US" dirty="0"/>
            </a:br>
            <a:r>
              <a:rPr sz="2400" lang="es-419"/>
              <a:t>802.1X</a:t>
            </a:r>
          </a:p>
        </p:txBody>
      </p:sp>
      <p:sp>
        <p:nvSpPr>
          <p:cNvPr id="5" name="Content Placeholder 4">
            <a:extLst>
              <a:ext uri="{FF2B5EF4-FFF2-40B4-BE49-F238E27FC236}">
                <a16:creationId xmlns:a16="http://schemas.microsoft.com/office/drawing/2014/main" id="{7EA7A140-A893-48D6-8A79-1E62F8D58780}"/>
              </a:ext>
            </a:extLst>
          </p:cNvPr>
          <p:cNvSpPr>
            <a:spLocks noGrp="1"/>
          </p:cNvSpPr>
          <p:nvPr>
            <p:ph idx="1"/>
          </p:nvPr>
        </p:nvSpPr>
        <p:spPr>
          <a:xfrm>
            <a:off x="0" y="731837"/>
            <a:ext cx="8754719" cy="2900515"/>
          </a:xfrm>
        </p:spPr>
        <p:txBody>
          <a:bodyPr/>
          <a:lstStyle/>
          <a:p>
            <a:pPr marL="0" indent="0" algn="l" rtl="0"/>
            <a:r>
              <a:rPr sz="1400" lang="es-419">
                <a:solidFill>
                  <a:srgbClr val="000000"/>
                </a:solidFill>
              </a:rPr>
              <a:t>El estándar IEEE 802.1X define un control de acceso y un protocolo de autenticación basados en puertos. Evita que las estaciones de trabajo no autorizadas se conecten a una LAN a través de puertos de switch de acceso público. El servidor de autenticación autentica cada estación de trabajo que está conectada a un puerto del switch antes habilitar cualquier servicio ofrecido por el switch o la LAN.</a:t>
            </a:r>
          </a:p>
          <a:p>
            <a:pPr marL="0" indent="0" algn="l"/>
            <a:endParaRPr lang="en-US" sz="1400" dirty="0">
              <a:solidFill>
                <a:srgbClr val="000000"/>
              </a:solidFill>
            </a:endParaRPr>
          </a:p>
          <a:p>
            <a:pPr marL="0" indent="0" algn="l" rtl="0"/>
            <a:r>
              <a:rPr sz="1400" lang="es-419">
                <a:solidFill>
                  <a:srgbClr val="000000"/>
                </a:solidFill>
              </a:rPr>
              <a:t>Con la autenticación basada en el puerto 802.1X, los dispositivos en la red tienen roles específicos:</a:t>
            </a:r>
          </a:p>
          <a:p>
            <a:pPr marL="415985" lvl="1" indent="-342900" rtl="0">
              <a:buFont typeface="Arial" panose="020B0604020202020204" pitchFamily="34" charset="0"/>
              <a:buChar char="•"/>
            </a:pPr>
            <a:r>
              <a:rPr sz="1200" b="true" lang="es-419">
                <a:solidFill>
                  <a:srgbClr val="000000"/>
                </a:solidFill>
              </a:rPr>
              <a:t>Cliente (Suplicante)</a:t>
            </a:r>
            <a:r>
              <a:rPr sz="1200" lang="es-419">
                <a:solidFill>
                  <a:srgbClr val="000000"/>
                </a:solidFill>
              </a:rPr>
              <a:t>- Este es un dispositivo que ejecuta un software de cliente compatible con 802.1X, que está disponible para dispositivos con cable o inalámbricos.</a:t>
            </a:r>
          </a:p>
          <a:p>
            <a:pPr marL="415985" lvl="1" indent="-342900" rtl="0">
              <a:buFont typeface="Arial" panose="020B0604020202020204" pitchFamily="34" charset="0"/>
              <a:buChar char="•"/>
            </a:pPr>
            <a:r>
              <a:rPr sz="1200" b="true" lang="es-419">
                <a:solidFill>
                  <a:srgbClr val="000000"/>
                </a:solidFill>
              </a:rPr>
              <a:t>Switch (Autenticador)</a:t>
            </a:r>
            <a:r>
              <a:rPr sz="1200" lang="es-419">
                <a:solidFill>
                  <a:srgbClr val="000000"/>
                </a:solidFill>
              </a:rPr>
              <a:t>- El switch actúa como intermediario entre el cliente y el servidor de autenticación. Solicita la identificación de la información del cliente, verifica dicha información al servidor de autenticación y transmite una respuesta al cliente. Otro dispositivo que puede actuar como autenticador is un punto de acceso inalámbrico.</a:t>
            </a:r>
          </a:p>
          <a:p>
            <a:pPr marL="415985" lvl="1" indent="-342900" rtl="0">
              <a:buFont typeface="Arial" panose="020B0604020202020204" pitchFamily="34" charset="0"/>
              <a:buChar char="•"/>
            </a:pPr>
            <a:r>
              <a:rPr sz="1200" b="true" lang="es-419">
                <a:solidFill>
                  <a:srgbClr val="000000"/>
                </a:solidFill>
              </a:rPr>
              <a:t>Servidor de autenticación:</a:t>
            </a:r>
            <a:r>
              <a:rPr sz="1200" lang="es-419">
                <a:solidFill>
                  <a:srgbClr val="000000"/>
                </a:solidFill>
              </a:rPr>
              <a:t>– El servidor valida la identidad del cliente y notifica al switch o al punto de acceso inalámbrico que el cliente está o no autorizado para acceder a la LAN y a los servicios del switch.</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A84911CF-FD67-4279-BEC5-E3DCFECFE5B3}"/>
              </a:ext>
            </a:extLst>
          </p:cNvPr>
          <p:cNvPicPr>
            <a:picLocks noChangeAspect="1"/>
          </p:cNvPicPr>
          <p:nvPr/>
        </p:nvPicPr>
        <p:blipFill>
          <a:blip r:embed="rId3"/>
          <a:stretch>
            <a:fillRect/>
          </a:stretch>
        </p:blipFill>
        <p:spPr>
          <a:xfrm>
            <a:off x="1095375" y="3632352"/>
            <a:ext cx="5091833" cy="1284083"/>
          </a:xfrm>
          <a:prstGeom prst="rect">
            <a:avLst/>
          </a:prstGeom>
        </p:spPr>
      </p:pic>
    </p:spTree>
    <p:extLst>
      <p:ext uri="{BB962C8B-B14F-4D97-AF65-F5344CB8AC3E}">
        <p14:creationId xmlns:p14="http://schemas.microsoft.com/office/powerpoint/2010/main" val="170997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10.3 Amenazas de seguridad de capa 2</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Amenazas de seguridad de capa 2</a:t>
            </a:r>
            <a:br>
              <a:rPr lang="en-US" dirty="0"/>
            </a:br>
            <a:r>
              <a:rPr sz="2400" lang="es-419"/>
              <a:t>Vulnerabilidades de capa 2</a:t>
            </a:r>
          </a:p>
        </p:txBody>
      </p:sp>
      <p:sp>
        <p:nvSpPr>
          <p:cNvPr id="5" name="Content Placeholder 4">
            <a:extLst>
              <a:ext uri="{FF2B5EF4-FFF2-40B4-BE49-F238E27FC236}">
                <a16:creationId xmlns:a16="http://schemas.microsoft.com/office/drawing/2014/main" id="{9D6EEE11-E390-48C9-B8AD-A5EEC852EA6A}"/>
              </a:ext>
            </a:extLst>
          </p:cNvPr>
          <p:cNvSpPr>
            <a:spLocks noGrp="1"/>
          </p:cNvSpPr>
          <p:nvPr>
            <p:ph idx="1"/>
          </p:nvPr>
        </p:nvSpPr>
        <p:spPr>
          <a:xfrm>
            <a:off x="85725" y="731837"/>
            <a:ext cx="4689476" cy="3689897"/>
          </a:xfrm>
        </p:spPr>
        <p:txBody>
          <a:bodyPr/>
          <a:lstStyle/>
          <a:p>
            <a:pPr marL="0" indent="0" algn="l" rtl="0"/>
            <a:r>
              <a:rPr sz="1500" lang="es-419">
                <a:solidFill>
                  <a:srgbClr val="000000"/>
                </a:solidFill>
              </a:rPr>
              <a:t>Recuerde que el modelo de referencia OSI está dividido en siete capaz, las cuales trabajan de manera independiente una de otra. La figura muestra la función de cada capa los elementos de núcleo que pueden ser explotados.</a:t>
            </a:r>
          </a:p>
          <a:p>
            <a:pPr marL="0" indent="0" algn="l"/>
            <a:endParaRPr lang="en-US" sz="1500" dirty="0">
              <a:solidFill>
                <a:srgbClr val="000000"/>
              </a:solidFill>
            </a:endParaRPr>
          </a:p>
          <a:p>
            <a:pPr marL="0" indent="0" algn="l" rtl="0"/>
            <a:r>
              <a:rPr sz="1500" lang="es-419">
                <a:solidFill>
                  <a:srgbClr val="000000"/>
                </a:solidFill>
              </a:rPr>
              <a:t>Los administradores de red implementan habitualmente soluciones de seguridad para proteger los elementos en la capa 3 hasta la capa 7. Ellos usan VPNs, cortafuegos, y dispositivos IPS para proteger estos elementos Si la capa 2 se ve comprometida, todas las capas superiores también se ven afectadas. Por ejemplo, si un atacantes con acceso a la red interna captura los marcos de la Capa 2, entonces toda la seguridad implementada en las capas anteriores sería inútil. El atacante podría causar mucho daño en la infraestructura de red LAN de capa 2.</a:t>
            </a:r>
          </a:p>
        </p:txBody>
      </p:sp>
      <p:pic>
        <p:nvPicPr>
          <p:cNvPr id="2" name="Picture 1">
            <a:extLst>
              <a:ext uri="{FF2B5EF4-FFF2-40B4-BE49-F238E27FC236}">
                <a16:creationId xmlns:a16="http://schemas.microsoft.com/office/drawing/2014/main" id="{ADD97C98-D5FE-4955-901B-4D7693B4153E}"/>
              </a:ext>
            </a:extLst>
          </p:cNvPr>
          <p:cNvPicPr>
            <a:picLocks noChangeAspect="1"/>
          </p:cNvPicPr>
          <p:nvPr/>
        </p:nvPicPr>
        <p:blipFill>
          <a:blip r:embed="rId3"/>
          <a:stretch>
            <a:fillRect/>
          </a:stretch>
        </p:blipFill>
        <p:spPr>
          <a:xfrm>
            <a:off x="4889523" y="1052946"/>
            <a:ext cx="3959201" cy="2684030"/>
          </a:xfrm>
          <a:prstGeom prst="rect">
            <a:avLst/>
          </a:prstGeom>
        </p:spPr>
      </p:pic>
    </p:spTree>
    <p:extLst>
      <p:ext uri="{BB962C8B-B14F-4D97-AF65-F5344CB8AC3E}">
        <p14:creationId xmlns:p14="http://schemas.microsoft.com/office/powerpoint/2010/main" val="3051989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Amenazas de seguridad de capa 2</a:t>
            </a:r>
            <a:br>
              <a:rPr lang="en-US" dirty="0"/>
            </a:br>
            <a:r>
              <a:rPr sz="2400" lang="es-419"/>
              <a:t>categorías de ataque en el Switch</a:t>
            </a:r>
          </a:p>
        </p:txBody>
      </p:sp>
      <p:sp>
        <p:nvSpPr>
          <p:cNvPr id="6" name="Content Placeholder 5">
            <a:extLst>
              <a:ext uri="{FF2B5EF4-FFF2-40B4-BE49-F238E27FC236}">
                <a16:creationId xmlns:a16="http://schemas.microsoft.com/office/drawing/2014/main" id="{07E04770-DC42-4A71-992B-9579F394C8B5}"/>
              </a:ext>
            </a:extLst>
          </p:cNvPr>
          <p:cNvSpPr>
            <a:spLocks noGrp="1"/>
          </p:cNvSpPr>
          <p:nvPr>
            <p:ph idx="1"/>
          </p:nvPr>
        </p:nvSpPr>
        <p:spPr>
          <a:xfrm>
            <a:off x="228600" y="731838"/>
            <a:ext cx="8526119" cy="1011238"/>
          </a:xfrm>
        </p:spPr>
        <p:txBody>
          <a:bodyPr/>
          <a:lstStyle/>
          <a:p>
            <a:pPr marL="0" indent="0" algn="l" rtl="0"/>
            <a:r>
              <a:rPr sz="1400" lang="es-419">
                <a:solidFill>
                  <a:srgbClr val="000000"/>
                </a:solidFill>
              </a:rPr>
              <a:t>La seguridad es solamente tan sólida como el enlace más débil en el sistema, y la capa 2 es considerada el enlace mas débil. Esto se debe a que las LAN estaban tradicionalmente bajo el control administrativo de una sola organización. Inherentemente confiamos en todas las personas y dispositivos conectados a nuestra LAN. Hoy, con BYOD y ataques más sofisticados, nuestras LAN se han vuelto más vulnerables a la penetración.</a:t>
            </a:r>
          </a:p>
        </p:txBody>
      </p:sp>
      <p:graphicFrame>
        <p:nvGraphicFramePr>
          <p:cNvPr id="7" name="Table 7">
            <a:extLst>
              <a:ext uri="{FF2B5EF4-FFF2-40B4-BE49-F238E27FC236}">
                <a16:creationId xmlns:a16="http://schemas.microsoft.com/office/drawing/2014/main" id="{BA5E790A-570E-4B5F-8374-BABE6EF4DC2D}"/>
              </a:ext>
            </a:extLst>
          </p:cNvPr>
          <p:cNvGraphicFramePr>
            <a:graphicFrameLocks noGrp="1"/>
          </p:cNvGraphicFramePr>
          <p:nvPr>
            <p:extLst>
              <p:ext uri="{D42A27DB-BD31-4B8C-83A1-F6EECF244321}">
                <p14:modId xmlns:p14="http://schemas.microsoft.com/office/powerpoint/2010/main" val="2343228638"/>
              </p:ext>
            </p:extLst>
          </p:nvPr>
        </p:nvGraphicFramePr>
        <p:xfrm>
          <a:off x="577273" y="1821180"/>
          <a:ext cx="7989454" cy="2691393"/>
        </p:xfrm>
        <a:graphic>
          <a:graphicData uri="http://schemas.openxmlformats.org/drawingml/2006/table">
            <a:tbl>
              <a:tblPr firstRow="1" bandRow="1">
                <a:tableStyleId>{5C22544A-7EE6-4342-B048-85BDC9FD1C3A}</a:tableStyleId>
              </a:tblPr>
              <a:tblGrid>
                <a:gridCol w="2493818">
                  <a:extLst>
                    <a:ext uri="{9D8B030D-6E8A-4147-A177-3AD203B41FA5}">
                      <a16:colId xmlns:a16="http://schemas.microsoft.com/office/drawing/2014/main" val="1487031909"/>
                    </a:ext>
                  </a:extLst>
                </a:gridCol>
                <a:gridCol w="5495636">
                  <a:extLst>
                    <a:ext uri="{9D8B030D-6E8A-4147-A177-3AD203B41FA5}">
                      <a16:colId xmlns:a16="http://schemas.microsoft.com/office/drawing/2014/main" val="2361683790"/>
                    </a:ext>
                  </a:extLst>
                </a:gridCol>
              </a:tblGrid>
              <a:tr h="248313">
                <a:tc>
                  <a:txBody>
                    <a:bodyPr/>
                    <a:lstStyle/>
                    <a:p>
                      <a:pPr algn="l" fontAlgn="ctr" rtl="0"/>
                      <a:r>
                        <a:rPr b="true" lang="es-419">
                          <a:effectLst/>
                        </a:rPr>
                        <a:t>Categoría</a:t>
                      </a:r>
                    </a:p>
                  </a:txBody>
                  <a:tcPr marL="47625" marR="47625" marT="47625" marB="47625" anchor="ctr"/>
                </a:tc>
                <a:tc>
                  <a:txBody>
                    <a:bodyPr/>
                    <a:lstStyle/>
                    <a:p>
                      <a:pPr algn="l" fontAlgn="ctr" rtl="0"/>
                      <a:r>
                        <a:rPr b="true" lang="es-419">
                          <a:effectLst/>
                        </a:rPr>
                        <a:t>Ejemplos</a:t>
                      </a:r>
                    </a:p>
                  </a:txBody>
                  <a:tcPr marL="47625" marR="47625" marT="47625" marB="47625" anchor="ctr"/>
                </a:tc>
                <a:extLst>
                  <a:ext uri="{0D108BD9-81ED-4DB2-BD59-A6C34878D82A}">
                    <a16:rowId xmlns:a16="http://schemas.microsoft.com/office/drawing/2014/main" val="3798506708"/>
                  </a:ext>
                </a:extLst>
              </a:tr>
              <a:tr h="349509">
                <a:tc>
                  <a:txBody>
                    <a:bodyPr/>
                    <a:lstStyle/>
                    <a:p>
                      <a:pPr fontAlgn="ctr" rtl="0"/>
                      <a:r>
                        <a:rPr b="true" lang="es-419">
                          <a:effectLst/>
                        </a:rPr>
                        <a:t>Ataques de tabla MAC</a:t>
                      </a:r>
                    </a:p>
                  </a:txBody>
                  <a:tcPr marL="47625" marR="47625" marT="47625" marB="47625" anchor="ctr"/>
                </a:tc>
                <a:tc>
                  <a:txBody>
                    <a:bodyPr/>
                    <a:lstStyle/>
                    <a:p>
                      <a:pPr fontAlgn="ctr" rtl="0"/>
                      <a:r>
                        <a:rPr b="false" lang="es-419">
                          <a:effectLst/>
                        </a:rPr>
                        <a:t>Incluye ataques de inundación de direcciones MAC.</a:t>
                      </a:r>
                    </a:p>
                  </a:txBody>
                  <a:tcPr marL="47625" marR="47625" marT="47625" marB="47625" anchor="ctr"/>
                </a:tc>
                <a:extLst>
                  <a:ext uri="{0D108BD9-81ED-4DB2-BD59-A6C34878D82A}">
                    <a16:rowId xmlns:a16="http://schemas.microsoft.com/office/drawing/2014/main" val="2970003718"/>
                  </a:ext>
                </a:extLst>
              </a:tr>
              <a:tr h="635238">
                <a:tc>
                  <a:txBody>
                    <a:bodyPr/>
                    <a:lstStyle/>
                    <a:p>
                      <a:pPr fontAlgn="ctr" rtl="0"/>
                      <a:r>
                        <a:rPr b="true" lang="es-419">
                          <a:effectLst/>
                        </a:rPr>
                        <a:t>Ataques de VLAN</a:t>
                      </a:r>
                    </a:p>
                  </a:txBody>
                  <a:tcPr marL="47625" marR="47625" marT="47625" marB="47625" anchor="ctr"/>
                </a:tc>
                <a:tc>
                  <a:txBody>
                    <a:bodyPr/>
                    <a:lstStyle/>
                    <a:p>
                      <a:pPr fontAlgn="ctr" rtl="0"/>
                      <a:r>
                        <a:rPr b="false" lang="es-419">
                          <a:effectLst/>
                        </a:rPr>
                        <a:t>Incluye ataques VLAN hopping y VLAN double-tagging.  También incluye ataques entre dispositivos en una VLAN común.</a:t>
                      </a:r>
                    </a:p>
                  </a:txBody>
                  <a:tcPr marL="47625" marR="47625" marT="47625" marB="47625" anchor="ctr"/>
                </a:tc>
                <a:extLst>
                  <a:ext uri="{0D108BD9-81ED-4DB2-BD59-A6C34878D82A}">
                    <a16:rowId xmlns:a16="http://schemas.microsoft.com/office/drawing/2014/main" val="1851904030"/>
                  </a:ext>
                </a:extLst>
              </a:tr>
              <a:tr h="349509">
                <a:tc>
                  <a:txBody>
                    <a:bodyPr/>
                    <a:lstStyle/>
                    <a:p>
                      <a:pPr fontAlgn="ctr" rtl="0"/>
                      <a:r>
                        <a:rPr b="true" lang="es-419">
                          <a:effectLst/>
                        </a:rPr>
                        <a:t>Ataques de DHCP</a:t>
                      </a:r>
                    </a:p>
                  </a:txBody>
                  <a:tcPr marL="47625" marR="47625" marT="47625" marB="47625" anchor="ctr"/>
                </a:tc>
                <a:tc>
                  <a:txBody>
                    <a:bodyPr/>
                    <a:lstStyle/>
                    <a:p>
                      <a:pPr fontAlgn="ctr" rtl="0"/>
                      <a:r>
                        <a:rPr b="false" lang="es-419">
                          <a:effectLst/>
                        </a:rPr>
                        <a:t>Incluye ataques DHCP starvation y DHCP spoofing.</a:t>
                      </a:r>
                    </a:p>
                  </a:txBody>
                  <a:tcPr marL="47625" marR="47625" marT="47625" marB="47625" anchor="ctr"/>
                </a:tc>
                <a:extLst>
                  <a:ext uri="{0D108BD9-81ED-4DB2-BD59-A6C34878D82A}">
                    <a16:rowId xmlns:a16="http://schemas.microsoft.com/office/drawing/2014/main" val="4023516481"/>
                  </a:ext>
                </a:extLst>
              </a:tr>
              <a:tr h="349509">
                <a:tc>
                  <a:txBody>
                    <a:bodyPr/>
                    <a:lstStyle/>
                    <a:p>
                      <a:pPr fontAlgn="ctr" rtl="0"/>
                      <a:r>
                        <a:rPr b="true" lang="es-419">
                          <a:effectLst/>
                        </a:rPr>
                        <a:t>Ataques ARP</a:t>
                      </a:r>
                    </a:p>
                  </a:txBody>
                  <a:tcPr marL="47625" marR="47625" marT="47625" marB="47625" anchor="ctr"/>
                </a:tc>
                <a:tc>
                  <a:txBody>
                    <a:bodyPr/>
                    <a:lstStyle/>
                    <a:p>
                      <a:pPr fontAlgn="ctr" rtl="0"/>
                      <a:r>
                        <a:rPr b="false" lang="es-419">
                          <a:effectLst/>
                        </a:rPr>
                        <a:t>Incluye la suplantación de ARP y los ataques de envenenamiento de ARP.</a:t>
                      </a:r>
                    </a:p>
                  </a:txBody>
                  <a:tcPr marL="47625" marR="47625" marT="47625" marB="47625" anchor="ctr"/>
                </a:tc>
                <a:extLst>
                  <a:ext uri="{0D108BD9-81ED-4DB2-BD59-A6C34878D82A}">
                    <a16:rowId xmlns:a16="http://schemas.microsoft.com/office/drawing/2014/main" val="3106928135"/>
                  </a:ext>
                </a:extLst>
              </a:tr>
              <a:tr h="349509">
                <a:tc>
                  <a:txBody>
                    <a:bodyPr/>
                    <a:lstStyle/>
                    <a:p>
                      <a:pPr fontAlgn="ctr" rtl="0"/>
                      <a:r>
                        <a:rPr b="true" lang="es-419">
                          <a:effectLst/>
                        </a:rPr>
                        <a:t>Ataques de suplantación de direcciones</a:t>
                      </a:r>
                    </a:p>
                  </a:txBody>
                  <a:tcPr marL="47625" marR="47625" marT="47625" marB="47625" anchor="ctr"/>
                </a:tc>
                <a:tc>
                  <a:txBody>
                    <a:bodyPr/>
                    <a:lstStyle/>
                    <a:p>
                      <a:pPr fontAlgn="ctr" rtl="0"/>
                      <a:r>
                        <a:rPr b="false" lang="es-419">
                          <a:effectLst/>
                        </a:rPr>
                        <a:t>Incluye los ataques de suplantación de direcciones MAC e IP.</a:t>
                      </a:r>
                    </a:p>
                  </a:txBody>
                  <a:tcPr marL="47625" marR="47625" marT="47625" marB="47625" anchor="ctr"/>
                </a:tc>
                <a:extLst>
                  <a:ext uri="{0D108BD9-81ED-4DB2-BD59-A6C34878D82A}">
                    <a16:rowId xmlns:a16="http://schemas.microsoft.com/office/drawing/2014/main" val="1219392657"/>
                  </a:ext>
                </a:extLst>
              </a:tr>
              <a:tr h="349509">
                <a:tc>
                  <a:txBody>
                    <a:bodyPr/>
                    <a:lstStyle/>
                    <a:p>
                      <a:pPr fontAlgn="ctr" rtl="0"/>
                      <a:r>
                        <a:rPr b="true" lang="es-419">
                          <a:effectLst/>
                        </a:rPr>
                        <a:t>Ataques STP</a:t>
                      </a:r>
                    </a:p>
                  </a:txBody>
                  <a:tcPr marL="47625" marR="47625" marT="47625" marB="47625" anchor="ctr"/>
                </a:tc>
                <a:tc>
                  <a:txBody>
                    <a:bodyPr/>
                    <a:lstStyle/>
                    <a:p>
                      <a:pPr fontAlgn="ctr" rtl="0"/>
                      <a:r>
                        <a:rPr b="false" lang="es-419">
                          <a:effectLst/>
                        </a:rPr>
                        <a:t>Incluye ataques de manipulación al Protocolo de árbol de extensión</a:t>
                      </a:r>
                    </a:p>
                  </a:txBody>
                  <a:tcPr marL="47625" marR="47625" marT="47625" marB="47625" anchor="ctr"/>
                </a:tc>
                <a:extLst>
                  <a:ext uri="{0D108BD9-81ED-4DB2-BD59-A6C34878D82A}">
                    <a16:rowId xmlns:a16="http://schemas.microsoft.com/office/drawing/2014/main" val="3044333517"/>
                  </a:ext>
                </a:extLst>
              </a:tr>
            </a:tbl>
          </a:graphicData>
        </a:graphic>
      </p:graphicFrame>
    </p:spTree>
    <p:extLst>
      <p:ext uri="{BB962C8B-B14F-4D97-AF65-F5344CB8AC3E}">
        <p14:creationId xmlns:p14="http://schemas.microsoft.com/office/powerpoint/2010/main" val="1353673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Amenazas de seguridad de capa 2</a:t>
            </a:r>
            <a:br>
              <a:rPr lang="en-US" dirty="0"/>
            </a:br>
            <a:r>
              <a:rPr sz="2400" lang="es-419"/>
              <a:t>Técnicas de mitigación de ataques en el switch</a:t>
            </a:r>
          </a:p>
        </p:txBody>
      </p:sp>
      <p:graphicFrame>
        <p:nvGraphicFramePr>
          <p:cNvPr id="5" name="Table 7">
            <a:extLst>
              <a:ext uri="{FF2B5EF4-FFF2-40B4-BE49-F238E27FC236}">
                <a16:creationId xmlns:a16="http://schemas.microsoft.com/office/drawing/2014/main" id="{E5A786AC-29CB-4336-90C6-92E2F9CFE065}"/>
              </a:ext>
            </a:extLst>
          </p:cNvPr>
          <p:cNvGraphicFramePr>
            <a:graphicFrameLocks noGrp="1"/>
          </p:cNvGraphicFramePr>
          <p:nvPr>
            <p:ph idx="1"/>
            <p:extLst>
              <p:ext uri="{D42A27DB-BD31-4B8C-83A1-F6EECF244321}">
                <p14:modId xmlns:p14="http://schemas.microsoft.com/office/powerpoint/2010/main" val="247906647"/>
              </p:ext>
            </p:extLst>
          </p:nvPr>
        </p:nvGraphicFramePr>
        <p:xfrm>
          <a:off x="431800" y="758825"/>
          <a:ext cx="8280400" cy="1944370"/>
        </p:xfrm>
        <a:graphic>
          <a:graphicData uri="http://schemas.openxmlformats.org/drawingml/2006/table">
            <a:tbl>
              <a:tblPr firstRow="1" bandRow="1">
                <a:tableStyleId>{5C22544A-7EE6-4342-B048-85BDC9FD1C3A}</a:tableStyleId>
              </a:tblPr>
              <a:tblGrid>
                <a:gridCol w="2748828">
                  <a:extLst>
                    <a:ext uri="{9D8B030D-6E8A-4147-A177-3AD203B41FA5}">
                      <a16:colId xmlns:a16="http://schemas.microsoft.com/office/drawing/2014/main" val="1670194353"/>
                    </a:ext>
                  </a:extLst>
                </a:gridCol>
                <a:gridCol w="5531572">
                  <a:extLst>
                    <a:ext uri="{9D8B030D-6E8A-4147-A177-3AD203B41FA5}">
                      <a16:colId xmlns:a16="http://schemas.microsoft.com/office/drawing/2014/main" val="1766553380"/>
                    </a:ext>
                  </a:extLst>
                </a:gridCol>
              </a:tblGrid>
              <a:tr h="370840">
                <a:tc>
                  <a:txBody>
                    <a:bodyPr/>
                    <a:lstStyle/>
                    <a:p>
                      <a:pPr algn="l" fontAlgn="ctr" rtl="0"/>
                      <a:r>
                        <a:rPr sz="1200" b="true" lang="es-419">
                          <a:effectLst/>
                        </a:rPr>
                        <a:t>Solución</a:t>
                      </a:r>
                    </a:p>
                  </a:txBody>
                  <a:tcPr marL="47625" marR="47625" marT="47625" marB="47625" anchor="ctr"/>
                </a:tc>
                <a:tc>
                  <a:txBody>
                    <a:bodyPr/>
                    <a:lstStyle/>
                    <a:p>
                      <a:pPr algn="l" fontAlgn="ctr" rtl="0"/>
                      <a:r>
                        <a:rPr sz="1200" b="true" lang="es-419">
                          <a:effectLst/>
                        </a:rPr>
                        <a:t>Descripción</a:t>
                      </a:r>
                    </a:p>
                  </a:txBody>
                  <a:tcPr marL="47625" marR="47625" marT="47625" marB="47625" anchor="ctr"/>
                </a:tc>
                <a:extLst>
                  <a:ext uri="{0D108BD9-81ED-4DB2-BD59-A6C34878D82A}">
                    <a16:rowId xmlns:a16="http://schemas.microsoft.com/office/drawing/2014/main" val="2842029635"/>
                  </a:ext>
                </a:extLst>
              </a:tr>
              <a:tr h="370840">
                <a:tc>
                  <a:txBody>
                    <a:bodyPr/>
                    <a:lstStyle/>
                    <a:p>
                      <a:pPr fontAlgn="ctr" rtl="0"/>
                      <a:r>
                        <a:rPr sz="1200" b="true" lang="es-419">
                          <a:effectLst/>
                        </a:rPr>
                        <a:t>Seguridad de puertos</a:t>
                      </a:r>
                    </a:p>
                  </a:txBody>
                  <a:tcPr marL="47625" marR="47625" marT="47625" marB="47625" anchor="ctr"/>
                </a:tc>
                <a:tc>
                  <a:txBody>
                    <a:bodyPr/>
                    <a:lstStyle/>
                    <a:p>
                      <a:pPr fontAlgn="ctr" rtl="0"/>
                      <a:r>
                        <a:rPr sz="1200" b="false" lang="es-419">
                          <a:effectLst/>
                        </a:rPr>
                        <a:t>Previene muchos tipos de ataques, incluidos los ataques de inundación de direcciones MAC y los ataques de hambre DHCP.</a:t>
                      </a:r>
                    </a:p>
                  </a:txBody>
                  <a:tcPr marL="47625" marR="47625" marT="47625" marB="47625" anchor="ctr"/>
                </a:tc>
                <a:extLst>
                  <a:ext uri="{0D108BD9-81ED-4DB2-BD59-A6C34878D82A}">
                    <a16:rowId xmlns:a16="http://schemas.microsoft.com/office/drawing/2014/main" val="4128229561"/>
                  </a:ext>
                </a:extLst>
              </a:tr>
              <a:tr h="370840">
                <a:tc>
                  <a:txBody>
                    <a:bodyPr/>
                    <a:lstStyle/>
                    <a:p>
                      <a:pPr fontAlgn="ctr" rtl="0"/>
                      <a:r>
                        <a:rPr sz="1200" b="true" lang="es-419">
                          <a:effectLst/>
                        </a:rPr>
                        <a:t>Detección DHCP</a:t>
                      </a:r>
                    </a:p>
                  </a:txBody>
                  <a:tcPr marL="47625" marR="47625" marT="47625" marB="47625" anchor="ctr"/>
                </a:tc>
                <a:tc>
                  <a:txBody>
                    <a:bodyPr/>
                    <a:lstStyle/>
                    <a:p>
                      <a:pPr fontAlgn="ctr" rtl="0"/>
                      <a:r>
                        <a:rPr sz="1200" b="false" lang="es-419">
                          <a:effectLst/>
                        </a:rPr>
                        <a:t>Previene ataques de suplantación de identidad y de agotamiento de DHCP.</a:t>
                      </a:r>
                    </a:p>
                  </a:txBody>
                  <a:tcPr marL="47625" marR="47625" marT="47625" marB="47625" anchor="ctr"/>
                </a:tc>
                <a:extLst>
                  <a:ext uri="{0D108BD9-81ED-4DB2-BD59-A6C34878D82A}">
                    <a16:rowId xmlns:a16="http://schemas.microsoft.com/office/drawing/2014/main" val="3588043224"/>
                  </a:ext>
                </a:extLst>
              </a:tr>
              <a:tr h="370840">
                <a:tc>
                  <a:txBody>
                    <a:bodyPr/>
                    <a:lstStyle/>
                    <a:p>
                      <a:pPr fontAlgn="ctr" rtl="0"/>
                      <a:r>
                        <a:rPr sz="1200" b="true" lang="es-419">
                          <a:effectLst/>
                        </a:rPr>
                        <a:t>Inspección ARP dinámica (DAI)</a:t>
                      </a:r>
                    </a:p>
                  </a:txBody>
                  <a:tcPr marL="47625" marR="47625" marT="47625" marB="47625" anchor="ctr"/>
                </a:tc>
                <a:tc>
                  <a:txBody>
                    <a:bodyPr/>
                    <a:lstStyle/>
                    <a:p>
                      <a:pPr fontAlgn="ctr" rtl="0"/>
                      <a:r>
                        <a:rPr sz="1200" b="false" lang="es-419">
                          <a:effectLst/>
                        </a:rPr>
                        <a:t>Previene la suplantación de ARP y los ataques de envenenamiento de ARP.</a:t>
                      </a:r>
                    </a:p>
                  </a:txBody>
                  <a:tcPr marL="47625" marR="47625" marT="47625" marB="47625" anchor="ctr"/>
                </a:tc>
                <a:extLst>
                  <a:ext uri="{0D108BD9-81ED-4DB2-BD59-A6C34878D82A}">
                    <a16:rowId xmlns:a16="http://schemas.microsoft.com/office/drawing/2014/main" val="803318852"/>
                  </a:ext>
                </a:extLst>
              </a:tr>
              <a:tr h="370840">
                <a:tc>
                  <a:txBody>
                    <a:bodyPr/>
                    <a:lstStyle/>
                    <a:p>
                      <a:pPr fontAlgn="ctr" rtl="0"/>
                      <a:r>
                        <a:rPr sz="1200" b="true" lang="es-419">
                          <a:effectLst/>
                        </a:rPr>
                        <a:t>Protección de IP de origen (IPSG)</a:t>
                      </a:r>
                    </a:p>
                  </a:txBody>
                  <a:tcPr marL="47625" marR="47625" marT="47625" marB="47625" anchor="ctr"/>
                </a:tc>
                <a:tc>
                  <a:txBody>
                    <a:bodyPr/>
                    <a:lstStyle/>
                    <a:p>
                      <a:pPr fontAlgn="ctr" rtl="0"/>
                      <a:r>
                        <a:rPr sz="1200" b="false" lang="es-419">
                          <a:effectLst/>
                        </a:rPr>
                        <a:t>Impide los ataques de suplantación de direcciones MAC e IP.</a:t>
                      </a:r>
                    </a:p>
                  </a:txBody>
                  <a:tcPr marL="47625" marR="47625" marT="47625" marB="47625" anchor="ctr"/>
                </a:tc>
                <a:extLst>
                  <a:ext uri="{0D108BD9-81ED-4DB2-BD59-A6C34878D82A}">
                    <a16:rowId xmlns:a16="http://schemas.microsoft.com/office/drawing/2014/main" val="1098723231"/>
                  </a:ext>
                </a:extLst>
              </a:tr>
            </a:tbl>
          </a:graphicData>
        </a:graphic>
      </p:graphicFrame>
      <p:sp>
        <p:nvSpPr>
          <p:cNvPr id="9" name="Rectangle 8">
            <a:extLst>
              <a:ext uri="{FF2B5EF4-FFF2-40B4-BE49-F238E27FC236}">
                <a16:creationId xmlns:a16="http://schemas.microsoft.com/office/drawing/2014/main" id="{D723C8E7-E6AC-4D8A-A0EF-09152327B461}"/>
              </a:ext>
            </a:extLst>
          </p:cNvPr>
          <p:cNvSpPr/>
          <p:nvPr/>
        </p:nvSpPr>
        <p:spPr>
          <a:xfrm>
            <a:off x="431800" y="2802630"/>
            <a:ext cx="8280400" cy="1708160"/>
          </a:xfrm>
          <a:prstGeom prst="rect">
            <a:avLst/>
          </a:prstGeom>
        </p:spPr>
        <p:txBody>
          <a:bodyPr wrap="square">
            <a:spAutoFit/>
          </a:bodyPr>
          <a:lstStyle/>
          <a:p>
            <a:pPr rtl="0"/>
            <a:r>
              <a:rPr sz="1500" lang="es-419">
                <a:solidFill>
                  <a:srgbClr val="000000"/>
                </a:solidFill>
                <a:latin typeface="+mn-lt"/>
              </a:rPr>
              <a:t>Estas soluciones de Capa 2 no serán efectivas si los protocolos de administración no están asegurados. Se recomiendan las siguientes estrategias:</a:t>
            </a:r>
          </a:p>
          <a:p>
            <a:pPr marL="285750" indent="-285750" rtl="0">
              <a:buFont typeface="Arial" panose="020B0604020202020204" pitchFamily="34" charset="0"/>
              <a:buChar char="•"/>
            </a:pPr>
            <a:r>
              <a:rPr sz="1500" lang="es-419">
                <a:solidFill>
                  <a:srgbClr val="000000"/>
                </a:solidFill>
                <a:latin typeface="+mn-lt"/>
              </a:rPr>
              <a:t>Utilice siempre variantes seguras de protocolos de administración como SSH, Protocolo de copia segura (SCP), FTP seguro (SFTP) y Seguridad de capa de sockets seguros / capa de transporte (SSL / TLS).</a:t>
            </a:r>
          </a:p>
          <a:p>
            <a:pPr marL="285750" indent="-285750" rtl="0">
              <a:buFont typeface="Arial" panose="020B0604020202020204" pitchFamily="34" charset="0"/>
              <a:buChar char="•"/>
            </a:pPr>
            <a:r>
              <a:rPr sz="1500" lang="es-419">
                <a:solidFill>
                  <a:srgbClr val="000000"/>
                </a:solidFill>
                <a:latin typeface="+mn-lt"/>
              </a:rPr>
              <a:t>Considere usar la Red de administración fuera de banda para administrar dispositivos.</a:t>
            </a:r>
          </a:p>
          <a:p>
            <a:pPr marL="285750" indent="-285750" rtl="0">
              <a:buFont typeface="Arial" panose="020B0604020202020204" pitchFamily="34" charset="0"/>
              <a:buChar char="•"/>
            </a:pPr>
            <a:r>
              <a:rPr sz="1500" lang="es-419">
                <a:solidFill>
                  <a:srgbClr val="000000"/>
                </a:solidFill>
                <a:latin typeface="+mn-lt"/>
              </a:rPr>
              <a:t>Use una VLAN de administración dedicada que solo aloje el tráfico de administración.</a:t>
            </a:r>
          </a:p>
          <a:p>
            <a:pPr marL="285750" indent="-285750" rtl="0">
              <a:buFont typeface="Arial" panose="020B0604020202020204" pitchFamily="34" charset="0"/>
              <a:buChar char="•"/>
            </a:pPr>
            <a:r>
              <a:rPr sz="1500" lang="es-419">
                <a:solidFill>
                  <a:srgbClr val="000000"/>
                </a:solidFill>
                <a:latin typeface="+mn-lt"/>
              </a:rPr>
              <a:t>Use ACL para filtrar el acceso no deseado.</a:t>
            </a:r>
          </a:p>
        </p:txBody>
      </p:sp>
    </p:spTree>
    <p:extLst>
      <p:ext uri="{BB962C8B-B14F-4D97-AF65-F5344CB8AC3E}">
        <p14:creationId xmlns:p14="http://schemas.microsoft.com/office/powerpoint/2010/main" val="108246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10.4 Ataque de tablas de direcciones MAC</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sz="1600" lang="es-419"/>
              <a:t>Ataque a la tabla de direcciones MAC</a:t>
            </a:r>
            <a:br>
              <a:rPr lang="en-US" dirty="0"/>
            </a:br>
            <a:r>
              <a:rPr sz="2400" lang="es-419"/>
              <a:t>Revisión de la operación del switch</a:t>
            </a:r>
          </a:p>
        </p:txBody>
      </p:sp>
      <p:sp>
        <p:nvSpPr>
          <p:cNvPr id="4" name="Content Placeholder 3">
            <a:extLst>
              <a:ext uri="{FF2B5EF4-FFF2-40B4-BE49-F238E27FC236}">
                <a16:creationId xmlns:a16="http://schemas.microsoft.com/office/drawing/2014/main" id="{46383689-36A9-814E-A9D3-28285BD1A65F}"/>
              </a:ext>
            </a:extLst>
          </p:cNvPr>
          <p:cNvSpPr>
            <a:spLocks noGrp="1"/>
          </p:cNvSpPr>
          <p:nvPr>
            <p:ph idx="1"/>
          </p:nvPr>
        </p:nvSpPr>
        <p:spPr>
          <a:xfrm>
            <a:off x="474662" y="763736"/>
            <a:ext cx="8280057" cy="1226989"/>
          </a:xfrm>
        </p:spPr>
        <p:txBody>
          <a:bodyPr/>
          <a:lstStyle/>
          <a:p>
            <a:pPr marL="0" indent="0" algn="l" rtl="0"/>
            <a:r>
              <a:rPr sz="1600" lang="es-419">
                <a:solidFill>
                  <a:srgbClr val="000000"/>
                </a:solidFill>
              </a:rPr>
              <a:t>Recuerde que para tomar decisiones de reenvío, un Switch LAN de capa 2 crea una tabla basada en las direcciones MAC de origen en las tramas recibidas. Esto se llama una tabla de direcciones MAC. Las tablas de direcciones MAC se almacenan en la memoria y se usan para cambiar switch frames más eficientemente.</a:t>
            </a:r>
          </a:p>
        </p:txBody>
      </p:sp>
      <p:pic>
        <p:nvPicPr>
          <p:cNvPr id="7" name="Picture 6">
            <a:extLst>
              <a:ext uri="{FF2B5EF4-FFF2-40B4-BE49-F238E27FC236}">
                <a16:creationId xmlns:a16="http://schemas.microsoft.com/office/drawing/2014/main" id="{BDD27C88-39C9-284B-8FEF-548FD631CC23}"/>
              </a:ext>
            </a:extLst>
          </p:cNvPr>
          <p:cNvPicPr>
            <a:picLocks noChangeAspect="1"/>
          </p:cNvPicPr>
          <p:nvPr/>
        </p:nvPicPr>
        <p:blipFill>
          <a:blip r:embed="rId3"/>
          <a:stretch>
            <a:fillRect/>
          </a:stretch>
        </p:blipFill>
        <p:spPr>
          <a:xfrm>
            <a:off x="1008653" y="2067647"/>
            <a:ext cx="7126695" cy="2078182"/>
          </a:xfrm>
          <a:prstGeom prst="rect">
            <a:avLst/>
          </a:prstGeom>
        </p:spPr>
      </p:pic>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sz="1600" lang="es-419"/>
              <a:t>Ataque a la tabla de direcciones MAC</a:t>
            </a:r>
            <a:br>
              <a:rPr lang="en-US" dirty="0"/>
            </a:br>
            <a:r>
              <a:rPr sz="2400" lang="es-419"/>
              <a:t>Inundación de la tabla de direcciones MAC</a:t>
            </a:r>
          </a:p>
        </p:txBody>
      </p:sp>
      <p:sp>
        <p:nvSpPr>
          <p:cNvPr id="4" name="Content Placeholder 3">
            <a:extLst>
              <a:ext uri="{FF2B5EF4-FFF2-40B4-BE49-F238E27FC236}">
                <a16:creationId xmlns:a16="http://schemas.microsoft.com/office/drawing/2014/main" id="{46383689-36A9-814E-A9D3-28285BD1A65F}"/>
              </a:ext>
            </a:extLst>
          </p:cNvPr>
          <p:cNvSpPr>
            <a:spLocks noGrp="1"/>
          </p:cNvSpPr>
          <p:nvPr>
            <p:ph idx="1"/>
          </p:nvPr>
        </p:nvSpPr>
        <p:spPr>
          <a:xfrm>
            <a:off x="474662" y="763736"/>
            <a:ext cx="8280057" cy="2563292"/>
          </a:xfrm>
        </p:spPr>
        <p:txBody>
          <a:bodyPr/>
          <a:lstStyle/>
          <a:p>
            <a:pPr marL="0" indent="0" algn="l" rtl="0"/>
            <a:r>
              <a:rPr sz="1600" lang="es-419">
                <a:solidFill>
                  <a:srgbClr val="000000"/>
                </a:solidFill>
              </a:rPr>
              <a:t>Todas las tablas MAC tiene un tamaño fijo por lo que un interruptor puede quedarse sin espacio para guardar direcciones MAC. Los ataques de inundación de direcciones MAC aprovechan esta limitación al bombardear el switch con direcciones MAC de origen falsas hasta que la tabla de direcciones MAC del switch esté llena.</a:t>
            </a:r>
          </a:p>
          <a:p>
            <a:pPr marL="0" indent="0" algn="l" rtl="0"/>
            <a:r>
              <a:rPr sz="1600" lang="es-419">
                <a:solidFill>
                  <a:srgbClr val="000000"/>
                </a:solidFill>
              </a:rPr>
              <a:t>Cuando esto ocurre, el switch trata el frame como una unidifusión desconocida y comienza a inundar todo el tráfico entrante por todos los puertos en la misma VLAN sin hacer referencia a la tabla MAC. Esta condición ahora permite que un atacantes capture todas las tramas enviadas desde un host a otro en la LAN local o VLAN local.</a:t>
            </a:r>
          </a:p>
          <a:p>
            <a:pPr marL="0" indent="0" algn="l" rtl="0"/>
            <a:r>
              <a:rPr sz="1400" b="true" lang="es-419">
                <a:solidFill>
                  <a:srgbClr val="000000"/>
                </a:solidFill>
              </a:rPr>
              <a:t>Nota</a:t>
            </a:r>
            <a:r>
              <a:rPr sz="1400" lang="es-419">
                <a:solidFill>
                  <a:srgbClr val="000000"/>
                </a:solidFill>
              </a:rPr>
              <a:t>: El tráfico se inunda solo dentro de la LAN o VLAN local. El atacante solo puede capturar el tráfico dentro de la LAN o VLAN local a la que está conectado el atacante.</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C0395C25-8E0B-6341-945A-114ACC3B9118}"/>
              </a:ext>
            </a:extLst>
          </p:cNvPr>
          <p:cNvPicPr>
            <a:picLocks noChangeAspect="1"/>
          </p:cNvPicPr>
          <p:nvPr/>
        </p:nvPicPr>
        <p:blipFill>
          <a:blip r:embed="rId3"/>
          <a:stretch>
            <a:fillRect/>
          </a:stretch>
        </p:blipFill>
        <p:spPr>
          <a:xfrm>
            <a:off x="1624698" y="3327028"/>
            <a:ext cx="4132133" cy="1534240"/>
          </a:xfrm>
          <a:prstGeom prst="rect">
            <a:avLst/>
          </a:prstGeom>
        </p:spPr>
      </p:pic>
    </p:spTree>
    <p:extLst>
      <p:ext uri="{BB962C8B-B14F-4D97-AF65-F5344CB8AC3E}">
        <p14:creationId xmlns:p14="http://schemas.microsoft.com/office/powerpoint/2010/main" val="3899849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sz="1600" lang="es-419"/>
              <a:t>Ataque a la tabla de direcciones MAC</a:t>
            </a:r>
            <a:br>
              <a:rPr lang="en-US" dirty="0"/>
            </a:br>
            <a:r>
              <a:rPr sz="2400" lang="es-419"/>
              <a:t>Mitigación de ataques de tabla de direcciones MAC</a:t>
            </a:r>
          </a:p>
        </p:txBody>
      </p:sp>
      <p:sp>
        <p:nvSpPr>
          <p:cNvPr id="4" name="Content Placeholder 3">
            <a:extLst>
              <a:ext uri="{FF2B5EF4-FFF2-40B4-BE49-F238E27FC236}">
                <a16:creationId xmlns:a16="http://schemas.microsoft.com/office/drawing/2014/main" id="{46383689-36A9-814E-A9D3-28285BD1A65F}"/>
              </a:ext>
            </a:extLst>
          </p:cNvPr>
          <p:cNvSpPr>
            <a:spLocks noGrp="1"/>
          </p:cNvSpPr>
          <p:nvPr>
            <p:ph idx="1"/>
          </p:nvPr>
        </p:nvSpPr>
        <p:spPr>
          <a:xfrm>
            <a:off x="474662" y="763736"/>
            <a:ext cx="8280057" cy="3657998"/>
          </a:xfrm>
        </p:spPr>
        <p:txBody>
          <a:bodyPr/>
          <a:lstStyle/>
          <a:p>
            <a:pPr marL="0" indent="0" algn="l" rtl="0"/>
            <a:r>
              <a:rPr sz="1600" lang="es-419">
                <a:solidFill>
                  <a:srgbClr val="000000"/>
                </a:solidFill>
              </a:rPr>
              <a:t>Lo que hace que herramientas como </a:t>
            </a:r>
            <a:r>
              <a:rPr sz="1600" b="true" lang="es-419">
                <a:solidFill>
                  <a:srgbClr val="000000"/>
                </a:solidFill>
              </a:rPr>
              <a:t>macof</a:t>
            </a:r>
            <a:r>
              <a:rPr sz="1600" lang="es-419">
                <a:solidFill>
                  <a:srgbClr val="000000"/>
                </a:solidFill>
              </a:rPr>
              <a:t>sean peligrosas, es que un atacante puede crear un ataque de desbordamiento de tabla MAC muy rápidamente. Por ejemplo, un switch Catalyst 6500 puede almacenar 132,000 direcciones MAC en su tabla de direcciones MAC. Una herramienta como </a:t>
            </a:r>
            <a:r>
              <a:rPr sz="1600" b="true" lang="es-419">
                <a:solidFill>
                  <a:srgbClr val="000000"/>
                </a:solidFill>
              </a:rPr>
              <a:t>macof</a:t>
            </a:r>
            <a:r>
              <a:rPr sz="1600" lang="es-419">
                <a:solidFill>
                  <a:srgbClr val="000000"/>
                </a:solidFill>
              </a:rPr>
              <a:t>puede inundar un interruptor con hasta 8,000 cuadros falsos por segundo; crear un ataque de desbordamiento de la tabla de direcciones MAC en cuestión de segundos.</a:t>
            </a:r>
          </a:p>
          <a:p>
            <a:pPr marL="0" indent="0" algn="l"/>
            <a:endParaRPr lang="en-US" sz="1600" dirty="0">
              <a:solidFill>
                <a:srgbClr val="000000"/>
              </a:solidFill>
            </a:endParaRPr>
          </a:p>
          <a:p>
            <a:pPr marL="0" indent="0" algn="l" rtl="0"/>
            <a:r>
              <a:rPr sz="1600" lang="es-419">
                <a:solidFill>
                  <a:srgbClr val="000000"/>
                </a:solidFill>
              </a:rPr>
              <a:t>Otra razón por la que estas herramientas de ataque son peligrosas es porque no sólo afectan el interruptor local sino que también afectan interruptores conectados de capa 2. Cuando la tabla de direcciones MAC de un switch está llena, comienza a desbordar todos los puertos, incluidos los conectados a otros switches de capa 2.</a:t>
            </a:r>
          </a:p>
          <a:p>
            <a:pPr marL="0" indent="0" algn="l"/>
            <a:endParaRPr lang="en-US" sz="1600" dirty="0">
              <a:solidFill>
                <a:srgbClr val="000000"/>
              </a:solidFill>
            </a:endParaRPr>
          </a:p>
          <a:p>
            <a:pPr marL="0" indent="0" algn="l" rtl="0"/>
            <a:r>
              <a:rPr sz="1600" lang="es-419">
                <a:solidFill>
                  <a:srgbClr val="000000"/>
                </a:solidFill>
              </a:rPr>
              <a:t>Para mitigar los ataques de desbordamiento de la tabla de direcciones MAC, los administradores de red deben implementar la seguridad del puerto. La seguridad de puertos (Port security) permitirá que el puerto aprenda sólo un número específico de fuentes de direcciones MAC. Seguridad de puertos (Port security) será discutido más adelante en otro módulo.</a:t>
            </a:r>
          </a:p>
        </p:txBody>
      </p:sp>
    </p:spTree>
    <p:extLst>
      <p:ext uri="{BB962C8B-B14F-4D97-AF65-F5344CB8AC3E}">
        <p14:creationId xmlns:p14="http://schemas.microsoft.com/office/powerpoint/2010/main" val="4196439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10.5 Ataques a la LAN</a:t>
            </a:r>
          </a:p>
        </p:txBody>
      </p:sp>
    </p:spTree>
    <p:custDataLst>
      <p:tags r:id="rId1"/>
    </p:custDataLst>
    <p:extLst>
      <p:ext uri="{BB962C8B-B14F-4D97-AF65-F5344CB8AC3E}">
        <p14:creationId xmlns:p14="http://schemas.microsoft.com/office/powerpoint/2010/main" val="2732502007"/>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sz="1600" lang="es-419"/>
              <a:t>Ataques LAN</a:t>
            </a:r>
            <a:br>
              <a:rPr lang="en-US" dirty="0"/>
            </a:br>
            <a:r>
              <a:rPr sz="2400" lang="es-419"/>
              <a:t>Video – VLAN y ataques DHCP</a:t>
            </a:r>
          </a:p>
        </p:txBody>
      </p:sp>
      <p:sp>
        <p:nvSpPr>
          <p:cNvPr id="5" name="Content Placeholder 4">
            <a:extLst>
              <a:ext uri="{FF2B5EF4-FFF2-40B4-BE49-F238E27FC236}">
                <a16:creationId xmlns:a16="http://schemas.microsoft.com/office/drawing/2014/main" id="{2A0034F6-AAB1-384F-9110-1C872704588C}"/>
              </a:ext>
            </a:extLst>
          </p:cNvPr>
          <p:cNvSpPr>
            <a:spLocks noGrp="1"/>
          </p:cNvSpPr>
          <p:nvPr>
            <p:ph idx="1"/>
          </p:nvPr>
        </p:nvSpPr>
        <p:spPr>
          <a:xfrm>
            <a:off x="474662" y="763736"/>
            <a:ext cx="8280057" cy="3657998"/>
          </a:xfrm>
        </p:spPr>
        <p:txBody>
          <a:bodyPr/>
          <a:lstStyle/>
          <a:p>
            <a:pPr algn="l" rtl="0"/>
            <a:r>
              <a:rPr sz="1800" lang="es-419">
                <a:solidFill>
                  <a:srgbClr val="000000"/>
                </a:solidFill>
              </a:rPr>
              <a:t>Este video cubrirá lo siguiente:</a:t>
            </a:r>
          </a:p>
          <a:p>
            <a:pPr marL="285750" indent="-285750" algn="l" rtl="0">
              <a:buFont typeface="Arial" panose="020B0604020202020204" pitchFamily="34" charset="0"/>
              <a:buChar char="•"/>
            </a:pPr>
            <a:r>
              <a:rPr sz="1800" lang="es-419">
                <a:solidFill>
                  <a:srgbClr val="000000"/>
                </a:solidFill>
              </a:rPr>
              <a:t>Ataque con salto de VLAN</a:t>
            </a:r>
          </a:p>
          <a:p>
            <a:pPr marL="285750" indent="-285750" algn="l" rtl="0">
              <a:buFont typeface="Arial" panose="020B0604020202020204" pitchFamily="34" charset="0"/>
              <a:buChar char="•"/>
            </a:pPr>
            <a:r>
              <a:rPr sz="1800" lang="es-419">
                <a:solidFill>
                  <a:srgbClr val="000000"/>
                </a:solidFill>
              </a:rPr>
              <a:t>Ataque de doble-etiqueta de VLAN</a:t>
            </a:r>
          </a:p>
          <a:p>
            <a:pPr marL="285750" indent="-285750" algn="l" rtl="0">
              <a:buFont typeface="Arial" panose="020B0604020202020204" pitchFamily="34" charset="0"/>
              <a:buChar char="•"/>
            </a:pPr>
            <a:r>
              <a:rPr sz="1800" lang="es-419">
                <a:solidFill>
                  <a:srgbClr val="000000"/>
                </a:solidFill>
              </a:rPr>
              <a:t>Ataque por agotamiento del DHCP</a:t>
            </a:r>
          </a:p>
          <a:p>
            <a:pPr marL="285750" indent="-285750" algn="l" rtl="0">
              <a:buFont typeface="Arial" panose="020B0604020202020204" pitchFamily="34" charset="0"/>
              <a:buChar char="•"/>
            </a:pPr>
            <a:r>
              <a:rPr sz="1800" lang="es-419">
                <a:solidFill>
                  <a:srgbClr val="000000"/>
                </a:solidFill>
              </a:rPr>
              <a:t>Ataque de suplantación de DHCP</a:t>
            </a:r>
          </a:p>
        </p:txBody>
      </p:sp>
    </p:spTree>
    <p:extLst>
      <p:ext uri="{BB962C8B-B14F-4D97-AF65-F5344CB8AC3E}">
        <p14:creationId xmlns:p14="http://schemas.microsoft.com/office/powerpoint/2010/main" val="3658379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sz="1600" lang="es-419"/>
              <a:t>Ataques LAN</a:t>
            </a:r>
            <a:br>
              <a:rPr lang="en-US" dirty="0"/>
            </a:br>
            <a:r>
              <a:rPr sz="2400" lang="es-419"/>
              <a:t>Ataques de salto de VLAN</a:t>
            </a:r>
          </a:p>
        </p:txBody>
      </p:sp>
      <p:sp>
        <p:nvSpPr>
          <p:cNvPr id="4" name="Content Placeholder 3">
            <a:extLst>
              <a:ext uri="{FF2B5EF4-FFF2-40B4-BE49-F238E27FC236}">
                <a16:creationId xmlns:a16="http://schemas.microsoft.com/office/drawing/2014/main" id="{3B0A4675-4A69-B140-965F-8EBF6E6ACFA6}"/>
              </a:ext>
            </a:extLst>
          </p:cNvPr>
          <p:cNvSpPr>
            <a:spLocks noGrp="1"/>
          </p:cNvSpPr>
          <p:nvPr>
            <p:ph idx="1"/>
          </p:nvPr>
        </p:nvSpPr>
        <p:spPr>
          <a:xfrm>
            <a:off x="200026" y="763736"/>
            <a:ext cx="4557326" cy="3657998"/>
          </a:xfrm>
        </p:spPr>
        <p:txBody>
          <a:bodyPr/>
          <a:lstStyle/>
          <a:p>
            <a:pPr marL="0" indent="0" algn="l" rtl="0"/>
            <a:r>
              <a:rPr sz="1500" lang="es-419">
                <a:solidFill>
                  <a:srgbClr val="000000"/>
                </a:solidFill>
              </a:rPr>
              <a:t>El salto de VLAN permite que otra VLAN pueda ver el tráfico de una VLAN sin cruzar primero un router. En un ataque de salto de VLAN básico, el atacante configura un host para que actúe como un switch, para aprovechar la función de puerto de enlace automático habilitada de forma predeterminada en la mayoría de los puertos del switch.</a:t>
            </a:r>
          </a:p>
          <a:p>
            <a:pPr marL="0" indent="0" algn="l"/>
            <a:endParaRPr lang="en-US" sz="1500" dirty="0">
              <a:solidFill>
                <a:srgbClr val="000000"/>
              </a:solidFill>
            </a:endParaRPr>
          </a:p>
          <a:p>
            <a:pPr marL="0" indent="0" algn="l" rtl="0"/>
            <a:r>
              <a:rPr sz="1500" lang="es-419">
                <a:solidFill>
                  <a:srgbClr val="000000"/>
                </a:solidFill>
              </a:rPr>
              <a:t>El atacante configura el host para falsificar la señalización 802.1Q y la señalización del Protocolo de enlace dinámico (DTP) propiedad de Cisco al enlace troncal con el switch de conexión. Si es exitoso, el switch establece un enlace troncal con el host, como se muestra en la figura. Ahora el actor amenazante puede acceder todas las VLANS en el switch. El atacante puede enviar y recibir tráfico en cualquier VLAN, saltando efectivamente entre las VLAN.</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15B65ED4-6166-0049-9C4F-C32B940BCD6D}"/>
              </a:ext>
            </a:extLst>
          </p:cNvPr>
          <p:cNvPicPr>
            <a:picLocks noChangeAspect="1"/>
          </p:cNvPicPr>
          <p:nvPr/>
        </p:nvPicPr>
        <p:blipFill>
          <a:blip r:embed="rId3"/>
          <a:stretch>
            <a:fillRect/>
          </a:stretch>
        </p:blipFill>
        <p:spPr>
          <a:xfrm>
            <a:off x="4876968" y="1305783"/>
            <a:ext cx="3996618" cy="2178822"/>
          </a:xfrm>
          <a:prstGeom prst="rect">
            <a:avLst/>
          </a:prstGeom>
        </p:spPr>
      </p:pic>
    </p:spTree>
    <p:extLst>
      <p:ext uri="{BB962C8B-B14F-4D97-AF65-F5344CB8AC3E}">
        <p14:creationId xmlns:p14="http://schemas.microsoft.com/office/powerpoint/2010/main" val="3049657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sz="1600" lang="es-419"/>
              <a:t>Ataques LAN</a:t>
            </a:r>
            <a:br>
              <a:rPr lang="en-US" dirty="0"/>
            </a:br>
            <a:r>
              <a:rPr sz="2400" lang="es-419"/>
              <a:t>Ataques de doble etiquetado de VLAN</a:t>
            </a:r>
          </a:p>
        </p:txBody>
      </p:sp>
      <p:sp>
        <p:nvSpPr>
          <p:cNvPr id="5" name="Content Placeholder 4">
            <a:extLst>
              <a:ext uri="{FF2B5EF4-FFF2-40B4-BE49-F238E27FC236}">
                <a16:creationId xmlns:a16="http://schemas.microsoft.com/office/drawing/2014/main" id="{673C65D5-FC37-3B43-A2FC-291F60391501}"/>
              </a:ext>
            </a:extLst>
          </p:cNvPr>
          <p:cNvSpPr>
            <a:spLocks noGrp="1"/>
          </p:cNvSpPr>
          <p:nvPr>
            <p:ph idx="1"/>
          </p:nvPr>
        </p:nvSpPr>
        <p:spPr>
          <a:xfrm>
            <a:off x="219076" y="763736"/>
            <a:ext cx="8535644" cy="3657998"/>
          </a:xfrm>
        </p:spPr>
        <p:txBody>
          <a:bodyPr/>
          <a:lstStyle/>
          <a:p>
            <a:pPr marL="0" indent="0" algn="l" rtl="0"/>
            <a:r>
              <a:rPr sz="1500" lang="es-419">
                <a:solidFill>
                  <a:srgbClr val="000000"/>
                </a:solidFill>
              </a:rPr>
              <a:t>Un atacantes de situaciones específicas que podrían incrustar una etiqueta 802.1Q oculta dentro del marco que ya tiene una etiqueta 802.1Q. Esta etiqueta permite que la trama se envíe a una VLAN que la etiqueta 802.1Q externa no especificó.</a:t>
            </a:r>
          </a:p>
          <a:p>
            <a:pPr marL="285750" indent="-285750" algn="l" rtl="0">
              <a:buFont typeface="Arial" panose="020B0604020202020204" pitchFamily="34" charset="0"/>
              <a:buChar char="•"/>
            </a:pPr>
            <a:r>
              <a:rPr sz="1500" b="true" lang="es-419">
                <a:solidFill>
                  <a:srgbClr val="000000"/>
                </a:solidFill>
              </a:rPr>
              <a:t>Paso 1: </a:t>
            </a:r>
            <a:r>
              <a:rPr sz="1500" lang="es-419">
                <a:solidFill>
                  <a:srgbClr val="000000"/>
                </a:solidFill>
              </a:rPr>
              <a:t>El atacante envía una trama 802.1Q de doble etiqueta al switch. El encabezado externo tiene la etiqueta VLAN del atacante, que es la misma que la VLAN nativa del puerto de enlace troncal.</a:t>
            </a:r>
          </a:p>
          <a:p>
            <a:pPr marL="285750" indent="-285750" algn="l" rtl="0">
              <a:buFont typeface="Arial" panose="020B0604020202020204" pitchFamily="34" charset="0"/>
              <a:buChar char="•"/>
            </a:pPr>
            <a:r>
              <a:rPr sz="1500" b="true" lang="es-419">
                <a:solidFill>
                  <a:srgbClr val="000000"/>
                </a:solidFill>
              </a:rPr>
              <a:t>Paso 2</a:t>
            </a:r>
            <a:r>
              <a:rPr sz="1500" lang="es-419">
                <a:solidFill>
                  <a:srgbClr val="000000"/>
                </a:solidFill>
              </a:rPr>
              <a:t>: El frame llega al primer switch, que mira la primera etiqueta 802.1Q de 4 bytes. El switch ve que el frame está destinado a la VLAN nativa. El switch reenvía el paquete a todos los puertos VLAN nativos después de quitar la etiqueta VLAN. El frame no es re etiquetada porque es parte de la VLAN nativa. En este punto, la etiqueta VLAN interna todavía está intacta y no ha sido inspeccionada por el primer switch.</a:t>
            </a:r>
          </a:p>
          <a:p>
            <a:pPr marL="285750" indent="-285750" algn="l" rtl="0">
              <a:buFont typeface="Arial" panose="020B0604020202020204" pitchFamily="34" charset="0"/>
              <a:buChar char="•"/>
            </a:pPr>
            <a:r>
              <a:rPr sz="1500" b="true" lang="es-419">
                <a:solidFill>
                  <a:srgbClr val="000000"/>
                </a:solidFill>
              </a:rPr>
              <a:t>Paso 3</a:t>
            </a:r>
            <a:r>
              <a:rPr sz="1500" lang="es-419">
                <a:solidFill>
                  <a:srgbClr val="000000"/>
                </a:solidFill>
              </a:rPr>
              <a:t>: La trama llega al segundo switch que no tiene conocimiento de que se suponía que era para la VLAN nativa. El switch emisor no etiqueta el tráfico de la VLAN nativa como se especifica en la especificación 802.1Q. El segundo switch solo mira la etiqueta interna 802.1Q que insertó el atacante y ve que el frame está destinado a la VLAN de destino. El segundo switch envía el paquete al puerto víctima o lo satura, dependiendo de si existe una entrada en la tabla de MAC para el host víctima.</a:t>
            </a:r>
          </a:p>
        </p:txBody>
      </p:sp>
    </p:spTree>
    <p:extLst>
      <p:ext uri="{BB962C8B-B14F-4D97-AF65-F5344CB8AC3E}">
        <p14:creationId xmlns:p14="http://schemas.microsoft.com/office/powerpoint/2010/main" val="2448834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sz="1600" lang="es-419"/>
              <a:t>Ataques LAN</a:t>
            </a:r>
            <a:br>
              <a:rPr lang="en-US" dirty="0"/>
            </a:br>
            <a:r>
              <a:rPr sz="2400" lang="es-419"/>
              <a:t>Ataque de doble-etiqueta de VLAN (Cont.)</a:t>
            </a:r>
          </a:p>
        </p:txBody>
      </p:sp>
      <p:sp>
        <p:nvSpPr>
          <p:cNvPr id="4" name="Content Placeholder 3">
            <a:extLst>
              <a:ext uri="{FF2B5EF4-FFF2-40B4-BE49-F238E27FC236}">
                <a16:creationId xmlns:a16="http://schemas.microsoft.com/office/drawing/2014/main" id="{F8ECADB4-1C1D-7B40-B8CF-8A1FA1C78DB6}"/>
              </a:ext>
            </a:extLst>
          </p:cNvPr>
          <p:cNvSpPr>
            <a:spLocks noGrp="1"/>
          </p:cNvSpPr>
          <p:nvPr>
            <p:ph idx="1"/>
          </p:nvPr>
        </p:nvSpPr>
        <p:spPr>
          <a:xfrm>
            <a:off x="474662" y="763736"/>
            <a:ext cx="8280057" cy="3657998"/>
          </a:xfrm>
        </p:spPr>
        <p:txBody>
          <a:bodyPr/>
          <a:lstStyle/>
          <a:p>
            <a:pPr marL="0" indent="0" algn="l" rtl="0"/>
            <a:r>
              <a:rPr sz="1600" lang="es-419">
                <a:solidFill>
                  <a:srgbClr val="000000"/>
                </a:solidFill>
              </a:rPr>
              <a:t>Un ataque doble-etiqueta a una VLAN es unidireccional y funciona únicamente cuando el atacante está conectado a un puerto que reside en la misma VLAN que la VLAN nativa del puerto troncal. La idea es que el doble etiquetado permite al atacante enviar datos a hosts o servidores en una VLAN que de otro modo se bloquearía por algún tipo de configuración de control de acceso. Presumiblemente, también se permitirá el tráfico de retorno, lo que le dará al atacante la capacidad de comunicarse con los dispositivos en la VLAN normalmente bloqueada.</a:t>
            </a:r>
          </a:p>
          <a:p>
            <a:pPr marL="0" indent="0" algn="l"/>
            <a:endParaRPr lang="en-US" sz="1600" dirty="0">
              <a:solidFill>
                <a:srgbClr val="000000"/>
              </a:solidFill>
            </a:endParaRPr>
          </a:p>
          <a:p>
            <a:pPr marL="0" indent="0" algn="l" rtl="0"/>
            <a:r>
              <a:rPr sz="1600" b="true" lang="es-419">
                <a:solidFill>
                  <a:srgbClr val="000000"/>
                </a:solidFill>
              </a:rPr>
              <a:t>Mitigación de ataque de VLAN: - </a:t>
            </a:r>
            <a:r>
              <a:rPr sz="1600" lang="es-419">
                <a:solidFill>
                  <a:srgbClr val="000000"/>
                </a:solidFill>
              </a:rPr>
              <a:t>se pueden evitar los saltos de VLAN y los ataques de doble etiquetado de VLAN mediante la implementación de las siguientes pautas de seguridad troncal, como se discutió en un módulo anterior:</a:t>
            </a:r>
          </a:p>
          <a:p>
            <a:pPr marL="415985" lvl="1" indent="-342900" rtl="0">
              <a:buFont typeface="Arial" panose="020B0604020202020204" pitchFamily="34" charset="0"/>
              <a:buChar char="•"/>
            </a:pPr>
            <a:r>
              <a:rPr sz="1600" lang="es-419">
                <a:solidFill>
                  <a:srgbClr val="000000"/>
                </a:solidFill>
              </a:rPr>
              <a:t>Deshabilitar troncal en todos los puertos de acceso.</a:t>
            </a:r>
          </a:p>
          <a:p>
            <a:pPr marL="415985" lvl="1" indent="-342900" rtl="0">
              <a:buFont typeface="Arial" panose="020B0604020202020204" pitchFamily="34" charset="0"/>
              <a:buChar char="•"/>
            </a:pPr>
            <a:r>
              <a:rPr sz="1600" lang="es-419">
                <a:solidFill>
                  <a:srgbClr val="000000"/>
                </a:solidFill>
              </a:rPr>
              <a:t>Deshabilitar troncal automático en enlaces troncales para poder habilitarlos de manera manual.</a:t>
            </a:r>
          </a:p>
          <a:p>
            <a:pPr marL="415985" lvl="1" indent="-342900" rtl="0">
              <a:buFont typeface="Arial" panose="020B0604020202020204" pitchFamily="34" charset="0"/>
              <a:buChar char="•"/>
            </a:pPr>
            <a:r>
              <a:rPr sz="1600" lang="es-419">
                <a:solidFill>
                  <a:srgbClr val="000000"/>
                </a:solidFill>
              </a:rPr>
              <a:t>Asegúrese de que la VLAN nativa solo se usa para los enlaces troncales.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139717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sz="1600" lang="es-419"/>
              <a:t>Ataques LAN</a:t>
            </a:r>
            <a:br>
              <a:rPr lang="en-US" dirty="0"/>
            </a:br>
            <a:r>
              <a:rPr sz="2400" lang="es-419"/>
              <a:t>Mensajes DHCP</a:t>
            </a:r>
          </a:p>
        </p:txBody>
      </p:sp>
      <p:sp>
        <p:nvSpPr>
          <p:cNvPr id="5" name="Content Placeholder 4">
            <a:extLst>
              <a:ext uri="{FF2B5EF4-FFF2-40B4-BE49-F238E27FC236}">
                <a16:creationId xmlns:a16="http://schemas.microsoft.com/office/drawing/2014/main" id="{A15A5F89-F3B9-DD46-896D-C4DF6594A77C}"/>
              </a:ext>
            </a:extLst>
          </p:cNvPr>
          <p:cNvSpPr>
            <a:spLocks noGrp="1"/>
          </p:cNvSpPr>
          <p:nvPr>
            <p:ph idx="1"/>
          </p:nvPr>
        </p:nvSpPr>
        <p:spPr>
          <a:xfrm>
            <a:off x="123826" y="763736"/>
            <a:ext cx="8630894" cy="752639"/>
          </a:xfrm>
        </p:spPr>
        <p:txBody>
          <a:bodyPr/>
          <a:lstStyle/>
          <a:p>
            <a:pPr marL="0" indent="0" algn="l" rtl="0"/>
            <a:r>
              <a:rPr sz="1600" lang="es-419">
                <a:solidFill>
                  <a:srgbClr val="000000"/>
                </a:solidFill>
              </a:rPr>
              <a:t>Los servidores DHCP proporcionan dinámicamente la información de configuración de IP a los clientes, como la dirección IP, la máscara de subred, el gateway predeterminado, los servidores DNS y más. En la figura se muestra una revisión de la secuencia del intercambio de mensajes DHCP entre el cliente y el servidor.</a:t>
            </a:r>
          </a:p>
        </p:txBody>
      </p:sp>
      <p:pic>
        <p:nvPicPr>
          <p:cNvPr id="2" name="Picture 1">
            <a:extLst>
              <a:ext uri="{FF2B5EF4-FFF2-40B4-BE49-F238E27FC236}">
                <a16:creationId xmlns:a16="http://schemas.microsoft.com/office/drawing/2014/main" id="{DA506D23-2044-4AB4-94F2-70B8DD874520}"/>
              </a:ext>
            </a:extLst>
          </p:cNvPr>
          <p:cNvPicPr>
            <a:picLocks noChangeAspect="1"/>
          </p:cNvPicPr>
          <p:nvPr/>
        </p:nvPicPr>
        <p:blipFill>
          <a:blip r:embed="rId3"/>
          <a:stretch>
            <a:fillRect/>
          </a:stretch>
        </p:blipFill>
        <p:spPr>
          <a:xfrm>
            <a:off x="1737392" y="1602100"/>
            <a:ext cx="4546853" cy="3177549"/>
          </a:xfrm>
          <a:prstGeom prst="rect">
            <a:avLst/>
          </a:prstGeom>
        </p:spPr>
      </p:pic>
    </p:spTree>
    <p:extLst>
      <p:ext uri="{BB962C8B-B14F-4D97-AF65-F5344CB8AC3E}">
        <p14:creationId xmlns:p14="http://schemas.microsoft.com/office/powerpoint/2010/main" val="388771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sz="1600" lang="es-419"/>
              <a:t>Ataques LAN</a:t>
            </a:r>
            <a:br>
              <a:rPr lang="en-US" dirty="0"/>
            </a:br>
            <a:r>
              <a:rPr sz="2400" lang="es-419"/>
              <a:t>Mensajes DHCP</a:t>
            </a:r>
          </a:p>
        </p:txBody>
      </p:sp>
      <p:sp>
        <p:nvSpPr>
          <p:cNvPr id="5" name="Content Placeholder 4">
            <a:extLst>
              <a:ext uri="{FF2B5EF4-FFF2-40B4-BE49-F238E27FC236}">
                <a16:creationId xmlns:a16="http://schemas.microsoft.com/office/drawing/2014/main" id="{A15A5F89-F3B9-DD46-896D-C4DF6594A77C}"/>
              </a:ext>
            </a:extLst>
          </p:cNvPr>
          <p:cNvSpPr>
            <a:spLocks noGrp="1"/>
          </p:cNvSpPr>
          <p:nvPr>
            <p:ph idx="1"/>
          </p:nvPr>
        </p:nvSpPr>
        <p:spPr>
          <a:xfrm>
            <a:off x="474662" y="763736"/>
            <a:ext cx="8280057" cy="3657998"/>
          </a:xfrm>
        </p:spPr>
        <p:txBody>
          <a:bodyPr/>
          <a:lstStyle/>
          <a:p>
            <a:pPr marL="0" indent="0" algn="l" rtl="0"/>
            <a:r>
              <a:rPr sz="1600" lang="es-419">
                <a:solidFill>
                  <a:srgbClr val="000000"/>
                </a:solidFill>
              </a:rPr>
              <a:t>Los dos tipos de ataques DHCP son inanición y suplantación de identidad. Ambos ataques pueden ser mitigados implementando DHCP snooping.</a:t>
            </a:r>
          </a:p>
          <a:p>
            <a:pPr marL="342900" indent="-342900" algn="l" rtl="0">
              <a:buFont typeface="Arial" panose="020B0604020202020204" pitchFamily="34" charset="0"/>
              <a:buChar char="•"/>
            </a:pPr>
            <a:r>
              <a:rPr sz="1600" b="true" lang="es-419">
                <a:solidFill>
                  <a:srgbClr val="000000"/>
                </a:solidFill>
              </a:rPr>
              <a:t>Ataque DHCP Starvation – </a:t>
            </a:r>
            <a:r>
              <a:rPr sz="1600" lang="es-419">
                <a:solidFill>
                  <a:srgbClr val="000000"/>
                </a:solidFill>
              </a:rPr>
              <a:t>el objetivo de este ataque es crear un DoS para conectar clientes. Los ataques de agotamiento de DHCP requieren una herramienta de ataque, como Gobbler. Gobbler tiene la capacidad de ver todo el alcance de las direcciones IP alquilables e intenta alquilarlas todas. Específicamente, este crea un mensaje DHCP de descubrimiento con una dirección MAC falsa.</a:t>
            </a:r>
          </a:p>
          <a:p>
            <a:pPr marL="342900" indent="-342900" algn="l" rtl="0">
              <a:buFont typeface="Arial" panose="020B0604020202020204" pitchFamily="34" charset="0"/>
              <a:buChar char="•"/>
            </a:pPr>
            <a:r>
              <a:rPr sz="1600" b="true" lang="es-419">
                <a:solidFill>
                  <a:srgbClr val="000000"/>
                </a:solidFill>
              </a:rPr>
              <a:t>Ataque de DHCP Spoofing – </a:t>
            </a:r>
            <a:r>
              <a:rPr sz="1600" lang="es-419">
                <a:solidFill>
                  <a:srgbClr val="000000"/>
                </a:solidFill>
              </a:rPr>
              <a:t>este</a:t>
            </a:r>
            <a:r>
              <a:rPr sz="1600" b="true" lang="es-419">
                <a:solidFill>
                  <a:srgbClr val="000000"/>
                </a:solidFill>
              </a:rPr>
              <a:t> </a:t>
            </a:r>
            <a:r>
              <a:rPr sz="1600" lang="es-419">
                <a:solidFill>
                  <a:srgbClr val="000000"/>
                </a:solidFill>
              </a:rPr>
              <a:t>ocurre cuando un servidor DHCP falso se conecta a la red y proporciona parámetros de configuración de IP falsos a clientes legítimos. Un servidor no autorizado puede proporcionar una variedad de información engañosa, que incluye lo siguiente:</a:t>
            </a:r>
          </a:p>
          <a:p>
            <a:pPr marL="489010" lvl="2" indent="-342900" rtl="0">
              <a:buFont typeface="Arial" panose="020B0604020202020204" pitchFamily="34" charset="0"/>
              <a:buChar char="•"/>
            </a:pPr>
            <a:r>
              <a:rPr b="true" lang="es-419">
                <a:solidFill>
                  <a:srgbClr val="000000"/>
                </a:solidFill>
              </a:rPr>
              <a:t>Puerta de enlace predeterminada incorrecta</a:t>
            </a:r>
            <a:r>
              <a:rPr lang="es-419">
                <a:solidFill>
                  <a:srgbClr val="000000"/>
                </a:solidFill>
              </a:rPr>
              <a:t>- el servidor fraudulento proporciona una puerta de enlace no válida o la dirección IP de su host para crear un ataque de hombre en el medio. Esto puede pasar totalmente inadvertido, ya que el intruso intercepta el flujo de datos por la red.</a:t>
            </a:r>
          </a:p>
          <a:p>
            <a:pPr marL="489010" lvl="2" indent="-342900" rtl="0">
              <a:buFont typeface="Arial" panose="020B0604020202020204" pitchFamily="34" charset="0"/>
              <a:buChar char="•"/>
            </a:pPr>
            <a:r>
              <a:rPr b="true" lang="es-419">
                <a:solidFill>
                  <a:srgbClr val="000000"/>
                </a:solidFill>
              </a:rPr>
              <a:t>Servidor DNS incorrecto</a:t>
            </a:r>
            <a:r>
              <a:rPr lang="es-419">
                <a:solidFill>
                  <a:srgbClr val="000000"/>
                </a:solidFill>
              </a:rPr>
              <a:t>- el servidor fraudulento proporciona una dirección del servidor DNS incorrecta que dirige al usuario a un sitio web malicioso.</a:t>
            </a:r>
          </a:p>
          <a:p>
            <a:pPr marL="489010" lvl="2" indent="-342900" rtl="0">
              <a:buFont typeface="Arial" panose="020B0604020202020204" pitchFamily="34" charset="0"/>
              <a:buChar char="•"/>
            </a:pPr>
            <a:r>
              <a:rPr b="true" lang="es-419">
                <a:solidFill>
                  <a:srgbClr val="000000"/>
                </a:solidFill>
              </a:rPr>
              <a:t>Dirección IP incorrecta</a:t>
            </a:r>
            <a:r>
              <a:rPr lang="es-419">
                <a:solidFill>
                  <a:srgbClr val="000000"/>
                </a:solidFill>
              </a:rPr>
              <a:t>- el servidor fraudulento proporciona una dirección IP no válida que crea efectivamente un ataque DoS en el cliente DHCP.</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77168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877300" cy="731837"/>
          </a:xfrm>
        </p:spPr>
        <p:txBody>
          <a:bodyPr/>
          <a:lstStyle/>
          <a:p>
            <a:pPr rtl="0"/>
            <a:r>
              <a:rPr sz="1600" lang="es-419"/>
              <a:t>Ataques LAN</a:t>
            </a:r>
            <a:br>
              <a:rPr lang="en-US" dirty="0"/>
            </a:br>
            <a:r>
              <a:rPr sz="2400" lang="es-419"/>
              <a:t>Video – Ataques ARP, Ataques STP y Reconocimiento CDP</a:t>
            </a:r>
          </a:p>
        </p:txBody>
      </p:sp>
      <p:sp>
        <p:nvSpPr>
          <p:cNvPr id="4" name="Content Placeholder 3">
            <a:extLst>
              <a:ext uri="{FF2B5EF4-FFF2-40B4-BE49-F238E27FC236}">
                <a16:creationId xmlns:a16="http://schemas.microsoft.com/office/drawing/2014/main" id="{17510519-66BC-9B41-A8DD-700F29EAFD09}"/>
              </a:ext>
            </a:extLst>
          </p:cNvPr>
          <p:cNvSpPr>
            <a:spLocks noGrp="1"/>
          </p:cNvSpPr>
          <p:nvPr>
            <p:ph idx="1"/>
          </p:nvPr>
        </p:nvSpPr>
        <p:spPr>
          <a:xfrm>
            <a:off x="474662" y="976184"/>
            <a:ext cx="8280057" cy="3445550"/>
          </a:xfrm>
        </p:spPr>
        <p:txBody>
          <a:bodyPr/>
          <a:lstStyle/>
          <a:p>
            <a:pPr algn="l" rtl="0"/>
            <a:r>
              <a:rPr sz="1800" lang="es-419">
                <a:solidFill>
                  <a:srgbClr val="000000"/>
                </a:solidFill>
              </a:rPr>
              <a:t>Este video cubrirá lo siguiente:</a:t>
            </a:r>
          </a:p>
          <a:p>
            <a:pPr marL="285750" indent="-285750" algn="l" rtl="0">
              <a:buFont typeface="Arial" panose="020B0604020202020204" pitchFamily="34" charset="0"/>
              <a:buChar char="•"/>
            </a:pPr>
            <a:r>
              <a:rPr sz="1800" lang="es-419">
                <a:solidFill>
                  <a:srgbClr val="000000"/>
                </a:solidFill>
              </a:rPr>
              <a:t>Ataque por suplantación de ARP</a:t>
            </a:r>
          </a:p>
          <a:p>
            <a:pPr marL="285750" indent="-285750" algn="l" rtl="0">
              <a:buFont typeface="Arial" panose="020B0604020202020204" pitchFamily="34" charset="0"/>
              <a:buChar char="•"/>
            </a:pPr>
            <a:r>
              <a:rPr sz="1800" lang="es-419">
                <a:solidFill>
                  <a:srgbClr val="000000"/>
                </a:solidFill>
              </a:rPr>
              <a:t>Ataque de envenenamiento ARP</a:t>
            </a:r>
          </a:p>
          <a:p>
            <a:pPr marL="285750" indent="-285750" algn="l" rtl="0">
              <a:buFont typeface="Arial" panose="020B0604020202020204" pitchFamily="34" charset="0"/>
              <a:buChar char="•"/>
            </a:pPr>
            <a:r>
              <a:rPr sz="1800" lang="es-419">
                <a:solidFill>
                  <a:srgbClr val="000000"/>
                </a:solidFill>
              </a:rPr>
              <a:t>Ataque de STP</a:t>
            </a:r>
          </a:p>
          <a:p>
            <a:pPr marL="285750" indent="-285750" algn="l" rtl="0">
              <a:buFont typeface="Arial" panose="020B0604020202020204" pitchFamily="34" charset="0"/>
              <a:buChar char="•"/>
            </a:pPr>
            <a:r>
              <a:rPr sz="1800" lang="es-419">
                <a:solidFill>
                  <a:srgbClr val="000000"/>
                </a:solidFill>
              </a:rPr>
              <a:t>Reconocimiento CDP</a:t>
            </a:r>
          </a:p>
        </p:txBody>
      </p:sp>
    </p:spTree>
    <p:extLst>
      <p:ext uri="{BB962C8B-B14F-4D97-AF65-F5344CB8AC3E}">
        <p14:creationId xmlns:p14="http://schemas.microsoft.com/office/powerpoint/2010/main" val="105177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sz="1600" lang="es-419"/>
              <a:t>Ataques LAN</a:t>
            </a:r>
            <a:br>
              <a:rPr lang="en-US" dirty="0"/>
            </a:br>
            <a:r>
              <a:rPr sz="2400" lang="es-419"/>
              <a:t>Mensajes DHCP</a:t>
            </a:r>
          </a:p>
        </p:txBody>
      </p:sp>
      <p:sp>
        <p:nvSpPr>
          <p:cNvPr id="5" name="Content Placeholder 4">
            <a:extLst>
              <a:ext uri="{FF2B5EF4-FFF2-40B4-BE49-F238E27FC236}">
                <a16:creationId xmlns:a16="http://schemas.microsoft.com/office/drawing/2014/main" id="{371C3F83-A506-0242-BF2F-B361DEA2DB2A}"/>
              </a:ext>
            </a:extLst>
          </p:cNvPr>
          <p:cNvSpPr>
            <a:spLocks noGrp="1"/>
          </p:cNvSpPr>
          <p:nvPr>
            <p:ph idx="1"/>
          </p:nvPr>
        </p:nvSpPr>
        <p:spPr>
          <a:xfrm>
            <a:off x="190500" y="763736"/>
            <a:ext cx="8564219" cy="3657998"/>
          </a:xfrm>
        </p:spPr>
        <p:txBody>
          <a:bodyPr/>
          <a:lstStyle/>
          <a:p>
            <a:pPr marL="285750" indent="-285750" algn="l" rtl="0">
              <a:buFont typeface="Arial" panose="020B0604020202020204" pitchFamily="34" charset="0"/>
              <a:buChar char="•"/>
            </a:pPr>
            <a:r>
              <a:rPr sz="1500" lang="es-419">
                <a:solidFill>
                  <a:srgbClr val="000000"/>
                </a:solidFill>
              </a:rPr>
              <a:t>Los hosts transmiten solicitudes ARP para determinar la dirección MAC de un host con una dirección IP de destino. Todos los hosts de la subred reciben y procesan la solicitud de ARP. El host con la dirección IP que coincide con la de la solicitud de ARP envía una respuesta de ARP.</a:t>
            </a:r>
          </a:p>
          <a:p>
            <a:pPr marL="285750" indent="-285750" algn="l" rtl="0">
              <a:buFont typeface="Arial" panose="020B0604020202020204" pitchFamily="34" charset="0"/>
              <a:buChar char="•"/>
            </a:pPr>
            <a:r>
              <a:rPr sz="1500" lang="es-419">
                <a:solidFill>
                  <a:srgbClr val="000000"/>
                </a:solidFill>
              </a:rPr>
              <a:t>Un cliente puede enviar una respuesta ARP no solicitada llamada "ARP gratuito". Otros hosts en la subred almacenan la dirección MAC y la dirección IP contenidas en el ARP gratuito en sus tablas ARP.</a:t>
            </a:r>
          </a:p>
          <a:p>
            <a:pPr marL="285750" indent="-285750" algn="l" rtl="0">
              <a:buFont typeface="Arial" panose="020B0604020202020204" pitchFamily="34" charset="0"/>
              <a:buChar char="•"/>
            </a:pPr>
            <a:r>
              <a:rPr sz="1500" lang="es-419">
                <a:solidFill>
                  <a:srgbClr val="000000"/>
                </a:solidFill>
              </a:rPr>
              <a:t>Un atacante puede enviar un mensaje ARP gratuito que contiene una dirección MAC falsificada a un switch, y el switch actualizaría su tabla MAC en consecuencia. En un ataque típico, un atacante envía respuestas ARP no solicitadas a otros hosts en la subred con la dirección MAC del atacante y la dirección IP de la puerta de enlace predeterminada, configurando efectivamente un ataque man-in-the-middle.</a:t>
            </a:r>
          </a:p>
          <a:p>
            <a:pPr marL="285750" indent="-285750" algn="l" rtl="0">
              <a:buFont typeface="Arial" panose="020B0604020202020204" pitchFamily="34" charset="0"/>
              <a:buChar char="•"/>
            </a:pPr>
            <a:r>
              <a:rPr sz="1500" lang="es-419">
                <a:solidFill>
                  <a:srgbClr val="000000"/>
                </a:solidFill>
              </a:rPr>
              <a:t>Hay muchas herramientas disponibles en Internet para crear ataques ARP man-in-the-middle. </a:t>
            </a:r>
          </a:p>
          <a:p>
            <a:pPr marL="285750" indent="-285750" algn="l" rtl="0">
              <a:buFont typeface="Arial" panose="020B0604020202020204" pitchFamily="34" charset="0"/>
              <a:buChar char="•"/>
            </a:pPr>
            <a:r>
              <a:rPr sz="1500" lang="es-419">
                <a:solidFill>
                  <a:srgbClr val="000000"/>
                </a:solidFill>
              </a:rPr>
              <a:t>IPv6 utiliza el protocolo de descubrimiento de vecinos ICMPv6 para la resolución de direcciones de capa 2. IPv6 utiliza el protocolo de descubrimiento de vecinos ICMPv6 para la resolución de direcciones de capa 2.</a:t>
            </a:r>
          </a:p>
          <a:p>
            <a:pPr marL="285750" indent="-285750" algn="l" rtl="0">
              <a:buFont typeface="Arial" panose="020B0604020202020204" pitchFamily="34" charset="0"/>
              <a:buChar char="•"/>
            </a:pPr>
            <a:r>
              <a:rPr sz="1500" lang="es-419">
                <a:solidFill>
                  <a:srgbClr val="000000"/>
                </a:solidFill>
              </a:rPr>
              <a:t>La falsificación de ARP y la intoxicación por ARP se mitigan mediante la implementación de la inspección dinámica de ARP (DAI).</a:t>
            </a:r>
          </a:p>
        </p:txBody>
      </p:sp>
    </p:spTree>
    <p:extLst>
      <p:ext uri="{BB962C8B-B14F-4D97-AF65-F5344CB8AC3E}">
        <p14:creationId xmlns:p14="http://schemas.microsoft.com/office/powerpoint/2010/main" val="3407594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sz="1600" lang="es-419"/>
              <a:t>Ataques LAN</a:t>
            </a:r>
            <a:br>
              <a:rPr lang="en-US" dirty="0"/>
            </a:br>
            <a:r>
              <a:rPr sz="2400" lang="es-419"/>
              <a:t>Ataques de suplantación de dirección</a:t>
            </a:r>
          </a:p>
        </p:txBody>
      </p:sp>
      <p:sp>
        <p:nvSpPr>
          <p:cNvPr id="4" name="Content Placeholder 3">
            <a:extLst>
              <a:ext uri="{FF2B5EF4-FFF2-40B4-BE49-F238E27FC236}">
                <a16:creationId xmlns:a16="http://schemas.microsoft.com/office/drawing/2014/main" id="{373D34F0-E38F-B844-AA88-B413EE3F1B3E}"/>
              </a:ext>
            </a:extLst>
          </p:cNvPr>
          <p:cNvSpPr>
            <a:spLocks noGrp="1"/>
          </p:cNvSpPr>
          <p:nvPr>
            <p:ph idx="1"/>
          </p:nvPr>
        </p:nvSpPr>
        <p:spPr>
          <a:xfrm>
            <a:off x="474662" y="763736"/>
            <a:ext cx="8280057" cy="3657998"/>
          </a:xfrm>
        </p:spPr>
        <p:txBody>
          <a:bodyPr/>
          <a:lstStyle/>
          <a:p>
            <a:pPr marL="285750" indent="-285750" algn="l" rtl="0">
              <a:buFont typeface="Arial" panose="020B0604020202020204" pitchFamily="34" charset="0"/>
              <a:buChar char="•"/>
            </a:pPr>
            <a:r>
              <a:rPr sz="1600" lang="es-419">
                <a:solidFill>
                  <a:srgbClr val="000000"/>
                </a:solidFill>
              </a:rPr>
              <a:t>La suplantación de direcciones IP es cuando un atacante secuestra una dirección IP válida de otro dispositivo en la subred o usa una dirección IP aleatoria. La suplantación de direcciones IP es difícil de mitigar, especialmente cuando se usa dentro de una subred a la que pertenece la IP.</a:t>
            </a:r>
          </a:p>
          <a:p>
            <a:pPr marL="285750" indent="-285750" algn="l" rtl="0">
              <a:buFont typeface="Arial" panose="020B0604020202020204" pitchFamily="34" charset="0"/>
              <a:buChar char="•"/>
            </a:pPr>
            <a:r>
              <a:rPr sz="1600" lang="es-419">
                <a:solidFill>
                  <a:srgbClr val="000000"/>
                </a:solidFill>
              </a:rPr>
              <a:t>Los agentes de amenaza cambian la dirección MAC de su host para que coincida con otra dirección MAC conocida de un host de destino. El switch sobrescribe la entrada actual de la tabla MAC y asigna la dirección MAC al nuevo puerto. Luego, sin darse cuenta, reenvía las tramas destinados al host objetivo al host atacante.</a:t>
            </a:r>
          </a:p>
          <a:p>
            <a:pPr marL="285750" indent="-285750" algn="l" rtl="0">
              <a:buFont typeface="Arial" panose="020B0604020202020204" pitchFamily="34" charset="0"/>
              <a:buChar char="•"/>
            </a:pPr>
            <a:r>
              <a:rPr sz="1600" lang="es-419">
                <a:solidFill>
                  <a:srgbClr val="000000"/>
                </a:solidFill>
              </a:rPr>
              <a:t>Cuando el host de destino envía tráfico, el switch corregirá el error, realineando la dirección MAC al puerto original. Para evitar que el switch devuelva la asignación del puerto a su estado correcto, el atacante puede crear un programa o script que constantemente enviará tramas al switch para que el switch mantenga la información incorrecta o falsificada. </a:t>
            </a:r>
          </a:p>
          <a:p>
            <a:pPr marL="285750" indent="-285750" algn="l" rtl="0">
              <a:buFont typeface="Arial" panose="020B0604020202020204" pitchFamily="34" charset="0"/>
              <a:buChar char="•"/>
            </a:pPr>
            <a:r>
              <a:rPr sz="1600" lang="es-419">
                <a:solidFill>
                  <a:srgbClr val="000000"/>
                </a:solidFill>
              </a:rPr>
              <a:t>No hay un mecanismo de seguridad en la capa 2 que permita a un switch verificar la fuente de las direcciones MAC, que es lo que lo hace tan vulnerable a la suplantación de identidad.</a:t>
            </a:r>
          </a:p>
          <a:p>
            <a:pPr marL="285750" indent="-285750" algn="l" rtl="0">
              <a:buFont typeface="Arial" panose="020B0604020202020204" pitchFamily="34" charset="0"/>
              <a:buChar char="•"/>
            </a:pPr>
            <a:r>
              <a:rPr sz="1600" lang="es-419">
                <a:solidFill>
                  <a:srgbClr val="000000"/>
                </a:solidFill>
              </a:rPr>
              <a:t>La suplantación de direcciones IP y MAC se puede mitigar mediante la implementación de IP Source Guard (IPSG).</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877671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sz="1600" lang="es-419"/>
              <a:t>Ataques LAN</a:t>
            </a:r>
            <a:br>
              <a:rPr lang="en-US" dirty="0"/>
            </a:br>
            <a:r>
              <a:rPr sz="2400" lang="es-419"/>
              <a:t>Ataques STP</a:t>
            </a:r>
          </a:p>
        </p:txBody>
      </p:sp>
      <p:sp>
        <p:nvSpPr>
          <p:cNvPr id="5" name="Content Placeholder 4">
            <a:extLst>
              <a:ext uri="{FF2B5EF4-FFF2-40B4-BE49-F238E27FC236}">
                <a16:creationId xmlns:a16="http://schemas.microsoft.com/office/drawing/2014/main" id="{1E60B676-C5AA-DE4E-B9AF-6229A101D707}"/>
              </a:ext>
            </a:extLst>
          </p:cNvPr>
          <p:cNvSpPr>
            <a:spLocks noGrp="1"/>
          </p:cNvSpPr>
          <p:nvPr>
            <p:ph idx="1"/>
          </p:nvPr>
        </p:nvSpPr>
        <p:spPr>
          <a:xfrm>
            <a:off x="474662" y="763736"/>
            <a:ext cx="8280057" cy="3657998"/>
          </a:xfrm>
        </p:spPr>
        <p:txBody>
          <a:bodyPr/>
          <a:lstStyle/>
          <a:p>
            <a:pPr marL="285750" indent="-285750" algn="l" rtl="0">
              <a:buFont typeface="Arial" panose="020B0604020202020204" pitchFamily="34" charset="0"/>
              <a:buChar char="•"/>
            </a:pPr>
            <a:r>
              <a:rPr sz="1600" lang="es-419">
                <a:solidFill>
                  <a:srgbClr val="000000"/>
                </a:solidFill>
              </a:rPr>
              <a:t>Los atacantes de red pueden manipular el Protocolo de árbol de expansión (STP) para realizar un ataque falsificando el puente raíz y cambiando la topología de una red. Los atacantes pueden capturar todo el tráfico para el dominio del switch inmediato.</a:t>
            </a:r>
          </a:p>
          <a:p>
            <a:pPr marL="285750" indent="-285750" algn="l" rtl="0">
              <a:buFont typeface="Arial" panose="020B0604020202020204" pitchFamily="34" charset="0"/>
              <a:buChar char="•"/>
            </a:pPr>
            <a:r>
              <a:rPr sz="1600" lang="es-419">
                <a:solidFill>
                  <a:srgbClr val="000000"/>
                </a:solidFill>
              </a:rPr>
              <a:t>Para realizar un ataque de manipulación de STP, el host atacante transmite unidades de datos de protocolo de puente STP (BPDU) que contienen cambios de configuración y topología que forzarán los recálculos de árbol de expansión. Las BPDU enviadas por el host atacante anuncian una prioridad de puente inferior en un intento de ser elegidas como root bridge.</a:t>
            </a:r>
          </a:p>
          <a:p>
            <a:pPr marL="285750" indent="-285750" algn="l" rtl="0">
              <a:buFont typeface="Arial" panose="020B0604020202020204" pitchFamily="34" charset="0"/>
              <a:buChar char="•"/>
            </a:pPr>
            <a:r>
              <a:rPr sz="1600" lang="es-419">
                <a:solidFill>
                  <a:srgbClr val="000000"/>
                </a:solidFill>
              </a:rPr>
              <a:t>Este ataque STP es mitigado implementando BPDU guard en todos los puertos de acceso. BPDU Guard se discute con más detalle más adelante en el curso.</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4118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sz="1600" lang="es-419"/>
              <a:t>Ataques LAN</a:t>
            </a:r>
            <a:br>
              <a:rPr lang="en-US" dirty="0"/>
            </a:br>
            <a:r>
              <a:rPr sz="2400" lang="es-419"/>
              <a:t>Reconocimiento CDP</a:t>
            </a:r>
          </a:p>
        </p:txBody>
      </p:sp>
      <p:sp>
        <p:nvSpPr>
          <p:cNvPr id="5" name="Content Placeholder 4">
            <a:extLst>
              <a:ext uri="{FF2B5EF4-FFF2-40B4-BE49-F238E27FC236}">
                <a16:creationId xmlns:a16="http://schemas.microsoft.com/office/drawing/2014/main" id="{1E60B676-C5AA-DE4E-B9AF-6229A101D707}"/>
              </a:ext>
            </a:extLst>
          </p:cNvPr>
          <p:cNvSpPr>
            <a:spLocks noGrp="1"/>
          </p:cNvSpPr>
          <p:nvPr>
            <p:ph idx="1"/>
          </p:nvPr>
        </p:nvSpPr>
        <p:spPr>
          <a:xfrm>
            <a:off x="161925" y="763736"/>
            <a:ext cx="8896349" cy="3657998"/>
          </a:xfrm>
        </p:spPr>
        <p:txBody>
          <a:bodyPr/>
          <a:lstStyle/>
          <a:p>
            <a:pPr marL="0" indent="0" algn="l" rtl="0"/>
            <a:r>
              <a:rPr sz="1600" lang="es-419">
                <a:solidFill>
                  <a:srgbClr val="000000"/>
                </a:solidFill>
              </a:rPr>
              <a:t>Cisco Discovery Protocol (CDP) es un protocolo de detección de enlaces de capa 2 patentado. Está habilitado en todos los dispositivos de Cisco de manera predeterminada. Los administradores de red también usan CDP para configurar dispositivos de red y solucionar problemas. La información de CDP se envía a través de puertos habilitados para CDP en transmisiones periódicas, sin cifrar y sin autenticar. La información de CDP incluye la dirección IP del dispositivo, la versión de software de IOS, la plataforma, las funcionalidades y la VLAN nativa. El dispositivo que recibe el mensaje de CDP actualiza la base de datos de CDP.</a:t>
            </a:r>
          </a:p>
          <a:p>
            <a:pPr marL="0" indent="0" algn="l"/>
            <a:endParaRPr lang="en-US" sz="1400" dirty="0">
              <a:solidFill>
                <a:srgbClr val="000000"/>
              </a:solidFill>
            </a:endParaRPr>
          </a:p>
          <a:p>
            <a:pPr marL="0" indent="0" algn="l" rtl="0"/>
            <a:r>
              <a:rPr sz="1600" lang="es-419">
                <a:solidFill>
                  <a:srgbClr val="000000"/>
                </a:solidFill>
              </a:rPr>
              <a:t>Para mitigar la explotación de CDP, se debe limitar el uso de CDP en los dispositivos o puertos. Por ejemplo, se debe deshabilitar CDP en los puertos de extremo que se conectan a dispositivos no confiables.</a:t>
            </a:r>
          </a:p>
          <a:p>
            <a:pPr marL="415985" lvl="1" indent="-342900" rtl="0">
              <a:buFont typeface="Arial" panose="020B0604020202020204" pitchFamily="34" charset="0"/>
              <a:buChar char="•"/>
            </a:pPr>
            <a:r>
              <a:rPr sz="1600" lang="es-419">
                <a:solidFill>
                  <a:srgbClr val="000000"/>
                </a:solidFill>
              </a:rPr>
              <a:t>Para deshabilitar CDP globalmente en un dispositivo, use el comando </a:t>
            </a:r>
            <a:r>
              <a:rPr sz="1600" b="true" lang="es-419">
                <a:solidFill>
                  <a:srgbClr val="000000"/>
                </a:solidFill>
              </a:rPr>
              <a:t>no cdp run</a:t>
            </a:r>
            <a:r>
              <a:rPr sz="1600" lang="es-419">
                <a:solidFill>
                  <a:srgbClr val="000000"/>
                </a:solidFill>
              </a:rPr>
              <a:t> Para habilitar CDP globalmente, use el comando </a:t>
            </a:r>
            <a:r>
              <a:rPr sz="1600" b="true" lang="es-419">
                <a:solidFill>
                  <a:srgbClr val="000000"/>
                </a:solidFill>
              </a:rPr>
              <a:t>cdp run</a:t>
            </a:r>
            <a:r>
              <a:rPr sz="1600" lang="es-419">
                <a:solidFill>
                  <a:srgbClr val="000000"/>
                </a:solidFill>
              </a:rPr>
              <a:t>.</a:t>
            </a:r>
          </a:p>
          <a:p>
            <a:pPr marL="415985" lvl="1" indent="-342900" rtl="0">
              <a:buFont typeface="Arial" panose="020B0604020202020204" pitchFamily="34" charset="0"/>
              <a:buChar char="•"/>
            </a:pPr>
            <a:r>
              <a:rPr sz="1600" lang="es-419">
                <a:solidFill>
                  <a:srgbClr val="000000"/>
                </a:solidFill>
              </a:rPr>
              <a:t>Para deshabilitar CDP en un puerto, use el comando de configuración de interfaz </a:t>
            </a:r>
            <a:r>
              <a:rPr sz="1600" b="true" lang="es-419">
                <a:solidFill>
                  <a:srgbClr val="000000"/>
                </a:solidFill>
              </a:rPr>
              <a:t>no cdp enable</a:t>
            </a:r>
            <a:r>
              <a:rPr sz="1600" lang="es-419">
                <a:solidFill>
                  <a:srgbClr val="000000"/>
                </a:solidFill>
              </a:rPr>
              <a:t>. Para habilitar CDP en un puerto, use el comando de configuración de interfaz </a:t>
            </a:r>
            <a:r>
              <a:rPr sz="1600" b="true" lang="es-419">
                <a:solidFill>
                  <a:srgbClr val="000000"/>
                </a:solidFill>
              </a:rPr>
              <a:t>cdp enable</a:t>
            </a:r>
            <a:r>
              <a:rPr sz="1600" lang="es-419">
                <a:solidFill>
                  <a:srgbClr val="000000"/>
                </a:solidFill>
              </a:rPr>
              <a:t>.</a:t>
            </a:r>
          </a:p>
          <a:p>
            <a:pPr marL="0" indent="0" algn="l" rtl="0"/>
            <a:r>
              <a:rPr sz="1200" b="true" lang="es-419">
                <a:solidFill>
                  <a:srgbClr val="000000"/>
                </a:solidFill>
              </a:rPr>
              <a:t>Nota</a:t>
            </a:r>
            <a:r>
              <a:rPr sz="1200" lang="es-419">
                <a:solidFill>
                  <a:srgbClr val="000000"/>
                </a:solidFill>
              </a:rPr>
              <a:t>: Link Layer Discovery Protocol (LLDP) también es vulnerable a los ataques de reconocimiento. Configure </a:t>
            </a:r>
            <a:r>
              <a:rPr sz="1200" b="true" lang="es-419">
                <a:solidFill>
                  <a:srgbClr val="000000"/>
                </a:solidFill>
              </a:rPr>
              <a:t>no lldp run</a:t>
            </a:r>
            <a:r>
              <a:rPr sz="1200" lang="es-419">
                <a:solidFill>
                  <a:srgbClr val="000000"/>
                </a:solidFill>
              </a:rPr>
              <a:t>para deshabilitar LLDP globalmente. Para deshabilitar LLDP en la interfaz, configure </a:t>
            </a:r>
            <a:r>
              <a:rPr sz="1200" b="true" lang="es-419">
                <a:solidFill>
                  <a:srgbClr val="000000"/>
                </a:solidFill>
              </a:rPr>
              <a:t>no lldp transmit</a:t>
            </a:r>
            <a:r>
              <a:rPr sz="1200" lang="es-419">
                <a:solidFill>
                  <a:srgbClr val="000000"/>
                </a:solidFill>
              </a:rPr>
              <a:t> y</a:t>
            </a:r>
            <a:r>
              <a:rPr sz="1200" b="true" lang="es-419">
                <a:solidFill>
                  <a:srgbClr val="000000"/>
                </a:solidFill>
              </a:rPr>
              <a:t>no lldp receive</a:t>
            </a:r>
            <a:r>
              <a:rPr sz="1200" lang="es-419">
                <a:solidFill>
                  <a:srgbClr val="000000"/>
                </a:solidFill>
              </a:rPr>
              <a:t>.</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825526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10.6 Módulo de práctica y cuestionario</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sz="1400" lang="es-419">
                <a:latin typeface="Arial" charset="0"/>
              </a:rPr>
              <a:t>Práctica del módulo y cuestionario</a:t>
            </a:r>
            <a:br>
              <a:rPr lang="en-US" dirty="0">
                <a:latin typeface="Arial" charset="0"/>
              </a:rPr>
            </a:br>
            <a:r>
              <a:rPr lang="es-419">
                <a:latin typeface="Arial" charset="0"/>
              </a:rPr>
              <a:t>¿Qué aprendí en este módulo?</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a:xfrm>
            <a:off x="145357" y="675119"/>
            <a:ext cx="8853286" cy="4155319"/>
          </a:xfrm>
        </p:spPr>
        <p:txBody>
          <a:bodyPr/>
          <a:lstStyle/>
          <a:p>
            <a:pPr rtl="0">
              <a:spcBef>
                <a:spcPts val="0"/>
              </a:spcBef>
              <a:spcAft>
                <a:spcPts val="0"/>
              </a:spcAft>
              <a:buFont typeface="Arial" panose="020B0604020202020204" pitchFamily="34" charset="0"/>
              <a:buChar char="•"/>
            </a:pPr>
            <a:r>
              <a:rPr sz="1600" lang="es-419"/>
              <a:t>Las terminales son particularmente susceptibles a ataques malware que se originan a través de correo electrónico o el navegador web, como DDOS, filtración de datos y malware. Estos puntos terminales suelen utilizar características de seguridad tradicionales basadas en host, como antivirus / antimalware, firewalls basados en host y sistemas de prevención de intrusiones (HIPS) basados en host. Los puntos terminales están mejor protegidos por una combinación de NAC, software AMP basado en host, un dispositivo de seguridad de correo electrónico (ESA) y un dispositivo de seguridad web (WSA).</a:t>
            </a:r>
          </a:p>
          <a:p>
            <a:pPr rtl="0">
              <a:spcBef>
                <a:spcPts val="0"/>
              </a:spcBef>
              <a:spcAft>
                <a:spcPts val="0"/>
              </a:spcAft>
              <a:buFont typeface="Arial" panose="020B0604020202020204" pitchFamily="34" charset="0"/>
              <a:buChar char="•"/>
            </a:pPr>
            <a:r>
              <a:rPr sz="1600" lang="es-419"/>
              <a:t>AAA es un modo de controlar quién tiene permitido acceder a una red (autenticar), controlar lo que las personas pueden hacer mientras se encuentran allí (autorizar) y qué acciones realizan mientras acceden a la red (contabilizar).</a:t>
            </a:r>
          </a:p>
          <a:p>
            <a:pPr rtl="0">
              <a:spcBef>
                <a:spcPts val="0"/>
              </a:spcBef>
              <a:spcAft>
                <a:spcPts val="0"/>
              </a:spcAft>
              <a:buFont typeface="Arial" panose="020B0604020202020204" pitchFamily="34" charset="0"/>
              <a:buChar char="•"/>
            </a:pPr>
            <a:r>
              <a:rPr sz="1600" lang="es-419"/>
              <a:t>El estándar IEEE 802.1X define un control de acceso y un protocolo de autenticación basado en puertos que evita que las estaciones de trabajo no autorizadas se conecten a una LAN a través de los puertos de switch acceso público.</a:t>
            </a:r>
          </a:p>
          <a:p>
            <a:pPr rtl="0">
              <a:spcBef>
                <a:spcPts val="0"/>
              </a:spcBef>
              <a:spcAft>
                <a:spcPts val="0"/>
              </a:spcAft>
              <a:buFont typeface="Arial" panose="020B0604020202020204" pitchFamily="34" charset="0"/>
              <a:buChar char="•"/>
            </a:pPr>
            <a:r>
              <a:rPr sz="1600" lang="es-419"/>
              <a:t>Si la capa 2 se ve comprometida, todas las capas superiores también se ven afectadas. El primer paso para mitigar los ataques a la infraestructura de capa2 es comprender el funcionamiento subyacente de la capa2 y las amenazas de la infraestructura de capa 2: Port Security, DHCP snooping, DAI, y IPSG. No funcionarán a menos que los protocolos de administración estén asegurados.</a:t>
            </a:r>
          </a:p>
          <a:p>
            <a:pPr marL="0" indent="0">
              <a:spcBef>
                <a:spcPts val="0"/>
              </a:spcBef>
              <a:spcAft>
                <a:spcPts val="0"/>
              </a:spcAft>
              <a:buNone/>
            </a:pPr>
            <a:endParaRPr lang="en-US" sz="14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sz="1400" lang="es-419">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sz="1600" lang="es-419"/>
              <a:t>Los ataques por saturación de MAC se aprovechan de esta limitación con direcciones MAC de origen falsas que colman la tabla de direcciones MAC del switch y saturan el switch.</a:t>
            </a:r>
          </a:p>
          <a:p>
            <a:pPr rtl="0">
              <a:spcBef>
                <a:spcPts val="0"/>
              </a:spcBef>
              <a:spcAft>
                <a:spcPts val="0"/>
              </a:spcAft>
              <a:buFont typeface="Arial" panose="020B0604020202020204" pitchFamily="34" charset="0"/>
              <a:buChar char="•"/>
            </a:pPr>
            <a:r>
              <a:rPr sz="1600" lang="es-419"/>
              <a:t>El salto de VLAN permite que otra VLAN pueda ver el tráfico de una VLAN sin cruzar primero un router.</a:t>
            </a:r>
          </a:p>
          <a:p>
            <a:pPr rtl="0">
              <a:spcBef>
                <a:spcPts val="0"/>
              </a:spcBef>
              <a:spcAft>
                <a:spcPts val="0"/>
              </a:spcAft>
              <a:buFont typeface="Arial" panose="020B0604020202020204" pitchFamily="34" charset="0"/>
              <a:buChar char="•"/>
            </a:pPr>
            <a:r>
              <a:rPr sz="1600" lang="es-419"/>
              <a:t>Un ataque doble-etiqueta a una VLAN es unidireccional y funciona únicamente cuando el atacante está conectado a un puerto que reside en la misma VLAN que la VLAN nativa del puerto troncal.</a:t>
            </a:r>
          </a:p>
          <a:p>
            <a:pPr rtl="0">
              <a:buFont typeface="Arial" panose="020B0604020202020204" pitchFamily="34" charset="0"/>
              <a:buChar char="•"/>
            </a:pPr>
            <a:r>
              <a:rPr sz="1600" lang="es-419"/>
              <a:t>El salto de VLAN y los ataques de doble etiquetado de VLAN se pueden evitar mediante la implementación de las siguientes pautas de seguridad troncal:</a:t>
            </a:r>
          </a:p>
          <a:p>
            <a:pPr lvl="1" rtl="0">
              <a:buFont typeface="Arial" panose="020B0604020202020204" pitchFamily="34" charset="0"/>
              <a:buChar char="•"/>
            </a:pPr>
            <a:r>
              <a:rPr sz="1600" lang="es-419"/>
              <a:t>Deshabilitar troncal en todos los puertos de acceso.</a:t>
            </a:r>
          </a:p>
          <a:p>
            <a:pPr lvl="1" rtl="0">
              <a:buFont typeface="Arial" panose="020B0604020202020204" pitchFamily="34" charset="0"/>
              <a:buChar char="•"/>
            </a:pPr>
            <a:r>
              <a:rPr sz="1600" lang="es-419"/>
              <a:t>Deshabilitar troncal automático en enlaces troncales para poder habilitarlos de manera manual.</a:t>
            </a:r>
          </a:p>
          <a:p>
            <a:pPr lvl="1" rtl="0">
              <a:buFont typeface="Arial" panose="020B0604020202020204" pitchFamily="34" charset="0"/>
              <a:buChar char="•"/>
            </a:pPr>
            <a:r>
              <a:rPr sz="1600" lang="es-419"/>
              <a:t>Asegúrese de que la VLAN nativa solo se use para los enlaces troncales.</a:t>
            </a:r>
          </a:p>
          <a:p>
            <a:pPr rtl="0">
              <a:spcBef>
                <a:spcPts val="0"/>
              </a:spcBef>
              <a:spcAft>
                <a:spcPts val="0"/>
              </a:spcAft>
              <a:buFont typeface="Arial" panose="020B0604020202020204" pitchFamily="34" charset="0"/>
              <a:buChar char="•"/>
            </a:pPr>
            <a:r>
              <a:rPr sz="1600" lang="es-419"/>
              <a:t>Los dos tipos de ataques DHCP son inanición y suplantación de identidad. Ambos ataques pueden ser mitigados implementando DHCP snooping.</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257687084"/>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sz="1400" lang="es-419">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a:xfrm>
            <a:off x="104775" y="798944"/>
            <a:ext cx="9039224" cy="4155319"/>
          </a:xfrm>
        </p:spPr>
        <p:txBody>
          <a:bodyPr/>
          <a:lstStyle/>
          <a:p>
            <a:pPr rtl="0">
              <a:spcBef>
                <a:spcPts val="0"/>
              </a:spcBef>
              <a:spcAft>
                <a:spcPts val="0"/>
              </a:spcAft>
              <a:buFont typeface="Arial" panose="020B0604020202020204" pitchFamily="34" charset="0"/>
              <a:buChar char="•"/>
            </a:pPr>
            <a:r>
              <a:rPr lang="es-419"/>
              <a:t>Ataque ARP: un atacante puede enviar un mensaje ARP gratuito al switch y el switch podría actualizar su tabla MAC de acuerdo a esto. Ahora el atacante envía respuestas ARP no solicitadas a otros hosts en la subred con la dirección MAC del atacante y la dirección IP de la puerta de enlace predeterminada. La suplantación de identidad ARP y el envenenamiento ARP son mitigados implementando DAI.</a:t>
            </a:r>
          </a:p>
          <a:p>
            <a:pPr rtl="0">
              <a:spcBef>
                <a:spcPts val="0"/>
              </a:spcBef>
              <a:spcAft>
                <a:spcPts val="0"/>
              </a:spcAft>
              <a:buFont typeface="Arial" panose="020B0604020202020204" pitchFamily="34" charset="0"/>
              <a:buChar char="•"/>
            </a:pPr>
            <a:r>
              <a:rPr lang="es-419"/>
              <a:t>Abordando el ataque de suplantación de identidad; la suplantación de identidad de una dirección IP es cuando un atacante secuestra una dirección IP valida de otro dispositivo en la subred o usa una dirección IP AL azar. Los agentes de amenaza cambian la dirección MAC de su host para que coincida con otra dirección MAC conocida de un host de destino. La suplantación de identidad de direcciones IP y direcciones MAC puede ser mitigada implementado IPSG.</a:t>
            </a:r>
          </a:p>
          <a:p>
            <a:pPr rtl="0">
              <a:spcBef>
                <a:spcPts val="0"/>
              </a:spcBef>
              <a:spcAft>
                <a:spcPts val="0"/>
              </a:spcAft>
              <a:buFont typeface="Arial" panose="020B0604020202020204" pitchFamily="34" charset="0"/>
              <a:buChar char="•"/>
            </a:pPr>
            <a:r>
              <a:rPr lang="es-419"/>
              <a:t>Ataque STP; el amenazante manipula STP para conducir un ataque suplantando puente de ruta y cambiando la topología de la red. Los actores de amenazas hacen que su host aparezca como un puente de ruta; por lo tanto capturan todo el trafico para el dominio del Switch inmediato. Este ataque STP es mitigado implementando BPDU Guard en todos los puertos de acceso.</a:t>
            </a:r>
          </a:p>
          <a:p>
            <a:pPr rtl="0">
              <a:spcBef>
                <a:spcPts val="0"/>
              </a:spcBef>
              <a:spcAft>
                <a:spcPts val="0"/>
              </a:spcAft>
              <a:buFont typeface="Arial" panose="020B0604020202020204" pitchFamily="34" charset="0"/>
              <a:buChar char="•"/>
            </a:pPr>
            <a:r>
              <a:rPr lang="es-419"/>
              <a:t>La información de CDP se envía por los puertos con CDP habilitado en transmisiones periódicas sin encriptar. La información de CDP incluye la dirección IP del dispositivo, la versión de software de IOS, la plataforma, las funcionalidades y la VLAN nativa. El dispositivo que recibe el mensaje CDP actualiza su base de datos CDP, la información suministrada por el CDP puede también ser usada por un atacante para descubrir vulnerabilidades en la infraestructura de la red. Para mitigar la explotación de CDP, se debe limitar el uso de CDP en los dispositivos o puertos.</a:t>
            </a:r>
          </a:p>
        </p:txBody>
      </p:sp>
    </p:spTree>
    <p:custDataLst>
      <p:tags r:id="rId1"/>
    </p:custDataLst>
    <p:extLst>
      <p:ext uri="{BB962C8B-B14F-4D97-AF65-F5344CB8AC3E}">
        <p14:creationId xmlns:p14="http://schemas.microsoft.com/office/powerpoint/2010/main" val="876704659"/>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rtl="0"/>
            <a:r>
              <a:rPr sz="1400" lang="es-419">
                <a:latin typeface="Arial" charset="0"/>
              </a:rPr>
              <a:t>Module 10: LAN Security Concepts</a:t>
            </a:r>
            <a:br>
              <a:rPr lang="en-US" dirty="0">
                <a:latin typeface="Arial" charset="0"/>
              </a:rPr>
            </a:br>
            <a:r>
              <a:rPr lang="es-419">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53304" y="650451"/>
            <a:ext cx="3012161" cy="3954032"/>
          </a:xfrm>
          <a:ln>
            <a:solidFill>
              <a:srgbClr val="000000"/>
            </a:solidFill>
          </a:ln>
        </p:spPr>
        <p:txBody>
          <a:bodyPr/>
          <a:lstStyle/>
          <a:p>
            <a:pPr rtl="0">
              <a:buFont typeface="Arial" panose="020B0604020202020204" pitchFamily="34" charset="0"/>
              <a:buChar char="•"/>
            </a:pPr>
            <a:r>
              <a:rPr sz="1200" lang="es-419"/>
              <a:t>Data Breach</a:t>
            </a:r>
          </a:p>
          <a:p>
            <a:pPr rtl="0">
              <a:buFont typeface="Arial" panose="020B0604020202020204" pitchFamily="34" charset="0"/>
              <a:buChar char="•"/>
            </a:pPr>
            <a:r>
              <a:rPr sz="1200" lang="es-419"/>
              <a:t>Malware</a:t>
            </a:r>
          </a:p>
          <a:p>
            <a:pPr rtl="0">
              <a:buFont typeface="Arial" panose="020B0604020202020204" pitchFamily="34" charset="0"/>
              <a:buChar char="•"/>
            </a:pPr>
            <a:r>
              <a:rPr sz="1200" lang="es-419"/>
              <a:t>Next-Generation Firewall (NGFW)</a:t>
            </a:r>
          </a:p>
          <a:p>
            <a:pPr rtl="0">
              <a:buFont typeface="Arial" panose="020B0604020202020204" pitchFamily="34" charset="0"/>
              <a:buChar char="•"/>
            </a:pPr>
            <a:r>
              <a:rPr sz="1200" lang="es-419"/>
              <a:t>Next-Generation IPS (NGIPS)</a:t>
            </a:r>
          </a:p>
          <a:p>
            <a:pPr rtl="0">
              <a:buFont typeface="Arial" panose="020B0604020202020204" pitchFamily="34" charset="0"/>
              <a:buChar char="•"/>
            </a:pPr>
            <a:r>
              <a:rPr sz="1200" lang="es-419"/>
              <a:t>Advanced Malware Protection (AMP)</a:t>
            </a:r>
          </a:p>
          <a:p>
            <a:pPr rtl="0">
              <a:buFont typeface="Arial" panose="020B0604020202020204" pitchFamily="34" charset="0"/>
              <a:buChar char="•"/>
            </a:pPr>
            <a:r>
              <a:rPr sz="1200" lang="es-419"/>
              <a:t>Authentication, Authorization, Accounting (AAA)</a:t>
            </a:r>
          </a:p>
          <a:p>
            <a:pPr rtl="0">
              <a:buFont typeface="Arial" panose="020B0604020202020204" pitchFamily="34" charset="0"/>
              <a:buChar char="•"/>
            </a:pPr>
            <a:r>
              <a:rPr sz="1200" lang="es-419"/>
              <a:t>Identity Services Engine (ISE)</a:t>
            </a:r>
          </a:p>
          <a:p>
            <a:pPr rtl="0">
              <a:buFont typeface="Arial" panose="020B0604020202020204" pitchFamily="34" charset="0"/>
              <a:buChar char="•"/>
            </a:pPr>
            <a:r>
              <a:rPr sz="1200" lang="es-419"/>
              <a:t>Host-Based Intrusion Prevention System (HIPS)</a:t>
            </a:r>
          </a:p>
          <a:p>
            <a:pPr rtl="0">
              <a:buFont typeface="Arial" panose="020B0604020202020204" pitchFamily="34" charset="0"/>
              <a:buChar char="•"/>
            </a:pPr>
            <a:r>
              <a:rPr sz="1200" lang="es-419"/>
              <a:t>Email Security Appliance (ESA)</a:t>
            </a:r>
          </a:p>
          <a:p>
            <a:pPr rtl="0">
              <a:buFont typeface="Arial" panose="020B0604020202020204" pitchFamily="34" charset="0"/>
              <a:buChar char="•"/>
            </a:pPr>
            <a:r>
              <a:rPr sz="1200" lang="es-419"/>
              <a:t>Web Security Appliance (WSA)</a:t>
            </a:r>
          </a:p>
        </p:txBody>
      </p:sp>
      <p:sp>
        <p:nvSpPr>
          <p:cNvPr id="4" name="Content Placeholder 2">
            <a:extLst>
              <a:ext uri="{FF2B5EF4-FFF2-40B4-BE49-F238E27FC236}">
                <a16:creationId xmlns:a16="http://schemas.microsoft.com/office/drawing/2014/main" id="{17310FB2-2675-6243-8961-B699776A281B}"/>
              </a:ext>
            </a:extLst>
          </p:cNvPr>
          <p:cNvSpPr txBox="1">
            <a:spLocks/>
          </p:cNvSpPr>
          <p:nvPr/>
        </p:nvSpPr>
        <p:spPr bwMode="auto">
          <a:xfrm>
            <a:off x="3165465" y="650450"/>
            <a:ext cx="3008470" cy="395403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sz="1200" b="true" lang="es-419"/>
              <a:t>login {local}</a:t>
            </a:r>
          </a:p>
          <a:p>
            <a:pPr rtl="0">
              <a:buFont typeface="Arial" panose="020B0604020202020204" pitchFamily="34" charset="0"/>
              <a:buChar char="•"/>
            </a:pPr>
            <a:r>
              <a:rPr sz="1200" lang="es-419"/>
              <a:t>Remote Authentication Dial-In User Service (RADIUS)</a:t>
            </a:r>
          </a:p>
          <a:p>
            <a:pPr rtl="0">
              <a:buFont typeface="Arial" panose="020B0604020202020204" pitchFamily="34" charset="0"/>
              <a:buChar char="•"/>
            </a:pPr>
            <a:r>
              <a:rPr sz="1200" lang="es-419"/>
              <a:t>Terminal Access Controller Access Control System (TACACS+)</a:t>
            </a:r>
          </a:p>
          <a:p>
            <a:pPr rtl="0">
              <a:buFont typeface="Arial" panose="020B0604020202020204" pitchFamily="34" charset="0"/>
              <a:buChar char="•"/>
            </a:pPr>
            <a:r>
              <a:rPr sz="1200" lang="es-419"/>
              <a:t>IEEE 802.1X</a:t>
            </a:r>
          </a:p>
          <a:p>
            <a:pPr rtl="0">
              <a:buFont typeface="Arial" panose="020B0604020202020204" pitchFamily="34" charset="0"/>
              <a:buChar char="•"/>
            </a:pPr>
            <a:r>
              <a:rPr sz="1200" lang="es-419"/>
              <a:t>Client (Supplicant)</a:t>
            </a:r>
          </a:p>
          <a:p>
            <a:pPr rtl="0">
              <a:buFont typeface="Arial" panose="020B0604020202020204" pitchFamily="34" charset="0"/>
              <a:buChar char="•"/>
            </a:pPr>
            <a:r>
              <a:rPr sz="1200" lang="es-419"/>
              <a:t>Authenticator</a:t>
            </a:r>
          </a:p>
          <a:p>
            <a:pPr rtl="0">
              <a:buFont typeface="Arial" panose="020B0604020202020204" pitchFamily="34" charset="0"/>
              <a:buChar char="•"/>
            </a:pPr>
            <a:r>
              <a:rPr sz="1200" lang="es-419"/>
              <a:t>Port Security</a:t>
            </a:r>
          </a:p>
          <a:p>
            <a:pPr rtl="0">
              <a:buFont typeface="Arial" panose="020B0604020202020204" pitchFamily="34" charset="0"/>
              <a:buChar char="•"/>
            </a:pPr>
            <a:r>
              <a:rPr sz="1200" lang="es-419"/>
              <a:t>DHCP Snooping</a:t>
            </a:r>
          </a:p>
          <a:p>
            <a:pPr rtl="0">
              <a:buFont typeface="Arial" panose="020B0604020202020204" pitchFamily="34" charset="0"/>
              <a:buChar char="•"/>
            </a:pPr>
            <a:r>
              <a:rPr sz="1200" lang="es-419"/>
              <a:t>Dynamic ARP Inspection (DAI)</a:t>
            </a:r>
          </a:p>
          <a:p>
            <a:pPr rtl="0">
              <a:buFont typeface="Arial" panose="020B0604020202020204" pitchFamily="34" charset="0"/>
              <a:buChar char="•"/>
            </a:pPr>
            <a:r>
              <a:rPr sz="1200" lang="es-419"/>
              <a:t>IP Source Guard (IPSG)</a:t>
            </a:r>
          </a:p>
        </p:txBody>
      </p:sp>
      <p:sp>
        <p:nvSpPr>
          <p:cNvPr id="5" name="Content Placeholder 2">
            <a:extLst>
              <a:ext uri="{FF2B5EF4-FFF2-40B4-BE49-F238E27FC236}">
                <a16:creationId xmlns:a16="http://schemas.microsoft.com/office/drawing/2014/main" id="{4657C230-E5EA-407D-AA95-B2AB3E279AC9}"/>
              </a:ext>
            </a:extLst>
          </p:cNvPr>
          <p:cNvSpPr txBox="1">
            <a:spLocks/>
          </p:cNvSpPr>
          <p:nvPr/>
        </p:nvSpPr>
        <p:spPr bwMode="auto">
          <a:xfrm>
            <a:off x="6173935" y="650450"/>
            <a:ext cx="2798616" cy="395403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sz="1200" lang="es-419"/>
              <a:t>VLAN Hopping</a:t>
            </a:r>
          </a:p>
          <a:p>
            <a:pPr rtl="0">
              <a:buFont typeface="Arial" panose="020B0604020202020204" pitchFamily="34" charset="0"/>
              <a:buChar char="•"/>
            </a:pPr>
            <a:r>
              <a:rPr sz="1200" lang="es-419"/>
              <a:t>VLAN Double-Tagging</a:t>
            </a:r>
          </a:p>
          <a:p>
            <a:pPr rtl="0">
              <a:buFont typeface="Arial" panose="020B0604020202020204" pitchFamily="34" charset="0"/>
              <a:buChar char="•"/>
            </a:pPr>
            <a:r>
              <a:rPr sz="1200" lang="es-419"/>
              <a:t>DHCP Starvation</a:t>
            </a:r>
          </a:p>
          <a:p>
            <a:pPr rtl="0">
              <a:buFont typeface="Arial" panose="020B0604020202020204" pitchFamily="34" charset="0"/>
              <a:buChar char="•"/>
            </a:pPr>
            <a:r>
              <a:rPr sz="1200" lang="es-419"/>
              <a:t>DHCP Spoofing</a:t>
            </a:r>
          </a:p>
          <a:p>
            <a:pPr rtl="0">
              <a:buFont typeface="Arial" panose="020B0604020202020204" pitchFamily="34" charset="0"/>
              <a:buChar char="•"/>
            </a:pPr>
            <a:r>
              <a:rPr sz="1200" lang="es-419"/>
              <a:t>Gratuitous ARP</a:t>
            </a:r>
          </a:p>
          <a:p>
            <a:pPr rtl="0">
              <a:buFont typeface="Arial" panose="020B0604020202020204" pitchFamily="34" charset="0"/>
              <a:buChar char="•"/>
            </a:pPr>
            <a:r>
              <a:rPr sz="1200" lang="es-419"/>
              <a:t>ARP Spoofing</a:t>
            </a:r>
          </a:p>
          <a:p>
            <a:pPr rtl="0">
              <a:buFont typeface="Arial" panose="020B0604020202020204" pitchFamily="34" charset="0"/>
              <a:buChar char="•"/>
            </a:pPr>
            <a:r>
              <a:rPr sz="1200" lang="es-419"/>
              <a:t>ARP Poisoning</a:t>
            </a:r>
          </a:p>
          <a:p>
            <a:pPr rtl="0">
              <a:buFont typeface="Arial" panose="020B0604020202020204" pitchFamily="34" charset="0"/>
              <a:buChar char="•"/>
            </a:pPr>
            <a:r>
              <a:rPr sz="1200" lang="es-419"/>
              <a:t>Cisco Discovery Protocol (CDP)</a:t>
            </a:r>
          </a:p>
          <a:p>
            <a:pPr rtl="0">
              <a:buFont typeface="Arial" panose="020B0604020202020204" pitchFamily="34" charset="0"/>
              <a:buChar char="•"/>
            </a:pPr>
            <a:r>
              <a:rPr sz="1200" b="true" lang="es-419"/>
              <a:t>no cdp run</a:t>
            </a:r>
          </a:p>
          <a:p>
            <a:pPr rtl="0">
              <a:buFont typeface="Arial" panose="020B0604020202020204" pitchFamily="34" charset="0"/>
              <a:buChar char="•"/>
            </a:pPr>
            <a:r>
              <a:rPr sz="1200" b="true" lang="es-419"/>
              <a:t>no cdp enable</a:t>
            </a:r>
          </a:p>
          <a:p>
            <a:pPr rtl="0">
              <a:buFont typeface="Arial" panose="020B0604020202020204" pitchFamily="34" charset="0"/>
              <a:buChar char="•"/>
            </a:pPr>
            <a:r>
              <a:rPr sz="1200" b="true" lang="es-419"/>
              <a:t>no lldp run</a:t>
            </a:r>
          </a:p>
          <a:p>
            <a:pPr rtl="0">
              <a:buFont typeface="Arial" panose="020B0604020202020204" pitchFamily="34" charset="0"/>
              <a:buChar char="•"/>
            </a:pPr>
            <a:r>
              <a:rPr sz="1200" b="true" lang="es-419"/>
              <a:t>no lldp transmit | receive</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4499</TotalTime>
  <Words>5502</Words>
  <Application>Microsoft Office PowerPoint</Application>
  <PresentationFormat>On-screen Show (16:9)</PresentationFormat>
  <Paragraphs>543</Paragraphs>
  <Slides>49</Slides>
  <Notes>47</Notes>
  <HiddenSlides>8</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CiscoSans ExtraLight</vt:lpstr>
      <vt:lpstr>Wingdings</vt:lpstr>
      <vt:lpstr>Default Theme</vt:lpstr>
      <vt:lpstr>Module 10: LAN Security Concepts</vt:lpstr>
      <vt:lpstr>Instructor Materials – Module 10 Planning Guide</vt:lpstr>
      <vt:lpstr>What to Expect in this Module</vt:lpstr>
      <vt:lpstr>What to Expect in this Module (Cont.)</vt:lpstr>
      <vt:lpstr>Check Your Understanding</vt:lpstr>
      <vt:lpstr>Module 10: Activities</vt:lpstr>
      <vt:lpstr>Module 10: Best Practices</vt:lpstr>
      <vt:lpstr>Module 10: Best Practices (Cont.)</vt:lpstr>
      <vt:lpstr>Module 10: LAN Security Concepts</vt:lpstr>
      <vt:lpstr>Module Objectives</vt:lpstr>
      <vt:lpstr>10.1 Endpoint Security</vt:lpstr>
      <vt:lpstr>Endpoint Security Network Attacks Today</vt:lpstr>
      <vt:lpstr>Endpoint Security Network Security Devices</vt:lpstr>
      <vt:lpstr>Endpoint Security Endpoint Protection</vt:lpstr>
      <vt:lpstr>Endpoint Security Cisco Email Security Appliance</vt:lpstr>
      <vt:lpstr>Endpoint Security Cisco Web Security Appliance</vt:lpstr>
      <vt:lpstr>10.2 Access Control</vt:lpstr>
      <vt:lpstr>Access Control Authentication with a Local Password</vt:lpstr>
      <vt:lpstr>Access Control AAA Components</vt:lpstr>
      <vt:lpstr>Access Control Authentication</vt:lpstr>
      <vt:lpstr>Access Control Authorization</vt:lpstr>
      <vt:lpstr>Access Control Accounting</vt:lpstr>
      <vt:lpstr>Access Control 802.1X</vt:lpstr>
      <vt:lpstr>10.3 Layer 2 Security Threats</vt:lpstr>
      <vt:lpstr>Layer 2 Security Threats Layer 2 Vulnerabilities</vt:lpstr>
      <vt:lpstr>Layer 2 Security Threats Switch Attack Categories</vt:lpstr>
      <vt:lpstr>Layer 2 Security Threats Switch Attack Mitigation Techniques</vt:lpstr>
      <vt:lpstr>10.4 MAC Address Table Attack</vt:lpstr>
      <vt:lpstr>MAC Address Table Attack Switch Operation Review</vt:lpstr>
      <vt:lpstr>MAC Address Table Attack MAC Address Table Flooding</vt:lpstr>
      <vt:lpstr>MAC Address Table Attack MAC Address Table Attack Mitigation</vt:lpstr>
      <vt:lpstr>10.5 LAN Attacks</vt:lpstr>
      <vt:lpstr>LAN Attacks Video – VLAN and DHCP Attacks</vt:lpstr>
      <vt:lpstr>LAN Attacks VLAN Hopping Attacks</vt:lpstr>
      <vt:lpstr>LAN Attacks VLAN Double-Tagging Attacks</vt:lpstr>
      <vt:lpstr>LAN Attacks VLAN Double-Tagging Attacks (Cont.)</vt:lpstr>
      <vt:lpstr>LAN Attacks DHCP Messages</vt:lpstr>
      <vt:lpstr>LAN Attacks DHCP Attacks</vt:lpstr>
      <vt:lpstr>LAN Attacks Video – ARP Attacks, STP Attacks, and CDP Reconnaissance</vt:lpstr>
      <vt:lpstr>LAN Attacks ARP Attacks</vt:lpstr>
      <vt:lpstr>LAN Attacks Address Spoofing Attacks</vt:lpstr>
      <vt:lpstr>LAN Attacks STP Attack</vt:lpstr>
      <vt:lpstr>LAN Attacks CDP Reconnaissance</vt:lpstr>
      <vt:lpstr>10.6 Module Practice and Quiz</vt:lpstr>
      <vt:lpstr>Module Practice and Quiz What Did I Learn In This Module?</vt:lpstr>
      <vt:lpstr>Module Practice and Quiz What Did I Learn In This Module? (Cont.)</vt:lpstr>
      <vt:lpstr>Module Practice and Quiz What Did I Learn In This Module? (Cont.)</vt:lpstr>
      <vt:lpstr>Module 10: LAN Security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Sue Livingston -X (suliving - UNICON INC at Cisco)</cp:lastModifiedBy>
  <cp:revision>284</cp:revision>
  <dcterms:created xsi:type="dcterms:W3CDTF">2019-10-18T06:21:22Z</dcterms:created>
  <dcterms:modified xsi:type="dcterms:W3CDTF">2019-12-06T17:14:44Z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