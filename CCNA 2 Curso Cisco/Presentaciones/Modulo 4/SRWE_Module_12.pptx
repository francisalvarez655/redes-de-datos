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ppt/tags/tag12.xml" ContentType="application/vnd.openxmlformats-officedocument.presentationml.tags+xml"/>
  <Override PartName="/ppt/notesSlides/notesSlide9.xml" ContentType="application/vnd.openxmlformats-officedocument.presentationml.notesSlide+xml"/>
  <Override PartName="/ppt/tags/tag13.xml" ContentType="application/vnd.openxmlformats-officedocument.presentationml.tags+xml"/>
  <Override PartName="/ppt/notesSlides/notesSlide10.xml" ContentType="application/vnd.openxmlformats-officedocument.presentationml.notesSlide+xml"/>
  <Override PartName="/ppt/tags/tag14.xml" ContentType="application/vnd.openxmlformats-officedocument.presentationml.tags+xml"/>
  <Override PartName="/ppt/notesSlides/notesSlide11.xml" ContentType="application/vnd.openxmlformats-officedocument.presentationml.notesSlide+xml"/>
  <Override PartName="/ppt/tags/tag1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7.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19.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20.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22.xml" ContentType="application/vnd.openxmlformats-officedocument.presentationml.tags+xml"/>
  <Override PartName="/ppt/notesSlides/notesSlide62.xml" ContentType="application/vnd.openxmlformats-officedocument.presentationml.notesSlide+xml"/>
  <Override PartName="/ppt/tags/tag23.xml" ContentType="application/vnd.openxmlformats-officedocument.presentationml.tags+xml"/>
  <Override PartName="/ppt/notesSlides/notesSlide63.xml" ContentType="application/vnd.openxmlformats-officedocument.presentationml.notesSlide+xml"/>
  <Override PartName="/ppt/tags/tag24.xml" ContentType="application/vnd.openxmlformats-officedocument.presentationml.tags+xml"/>
  <Override PartName="/ppt/notesSlides/notesSlide64.xml" ContentType="application/vnd.openxmlformats-officedocument.presentationml.notesSlide+xml"/>
  <Override PartName="/ppt/tags/tag25.xml" ContentType="application/vnd.openxmlformats-officedocument.presentationml.tags+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9"/>
  </p:notesMasterIdLst>
  <p:sldIdLst>
    <p:sldId id="513" r:id="rId2"/>
    <p:sldId id="730" r:id="rId3"/>
    <p:sldId id="1209" r:id="rId4"/>
    <p:sldId id="1071" r:id="rId5"/>
    <p:sldId id="1053" r:id="rId6"/>
    <p:sldId id="763" r:id="rId7"/>
    <p:sldId id="1103" r:id="rId8"/>
    <p:sldId id="1052" r:id="rId9"/>
    <p:sldId id="1069" r:id="rId10"/>
    <p:sldId id="1148" r:id="rId11"/>
    <p:sldId id="1149" r:id="rId12"/>
    <p:sldId id="876" r:id="rId13"/>
    <p:sldId id="860" r:id="rId14"/>
    <p:sldId id="759" r:id="rId15"/>
    <p:sldId id="1054" r:id="rId16"/>
    <p:sldId id="1108" r:id="rId17"/>
    <p:sldId id="1109" r:id="rId18"/>
    <p:sldId id="1110" r:id="rId19"/>
    <p:sldId id="1111" r:id="rId20"/>
    <p:sldId id="1112" r:id="rId21"/>
    <p:sldId id="1113" r:id="rId22"/>
    <p:sldId id="1056" r:id="rId23"/>
    <p:sldId id="1057" r:id="rId24"/>
    <p:sldId id="1114" r:id="rId25"/>
    <p:sldId id="1115" r:id="rId26"/>
    <p:sldId id="1116" r:id="rId27"/>
    <p:sldId id="1093" r:id="rId28"/>
    <p:sldId id="1117" r:id="rId29"/>
    <p:sldId id="1063" r:id="rId30"/>
    <p:sldId id="1119" r:id="rId31"/>
    <p:sldId id="1120" r:id="rId32"/>
    <p:sldId id="1121" r:id="rId33"/>
    <p:sldId id="1122" r:id="rId34"/>
    <p:sldId id="1123" r:id="rId35"/>
    <p:sldId id="1124" r:id="rId36"/>
    <p:sldId id="1125" r:id="rId37"/>
    <p:sldId id="1118" r:id="rId38"/>
    <p:sldId id="957" r:id="rId39"/>
    <p:sldId id="1127" r:id="rId40"/>
    <p:sldId id="1126" r:id="rId41"/>
    <p:sldId id="1128" r:id="rId42"/>
    <p:sldId id="1129" r:id="rId43"/>
    <p:sldId id="1130" r:id="rId44"/>
    <p:sldId id="1105" r:id="rId45"/>
    <p:sldId id="1131" r:id="rId46"/>
    <p:sldId id="1132" r:id="rId47"/>
    <p:sldId id="1133" r:id="rId48"/>
    <p:sldId id="1134" r:id="rId49"/>
    <p:sldId id="1106" r:id="rId50"/>
    <p:sldId id="1136" r:id="rId51"/>
    <p:sldId id="1135" r:id="rId52"/>
    <p:sldId id="1137" r:id="rId53"/>
    <p:sldId id="1138" r:id="rId54"/>
    <p:sldId id="1139" r:id="rId55"/>
    <p:sldId id="1107" r:id="rId56"/>
    <p:sldId id="1140" r:id="rId57"/>
    <p:sldId id="1141" r:id="rId58"/>
    <p:sldId id="1143" r:id="rId59"/>
    <p:sldId id="1142" r:id="rId60"/>
    <p:sldId id="1144" r:id="rId61"/>
    <p:sldId id="1145" r:id="rId62"/>
    <p:sldId id="1146" r:id="rId63"/>
    <p:sldId id="1147" r:id="rId64"/>
    <p:sldId id="1104" r:id="rId65"/>
    <p:sldId id="958" r:id="rId66"/>
    <p:sldId id="874" r:id="rId67"/>
    <p:sldId id="291" r:id="rId68"/>
  </p:sldIdLst>
  <p:sldSz cx="9144000" cy="5143500" type="screen16x9"/>
  <p:notesSz cx="6858000" cy="9144000"/>
  <p:custDataLst>
    <p:tags r:id="rId70"/>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000000"/>
    <a:srgbClr val="0000CC"/>
    <a:srgbClr val="000099"/>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5" autoAdjust="0"/>
    <p:restoredTop sz="84371" autoAdjust="0"/>
  </p:normalViewPr>
  <p:slideViewPr>
    <p:cSldViewPr snapToGrid="0" showGuides="1">
      <p:cViewPr varScale="1">
        <p:scale>
          <a:sx n="75" d="100"/>
          <a:sy n="75" d="100"/>
        </p:scale>
        <p:origin x="1124" y="4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Programa Cisco Networking Academy</a:t>
            </a:r>
            <a:br>
              <a:rPr lang="en-US" dirty="0"/>
            </a:br>
            <a:r>
              <a:rPr lang="es-419"/>
              <a:t>Switching, Routing y Wireless Essentials v7.0 (SRWE) </a:t>
            </a:r>
          </a:p>
          <a:p>
            <a:pPr rtl="0"/>
            <a:r>
              <a:rPr lang="es-419"/>
              <a:t>Módulo 12: Conceptos de WLAN</a:t>
            </a:r>
          </a:p>
        </p:txBody>
      </p:sp>
      <p:sp>
        <p:nvSpPr>
          <p:cNvPr id="4" name="Slide Number Placeholder 3"/>
          <p:cNvSpPr>
            <a:spLocks noGrp="1"/>
          </p:cNvSpPr>
          <p:nvPr>
            <p:ph type="sldNum" sz="quarter" idx="10"/>
          </p:nvPr>
        </p:nvSpPr>
        <p:spPr/>
        <p:txBody>
          <a:bodyPr/>
          <a:lstStyle/>
          <a:p>
            <a:pPr rtl="0"/>
            <a:fld id="{5641018C-6CAF-B84E-B92C-ECB119457FBA}" type="slidenum">
              <a:rPr/>
              <a:t>1</a:t>
            </a:fld>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pPr algn="r"/>
              <a:t>2</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rtl="0"/>
            <a:fld id="{ACE20BE7-F2F3-4E26-9454-50B18F790A4E}" type="slidenum">
              <a:rPr sz="800" b="false">
                <a:ea typeface="ＭＳ Ｐゴシック" pitchFamily="34" charset="-128"/>
              </a:rPr>
              <a:pPr algn="r"/>
              <a:t>5</a:t>
            </a:fld>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false"/>
              <a:pPr algn="r"/>
              <a:t>6</a:t>
            </a:fld>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0A313ED8-785B-4D16-9B17-4143385249B9}" type="slidenum">
              <a:rPr sz="800" b="false"/>
              <a:pPr algn="r"/>
              <a:t>7</a:t>
            </a:fld>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02144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8</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154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9</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91492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10</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0782364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391C207-9349-46D5-9D89-8ADDA5014D1F}" type="slidenum">
              <a:rPr sz="800" b="false"/>
              <a:pPr algn="r"/>
              <a:t>11</a:t>
            </a:fld>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7200403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Programa Cisco Networking Academy</a:t>
            </a:r>
            <a:br>
              <a:rPr lang="en-US" dirty="0"/>
            </a:br>
            <a:r>
              <a:rPr lang="es-419"/>
              <a:t>Switching, Routing y Wireless Essentials v7.0 (SRWE)</a:t>
            </a:r>
          </a:p>
          <a:p>
            <a:pPr rtl="0"/>
            <a:r>
              <a:rPr lang="es-419"/>
              <a:t>Módulo 12: Conceptos de WLAN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12</a:t>
            </a:fld>
          </a:p>
        </p:txBody>
      </p:sp>
    </p:spTree>
    <p:extLst>
      <p:ext uri="{BB962C8B-B14F-4D97-AF65-F5344CB8AC3E}">
        <p14:creationId xmlns:p14="http://schemas.microsoft.com/office/powerpoint/2010/main" val="508118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false">
                <a:solidFill>
                  <a:prstClr val="black"/>
                </a:solidFill>
              </a:rPr>
              <a:pPr algn="r"/>
              <a:t>13</a:t>
            </a:fld>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12- Introducción</a:t>
            </a:r>
          </a:p>
          <a:p>
            <a:pPr rtl="0">
              <a:buFontTx/>
              <a:buNone/>
            </a:pPr>
            <a:r>
              <a:rPr lang="es-419"/>
              <a:t>12.0.2 –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12.1 Introducción a la Tecnología Inalámbrica</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14</a:t>
            </a:fld>
          </a:p>
        </p:txBody>
      </p:sp>
    </p:spTree>
    <p:extLst>
      <p:ext uri="{BB962C8B-B14F-4D97-AF65-F5344CB8AC3E}">
        <p14:creationId xmlns:p14="http://schemas.microsoft.com/office/powerpoint/2010/main" val="625529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12.1 Introducción a la Tecnología Inalámbrica</a:t>
            </a:r>
          </a:p>
          <a:p>
            <a:pPr rtl="0"/>
            <a:r>
              <a:rPr lang="es-419"/>
              <a:t>12.1.1 – Beneficios de la Tecnología Inalámbrica</a:t>
            </a:r>
          </a:p>
        </p:txBody>
      </p:sp>
      <p:sp>
        <p:nvSpPr>
          <p:cNvPr id="4" name="Slide Number Placeholder 3"/>
          <p:cNvSpPr>
            <a:spLocks noGrp="1"/>
          </p:cNvSpPr>
          <p:nvPr>
            <p:ph type="sldNum" sz="quarter" idx="5"/>
          </p:nvPr>
        </p:nvSpPr>
        <p:spPr/>
        <p:txBody>
          <a:bodyPr/>
          <a:lstStyle/>
          <a:p>
            <a:pPr rtl="0"/>
            <a:fld id="{5641018C-6CAF-B84E-B92C-ECB119457FBA}" type="slidenum">
              <a:rPr/>
              <a:t>15</a:t>
            </a:fld>
          </a:p>
        </p:txBody>
      </p:sp>
    </p:spTree>
    <p:extLst>
      <p:ext uri="{BB962C8B-B14F-4D97-AF65-F5344CB8AC3E}">
        <p14:creationId xmlns:p14="http://schemas.microsoft.com/office/powerpoint/2010/main" val="30923122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12.1 Introducción a la Tecnología Inalámbrica</a:t>
            </a:r>
          </a:p>
          <a:p>
            <a:pPr rtl="0"/>
            <a:r>
              <a:rPr lang="es-419"/>
              <a:t>12.1.2 – Tipos de Redes Inalámbricas</a:t>
            </a:r>
          </a:p>
        </p:txBody>
      </p:sp>
      <p:sp>
        <p:nvSpPr>
          <p:cNvPr id="4" name="Slide Number Placeholder 3"/>
          <p:cNvSpPr>
            <a:spLocks noGrp="1"/>
          </p:cNvSpPr>
          <p:nvPr>
            <p:ph type="sldNum" sz="quarter" idx="5"/>
          </p:nvPr>
        </p:nvSpPr>
        <p:spPr/>
        <p:txBody>
          <a:bodyPr/>
          <a:lstStyle/>
          <a:p>
            <a:pPr rtl="0"/>
            <a:fld id="{5641018C-6CAF-B84E-B92C-ECB119457FBA}" type="slidenum">
              <a:rPr/>
              <a:t>16</a:t>
            </a:fld>
          </a:p>
        </p:txBody>
      </p:sp>
    </p:spTree>
    <p:extLst>
      <p:ext uri="{BB962C8B-B14F-4D97-AF65-F5344CB8AC3E}">
        <p14:creationId xmlns:p14="http://schemas.microsoft.com/office/powerpoint/2010/main" val="171745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12.1 Introducción a la Tecnología Inalámbrica</a:t>
            </a:r>
          </a:p>
          <a:p>
            <a:pPr rtl="0"/>
            <a:r>
              <a:rPr lang="es-419"/>
              <a:t>12.1.3 – Tecnologías Inalámbricas</a:t>
            </a:r>
          </a:p>
        </p:txBody>
      </p:sp>
      <p:sp>
        <p:nvSpPr>
          <p:cNvPr id="4" name="Slide Number Placeholder 3"/>
          <p:cNvSpPr>
            <a:spLocks noGrp="1"/>
          </p:cNvSpPr>
          <p:nvPr>
            <p:ph type="sldNum" sz="quarter" idx="5"/>
          </p:nvPr>
        </p:nvSpPr>
        <p:spPr/>
        <p:txBody>
          <a:bodyPr/>
          <a:lstStyle/>
          <a:p>
            <a:pPr rtl="0"/>
            <a:fld id="{5641018C-6CAF-B84E-B92C-ECB119457FBA}" type="slidenum">
              <a:rPr/>
              <a:t>17</a:t>
            </a:fld>
          </a:p>
        </p:txBody>
      </p:sp>
    </p:spTree>
    <p:extLst>
      <p:ext uri="{BB962C8B-B14F-4D97-AF65-F5344CB8AC3E}">
        <p14:creationId xmlns:p14="http://schemas.microsoft.com/office/powerpoint/2010/main" val="3137125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12.1 Introducción a la Tecnología Inalámbrica</a:t>
            </a:r>
          </a:p>
          <a:p>
            <a:pPr rtl="0"/>
            <a:r>
              <a:rPr lang="es-419"/>
              <a:t>12.1.3 – Tecnologías Inalámbricas (Cont.)</a:t>
            </a:r>
          </a:p>
        </p:txBody>
      </p:sp>
      <p:sp>
        <p:nvSpPr>
          <p:cNvPr id="4" name="Slide Number Placeholder 3"/>
          <p:cNvSpPr>
            <a:spLocks noGrp="1"/>
          </p:cNvSpPr>
          <p:nvPr>
            <p:ph type="sldNum" sz="quarter" idx="5"/>
          </p:nvPr>
        </p:nvSpPr>
        <p:spPr/>
        <p:txBody>
          <a:bodyPr/>
          <a:lstStyle/>
          <a:p>
            <a:pPr rtl="0"/>
            <a:fld id="{5641018C-6CAF-B84E-B92C-ECB119457FBA}" type="slidenum">
              <a:rPr/>
              <a:t>18</a:t>
            </a:fld>
          </a:p>
        </p:txBody>
      </p:sp>
    </p:spTree>
    <p:extLst>
      <p:ext uri="{BB962C8B-B14F-4D97-AF65-F5344CB8AC3E}">
        <p14:creationId xmlns:p14="http://schemas.microsoft.com/office/powerpoint/2010/main" val="22505952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 </a:t>
            </a:r>
          </a:p>
          <a:p>
            <a:pPr rtl="0"/>
            <a:r>
              <a:rPr lang="es-419"/>
              <a:t>12.1 Introducción a la Tecnología Inalámbrica </a:t>
            </a:r>
          </a:p>
          <a:p>
            <a:pPr rtl="0"/>
            <a:r>
              <a:rPr lang="es-419"/>
              <a:t>12.1.4 – Estándar 802.11</a:t>
            </a:r>
          </a:p>
        </p:txBody>
      </p:sp>
      <p:sp>
        <p:nvSpPr>
          <p:cNvPr id="4" name="Slide Number Placeholder 3"/>
          <p:cNvSpPr>
            <a:spLocks noGrp="1"/>
          </p:cNvSpPr>
          <p:nvPr>
            <p:ph type="sldNum" sz="quarter" idx="5"/>
          </p:nvPr>
        </p:nvSpPr>
        <p:spPr/>
        <p:txBody>
          <a:bodyPr/>
          <a:lstStyle/>
          <a:p>
            <a:pPr rtl="0"/>
            <a:fld id="{5641018C-6CAF-B84E-B92C-ECB119457FBA}" type="slidenum">
              <a:rPr/>
              <a:t>19</a:t>
            </a:fld>
          </a:p>
        </p:txBody>
      </p:sp>
    </p:spTree>
    <p:extLst>
      <p:ext uri="{BB962C8B-B14F-4D97-AF65-F5344CB8AC3E}">
        <p14:creationId xmlns:p14="http://schemas.microsoft.com/office/powerpoint/2010/main" val="1903250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12.1 Introducción a la Tecnología Inalámbrica</a:t>
            </a:r>
          </a:p>
          <a:p>
            <a:pPr rtl="0"/>
            <a:r>
              <a:rPr lang="es-419"/>
              <a:t>12.1.5 – Frecuencias de Radio</a:t>
            </a:r>
          </a:p>
        </p:txBody>
      </p:sp>
      <p:sp>
        <p:nvSpPr>
          <p:cNvPr id="4" name="Slide Number Placeholder 3"/>
          <p:cNvSpPr>
            <a:spLocks noGrp="1"/>
          </p:cNvSpPr>
          <p:nvPr>
            <p:ph type="sldNum" sz="quarter" idx="5"/>
          </p:nvPr>
        </p:nvSpPr>
        <p:spPr/>
        <p:txBody>
          <a:bodyPr/>
          <a:lstStyle/>
          <a:p>
            <a:pPr rtl="0"/>
            <a:fld id="{5641018C-6CAF-B84E-B92C-ECB119457FBA}" type="slidenum">
              <a:rPr/>
              <a:t>20</a:t>
            </a:fld>
          </a:p>
        </p:txBody>
      </p:sp>
    </p:spTree>
    <p:extLst>
      <p:ext uri="{BB962C8B-B14F-4D97-AF65-F5344CB8AC3E}">
        <p14:creationId xmlns:p14="http://schemas.microsoft.com/office/powerpoint/2010/main" val="42502839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12.1 Introducción a la Tecnología Inalámbrica</a:t>
            </a:r>
          </a:p>
          <a:p>
            <a:pPr rtl="0"/>
            <a:r>
              <a:rPr lang="es-419"/>
              <a:t>12.1.6 – Organizaciones de Estándares Inalámbricos</a:t>
            </a:r>
          </a:p>
          <a:p>
            <a:pPr rtl="0"/>
            <a:r>
              <a:rPr lang="es-419"/>
              <a:t>12.1.7 –Verifique su Entendimiento – Introducción a la Tecnología Inalámbrica</a:t>
            </a:r>
          </a:p>
        </p:txBody>
      </p:sp>
      <p:sp>
        <p:nvSpPr>
          <p:cNvPr id="4" name="Slide Number Placeholder 3"/>
          <p:cNvSpPr>
            <a:spLocks noGrp="1"/>
          </p:cNvSpPr>
          <p:nvPr>
            <p:ph type="sldNum" sz="quarter" idx="5"/>
          </p:nvPr>
        </p:nvSpPr>
        <p:spPr/>
        <p:txBody>
          <a:bodyPr/>
          <a:lstStyle/>
          <a:p>
            <a:pPr rtl="0"/>
            <a:fld id="{5641018C-6CAF-B84E-B92C-ECB119457FBA}" type="slidenum">
              <a:rPr/>
              <a:t>21</a:t>
            </a:fld>
          </a:p>
        </p:txBody>
      </p:sp>
    </p:spTree>
    <p:extLst>
      <p:ext uri="{BB962C8B-B14F-4D97-AF65-F5344CB8AC3E}">
        <p14:creationId xmlns:p14="http://schemas.microsoft.com/office/powerpoint/2010/main" val="2395844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12.2 - Componentes de la WLAN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22</a:t>
            </a:fld>
          </a:p>
        </p:txBody>
      </p:sp>
    </p:spTree>
    <p:extLst>
      <p:ext uri="{BB962C8B-B14F-4D97-AF65-F5344CB8AC3E}">
        <p14:creationId xmlns:p14="http://schemas.microsoft.com/office/powerpoint/2010/main" val="39632910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12.2 - Componentes de la WLAN</a:t>
            </a:r>
          </a:p>
          <a:p>
            <a:pPr rtl="0"/>
            <a:r>
              <a:rPr lang="es-419"/>
              <a:t>12.2.1 – Video – Componentes WLAN</a:t>
            </a:r>
          </a:p>
        </p:txBody>
      </p:sp>
      <p:sp>
        <p:nvSpPr>
          <p:cNvPr id="4" name="Slide Number Placeholder 3"/>
          <p:cNvSpPr>
            <a:spLocks noGrp="1"/>
          </p:cNvSpPr>
          <p:nvPr>
            <p:ph type="sldNum" sz="quarter" idx="5"/>
          </p:nvPr>
        </p:nvSpPr>
        <p:spPr/>
        <p:txBody>
          <a:bodyPr/>
          <a:lstStyle/>
          <a:p>
            <a:pPr rtl="0"/>
            <a:fld id="{5641018C-6CAF-B84E-B92C-ECB119457FBA}" type="slidenum">
              <a:rPr/>
              <a:t>23</a:t>
            </a:fld>
          </a:p>
        </p:txBody>
      </p:sp>
    </p:spTree>
    <p:extLst>
      <p:ext uri="{BB962C8B-B14F-4D97-AF65-F5344CB8AC3E}">
        <p14:creationId xmlns:p14="http://schemas.microsoft.com/office/powerpoint/2010/main" val="25521254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12.2 - Componentes de la WLAN</a:t>
            </a:r>
          </a:p>
          <a:p>
            <a:pPr rtl="0"/>
            <a:r>
              <a:rPr lang="es-419"/>
              <a:t>12.2.2 - NIC Inalámbricas</a:t>
            </a:r>
          </a:p>
        </p:txBody>
      </p:sp>
      <p:sp>
        <p:nvSpPr>
          <p:cNvPr id="4" name="Slide Number Placeholder 3"/>
          <p:cNvSpPr>
            <a:spLocks noGrp="1"/>
          </p:cNvSpPr>
          <p:nvPr>
            <p:ph type="sldNum" sz="quarter" idx="5"/>
          </p:nvPr>
        </p:nvSpPr>
        <p:spPr/>
        <p:txBody>
          <a:bodyPr/>
          <a:lstStyle/>
          <a:p>
            <a:pPr rtl="0"/>
            <a:fld id="{5641018C-6CAF-B84E-B92C-ECB119457FBA}" type="slidenum">
              <a:rPr/>
              <a:t>24</a:t>
            </a:fld>
          </a:p>
        </p:txBody>
      </p:sp>
    </p:spTree>
    <p:extLst>
      <p:ext uri="{BB962C8B-B14F-4D97-AF65-F5344CB8AC3E}">
        <p14:creationId xmlns:p14="http://schemas.microsoft.com/office/powerpoint/2010/main" val="911370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12.2 - Componentes de la WLAN</a:t>
            </a:r>
          </a:p>
          <a:p>
            <a:pPr rtl="0"/>
            <a:r>
              <a:rPr lang="es-419"/>
              <a:t>12.2.3 – Router de hogar inalámbrico</a:t>
            </a:r>
          </a:p>
        </p:txBody>
      </p:sp>
      <p:sp>
        <p:nvSpPr>
          <p:cNvPr id="4" name="Slide Number Placeholder 3"/>
          <p:cNvSpPr>
            <a:spLocks noGrp="1"/>
          </p:cNvSpPr>
          <p:nvPr>
            <p:ph type="sldNum" sz="quarter" idx="5"/>
          </p:nvPr>
        </p:nvSpPr>
        <p:spPr/>
        <p:txBody>
          <a:bodyPr/>
          <a:lstStyle/>
          <a:p>
            <a:pPr rtl="0"/>
            <a:fld id="{5641018C-6CAF-B84E-B92C-ECB119457FBA}" type="slidenum">
              <a:rPr/>
              <a:t>25</a:t>
            </a:fld>
          </a:p>
        </p:txBody>
      </p:sp>
    </p:spTree>
    <p:extLst>
      <p:ext uri="{BB962C8B-B14F-4D97-AF65-F5344CB8AC3E}">
        <p14:creationId xmlns:p14="http://schemas.microsoft.com/office/powerpoint/2010/main" val="21928293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12.2 - Componentes de la WLAN</a:t>
            </a:r>
          </a:p>
          <a:p>
            <a:pPr rtl="0"/>
            <a:r>
              <a:rPr lang="es-419"/>
              <a:t>12.2.4 – Punto de Acceso Inalámbrico</a:t>
            </a:r>
          </a:p>
        </p:txBody>
      </p:sp>
      <p:sp>
        <p:nvSpPr>
          <p:cNvPr id="4" name="Slide Number Placeholder 3"/>
          <p:cNvSpPr>
            <a:spLocks noGrp="1"/>
          </p:cNvSpPr>
          <p:nvPr>
            <p:ph type="sldNum" sz="quarter" idx="5"/>
          </p:nvPr>
        </p:nvSpPr>
        <p:spPr/>
        <p:txBody>
          <a:bodyPr/>
          <a:lstStyle/>
          <a:p>
            <a:pPr rtl="0"/>
            <a:fld id="{5641018C-6CAF-B84E-B92C-ECB119457FBA}" type="slidenum">
              <a:rPr/>
              <a:t>26</a:t>
            </a:fld>
          </a:p>
        </p:txBody>
      </p:sp>
    </p:spTree>
    <p:extLst>
      <p:ext uri="{BB962C8B-B14F-4D97-AF65-F5344CB8AC3E}">
        <p14:creationId xmlns:p14="http://schemas.microsoft.com/office/powerpoint/2010/main" val="6603128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Componentes de la WLAN</a:t>
            </a:r>
          </a:p>
          <a:p>
            <a:pPr rtl="0"/>
            <a:r>
              <a:rPr lang="es-419"/>
              <a:t>12.2.5 – Categorías AP</a:t>
            </a:r>
          </a:p>
        </p:txBody>
      </p:sp>
      <p:sp>
        <p:nvSpPr>
          <p:cNvPr id="4" name="Slide Number Placeholder 3"/>
          <p:cNvSpPr>
            <a:spLocks noGrp="1"/>
          </p:cNvSpPr>
          <p:nvPr>
            <p:ph type="sldNum" sz="quarter" idx="5"/>
          </p:nvPr>
        </p:nvSpPr>
        <p:spPr/>
        <p:txBody>
          <a:bodyPr/>
          <a:lstStyle/>
          <a:p>
            <a:pPr rtl="0"/>
            <a:fld id="{5641018C-6CAF-B84E-B92C-ECB119457FBA}" type="slidenum">
              <a:rPr/>
              <a:t>27</a:t>
            </a:fld>
          </a:p>
        </p:txBody>
      </p:sp>
    </p:spTree>
    <p:extLst>
      <p:ext uri="{BB962C8B-B14F-4D97-AF65-F5344CB8AC3E}">
        <p14:creationId xmlns:p14="http://schemas.microsoft.com/office/powerpoint/2010/main" val="36943519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12.2 - Componentes de la WLAN</a:t>
            </a:r>
          </a:p>
          <a:p>
            <a:pPr rtl="0"/>
            <a:r>
              <a:rPr lang="es-419"/>
              <a:t>12.2.6 – Antenas Inalámbricas</a:t>
            </a:r>
          </a:p>
          <a:p>
            <a:pPr rtl="0"/>
            <a:r>
              <a:rPr lang="es-419"/>
              <a:t>12.2.7 – Verifique su comprensión - Componentes WLAN</a:t>
            </a:r>
          </a:p>
        </p:txBody>
      </p:sp>
      <p:sp>
        <p:nvSpPr>
          <p:cNvPr id="4" name="Slide Number Placeholder 3"/>
          <p:cNvSpPr>
            <a:spLocks noGrp="1"/>
          </p:cNvSpPr>
          <p:nvPr>
            <p:ph type="sldNum" sz="quarter" idx="5"/>
          </p:nvPr>
        </p:nvSpPr>
        <p:spPr/>
        <p:txBody>
          <a:bodyPr/>
          <a:lstStyle/>
          <a:p>
            <a:pPr rtl="0"/>
            <a:fld id="{5641018C-6CAF-B84E-B92C-ECB119457FBA}" type="slidenum">
              <a:rPr/>
              <a:t>28</a:t>
            </a:fld>
          </a:p>
        </p:txBody>
      </p:sp>
    </p:spTree>
    <p:extLst>
      <p:ext uri="{BB962C8B-B14F-4D97-AF65-F5344CB8AC3E}">
        <p14:creationId xmlns:p14="http://schemas.microsoft.com/office/powerpoint/2010/main" val="4140793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29</a:t>
            </a:fld>
          </a:p>
        </p:txBody>
      </p:sp>
    </p:spTree>
    <p:extLst>
      <p:ext uri="{BB962C8B-B14F-4D97-AF65-F5344CB8AC3E}">
        <p14:creationId xmlns:p14="http://schemas.microsoft.com/office/powerpoint/2010/main" val="9777554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Operación de WLAN</a:t>
            </a:r>
          </a:p>
          <a:p>
            <a:pPr rtl="0"/>
            <a:r>
              <a:rPr lang="es-419"/>
              <a:t>12.3.1 – Video – Operación de WLAN</a:t>
            </a:r>
          </a:p>
        </p:txBody>
      </p:sp>
      <p:sp>
        <p:nvSpPr>
          <p:cNvPr id="4" name="Slide Number Placeholder 3"/>
          <p:cNvSpPr>
            <a:spLocks noGrp="1"/>
          </p:cNvSpPr>
          <p:nvPr>
            <p:ph type="sldNum" sz="quarter" idx="5"/>
          </p:nvPr>
        </p:nvSpPr>
        <p:spPr/>
        <p:txBody>
          <a:bodyPr/>
          <a:lstStyle/>
          <a:p>
            <a:pPr rtl="0"/>
            <a:fld id="{5641018C-6CAF-B84E-B92C-ECB119457FBA}" type="slidenum">
              <a:rPr/>
              <a:t>30</a:t>
            </a:fld>
          </a:p>
        </p:txBody>
      </p:sp>
    </p:spTree>
    <p:extLst>
      <p:ext uri="{BB962C8B-B14F-4D97-AF65-F5344CB8AC3E}">
        <p14:creationId xmlns:p14="http://schemas.microsoft.com/office/powerpoint/2010/main" val="28440815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pPr rtl="0"/>
            <a:r>
              <a:rPr lang="es-419"/>
              <a:t>12.3.2 – 802.11 Modos de topología inalámbrica</a:t>
            </a:r>
          </a:p>
        </p:txBody>
      </p:sp>
      <p:sp>
        <p:nvSpPr>
          <p:cNvPr id="4" name="Slide Number Placeholder 3"/>
          <p:cNvSpPr>
            <a:spLocks noGrp="1"/>
          </p:cNvSpPr>
          <p:nvPr>
            <p:ph type="sldNum" sz="quarter" idx="5"/>
          </p:nvPr>
        </p:nvSpPr>
        <p:spPr/>
        <p:txBody>
          <a:bodyPr/>
          <a:lstStyle/>
          <a:p>
            <a:pPr rtl="0"/>
            <a:fld id="{5641018C-6CAF-B84E-B92C-ECB119457FBA}" type="slidenum">
              <a:rPr/>
              <a:t>31</a:t>
            </a:fld>
          </a:p>
        </p:txBody>
      </p:sp>
    </p:spTree>
    <p:extLst>
      <p:ext uri="{BB962C8B-B14F-4D97-AF65-F5344CB8AC3E}">
        <p14:creationId xmlns:p14="http://schemas.microsoft.com/office/powerpoint/2010/main" val="4167036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pPr rtl="0"/>
            <a:r>
              <a:rPr lang="es-419"/>
              <a:t>12.3.3 – BSS y ESS</a:t>
            </a:r>
          </a:p>
        </p:txBody>
      </p:sp>
      <p:sp>
        <p:nvSpPr>
          <p:cNvPr id="4" name="Slide Number Placeholder 3"/>
          <p:cNvSpPr>
            <a:spLocks noGrp="1"/>
          </p:cNvSpPr>
          <p:nvPr>
            <p:ph type="sldNum" sz="quarter" idx="5"/>
          </p:nvPr>
        </p:nvSpPr>
        <p:spPr/>
        <p:txBody>
          <a:bodyPr/>
          <a:lstStyle/>
          <a:p>
            <a:pPr rtl="0"/>
            <a:fld id="{5641018C-6CAF-B84E-B92C-ECB119457FBA}" type="slidenum">
              <a:rPr/>
              <a:t>32</a:t>
            </a:fld>
          </a:p>
        </p:txBody>
      </p:sp>
    </p:spTree>
    <p:extLst>
      <p:ext uri="{BB962C8B-B14F-4D97-AF65-F5344CB8AC3E}">
        <p14:creationId xmlns:p14="http://schemas.microsoft.com/office/powerpoint/2010/main" val="39629622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pPr rtl="0"/>
            <a:r>
              <a:rPr lang="es-419"/>
              <a:t>12.3.4 – 802.11 Estructura de trama</a:t>
            </a:r>
          </a:p>
        </p:txBody>
      </p:sp>
      <p:sp>
        <p:nvSpPr>
          <p:cNvPr id="4" name="Slide Number Placeholder 3"/>
          <p:cNvSpPr>
            <a:spLocks noGrp="1"/>
          </p:cNvSpPr>
          <p:nvPr>
            <p:ph type="sldNum" sz="quarter" idx="5"/>
          </p:nvPr>
        </p:nvSpPr>
        <p:spPr/>
        <p:txBody>
          <a:bodyPr/>
          <a:lstStyle/>
          <a:p>
            <a:pPr rtl="0"/>
            <a:fld id="{5641018C-6CAF-B84E-B92C-ECB119457FBA}" type="slidenum">
              <a:rPr/>
              <a:t>33</a:t>
            </a:fld>
          </a:p>
        </p:txBody>
      </p:sp>
    </p:spTree>
    <p:extLst>
      <p:ext uri="{BB962C8B-B14F-4D97-AF65-F5344CB8AC3E}">
        <p14:creationId xmlns:p14="http://schemas.microsoft.com/office/powerpoint/2010/main" val="21209892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pPr rtl="0"/>
            <a:r>
              <a:rPr lang="es-419"/>
              <a:t>12.3.5 – CSMA/CA </a:t>
            </a:r>
          </a:p>
        </p:txBody>
      </p:sp>
      <p:sp>
        <p:nvSpPr>
          <p:cNvPr id="4" name="Slide Number Placeholder 3"/>
          <p:cNvSpPr>
            <a:spLocks noGrp="1"/>
          </p:cNvSpPr>
          <p:nvPr>
            <p:ph type="sldNum" sz="quarter" idx="5"/>
          </p:nvPr>
        </p:nvSpPr>
        <p:spPr/>
        <p:txBody>
          <a:bodyPr/>
          <a:lstStyle/>
          <a:p>
            <a:pPr rtl="0"/>
            <a:fld id="{5641018C-6CAF-B84E-B92C-ECB119457FBA}" type="slidenum">
              <a:rPr/>
              <a:t>34</a:t>
            </a:fld>
          </a:p>
        </p:txBody>
      </p:sp>
    </p:spTree>
    <p:extLst>
      <p:ext uri="{BB962C8B-B14F-4D97-AF65-F5344CB8AC3E}">
        <p14:creationId xmlns:p14="http://schemas.microsoft.com/office/powerpoint/2010/main" val="21019468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pPr rtl="0"/>
            <a:r>
              <a:rPr lang="es-419"/>
              <a:t>12.3.6 – Cliente Inalámbrico y Asociación al AP</a:t>
            </a:r>
          </a:p>
        </p:txBody>
      </p:sp>
      <p:sp>
        <p:nvSpPr>
          <p:cNvPr id="4" name="Slide Number Placeholder 3"/>
          <p:cNvSpPr>
            <a:spLocks noGrp="1"/>
          </p:cNvSpPr>
          <p:nvPr>
            <p:ph type="sldNum" sz="quarter" idx="5"/>
          </p:nvPr>
        </p:nvSpPr>
        <p:spPr/>
        <p:txBody>
          <a:bodyPr/>
          <a:lstStyle/>
          <a:p>
            <a:pPr rtl="0"/>
            <a:fld id="{5641018C-6CAF-B84E-B92C-ECB119457FBA}" type="slidenum">
              <a:rPr/>
              <a:t>35</a:t>
            </a:fld>
          </a:p>
        </p:txBody>
      </p:sp>
    </p:spTree>
    <p:extLst>
      <p:ext uri="{BB962C8B-B14F-4D97-AF65-F5344CB8AC3E}">
        <p14:creationId xmlns:p14="http://schemas.microsoft.com/office/powerpoint/2010/main" val="4080071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pPr rtl="0"/>
            <a:r>
              <a:rPr lang="es-419"/>
              <a:t>12.3.6 – Cliente Inalámbrico y Asociación al AP (Cont.)</a:t>
            </a:r>
          </a:p>
        </p:txBody>
      </p:sp>
      <p:sp>
        <p:nvSpPr>
          <p:cNvPr id="4" name="Slide Number Placeholder 3"/>
          <p:cNvSpPr>
            <a:spLocks noGrp="1"/>
          </p:cNvSpPr>
          <p:nvPr>
            <p:ph type="sldNum" sz="quarter" idx="5"/>
          </p:nvPr>
        </p:nvSpPr>
        <p:spPr/>
        <p:txBody>
          <a:bodyPr/>
          <a:lstStyle/>
          <a:p>
            <a:pPr rtl="0"/>
            <a:fld id="{5641018C-6CAF-B84E-B92C-ECB119457FBA}" type="slidenum">
              <a:rPr/>
              <a:t>36</a:t>
            </a:fld>
          </a:p>
        </p:txBody>
      </p:sp>
    </p:spTree>
    <p:extLst>
      <p:ext uri="{BB962C8B-B14F-4D97-AF65-F5344CB8AC3E}">
        <p14:creationId xmlns:p14="http://schemas.microsoft.com/office/powerpoint/2010/main" val="406416459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12.3 – Funcionamiento de WLAN</a:t>
            </a:r>
          </a:p>
          <a:p>
            <a:pPr rtl="0"/>
            <a:r>
              <a:rPr lang="es-419"/>
              <a:t>12.3.7 – Modo de descubrimiento Pasivo y Activo</a:t>
            </a:r>
          </a:p>
          <a:p>
            <a:pPr rtl="0"/>
            <a:r>
              <a:rPr lang="es-419"/>
              <a:t>12.3.8 – Verifique su comprensión - Operación de la WLAN</a:t>
            </a:r>
          </a:p>
        </p:txBody>
      </p:sp>
      <p:sp>
        <p:nvSpPr>
          <p:cNvPr id="4" name="Slide Number Placeholder 3"/>
          <p:cNvSpPr>
            <a:spLocks noGrp="1"/>
          </p:cNvSpPr>
          <p:nvPr>
            <p:ph type="sldNum" sz="quarter" idx="5"/>
          </p:nvPr>
        </p:nvSpPr>
        <p:spPr/>
        <p:txBody>
          <a:bodyPr/>
          <a:lstStyle/>
          <a:p>
            <a:pPr rtl="0"/>
            <a:fld id="{5641018C-6CAF-B84E-B92C-ECB119457FBA}" type="slidenum">
              <a:rPr/>
              <a:t>37</a:t>
            </a:fld>
          </a:p>
        </p:txBody>
      </p:sp>
    </p:spTree>
    <p:extLst>
      <p:ext uri="{BB962C8B-B14F-4D97-AF65-F5344CB8AC3E}">
        <p14:creationId xmlns:p14="http://schemas.microsoft.com/office/powerpoint/2010/main" val="685979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 4 - Funcionamiento del CAPWAP</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38</a:t>
            </a:fld>
          </a:p>
        </p:txBody>
      </p:sp>
    </p:spTree>
    <p:extLst>
      <p:ext uri="{BB962C8B-B14F-4D97-AF65-F5344CB8AC3E}">
        <p14:creationId xmlns:p14="http://schemas.microsoft.com/office/powerpoint/2010/main" val="22171436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12.4 - Funcionamiento de la CAPWAP</a:t>
            </a:r>
          </a:p>
          <a:p>
            <a:pPr rtl="0"/>
            <a:r>
              <a:rPr lang="es-419"/>
              <a:t>12.4.1 – Video – CAPWAP </a:t>
            </a:r>
          </a:p>
        </p:txBody>
      </p:sp>
      <p:sp>
        <p:nvSpPr>
          <p:cNvPr id="4" name="Slide Number Placeholder 3"/>
          <p:cNvSpPr>
            <a:spLocks noGrp="1"/>
          </p:cNvSpPr>
          <p:nvPr>
            <p:ph type="sldNum" sz="quarter" idx="5"/>
          </p:nvPr>
        </p:nvSpPr>
        <p:spPr/>
        <p:txBody>
          <a:bodyPr/>
          <a:lstStyle/>
          <a:p>
            <a:pPr rtl="0"/>
            <a:fld id="{5641018C-6CAF-B84E-B92C-ECB119457FBA}" type="slidenum">
              <a:rPr/>
              <a:t>39</a:t>
            </a:fld>
          </a:p>
        </p:txBody>
      </p:sp>
    </p:spTree>
    <p:extLst>
      <p:ext uri="{BB962C8B-B14F-4D97-AF65-F5344CB8AC3E}">
        <p14:creationId xmlns:p14="http://schemas.microsoft.com/office/powerpoint/2010/main" val="668505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12.4 - Funcionamiento de la CAPWAP</a:t>
            </a:r>
          </a:p>
          <a:p>
            <a:pPr rtl="0"/>
            <a:r>
              <a:rPr lang="es-419"/>
              <a:t>12.4.2 – Introducción a la CAPWAP</a:t>
            </a:r>
          </a:p>
        </p:txBody>
      </p:sp>
      <p:sp>
        <p:nvSpPr>
          <p:cNvPr id="4" name="Slide Number Placeholder 3"/>
          <p:cNvSpPr>
            <a:spLocks noGrp="1"/>
          </p:cNvSpPr>
          <p:nvPr>
            <p:ph type="sldNum" sz="quarter" idx="5"/>
          </p:nvPr>
        </p:nvSpPr>
        <p:spPr/>
        <p:txBody>
          <a:bodyPr/>
          <a:lstStyle/>
          <a:p>
            <a:pPr rtl="0"/>
            <a:fld id="{5641018C-6CAF-B84E-B92C-ECB119457FBA}" type="slidenum">
              <a:rPr/>
              <a:t>40</a:t>
            </a:fld>
          </a:p>
        </p:txBody>
      </p:sp>
    </p:spTree>
    <p:extLst>
      <p:ext uri="{BB962C8B-B14F-4D97-AF65-F5344CB8AC3E}">
        <p14:creationId xmlns:p14="http://schemas.microsoft.com/office/powerpoint/2010/main" val="30596388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12.4 - Funcionamiento de la CAPWAP </a:t>
            </a:r>
          </a:p>
          <a:p>
            <a:pPr rtl="0"/>
            <a:r>
              <a:rPr lang="es-419"/>
              <a:t>12.4.3 – Arquitectura MAC Dividida</a:t>
            </a:r>
          </a:p>
        </p:txBody>
      </p:sp>
      <p:sp>
        <p:nvSpPr>
          <p:cNvPr id="4" name="Slide Number Placeholder 3"/>
          <p:cNvSpPr>
            <a:spLocks noGrp="1"/>
          </p:cNvSpPr>
          <p:nvPr>
            <p:ph type="sldNum" sz="quarter" idx="5"/>
          </p:nvPr>
        </p:nvSpPr>
        <p:spPr/>
        <p:txBody>
          <a:bodyPr/>
          <a:lstStyle/>
          <a:p>
            <a:pPr rtl="0"/>
            <a:fld id="{5641018C-6CAF-B84E-B92C-ECB119457FBA}" type="slidenum">
              <a:rPr/>
              <a:t>41</a:t>
            </a:fld>
          </a:p>
        </p:txBody>
      </p:sp>
    </p:spTree>
    <p:extLst>
      <p:ext uri="{BB962C8B-B14F-4D97-AF65-F5344CB8AC3E}">
        <p14:creationId xmlns:p14="http://schemas.microsoft.com/office/powerpoint/2010/main" val="42754417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12.4 - Funcionamiento de la CAPWAP</a:t>
            </a:r>
          </a:p>
          <a:p>
            <a:pPr rtl="0"/>
            <a:r>
              <a:rPr lang="es-419"/>
              <a:t>12.4.4 – Cifrado DTLS</a:t>
            </a:r>
          </a:p>
        </p:txBody>
      </p:sp>
      <p:sp>
        <p:nvSpPr>
          <p:cNvPr id="4" name="Slide Number Placeholder 3"/>
          <p:cNvSpPr>
            <a:spLocks noGrp="1"/>
          </p:cNvSpPr>
          <p:nvPr>
            <p:ph type="sldNum" sz="quarter" idx="5"/>
          </p:nvPr>
        </p:nvSpPr>
        <p:spPr/>
        <p:txBody>
          <a:bodyPr/>
          <a:lstStyle/>
          <a:p>
            <a:pPr rtl="0"/>
            <a:fld id="{5641018C-6CAF-B84E-B92C-ECB119457FBA}" type="slidenum">
              <a:rPr/>
              <a:t>42</a:t>
            </a:fld>
          </a:p>
        </p:txBody>
      </p:sp>
    </p:spTree>
    <p:extLst>
      <p:ext uri="{BB962C8B-B14F-4D97-AF65-F5344CB8AC3E}">
        <p14:creationId xmlns:p14="http://schemas.microsoft.com/office/powerpoint/2010/main" val="6039607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12.4 - Funcionamiento de la CAPWAP </a:t>
            </a:r>
          </a:p>
          <a:p>
            <a:pPr rtl="0"/>
            <a:r>
              <a:rPr lang="es-419"/>
              <a:t>12.4.5 – Conexión flexible a AP</a:t>
            </a:r>
          </a:p>
          <a:p>
            <a:pPr rtl="0"/>
            <a:r>
              <a:rPr lang="es-419"/>
              <a:t>12.4.6 – Verifique su comprensión - Operación CAPWAP</a:t>
            </a:r>
          </a:p>
        </p:txBody>
      </p:sp>
      <p:sp>
        <p:nvSpPr>
          <p:cNvPr id="4" name="Slide Number Placeholder 3"/>
          <p:cNvSpPr>
            <a:spLocks noGrp="1"/>
          </p:cNvSpPr>
          <p:nvPr>
            <p:ph type="sldNum" sz="quarter" idx="5"/>
          </p:nvPr>
        </p:nvSpPr>
        <p:spPr/>
        <p:txBody>
          <a:bodyPr/>
          <a:lstStyle/>
          <a:p>
            <a:pPr rtl="0"/>
            <a:fld id="{5641018C-6CAF-B84E-B92C-ECB119457FBA}" type="slidenum">
              <a:rPr/>
              <a:t>43</a:t>
            </a:fld>
          </a:p>
        </p:txBody>
      </p:sp>
    </p:spTree>
    <p:extLst>
      <p:ext uri="{BB962C8B-B14F-4D97-AF65-F5344CB8AC3E}">
        <p14:creationId xmlns:p14="http://schemas.microsoft.com/office/powerpoint/2010/main" val="36253235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12.5 - Gestión de Canales</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44</a:t>
            </a:fld>
          </a:p>
        </p:txBody>
      </p:sp>
    </p:spTree>
    <p:extLst>
      <p:ext uri="{BB962C8B-B14F-4D97-AF65-F5344CB8AC3E}">
        <p14:creationId xmlns:p14="http://schemas.microsoft.com/office/powerpoint/2010/main" val="8879527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12.5 - Gestión de canales</a:t>
            </a:r>
          </a:p>
          <a:p>
            <a:pPr rtl="0"/>
            <a:r>
              <a:rPr lang="es-419"/>
              <a:t>12.5.1 – Canal de frecuencia de saturación</a:t>
            </a:r>
          </a:p>
        </p:txBody>
      </p:sp>
      <p:sp>
        <p:nvSpPr>
          <p:cNvPr id="4" name="Slide Number Placeholder 3"/>
          <p:cNvSpPr>
            <a:spLocks noGrp="1"/>
          </p:cNvSpPr>
          <p:nvPr>
            <p:ph type="sldNum" sz="quarter" idx="5"/>
          </p:nvPr>
        </p:nvSpPr>
        <p:spPr/>
        <p:txBody>
          <a:bodyPr/>
          <a:lstStyle/>
          <a:p>
            <a:pPr rtl="0"/>
            <a:fld id="{5641018C-6CAF-B84E-B92C-ECB119457FBA}" type="slidenum">
              <a:rPr/>
              <a:t>45</a:t>
            </a:fld>
          </a:p>
        </p:txBody>
      </p:sp>
    </p:spTree>
    <p:extLst>
      <p:ext uri="{BB962C8B-B14F-4D97-AF65-F5344CB8AC3E}">
        <p14:creationId xmlns:p14="http://schemas.microsoft.com/office/powerpoint/2010/main" val="331680478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12.5 Gestión de canales</a:t>
            </a:r>
          </a:p>
          <a:p>
            <a:pPr rtl="0"/>
            <a:r>
              <a:rPr lang="es-419"/>
              <a:t>12.5.2 – Selección de canales</a:t>
            </a:r>
          </a:p>
        </p:txBody>
      </p:sp>
      <p:sp>
        <p:nvSpPr>
          <p:cNvPr id="4" name="Slide Number Placeholder 3"/>
          <p:cNvSpPr>
            <a:spLocks noGrp="1"/>
          </p:cNvSpPr>
          <p:nvPr>
            <p:ph type="sldNum" sz="quarter" idx="5"/>
          </p:nvPr>
        </p:nvSpPr>
        <p:spPr/>
        <p:txBody>
          <a:bodyPr/>
          <a:lstStyle/>
          <a:p>
            <a:pPr rtl="0"/>
            <a:fld id="{5641018C-6CAF-B84E-B92C-ECB119457FBA}" type="slidenum">
              <a:rPr/>
              <a:t>46</a:t>
            </a:fld>
          </a:p>
        </p:txBody>
      </p:sp>
    </p:spTree>
    <p:extLst>
      <p:ext uri="{BB962C8B-B14F-4D97-AF65-F5344CB8AC3E}">
        <p14:creationId xmlns:p14="http://schemas.microsoft.com/office/powerpoint/2010/main" val="31441024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12.5 - Gestión de Canales</a:t>
            </a:r>
          </a:p>
          <a:p>
            <a:pPr rtl="0"/>
            <a:r>
              <a:rPr lang="es-419"/>
              <a:t>12.5.2 – Selección del canal (Cont.)</a:t>
            </a:r>
          </a:p>
        </p:txBody>
      </p:sp>
      <p:sp>
        <p:nvSpPr>
          <p:cNvPr id="4" name="Slide Number Placeholder 3"/>
          <p:cNvSpPr>
            <a:spLocks noGrp="1"/>
          </p:cNvSpPr>
          <p:nvPr>
            <p:ph type="sldNum" sz="quarter" idx="5"/>
          </p:nvPr>
        </p:nvSpPr>
        <p:spPr/>
        <p:txBody>
          <a:bodyPr/>
          <a:lstStyle/>
          <a:p>
            <a:pPr rtl="0"/>
            <a:fld id="{5641018C-6CAF-B84E-B92C-ECB119457FBA}" type="slidenum">
              <a:rPr/>
              <a:t>47</a:t>
            </a:fld>
          </a:p>
        </p:txBody>
      </p:sp>
    </p:spTree>
    <p:extLst>
      <p:ext uri="{BB962C8B-B14F-4D97-AF65-F5344CB8AC3E}">
        <p14:creationId xmlns:p14="http://schemas.microsoft.com/office/powerpoint/2010/main" val="11319901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12.5 - Gestión de Canales</a:t>
            </a:r>
          </a:p>
          <a:p>
            <a:pPr rtl="0"/>
            <a:r>
              <a:rPr lang="es-419"/>
              <a:t>12.5.3 – Planifique la Implementación de WLAN</a:t>
            </a:r>
          </a:p>
          <a:p>
            <a:pPr rtl="0"/>
            <a:r>
              <a:rPr lang="es-419"/>
              <a:t>12.5.4 – Verifica su entendimiento – Gestión de canales</a:t>
            </a:r>
          </a:p>
        </p:txBody>
      </p:sp>
      <p:sp>
        <p:nvSpPr>
          <p:cNvPr id="4" name="Slide Number Placeholder 3"/>
          <p:cNvSpPr>
            <a:spLocks noGrp="1"/>
          </p:cNvSpPr>
          <p:nvPr>
            <p:ph type="sldNum" sz="quarter" idx="5"/>
          </p:nvPr>
        </p:nvSpPr>
        <p:spPr/>
        <p:txBody>
          <a:bodyPr/>
          <a:lstStyle/>
          <a:p>
            <a:pPr rtl="0"/>
            <a:fld id="{5641018C-6CAF-B84E-B92C-ECB119457FBA}" type="slidenum">
              <a:rPr/>
              <a:t>48</a:t>
            </a:fld>
          </a:p>
        </p:txBody>
      </p:sp>
    </p:spTree>
    <p:extLst>
      <p:ext uri="{BB962C8B-B14F-4D97-AF65-F5344CB8AC3E}">
        <p14:creationId xmlns:p14="http://schemas.microsoft.com/office/powerpoint/2010/main" val="29990317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12.6 – Amenazas en la WLAN</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49</a:t>
            </a:fld>
          </a:p>
        </p:txBody>
      </p:sp>
    </p:spTree>
    <p:extLst>
      <p:ext uri="{BB962C8B-B14F-4D97-AF65-F5344CB8AC3E}">
        <p14:creationId xmlns:p14="http://schemas.microsoft.com/office/powerpoint/2010/main" val="4874804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12.6 Amenazas en la WLAN</a:t>
            </a:r>
          </a:p>
          <a:p>
            <a:pPr rtl="0"/>
            <a:r>
              <a:rPr lang="es-419"/>
              <a:t>12.6.1 –Video - Amenazas en la WLAN</a:t>
            </a:r>
          </a:p>
        </p:txBody>
      </p:sp>
      <p:sp>
        <p:nvSpPr>
          <p:cNvPr id="4" name="Slide Number Placeholder 3"/>
          <p:cNvSpPr>
            <a:spLocks noGrp="1"/>
          </p:cNvSpPr>
          <p:nvPr>
            <p:ph type="sldNum" sz="quarter" idx="5"/>
          </p:nvPr>
        </p:nvSpPr>
        <p:spPr/>
        <p:txBody>
          <a:bodyPr/>
          <a:lstStyle/>
          <a:p>
            <a:pPr rtl="0"/>
            <a:fld id="{5641018C-6CAF-B84E-B92C-ECB119457FBA}" type="slidenum">
              <a:rPr/>
              <a:t>50</a:t>
            </a:fld>
          </a:p>
        </p:txBody>
      </p:sp>
    </p:spTree>
    <p:extLst>
      <p:ext uri="{BB962C8B-B14F-4D97-AF65-F5344CB8AC3E}">
        <p14:creationId xmlns:p14="http://schemas.microsoft.com/office/powerpoint/2010/main" val="427190795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12.6 Amenazas en la WLAN</a:t>
            </a:r>
          </a:p>
          <a:p>
            <a:pPr rtl="0"/>
            <a:r>
              <a:rPr lang="es-419"/>
              <a:t>12.6.2 – Resumen de Seguridad Inalámbrica</a:t>
            </a:r>
          </a:p>
        </p:txBody>
      </p:sp>
      <p:sp>
        <p:nvSpPr>
          <p:cNvPr id="4" name="Slide Number Placeholder 3"/>
          <p:cNvSpPr>
            <a:spLocks noGrp="1"/>
          </p:cNvSpPr>
          <p:nvPr>
            <p:ph type="sldNum" sz="quarter" idx="5"/>
          </p:nvPr>
        </p:nvSpPr>
        <p:spPr/>
        <p:txBody>
          <a:bodyPr/>
          <a:lstStyle/>
          <a:p>
            <a:pPr rtl="0"/>
            <a:fld id="{5641018C-6CAF-B84E-B92C-ECB119457FBA}" type="slidenum">
              <a:rPr/>
              <a:t>51</a:t>
            </a:fld>
          </a:p>
        </p:txBody>
      </p:sp>
    </p:spTree>
    <p:extLst>
      <p:ext uri="{BB962C8B-B14F-4D97-AF65-F5344CB8AC3E}">
        <p14:creationId xmlns:p14="http://schemas.microsoft.com/office/powerpoint/2010/main" val="30446870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12.6 – Amenazas en la WLAN</a:t>
            </a:r>
          </a:p>
          <a:p>
            <a:pPr rtl="0"/>
            <a:r>
              <a:rPr lang="es-419"/>
              <a:t>12.6.3 – Ataques de DoS</a:t>
            </a:r>
          </a:p>
        </p:txBody>
      </p:sp>
      <p:sp>
        <p:nvSpPr>
          <p:cNvPr id="4" name="Slide Number Placeholder 3"/>
          <p:cNvSpPr>
            <a:spLocks noGrp="1"/>
          </p:cNvSpPr>
          <p:nvPr>
            <p:ph type="sldNum" sz="quarter" idx="5"/>
          </p:nvPr>
        </p:nvSpPr>
        <p:spPr/>
        <p:txBody>
          <a:bodyPr/>
          <a:lstStyle/>
          <a:p>
            <a:pPr rtl="0"/>
            <a:fld id="{5641018C-6CAF-B84E-B92C-ECB119457FBA}" type="slidenum">
              <a:rPr/>
              <a:t>52</a:t>
            </a:fld>
          </a:p>
        </p:txBody>
      </p:sp>
    </p:spTree>
    <p:extLst>
      <p:ext uri="{BB962C8B-B14F-4D97-AF65-F5344CB8AC3E}">
        <p14:creationId xmlns:p14="http://schemas.microsoft.com/office/powerpoint/2010/main" val="209803173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12.6 - Amenazas en la WLAN</a:t>
            </a:r>
          </a:p>
          <a:p>
            <a:pPr rtl="0"/>
            <a:r>
              <a:rPr lang="es-419"/>
              <a:t>12.6.4 – Puntos de Acceso No Autorizados</a:t>
            </a:r>
          </a:p>
        </p:txBody>
      </p:sp>
      <p:sp>
        <p:nvSpPr>
          <p:cNvPr id="4" name="Slide Number Placeholder 3"/>
          <p:cNvSpPr>
            <a:spLocks noGrp="1"/>
          </p:cNvSpPr>
          <p:nvPr>
            <p:ph type="sldNum" sz="quarter" idx="5"/>
          </p:nvPr>
        </p:nvSpPr>
        <p:spPr/>
        <p:txBody>
          <a:bodyPr/>
          <a:lstStyle/>
          <a:p>
            <a:pPr rtl="0"/>
            <a:fld id="{5641018C-6CAF-B84E-B92C-ECB119457FBA}" type="slidenum">
              <a:rPr/>
              <a:t>53</a:t>
            </a:fld>
          </a:p>
        </p:txBody>
      </p:sp>
    </p:spTree>
    <p:extLst>
      <p:ext uri="{BB962C8B-B14F-4D97-AF65-F5344CB8AC3E}">
        <p14:creationId xmlns:p14="http://schemas.microsoft.com/office/powerpoint/2010/main" val="35797670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12.6 Amenazas en la WLAN</a:t>
            </a:r>
          </a:p>
          <a:p>
            <a:pPr rtl="0"/>
            <a:r>
              <a:rPr lang="es-419"/>
              <a:t>12.6.5 – Ataque Intermediario</a:t>
            </a:r>
          </a:p>
          <a:p>
            <a:pPr rtl="0"/>
            <a:r>
              <a:rPr lang="es-419"/>
              <a:t>12.6.6 – Verifique su Comprensión - Componentes de WLAN</a:t>
            </a:r>
          </a:p>
        </p:txBody>
      </p:sp>
      <p:sp>
        <p:nvSpPr>
          <p:cNvPr id="4" name="Slide Number Placeholder 3"/>
          <p:cNvSpPr>
            <a:spLocks noGrp="1"/>
          </p:cNvSpPr>
          <p:nvPr>
            <p:ph type="sldNum" sz="quarter" idx="5"/>
          </p:nvPr>
        </p:nvSpPr>
        <p:spPr/>
        <p:txBody>
          <a:bodyPr/>
          <a:lstStyle/>
          <a:p>
            <a:pPr rtl="0"/>
            <a:fld id="{5641018C-6CAF-B84E-B92C-ECB119457FBA}" type="slidenum">
              <a:rPr/>
              <a:t>54</a:t>
            </a:fld>
          </a:p>
        </p:txBody>
      </p:sp>
    </p:spTree>
    <p:extLst>
      <p:ext uri="{BB962C8B-B14F-4D97-AF65-F5344CB8AC3E}">
        <p14:creationId xmlns:p14="http://schemas.microsoft.com/office/powerpoint/2010/main" val="41184736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12.7 – WLAN seguras</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55</a:t>
            </a:fld>
          </a:p>
        </p:txBody>
      </p:sp>
    </p:spTree>
    <p:extLst>
      <p:ext uri="{BB962C8B-B14F-4D97-AF65-F5344CB8AC3E}">
        <p14:creationId xmlns:p14="http://schemas.microsoft.com/office/powerpoint/2010/main" val="37638601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WLAN seguras</a:t>
            </a:r>
          </a:p>
          <a:p>
            <a:pPr rtl="0"/>
            <a:r>
              <a:rPr lang="es-419"/>
              <a:t>12.7 - WLAN seguras</a:t>
            </a:r>
          </a:p>
          <a:p>
            <a:pPr rtl="0"/>
            <a:r>
              <a:rPr lang="es-419"/>
              <a:t>12.7.1 – Video – WLAN seguras</a:t>
            </a:r>
          </a:p>
        </p:txBody>
      </p:sp>
      <p:sp>
        <p:nvSpPr>
          <p:cNvPr id="4" name="Slide Number Placeholder 3"/>
          <p:cNvSpPr>
            <a:spLocks noGrp="1"/>
          </p:cNvSpPr>
          <p:nvPr>
            <p:ph type="sldNum" sz="quarter" idx="5"/>
          </p:nvPr>
        </p:nvSpPr>
        <p:spPr/>
        <p:txBody>
          <a:bodyPr/>
          <a:lstStyle/>
          <a:p>
            <a:pPr rtl="0"/>
            <a:fld id="{5641018C-6CAF-B84E-B92C-ECB119457FBA}" type="slidenum">
              <a:rPr/>
              <a:t>56</a:t>
            </a:fld>
          </a:p>
        </p:txBody>
      </p:sp>
    </p:spTree>
    <p:extLst>
      <p:ext uri="{BB962C8B-B14F-4D97-AF65-F5344CB8AC3E}">
        <p14:creationId xmlns:p14="http://schemas.microsoft.com/office/powerpoint/2010/main" val="34792114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WLAN seguras</a:t>
            </a:r>
          </a:p>
          <a:p>
            <a:pPr rtl="0"/>
            <a:r>
              <a:rPr lang="es-419"/>
              <a:t>12.7.2 – Encubrimiento SSID y filtrado de direcciones MAC</a:t>
            </a:r>
          </a:p>
        </p:txBody>
      </p:sp>
      <p:sp>
        <p:nvSpPr>
          <p:cNvPr id="4" name="Slide Number Placeholder 3"/>
          <p:cNvSpPr>
            <a:spLocks noGrp="1"/>
          </p:cNvSpPr>
          <p:nvPr>
            <p:ph type="sldNum" sz="quarter" idx="5"/>
          </p:nvPr>
        </p:nvSpPr>
        <p:spPr/>
        <p:txBody>
          <a:bodyPr/>
          <a:lstStyle/>
          <a:p>
            <a:pPr rtl="0"/>
            <a:fld id="{5641018C-6CAF-B84E-B92C-ECB119457FBA}" type="slidenum">
              <a:rPr/>
              <a:t>57</a:t>
            </a:fld>
          </a:p>
        </p:txBody>
      </p:sp>
    </p:spTree>
    <p:extLst>
      <p:ext uri="{BB962C8B-B14F-4D97-AF65-F5344CB8AC3E}">
        <p14:creationId xmlns:p14="http://schemas.microsoft.com/office/powerpoint/2010/main" val="12296852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WLAN seguras</a:t>
            </a:r>
          </a:p>
          <a:p>
            <a:pPr rtl="0"/>
            <a:r>
              <a:rPr lang="es-419"/>
              <a:t>12.7.3 – 802.11 Métodos de Autenticación Originales</a:t>
            </a:r>
          </a:p>
        </p:txBody>
      </p:sp>
      <p:sp>
        <p:nvSpPr>
          <p:cNvPr id="4" name="Slide Number Placeholder 3"/>
          <p:cNvSpPr>
            <a:spLocks noGrp="1"/>
          </p:cNvSpPr>
          <p:nvPr>
            <p:ph type="sldNum" sz="quarter" idx="5"/>
          </p:nvPr>
        </p:nvSpPr>
        <p:spPr/>
        <p:txBody>
          <a:bodyPr/>
          <a:lstStyle/>
          <a:p>
            <a:pPr rtl="0"/>
            <a:fld id="{5641018C-6CAF-B84E-B92C-ECB119457FBA}" type="slidenum">
              <a:rPr/>
              <a:t>58</a:t>
            </a:fld>
          </a:p>
        </p:txBody>
      </p:sp>
    </p:spTree>
    <p:extLst>
      <p:ext uri="{BB962C8B-B14F-4D97-AF65-F5344CB8AC3E}">
        <p14:creationId xmlns:p14="http://schemas.microsoft.com/office/powerpoint/2010/main" val="174246951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WLAN Seguras</a:t>
            </a:r>
          </a:p>
          <a:p>
            <a:pPr rtl="0"/>
            <a:r>
              <a:rPr lang="es-419"/>
              <a:t>12.7.4 – Métodos de Autenticación de Clave Compartida</a:t>
            </a:r>
          </a:p>
        </p:txBody>
      </p:sp>
      <p:sp>
        <p:nvSpPr>
          <p:cNvPr id="4" name="Slide Number Placeholder 3"/>
          <p:cNvSpPr>
            <a:spLocks noGrp="1"/>
          </p:cNvSpPr>
          <p:nvPr>
            <p:ph type="sldNum" sz="quarter" idx="5"/>
          </p:nvPr>
        </p:nvSpPr>
        <p:spPr/>
        <p:txBody>
          <a:bodyPr/>
          <a:lstStyle/>
          <a:p>
            <a:pPr rtl="0"/>
            <a:fld id="{5641018C-6CAF-B84E-B92C-ECB119457FBA}" type="slidenum">
              <a:rPr/>
              <a:t>59</a:t>
            </a:fld>
          </a:p>
        </p:txBody>
      </p:sp>
    </p:spTree>
    <p:extLst>
      <p:ext uri="{BB962C8B-B14F-4D97-AF65-F5344CB8AC3E}">
        <p14:creationId xmlns:p14="http://schemas.microsoft.com/office/powerpoint/2010/main" val="38768536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WLAN seguras</a:t>
            </a:r>
          </a:p>
          <a:p>
            <a:pPr rtl="0"/>
            <a:r>
              <a:rPr lang="es-419"/>
              <a:t>12.7.5 – Autenticar a un Usuario Doméstico</a:t>
            </a:r>
          </a:p>
        </p:txBody>
      </p:sp>
      <p:sp>
        <p:nvSpPr>
          <p:cNvPr id="4" name="Slide Number Placeholder 3"/>
          <p:cNvSpPr>
            <a:spLocks noGrp="1"/>
          </p:cNvSpPr>
          <p:nvPr>
            <p:ph type="sldNum" sz="quarter" idx="5"/>
          </p:nvPr>
        </p:nvSpPr>
        <p:spPr/>
        <p:txBody>
          <a:bodyPr/>
          <a:lstStyle/>
          <a:p>
            <a:pPr rtl="0"/>
            <a:fld id="{5641018C-6CAF-B84E-B92C-ECB119457FBA}" type="slidenum">
              <a:rPr/>
              <a:t>60</a:t>
            </a:fld>
          </a:p>
        </p:txBody>
      </p:sp>
    </p:spTree>
    <p:extLst>
      <p:ext uri="{BB962C8B-B14F-4D97-AF65-F5344CB8AC3E}">
        <p14:creationId xmlns:p14="http://schemas.microsoft.com/office/powerpoint/2010/main" val="25121304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a:t>
            </a:r>
          </a:p>
          <a:p>
            <a:pPr rtl="0"/>
            <a:r>
              <a:rPr lang="es-419"/>
              <a:t>WLAN Seguras</a:t>
            </a:r>
          </a:p>
          <a:p>
            <a:pPr rtl="0"/>
            <a:r>
              <a:rPr lang="es-419"/>
              <a:t>12.7.6 – Métodos de Encriptación</a:t>
            </a:r>
          </a:p>
        </p:txBody>
      </p:sp>
      <p:sp>
        <p:nvSpPr>
          <p:cNvPr id="4" name="Slide Number Placeholder 3"/>
          <p:cNvSpPr>
            <a:spLocks noGrp="1"/>
          </p:cNvSpPr>
          <p:nvPr>
            <p:ph type="sldNum" sz="quarter" idx="5"/>
          </p:nvPr>
        </p:nvSpPr>
        <p:spPr/>
        <p:txBody>
          <a:bodyPr/>
          <a:lstStyle/>
          <a:p>
            <a:pPr rtl="0"/>
            <a:fld id="{5641018C-6CAF-B84E-B92C-ECB119457FBA}" type="slidenum">
              <a:rPr/>
              <a:t>61</a:t>
            </a:fld>
          </a:p>
        </p:txBody>
      </p:sp>
    </p:spTree>
    <p:extLst>
      <p:ext uri="{BB962C8B-B14F-4D97-AF65-F5344CB8AC3E}">
        <p14:creationId xmlns:p14="http://schemas.microsoft.com/office/powerpoint/2010/main" val="310769179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WLAN Seguras</a:t>
            </a:r>
          </a:p>
          <a:p>
            <a:pPr rtl="0"/>
            <a:r>
              <a:rPr lang="es-419"/>
              <a:t>12.7.7 – Autenticación en la Empresa</a:t>
            </a:r>
          </a:p>
        </p:txBody>
      </p:sp>
      <p:sp>
        <p:nvSpPr>
          <p:cNvPr id="4" name="Slide Number Placeholder 3"/>
          <p:cNvSpPr>
            <a:spLocks noGrp="1"/>
          </p:cNvSpPr>
          <p:nvPr>
            <p:ph type="sldNum" sz="quarter" idx="5"/>
          </p:nvPr>
        </p:nvSpPr>
        <p:spPr/>
        <p:txBody>
          <a:bodyPr/>
          <a:lstStyle/>
          <a:p>
            <a:pPr rtl="0"/>
            <a:fld id="{5641018C-6CAF-B84E-B92C-ECB119457FBA}" type="slidenum">
              <a:rPr/>
              <a:t>62</a:t>
            </a:fld>
          </a:p>
        </p:txBody>
      </p:sp>
    </p:spTree>
    <p:extLst>
      <p:ext uri="{BB962C8B-B14F-4D97-AF65-F5344CB8AC3E}">
        <p14:creationId xmlns:p14="http://schemas.microsoft.com/office/powerpoint/2010/main" val="37546915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la WLAN</a:t>
            </a:r>
          </a:p>
          <a:p>
            <a:pPr rtl="0"/>
            <a:r>
              <a:rPr lang="es-419"/>
              <a:t>12.7 – WLAN Seguras</a:t>
            </a:r>
          </a:p>
          <a:p>
            <a:pPr rtl="0"/>
            <a:r>
              <a:rPr lang="es-419"/>
              <a:t>12.7.8 – WPA 3</a:t>
            </a:r>
          </a:p>
          <a:p>
            <a:pPr rtl="0"/>
            <a:r>
              <a:rPr lang="es-419"/>
              <a:t>12.7.9 – Verifique su Comprensión - WLAN Seguras</a:t>
            </a:r>
          </a:p>
        </p:txBody>
      </p:sp>
      <p:sp>
        <p:nvSpPr>
          <p:cNvPr id="4" name="Slide Number Placeholder 3"/>
          <p:cNvSpPr>
            <a:spLocks noGrp="1"/>
          </p:cNvSpPr>
          <p:nvPr>
            <p:ph type="sldNum" sz="quarter" idx="5"/>
          </p:nvPr>
        </p:nvSpPr>
        <p:spPr/>
        <p:txBody>
          <a:bodyPr/>
          <a:lstStyle/>
          <a:p>
            <a:pPr rtl="0"/>
            <a:fld id="{5641018C-6CAF-B84E-B92C-ECB119457FBA}" type="slidenum">
              <a:rPr/>
              <a:t>63</a:t>
            </a:fld>
          </a:p>
        </p:txBody>
      </p:sp>
    </p:spTree>
    <p:extLst>
      <p:ext uri="{BB962C8B-B14F-4D97-AF65-F5344CB8AC3E}">
        <p14:creationId xmlns:p14="http://schemas.microsoft.com/office/powerpoint/2010/main" val="256963798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12 - Conceptos de WLAN </a:t>
            </a:r>
          </a:p>
          <a:p>
            <a:pPr rtl="0"/>
            <a:r>
              <a:rPr lang="es-419"/>
              <a:t>12.8 – Práctica del Módulo y Cuestionario</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64</a:t>
            </a:fld>
          </a:p>
        </p:txBody>
      </p:sp>
    </p:spTree>
    <p:extLst>
      <p:ext uri="{BB962C8B-B14F-4D97-AF65-F5344CB8AC3E}">
        <p14:creationId xmlns:p14="http://schemas.microsoft.com/office/powerpoint/2010/main" val="189226657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a:t>65</a:t>
            </a:fld>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r>
              <a:rPr lang="es-419"/>
              <a:t>12 - Conceptos de la WLAN </a:t>
            </a:r>
          </a:p>
          <a:p>
            <a:pPr rtl="0"/>
            <a:r>
              <a:rPr lang="es-419"/>
              <a:t>12.8 – Práctica del Módulo y Cuestionario</a:t>
            </a:r>
          </a:p>
          <a:p>
            <a:pPr rtl="0"/>
            <a:r>
              <a:rPr lang="es-419"/>
              <a:t>12.8.1 – ¿Qué aprendí en este módulo?</a:t>
            </a:r>
          </a:p>
          <a:p>
            <a:pPr rtl="0"/>
            <a:r>
              <a:rPr lang="es-419"/>
              <a:t>12.8.2 – Prueba de Módulo - Conceptos de WLAN</a:t>
            </a:r>
          </a:p>
        </p:txBody>
      </p:sp>
    </p:spTree>
    <p:extLst>
      <p:ext uri="{BB962C8B-B14F-4D97-AF65-F5344CB8AC3E}">
        <p14:creationId xmlns:p14="http://schemas.microsoft.com/office/powerpoint/2010/main" val="14768241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a:t>66</a:t>
            </a:fld>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67</a:t>
            </a:fld>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fontAlgn="auto">
                <a:spcBef>
                  <a:spcPts val="0"/>
                </a:spcBef>
                <a:spcAft>
                  <a:spcPts val="0"/>
                </a:spcAft>
                <a:defRPr/>
              </a:pPr>
              <a:t>‹#›</a:t>
            </a:fld>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es-419">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rtl="0">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fontAlgn="auto">
                <a:spcBef>
                  <a:spcPts val="0"/>
                </a:spcBef>
                <a:spcAft>
                  <a:spcPts val="0"/>
                </a:spcAft>
                <a:defRPr/>
              </a:pPr>
              <a:t>‹#›</a:t>
            </a:fld>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rtl="0">
              <a:spcBef>
                <a:spcPts val="0"/>
              </a:spcBef>
              <a:spcAft>
                <a:spcPts val="0"/>
              </a:spcAft>
              <a:defRPr/>
            </a:pPr>
            <a:r>
              <a:rPr sz="600" lang="es-419">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11.xml.rels><?xml version="1.0" encoding="utf-8"?>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2.xml.rels><?xml version="1.0" encoding="utf-8"?>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3.xml.rels><?xml version="1.0" encoding="utf-8"?>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4.xml.rels><?xml version="1.0" encoding="utf-8"?>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5.xml.rels><?xml version="1.0" encoding="utf-8"?>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6.xml.rels><?xml version="1.0" encoding="utf-8"?>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18.xml.rels><?xml version="1.0" encoding="utf-8"?>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7.jpg"/></Relationships>
</file>

<file path=ppt/slides/_rels/slide19.xml.rels><?xml version="1.0" encoding="utf-8"?>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1.xml.rels><?xml version="1.0" encoding="utf-8"?>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23.xml.rels><?xml version="1.0" encoding="utf-8"?>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4.xml.rels><?xml version="1.0" encoding="utf-8"?>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8.xml.rels><?xml version="1.0" encoding="utf-8"?>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jpg"/></Relationships>
</file>

<file path=ppt/slides/_rels/slide29.xml.rels><?xml version="1.0" encoding="utf-8"?>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tags" Target="../tags/tag17.xml"/></Relationships>
</file>

<file path=ppt/slides/_rels/slide30.xml.rels><?xml version="1.0" encoding="utf-8"?>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32.xml.rels><?xml version="1.0" encoding="utf-8"?>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33.xml.rels><?xml version="1.0" encoding="utf-8"?>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5.xml.rels><?xml version="1.0" encoding="utf-8"?>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6.xml.rels><?xml version="1.0" encoding="utf-8"?>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7.xml.rels><?xml version="1.0" encoding="utf-8"?>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25.png"/></Relationships>
</file>

<file path=ppt/slides/_rels/slide38.xml.rels><?xml version="1.0" encoding="utf-8"?>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tags" Target="../tags/tag18.xml"/></Relationships>
</file>

<file path=ppt/slides/_rels/slide39.xml.rels><?xml version="1.0" encoding="utf-8"?>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0.xml.rels><?xml version="1.0" encoding="utf-8"?>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1.xml.rels><?xml version="1.0" encoding="utf-8"?>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2.xml.rels><?xml version="1.0" encoding="utf-8"?>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4.xml.rels><?xml version="1.0" encoding="utf-8"?>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45.xml.rels><?xml version="1.0" encoding="utf-8"?>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6.xml.rels><?xml version="1.0" encoding="utf-8"?>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7.xml.rels><?xml version="1.0" encoding="utf-8"?>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8.xml.rels><?xml version="1.0" encoding="utf-8"?>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9.xml.rels><?xml version="1.0" encoding="utf-8"?>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20.xml"/></Relationships>
</file>

<file path=ppt/slides/_rels/slide50.xml.rels><?xml version="1.0" encoding="utf-8"?>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2.xml.rels><?xml version="1.0" encoding="utf-8"?>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4.xml.rels><?xml version="1.0" encoding="utf-8"?>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5.xml.rels><?xml version="1.0" encoding="utf-8"?>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56.xml.rels><?xml version="1.0" encoding="utf-8"?>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7.xml.rels><?xml version="1.0" encoding="utf-8"?>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8.xml.rels><?xml version="1.0" encoding="utf-8"?>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9.xml.rels><?xml version="1.0" encoding="utf-8"?>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60.xml.rels><?xml version="1.0" encoding="utf-8"?>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1.xml.rels><?xml version="1.0" encoding="utf-8"?>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2.xml.rels><?xml version="1.0" encoding="utf-8"?>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3.xml.rels><?xml version="1.0" encoding="utf-8"?>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4.xml.rels><?xml version="1.0" encoding="utf-8"?>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65.xml.rels><?xml version="1.0" encoding="utf-8"?>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23.xml"/></Relationships>
</file>

<file path=ppt/slides/_rels/slide66.xml.rels><?xml version="1.0" encoding="utf-8"?>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3.xml"/><Relationship Id="rId1" Type="http://schemas.openxmlformats.org/officeDocument/2006/relationships/tags" Target="../tags/tag24.xml"/></Relationships>
</file>

<file path=ppt/slides/_rels/slide67.xml.rels><?xml version="1.0" encoding="utf-8"?>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0.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pPr rtl="0"/>
            <a:r>
              <a:rPr lang="es-419">
                <a:solidFill>
                  <a:schemeClr val="accent5">
                    <a:lumMod val="40000"/>
                    <a:lumOff val="60000"/>
                  </a:schemeClr>
                </a:solidFill>
              </a:rPr>
              <a:t>Módulo 12: Conceptos de WLAN</a:t>
            </a:r>
          </a:p>
        </p:txBody>
      </p:sp>
      <p:sp>
        <p:nvSpPr>
          <p:cNvPr id="5" name="Text Placeholder 4"/>
          <p:cNvSpPr>
            <a:spLocks noGrp="1"/>
          </p:cNvSpPr>
          <p:nvPr>
            <p:ph type="body" sz="quarter" idx="13"/>
          </p:nvPr>
        </p:nvSpPr>
        <p:spPr>
          <a:xfrm>
            <a:off x="469497" y="3127609"/>
            <a:ext cx="5925246" cy="299001"/>
          </a:xfrm>
        </p:spPr>
        <p:txBody>
          <a:bodyPr/>
          <a:lstStyle/>
          <a:p>
            <a:pPr rtl="0"/>
            <a:r>
              <a:rPr lang="es-419">
                <a:solidFill>
                  <a:schemeClr val="bg2">
                    <a:lumMod val="40000"/>
                    <a:lumOff val="60000"/>
                  </a:schemeClr>
                </a:solidFill>
              </a:rPr>
              <a:t>Materiales del Instructor</a:t>
            </a:r>
          </a:p>
        </p:txBody>
      </p:sp>
      <p:sp>
        <p:nvSpPr>
          <p:cNvPr id="7" name="Subtitle 6"/>
          <p:cNvSpPr>
            <a:spLocks noGrp="1"/>
          </p:cNvSpPr>
          <p:nvPr>
            <p:ph type="subTitle" idx="1"/>
          </p:nvPr>
        </p:nvSpPr>
        <p:spPr>
          <a:xfrm>
            <a:off x="469496" y="3809526"/>
            <a:ext cx="3633166" cy="902174"/>
          </a:xfrm>
        </p:spPr>
        <p:txBody>
          <a:bodyPr/>
          <a:lstStyle/>
          <a:p>
            <a:pPr lvl="0" defTabSz="457200" fontAlgn="auto" rtl="0">
              <a:lnSpc>
                <a:spcPct val="100000"/>
              </a:lnSpc>
              <a:spcBef>
                <a:spcPts val="0"/>
              </a:spcBef>
              <a:spcAft>
                <a:spcPts val="0"/>
              </a:spcAft>
              <a:buClrTx/>
              <a:buSzTx/>
              <a:defRPr/>
            </a:pPr>
            <a:r>
              <a:rPr lang="es-419">
                <a:solidFill>
                  <a:schemeClr val="accent5">
                    <a:lumMod val="40000"/>
                    <a:lumOff val="60000"/>
                  </a:schemeClr>
                </a:solidFill>
              </a:rPr>
              <a:t>Switching, Routing y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pPr rtl="0"/>
            <a:r>
              <a:rPr lang="es-419"/>
              <a:t>Instructor Materials – Module 6 Planning Guide</a:t>
            </a:r>
          </a:p>
        </p:txBody>
      </p:sp>
      <p:sp>
        <p:nvSpPr>
          <p:cNvPr id="4099" name="Rectangle 34"/>
          <p:cNvSpPr>
            <a:spLocks noGrp="1" noChangeArrowheads="1"/>
          </p:cNvSpPr>
          <p:nvPr>
            <p:ph idx="1"/>
          </p:nvPr>
        </p:nvSpPr>
        <p:spPr>
          <a:xfrm>
            <a:off x="145357" y="808180"/>
            <a:ext cx="8461315" cy="3818904"/>
          </a:xfrm>
        </p:spPr>
        <p:txBody>
          <a:bodyPr/>
          <a:lstStyle/>
          <a:p>
            <a:pPr marL="0" indent="0" rtl="0">
              <a:buNone/>
            </a:pPr>
            <a:r>
              <a:rPr lang="es-419"/>
              <a:t>This PowerPoint deck is divided in two parts:</a:t>
            </a:r>
          </a:p>
          <a:p>
            <a:pPr rtl="0">
              <a:buFont typeface="Arial" panose="020B0604020202020204" pitchFamily="34" charset="0"/>
              <a:buChar char="•"/>
            </a:pPr>
            <a:r>
              <a:rPr lang="es-419"/>
              <a:t>Instructor Planning Guide</a:t>
            </a:r>
          </a:p>
          <a:p>
            <a:pPr lvl="1" rtl="0"/>
            <a:r>
              <a:rPr lang="es-419"/>
              <a:t>Information to help you become familiar with the module</a:t>
            </a:r>
          </a:p>
          <a:p>
            <a:pPr lvl="1" rtl="0"/>
            <a:r>
              <a:rPr lang="es-419"/>
              <a:t>Teaching aids</a:t>
            </a:r>
          </a:p>
          <a:p>
            <a:pPr rtl="0">
              <a:buFont typeface="Arial" panose="020B0604020202020204" pitchFamily="34" charset="0"/>
              <a:buChar char="•"/>
            </a:pPr>
            <a:r>
              <a:rPr lang="es-419"/>
              <a:t>Instructor Class Presentation</a:t>
            </a:r>
          </a:p>
          <a:p>
            <a:pPr lvl="1" rtl="0"/>
            <a:r>
              <a:rPr lang="es-419"/>
              <a:t>Optional slides that you can use in the classroom</a:t>
            </a:r>
          </a:p>
          <a:p>
            <a:pPr lvl="1" rtl="0"/>
            <a:r>
              <a:rPr lang="es-419"/>
              <a:t>Begins on slide # 12</a:t>
            </a:r>
          </a:p>
          <a:p>
            <a:pPr marL="142875" lvl="1" indent="0" algn="ctr" rtl="0">
              <a:buNone/>
            </a:pPr>
            <a:r>
              <a:rPr sz="1600" b="true" lang="es-419"/>
              <a:t>Note</a:t>
            </a:r>
            <a:r>
              <a:rPr sz="1600" lang="es-419"/>
              <a:t>: Remove the Planning Guide from this presentation before sharing with anyone.</a:t>
            </a:r>
          </a:p>
          <a:p>
            <a:pPr marL="0" indent="0" rtl="0">
              <a:buNone/>
            </a:pPr>
            <a:r>
              <a:rPr sz="1600" b="true" lang="es-419">
                <a:solidFill>
                  <a:schemeClr val="accent4"/>
                </a:solidFill>
              </a:rPr>
              <a:t>For additional help and resources go to the Instructor Home Page and Course Resources for this course. You also can visit the professional development site on netacad.com, the official Cisco Networking Academy Facebook page, or Instructor Only FB group.</a:t>
            </a: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pPr rtl="0"/>
            <a:r>
              <a:rPr lang="es-419"/>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rtl="0"/>
            <a:r>
              <a:rPr lang="es-419"/>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pPr rtl="0"/>
                      <a:r>
                        <a:rPr lang="es-419"/>
                        <a:t>Feature</a:t>
                      </a:r>
                    </a:p>
                  </a:txBody>
                  <a:tcPr/>
                </a:tc>
                <a:tc>
                  <a:txBody>
                    <a:bodyPr/>
                    <a:lstStyle/>
                    <a:p>
                      <a:pPr rtl="0"/>
                      <a:r>
                        <a:rPr lang="es-419"/>
                        <a:t>Description</a:t>
                      </a:r>
                    </a:p>
                  </a:txBody>
                  <a:tcPr/>
                </a:tc>
                <a:extLst>
                  <a:ext uri="{0D108BD9-81ED-4DB2-BD59-A6C34878D82A}">
                    <a16:rowId xmlns:a16="http://schemas.microsoft.com/office/drawing/2014/main" val="367710602"/>
                  </a:ext>
                </a:extLst>
              </a:tr>
              <a:tr h="331556">
                <a:tc>
                  <a:txBody>
                    <a:bodyPr/>
                    <a:lstStyle/>
                    <a:p>
                      <a:pPr algn="l" fontAlgn="b" rtl="0"/>
                      <a:r>
                        <a:rPr sz="1400" b="false" i="false" u="none" strike="noStrike" lang="es-419">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s-419"/>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Interactive Activities</a:t>
                      </a:r>
                    </a:p>
                  </a:txBody>
                  <a:tcPr marL="9525" marR="9525" marT="9525" marB="0" anchor="b"/>
                </a:tc>
                <a:tc>
                  <a:txBody>
                    <a:bodyPr/>
                    <a:lstStyle/>
                    <a:p>
                      <a:pPr rtl="0"/>
                      <a:r>
                        <a:rPr lang="es-419"/>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rtl="0"/>
                      <a:r>
                        <a:rPr sz="1400" b="false" i="false" u="none" strike="noStrike" lang="es-419">
                          <a:solidFill>
                            <a:srgbClr val="000000"/>
                          </a:solidFill>
                          <a:effectLst/>
                          <a:latin typeface="+mn-lt"/>
                        </a:rPr>
                        <a:t>Syntax Checker</a:t>
                      </a:r>
                    </a:p>
                  </a:txBody>
                  <a:tcPr marL="9525" marR="9525" marT="9525" marB="0" anchor="b"/>
                </a:tc>
                <a:tc>
                  <a:txBody>
                    <a:bodyPr/>
                    <a:lstStyle/>
                    <a:p>
                      <a:pPr rtl="0"/>
                      <a:r>
                        <a:rPr lang="es-419"/>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rtl="0"/>
                      <a:r>
                        <a:rPr sz="1400" b="false" i="false" u="none" strike="noStrike" lang="es-419">
                          <a:solidFill>
                            <a:srgbClr val="000000"/>
                          </a:solidFill>
                          <a:effectLst/>
                          <a:latin typeface="+mn-lt"/>
                        </a:rPr>
                        <a:t>PT Activity</a:t>
                      </a:r>
                    </a:p>
                  </a:txBody>
                  <a:tcPr marL="9525" marR="9525" marT="9525" marB="0" anchor="b"/>
                </a:tc>
                <a:tc>
                  <a:txBody>
                    <a:bodyPr/>
                    <a:lstStyle/>
                    <a:p>
                      <a:pPr rtl="0"/>
                      <a:r>
                        <a:rPr lang="es-419"/>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pPr rtl="0"/>
            <a:r>
              <a:rPr lang="es-419"/>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rtl="0"/>
            <a:r>
              <a:rPr lang="es-419"/>
              <a:t>To facilitate learning, the following features may be included in this module:</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rtl="0"/>
                      <a:r>
                        <a:rPr sz="1400" b="true" i="false" u="none" strike="noStrike" lang="es-419">
                          <a:solidFill>
                            <a:schemeClr val="bg1"/>
                          </a:solidFill>
                          <a:effectLst/>
                          <a:latin typeface="+mn-lt"/>
                        </a:rPr>
                        <a:t>Feature</a:t>
                      </a:r>
                    </a:p>
                  </a:txBody>
                  <a:tcPr marL="9525" marR="9525" marT="9525" marB="0" anchor="b"/>
                </a:tc>
                <a:tc>
                  <a:txBody>
                    <a:bodyPr/>
                    <a:lstStyle/>
                    <a:p>
                      <a:pPr rtl="0"/>
                      <a:r>
                        <a:rPr lang="es-419"/>
                        <a:t>Description</a:t>
                      </a:r>
                    </a:p>
                  </a:txBody>
                  <a:tcPr/>
                </a:tc>
                <a:extLst>
                  <a:ext uri="{0D108BD9-81ED-4DB2-BD59-A6C34878D82A}">
                    <a16:rowId xmlns:a16="http://schemas.microsoft.com/office/drawing/2014/main" val="3768427975"/>
                  </a:ext>
                </a:extLst>
              </a:tr>
              <a:tr h="265091">
                <a:tc>
                  <a:txBody>
                    <a:bodyPr/>
                    <a:lstStyle/>
                    <a:p>
                      <a:pPr algn="l" fontAlgn="b" rtl="0"/>
                      <a:r>
                        <a:rPr sz="1400" b="false" i="false" u="none" strike="noStrike" lang="es-419">
                          <a:solidFill>
                            <a:srgbClr val="000000"/>
                          </a:solidFill>
                          <a:effectLst/>
                          <a:latin typeface="+mn-lt"/>
                        </a:rPr>
                        <a:t>Hands-On Labs</a:t>
                      </a:r>
                    </a:p>
                  </a:txBody>
                  <a:tcPr marL="9525" marR="9525" marT="9525" marB="0" anchor="b"/>
                </a:tc>
                <a:tc>
                  <a:txBody>
                    <a:bodyPr/>
                    <a:lstStyle/>
                    <a:p>
                      <a:pPr rtl="0"/>
                      <a:r>
                        <a:rPr lang="es-419"/>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sz="1400" b="false" i="false" u="none" strike="noStrike" lang="es-419">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pPr rtl="0"/>
                      <a:r>
                        <a:rPr lang="es-419"/>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rtl="0"/>
                      <a:r>
                        <a:rPr sz="1400" b="false" i="false" u="none" strike="noStrike" lang="es-419">
                          <a:solidFill>
                            <a:srgbClr val="000000"/>
                          </a:solidFill>
                          <a:effectLst/>
                          <a:latin typeface="+mn-lt"/>
                        </a:rPr>
                        <a:t>Module Quizzes</a:t>
                      </a:r>
                    </a:p>
                  </a:txBody>
                  <a:tcPr marL="9525" marR="9525" marT="9525" marB="0" anchor="b"/>
                </a:tc>
                <a:tc>
                  <a:txBody>
                    <a:bodyPr/>
                    <a:lstStyle/>
                    <a:p>
                      <a:pPr rtl="0"/>
                      <a:r>
                        <a:rPr lang="es-419"/>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rtl="0"/>
                      <a:r>
                        <a:rPr sz="1400" b="false" i="false" u="none" strike="noStrike" lang="es-419">
                          <a:solidFill>
                            <a:srgbClr val="000000"/>
                          </a:solidFill>
                          <a:effectLst/>
                          <a:latin typeface="+mn-lt"/>
                        </a:rPr>
                        <a:t>Module Summary</a:t>
                      </a:r>
                    </a:p>
                  </a:txBody>
                  <a:tcPr marL="9525" marR="9525" marT="9525" marB="0" anchor="b"/>
                </a:tc>
                <a:tc>
                  <a:txBody>
                    <a:bodyPr/>
                    <a:lstStyle/>
                    <a:p>
                      <a:pPr rtl="0"/>
                      <a:r>
                        <a:rPr lang="es-419"/>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rtl="0"/>
            <a:r>
              <a:rPr lang="es-419"/>
              <a:t>Check Your Understanding</a:t>
            </a:r>
          </a:p>
        </p:txBody>
      </p:sp>
      <p:sp>
        <p:nvSpPr>
          <p:cNvPr id="7171" name="Rectangle 34"/>
          <p:cNvSpPr>
            <a:spLocks noGrp="1" noChangeArrowheads="1"/>
          </p:cNvSpPr>
          <p:nvPr>
            <p:ph idx="1"/>
          </p:nvPr>
        </p:nvSpPr>
        <p:spPr>
          <a:xfrm>
            <a:off x="145357" y="965201"/>
            <a:ext cx="8878570" cy="3643747"/>
          </a:xfrm>
        </p:spPr>
        <p:txBody>
          <a:bodyPr/>
          <a:lstStyle/>
          <a:p>
            <a:pPr rtl="0">
              <a:spcBef>
                <a:spcPct val="30000"/>
              </a:spcBef>
              <a:buFont typeface="Arial" panose="020B0604020202020204" pitchFamily="34" charset="0"/>
              <a:buChar char="•"/>
            </a:pPr>
            <a:r>
              <a:rPr lang="es-419"/>
              <a:t>Check Your Understanding activities are designed to let students quickly determine if they understand the content and can proceed, or if they need to review. </a:t>
            </a:r>
          </a:p>
          <a:p>
            <a:pPr rtl="0">
              <a:spcBef>
                <a:spcPct val="30000"/>
              </a:spcBef>
              <a:buFont typeface="Arial" panose="020B0604020202020204" pitchFamily="34" charset="0"/>
              <a:buChar char="•"/>
            </a:pPr>
            <a:r>
              <a:rPr lang="es-419"/>
              <a:t>Check Your Understanding activities </a:t>
            </a:r>
            <a:r>
              <a:rPr b="true" i="true" lang="es-419"/>
              <a:t>do not </a:t>
            </a:r>
            <a:r>
              <a:rPr lang="es-419"/>
              <a:t>affect student grades.</a:t>
            </a:r>
          </a:p>
          <a:p>
            <a:pPr rtl="0">
              <a:spcBef>
                <a:spcPct val="30000"/>
              </a:spcBef>
              <a:buFont typeface="Arial" panose="020B0604020202020204" pitchFamily="34" charset="0"/>
              <a:buChar char="•"/>
            </a:pPr>
            <a:r>
              <a:rPr lang="es-419"/>
              <a:t>There are no separate slides for these activities in the PPT. They are listed in the notes area of the slide that appears before these activities.</a:t>
            </a:r>
          </a:p>
          <a:p>
            <a:pPr>
              <a:spcBef>
                <a:spcPct val="30000"/>
              </a:spcBef>
              <a:buFont typeface="Arial" panose="020B0604020202020204" pitchFamily="34" charset="0"/>
              <a:buChar char="•"/>
            </a:pPr>
            <a:endParaRPr lang="en-US" dirty="0"/>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3447270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rtl="0"/>
            <a:r>
              <a:rPr lang="es-419"/>
              <a:t>Module 12: Activities</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sz="1600" lang="es-419"/>
              <a:t>What activities are associated with this module?</a:t>
            </a:r>
          </a:p>
          <a:p>
            <a:pPr marL="0" indent="0">
              <a:spcBef>
                <a:spcPct val="30000"/>
              </a:spcBef>
              <a:buNone/>
            </a:pPr>
            <a:endParaRPr lang="en-US" sz="1600"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114457677"/>
              </p:ext>
            </p:extLst>
          </p:nvPr>
        </p:nvGraphicFramePr>
        <p:xfrm>
          <a:off x="427595" y="1333040"/>
          <a:ext cx="8288809" cy="3263125"/>
        </p:xfrm>
        <a:graphic>
          <a:graphicData uri="http://schemas.openxmlformats.org/drawingml/2006/table">
            <a:tbl>
              <a:tblPr firstRow="1" bandRow="1">
                <a:tableStyleId>{5C22544A-7EE6-4342-B048-85BDC9FD1C3A}</a:tableStyleId>
              </a:tblPr>
              <a:tblGrid>
                <a:gridCol w="1137886">
                  <a:extLst>
                    <a:ext uri="{9D8B030D-6E8A-4147-A177-3AD203B41FA5}">
                      <a16:colId xmlns:a16="http://schemas.microsoft.com/office/drawing/2014/main" val="20001"/>
                    </a:ext>
                  </a:extLst>
                </a:gridCol>
                <a:gridCol w="1871143">
                  <a:extLst>
                    <a:ext uri="{9D8B030D-6E8A-4147-A177-3AD203B41FA5}">
                      <a16:colId xmlns:a16="http://schemas.microsoft.com/office/drawing/2014/main" val="3156509146"/>
                    </a:ext>
                  </a:extLst>
                </a:gridCol>
                <a:gridCol w="4109522">
                  <a:extLst>
                    <a:ext uri="{9D8B030D-6E8A-4147-A177-3AD203B41FA5}">
                      <a16:colId xmlns:a16="http://schemas.microsoft.com/office/drawing/2014/main" val="20002"/>
                    </a:ext>
                  </a:extLst>
                </a:gridCol>
                <a:gridCol w="1170258">
                  <a:extLst>
                    <a:ext uri="{9D8B030D-6E8A-4147-A177-3AD203B41FA5}">
                      <a16:colId xmlns:a16="http://schemas.microsoft.com/office/drawing/2014/main" val="20003"/>
                    </a:ext>
                  </a:extLst>
                </a:gridCol>
              </a:tblGrid>
              <a:tr h="316509">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sz="1200" lang="es-419"/>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t>Activity Type</a:t>
                      </a:r>
                    </a:p>
                  </a:txBody>
                  <a:tcPr marL="68580" marR="68580" marT="34290" marB="34290" anchor="ctr"/>
                </a:tc>
                <a:tc>
                  <a:txBody>
                    <a:bodyPr/>
                    <a:lstStyle/>
                    <a:p>
                      <a:pPr rtl="0"/>
                      <a:r>
                        <a:rPr sz="1200" lang="es-419"/>
                        <a:t>Activity Name</a:t>
                      </a:r>
                    </a:p>
                  </a:txBody>
                  <a:tcPr marL="68580" marR="68580" marT="34290" marB="34290" anchor="ctr"/>
                </a:tc>
                <a:tc>
                  <a:txBody>
                    <a:bodyPr/>
                    <a:lstStyle/>
                    <a:p>
                      <a:pPr rtl="0"/>
                      <a:r>
                        <a:rPr sz="1200" lang="es-419"/>
                        <a:t>Optional?</a:t>
                      </a:r>
                    </a:p>
                  </a:txBody>
                  <a:tcPr marL="68580" marR="68580" marT="34290" marB="34290" anchor="ctr"/>
                </a:tc>
                <a:extLst>
                  <a:ext uri="{0D108BD9-81ED-4DB2-BD59-A6C34878D82A}">
                    <a16:rowId xmlns:a16="http://schemas.microsoft.com/office/drawing/2014/main" val="10000"/>
                  </a:ext>
                </a:extLst>
              </a:tr>
              <a:tr h="368327">
                <a:tc>
                  <a:txBody>
                    <a:bodyPr/>
                    <a:lstStyle/>
                    <a:p>
                      <a:pPr algn="ctr" rtl="0"/>
                      <a:r>
                        <a:rPr sz="1100" lang="es-419"/>
                        <a:t>12.1.7</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t>Check Your Understanding</a:t>
                      </a:r>
                    </a:p>
                  </a:txBody>
                  <a:tcPr marL="68580" marR="68580" marT="34290" marB="34290" anchor="ctr"/>
                </a:tc>
                <a:tc>
                  <a:txBody>
                    <a:bodyPr/>
                    <a:lstStyle/>
                    <a:p>
                      <a:pPr rtl="0"/>
                      <a:r>
                        <a:rPr sz="1100" lang="es-419"/>
                        <a:t>Introduction to Wireless</a:t>
                      </a:r>
                    </a:p>
                  </a:txBody>
                  <a:tcPr marL="68580" marR="68580" marT="34290" marB="34290" anchor="ctr"/>
                </a:tc>
                <a:tc>
                  <a:txBody>
                    <a:bodyPr/>
                    <a:lstStyle/>
                    <a:p>
                      <a:pPr rtl="0"/>
                      <a:r>
                        <a:rPr sz="1100" lang="es-419"/>
                        <a:t>Recommended</a:t>
                      </a:r>
                    </a:p>
                  </a:txBody>
                  <a:tcPr marL="68580" marR="68580" marT="34290" marB="34290" anchor="ctr"/>
                </a:tc>
                <a:extLst>
                  <a:ext uri="{0D108BD9-81ED-4DB2-BD59-A6C34878D82A}">
                    <a16:rowId xmlns:a16="http://schemas.microsoft.com/office/drawing/2014/main" val="10001"/>
                  </a:ext>
                </a:extLst>
              </a:tr>
              <a:tr h="368327">
                <a:tc>
                  <a:txBody>
                    <a:bodyPr/>
                    <a:lstStyle/>
                    <a:p>
                      <a:pPr algn="ctr" rtl="0"/>
                      <a:r>
                        <a:rPr sz="1100" lang="es-419"/>
                        <a:t>12.2.1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t>Video</a:t>
                      </a:r>
                    </a:p>
                  </a:txBody>
                  <a:tcPr marL="68580" marR="68580" marT="34290" marB="34290" anchor="ctr"/>
                </a:tc>
                <a:tc>
                  <a:txBody>
                    <a:bodyPr/>
                    <a:lstStyle/>
                    <a:p>
                      <a:pPr rtl="0"/>
                      <a:r>
                        <a:rPr sz="1100" lang="es-419"/>
                        <a:t>WLAN Components</a:t>
                      </a:r>
                    </a:p>
                  </a:txBody>
                  <a:tcPr marL="68580" marR="68580" marT="34290" marB="34290" anchor="ctr"/>
                </a:tc>
                <a:tc>
                  <a:txBody>
                    <a:bodyPr/>
                    <a:lstStyle/>
                    <a:p>
                      <a:pPr rtl="0"/>
                      <a:r>
                        <a:rPr sz="1100" lang="es-419"/>
                        <a:t>Recommended</a:t>
                      </a:r>
                    </a:p>
                  </a:txBody>
                  <a:tcPr marL="68580" marR="68580" marT="34290" marB="34290" anchor="ctr"/>
                </a:tc>
                <a:extLst>
                  <a:ext uri="{0D108BD9-81ED-4DB2-BD59-A6C34878D82A}">
                    <a16:rowId xmlns:a16="http://schemas.microsoft.com/office/drawing/2014/main" val="10006"/>
                  </a:ext>
                </a:extLst>
              </a:tr>
              <a:tr h="368327">
                <a:tc>
                  <a:txBody>
                    <a:bodyPr/>
                    <a:lstStyle/>
                    <a:p>
                      <a:pPr algn="ctr" rtl="0"/>
                      <a:r>
                        <a:rPr sz="1100" lang="es-419"/>
                        <a:t>12.2.7</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WLAN Components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368327">
                <a:tc>
                  <a:txBody>
                    <a:bodyPr/>
                    <a:lstStyle/>
                    <a:p>
                      <a:pPr algn="ctr" rtl="0"/>
                      <a:r>
                        <a:rPr sz="1100" lang="es-419"/>
                        <a:t>12.3.1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WLAN Operation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3177432351"/>
                  </a:ext>
                </a:extLst>
              </a:tr>
              <a:tr h="368327">
                <a:tc>
                  <a:txBody>
                    <a:bodyPr/>
                    <a:lstStyle/>
                    <a:p>
                      <a:pPr algn="ctr" rtl="0"/>
                      <a:r>
                        <a:rPr sz="1100" lang="es-419"/>
                        <a:t>12.3.8</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WLAN Operation</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4230792547"/>
                  </a:ext>
                </a:extLst>
              </a:tr>
              <a:tr h="368327">
                <a:tc>
                  <a:txBody>
                    <a:bodyPr/>
                    <a:lstStyle/>
                    <a:p>
                      <a:pPr algn="ctr" rtl="0"/>
                      <a:r>
                        <a:rPr sz="1100" lang="es-419"/>
                        <a:t>12.4.1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CAPWAP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2373583044"/>
                  </a:ext>
                </a:extLst>
              </a:tr>
              <a:tr h="368327">
                <a:tc>
                  <a:txBody>
                    <a:bodyPr/>
                    <a:lstStyle/>
                    <a:p>
                      <a:pPr algn="ctr" rtl="0"/>
                      <a:r>
                        <a:rPr sz="1100" lang="es-419"/>
                        <a:t>12.4.6</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CAPWAP</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1549783946"/>
                  </a:ext>
                </a:extLst>
              </a:tr>
              <a:tr h="368327">
                <a:tc>
                  <a:txBody>
                    <a:bodyPr/>
                    <a:lstStyle/>
                    <a:p>
                      <a:pPr algn="ctr" rtl="0"/>
                      <a:r>
                        <a:rPr sz="1100" lang="es-419"/>
                        <a:t>12.5.4</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Channel Management</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1102784487"/>
                  </a:ext>
                </a:extLst>
              </a:tr>
            </a:tbl>
          </a:graphicData>
        </a:graphic>
      </p:graphicFrame>
    </p:spTree>
    <p:custDataLst>
      <p:tags r:id="rId1"/>
    </p:custDataLst>
    <p:extLst>
      <p:ext uri="{BB962C8B-B14F-4D97-AF65-F5344CB8AC3E}">
        <p14:creationId xmlns:p14="http://schemas.microsoft.com/office/powerpoint/2010/main" val="214527372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p:txBody>
          <a:bodyPr/>
          <a:lstStyle/>
          <a:p>
            <a:pPr eaLnBrk="1" hangingPunct="1" rtl="0"/>
            <a:r>
              <a:rPr lang="es-419"/>
              <a:t>Module 12: Activities (Cont.)</a:t>
            </a:r>
          </a:p>
        </p:txBody>
      </p:sp>
      <p:sp>
        <p:nvSpPr>
          <p:cNvPr id="6147" name="Rectangle 34"/>
          <p:cNvSpPr>
            <a:spLocks noGrp="1" noChangeArrowheads="1"/>
          </p:cNvSpPr>
          <p:nvPr>
            <p:ph idx="1"/>
          </p:nvPr>
        </p:nvSpPr>
        <p:spPr>
          <a:xfrm>
            <a:off x="144065" y="798945"/>
            <a:ext cx="8695135" cy="348414"/>
          </a:xfrm>
        </p:spPr>
        <p:txBody>
          <a:bodyPr/>
          <a:lstStyle/>
          <a:p>
            <a:pPr marL="0" indent="0" rtl="0">
              <a:spcBef>
                <a:spcPct val="30000"/>
              </a:spcBef>
              <a:buNone/>
            </a:pPr>
            <a:r>
              <a:rPr sz="1600" lang="es-419"/>
              <a:t>What activities are associated with this module?</a:t>
            </a:r>
          </a:p>
          <a:p>
            <a:pPr marL="0" indent="0">
              <a:spcBef>
                <a:spcPct val="30000"/>
              </a:spcBef>
              <a:buNone/>
            </a:pPr>
            <a:endParaRPr lang="en-US" sz="1600"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3080182241"/>
              </p:ext>
            </p:extLst>
          </p:nvPr>
        </p:nvGraphicFramePr>
        <p:xfrm>
          <a:off x="427595" y="1333040"/>
          <a:ext cx="8288809" cy="1789817"/>
        </p:xfrm>
        <a:graphic>
          <a:graphicData uri="http://schemas.openxmlformats.org/drawingml/2006/table">
            <a:tbl>
              <a:tblPr firstRow="1" bandRow="1">
                <a:tableStyleId>{5C22544A-7EE6-4342-B048-85BDC9FD1C3A}</a:tableStyleId>
              </a:tblPr>
              <a:tblGrid>
                <a:gridCol w="1137886">
                  <a:extLst>
                    <a:ext uri="{9D8B030D-6E8A-4147-A177-3AD203B41FA5}">
                      <a16:colId xmlns:a16="http://schemas.microsoft.com/office/drawing/2014/main" val="20001"/>
                    </a:ext>
                  </a:extLst>
                </a:gridCol>
                <a:gridCol w="1871143">
                  <a:extLst>
                    <a:ext uri="{9D8B030D-6E8A-4147-A177-3AD203B41FA5}">
                      <a16:colId xmlns:a16="http://schemas.microsoft.com/office/drawing/2014/main" val="3156509146"/>
                    </a:ext>
                  </a:extLst>
                </a:gridCol>
                <a:gridCol w="4109522">
                  <a:extLst>
                    <a:ext uri="{9D8B030D-6E8A-4147-A177-3AD203B41FA5}">
                      <a16:colId xmlns:a16="http://schemas.microsoft.com/office/drawing/2014/main" val="20002"/>
                    </a:ext>
                  </a:extLst>
                </a:gridCol>
                <a:gridCol w="1170258">
                  <a:extLst>
                    <a:ext uri="{9D8B030D-6E8A-4147-A177-3AD203B41FA5}">
                      <a16:colId xmlns:a16="http://schemas.microsoft.com/office/drawing/2014/main" val="20003"/>
                    </a:ext>
                  </a:extLst>
                </a:gridCol>
              </a:tblGrid>
              <a:tr h="316509">
                <a:tc>
                  <a:txBody>
                    <a:bodyPr/>
                    <a:lstStyle/>
                    <a:p>
                      <a:pPr marL="0" marR="0" lvl="0" indent="0" algn="ctr" defTabSz="685777" rtl="0" eaLnBrk="1" fontAlgn="auto" latinLnBrk="0" hangingPunct="1">
                        <a:lnSpc>
                          <a:spcPct val="100000"/>
                        </a:lnSpc>
                        <a:spcBef>
                          <a:spcPts val="0"/>
                        </a:spcBef>
                        <a:spcAft>
                          <a:spcPts val="0"/>
                        </a:spcAft>
                        <a:buClrTx/>
                        <a:buSzTx/>
                        <a:buFontTx/>
                        <a:buNone/>
                        <a:tabLst/>
                        <a:defRPr/>
                      </a:pPr>
                      <a:r>
                        <a:rPr sz="1200" lang="es-419"/>
                        <a:t>Page #</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t>Activity Type</a:t>
                      </a:r>
                    </a:p>
                  </a:txBody>
                  <a:tcPr marL="68580" marR="68580" marT="34290" marB="34290" anchor="ctr"/>
                </a:tc>
                <a:tc>
                  <a:txBody>
                    <a:bodyPr/>
                    <a:lstStyle/>
                    <a:p>
                      <a:pPr rtl="0"/>
                      <a:r>
                        <a:rPr sz="1200" lang="es-419"/>
                        <a:t>Activity Name</a:t>
                      </a:r>
                    </a:p>
                  </a:txBody>
                  <a:tcPr marL="68580" marR="68580" marT="34290" marB="34290" anchor="ctr"/>
                </a:tc>
                <a:tc>
                  <a:txBody>
                    <a:bodyPr/>
                    <a:lstStyle/>
                    <a:p>
                      <a:pPr rtl="0"/>
                      <a:r>
                        <a:rPr sz="1200" lang="es-419"/>
                        <a:t>Optional?</a:t>
                      </a:r>
                    </a:p>
                  </a:txBody>
                  <a:tcPr marL="68580" marR="68580" marT="34290" marB="34290" anchor="ctr"/>
                </a:tc>
                <a:extLst>
                  <a:ext uri="{0D108BD9-81ED-4DB2-BD59-A6C34878D82A}">
                    <a16:rowId xmlns:a16="http://schemas.microsoft.com/office/drawing/2014/main" val="10000"/>
                  </a:ext>
                </a:extLst>
              </a:tr>
              <a:tr h="368327">
                <a:tc>
                  <a:txBody>
                    <a:bodyPr/>
                    <a:lstStyle/>
                    <a:p>
                      <a:pPr algn="ctr" rtl="0"/>
                      <a:r>
                        <a:rPr sz="1100" lang="es-419"/>
                        <a:t>12.6.1</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t>Video</a:t>
                      </a:r>
                    </a:p>
                  </a:txBody>
                  <a:tcPr marL="68580" marR="68580" marT="34290" marB="34290" anchor="ctr"/>
                </a:tc>
                <a:tc>
                  <a:txBody>
                    <a:bodyPr/>
                    <a:lstStyle/>
                    <a:p>
                      <a:pPr rtl="0"/>
                      <a:r>
                        <a:rPr sz="1100" lang="es-419"/>
                        <a:t>WLAN Threats</a:t>
                      </a:r>
                    </a:p>
                  </a:txBody>
                  <a:tcPr marL="68580" marR="68580" marT="34290" marB="34290" anchor="ctr"/>
                </a:tc>
                <a:tc>
                  <a:txBody>
                    <a:bodyPr/>
                    <a:lstStyle/>
                    <a:p>
                      <a:pPr rtl="0"/>
                      <a:r>
                        <a:rPr sz="1100" lang="es-419"/>
                        <a:t>Recommended</a:t>
                      </a:r>
                    </a:p>
                  </a:txBody>
                  <a:tcPr marL="68580" marR="68580" marT="34290" marB="34290" anchor="ctr"/>
                </a:tc>
                <a:extLst>
                  <a:ext uri="{0D108BD9-81ED-4DB2-BD59-A6C34878D82A}">
                    <a16:rowId xmlns:a16="http://schemas.microsoft.com/office/drawing/2014/main" val="10001"/>
                  </a:ext>
                </a:extLst>
              </a:tr>
              <a:tr h="368327">
                <a:tc>
                  <a:txBody>
                    <a:bodyPr/>
                    <a:lstStyle/>
                    <a:p>
                      <a:pPr algn="ctr" rtl="0"/>
                      <a:r>
                        <a:rPr sz="1100" lang="es-419"/>
                        <a:t>12.6.6</a:t>
                      </a:r>
                    </a:p>
                  </a:txBody>
                  <a:tcPr marL="68580" marR="68580" marT="34290" marB="3429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100" lang="es-419"/>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WLAN Threats</a:t>
                      </a:r>
                    </a:p>
                  </a:txBody>
                  <a:tcPr marL="68580" marR="68580" marT="34290" marB="34290" anchor="ctr"/>
                </a:tc>
                <a:tc>
                  <a:txBody>
                    <a:bodyPr/>
                    <a:lstStyle/>
                    <a:p>
                      <a:pPr rtl="0"/>
                      <a:r>
                        <a:rPr sz="1100" lang="es-419"/>
                        <a:t>Recommended</a:t>
                      </a:r>
                    </a:p>
                  </a:txBody>
                  <a:tcPr marL="68580" marR="68580" marT="34290" marB="34290" anchor="ctr"/>
                </a:tc>
                <a:extLst>
                  <a:ext uri="{0D108BD9-81ED-4DB2-BD59-A6C34878D82A}">
                    <a16:rowId xmlns:a16="http://schemas.microsoft.com/office/drawing/2014/main" val="10006"/>
                  </a:ext>
                </a:extLst>
              </a:tr>
              <a:tr h="368327">
                <a:tc>
                  <a:txBody>
                    <a:bodyPr/>
                    <a:lstStyle/>
                    <a:p>
                      <a:pPr algn="ctr" rtl="0"/>
                      <a:r>
                        <a:rPr sz="1100" lang="es-419"/>
                        <a:t>12.7.1</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Video</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Secure WLANs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10008"/>
                  </a:ext>
                </a:extLst>
              </a:tr>
              <a:tr h="368327">
                <a:tc>
                  <a:txBody>
                    <a:bodyPr/>
                    <a:lstStyle/>
                    <a:p>
                      <a:pPr algn="ctr" rtl="0"/>
                      <a:r>
                        <a:rPr sz="1100" lang="es-419"/>
                        <a:t>12.7.9</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Check Your Understanding</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100" lang="es-419"/>
                        <a:t>Secure WLANs</a:t>
                      </a:r>
                    </a:p>
                  </a:txBody>
                  <a:tcPr marL="68580" marR="68580" marT="34290" marB="34290" anchor="ct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false" sz="1100" u="none" strike="noStrike" kern="1200" cap="none" spc="0" normalizeH="false" baseline="0" lang="es-419">
                          <a:ln>
                            <a:noFill/>
                          </a:ln>
                          <a:effectLst/>
                          <a:uLnTx/>
                          <a:uFillTx/>
                        </a:rPr>
                        <a:t>Recommended</a:t>
                      </a:r>
                    </a:p>
                  </a:txBody>
                  <a:tcPr marL="68580" marR="68580" marT="34290" marB="34290" anchor="ctr"/>
                </a:tc>
                <a:extLst>
                  <a:ext uri="{0D108BD9-81ED-4DB2-BD59-A6C34878D82A}">
                    <a16:rowId xmlns:a16="http://schemas.microsoft.com/office/drawing/2014/main" val="3177432351"/>
                  </a:ext>
                </a:extLst>
              </a:tr>
            </a:tbl>
          </a:graphicData>
        </a:graphic>
      </p:graphicFrame>
    </p:spTree>
    <p:custDataLst>
      <p:tags r:id="rId1"/>
    </p:custDataLst>
    <p:extLst>
      <p:ext uri="{BB962C8B-B14F-4D97-AF65-F5344CB8AC3E}">
        <p14:creationId xmlns:p14="http://schemas.microsoft.com/office/powerpoint/2010/main" val="384499796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12: Best Practices</a:t>
            </a:r>
          </a:p>
        </p:txBody>
      </p:sp>
      <p:sp>
        <p:nvSpPr>
          <p:cNvPr id="11266" name="Rectangle 34"/>
          <p:cNvSpPr>
            <a:spLocks noGrp="1" noChangeArrowheads="1"/>
          </p:cNvSpPr>
          <p:nvPr>
            <p:ph idx="1"/>
          </p:nvPr>
        </p:nvSpPr>
        <p:spPr>
          <a:xfrm>
            <a:off x="145357" y="798944"/>
            <a:ext cx="8853286" cy="4041019"/>
          </a:xfrm>
        </p:spPr>
        <p:txBody>
          <a:bodyPr/>
          <a:lstStyle/>
          <a:p>
            <a:pPr marL="0" indent="0" rtl="0">
              <a:lnSpc>
                <a:spcPct val="85000"/>
              </a:lnSpc>
              <a:spcBef>
                <a:spcPct val="30000"/>
              </a:spcBef>
              <a:buNone/>
            </a:pPr>
            <a:r>
              <a:rPr sz="1600" lang="es-419"/>
              <a:t>Prior to teaching Module 12, the instructor should:</a:t>
            </a:r>
          </a:p>
          <a:p>
            <a:pPr rtl="0">
              <a:lnSpc>
                <a:spcPct val="85000"/>
              </a:lnSpc>
              <a:spcBef>
                <a:spcPct val="30000"/>
              </a:spcBef>
              <a:buFont typeface="Arial" panose="020B0604020202020204" pitchFamily="34" charset="0"/>
              <a:buChar char="•"/>
            </a:pPr>
            <a:r>
              <a:rPr sz="1600" lang="es-419"/>
              <a:t>Review the activities and assessments for this module.</a:t>
            </a:r>
          </a:p>
          <a:p>
            <a:pPr rtl="0">
              <a:lnSpc>
                <a:spcPct val="85000"/>
              </a:lnSpc>
              <a:spcBef>
                <a:spcPct val="30000"/>
              </a:spcBef>
              <a:buFont typeface="Arial" panose="020B0604020202020204" pitchFamily="34" charset="0"/>
              <a:buChar char="•"/>
            </a:pPr>
            <a:r>
              <a:rPr sz="1600" lang="es-419"/>
              <a:t>Try to include as many questions as possible to keep students engaged during classroom presentation.</a:t>
            </a:r>
          </a:p>
          <a:p>
            <a:pPr marL="0" indent="0" eaLnBrk="1" hangingPunct="1" rtl="0">
              <a:lnSpc>
                <a:spcPct val="85000"/>
              </a:lnSpc>
              <a:spcBef>
                <a:spcPct val="30000"/>
              </a:spcBef>
              <a:buNone/>
            </a:pPr>
            <a:r>
              <a:rPr sz="1600" lang="es-419"/>
              <a:t>Topic 12.1</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Explain the differences between WPAN, WLAN, WMAN and WWAN.</a:t>
            </a:r>
          </a:p>
          <a:p>
            <a:pPr lvl="2" rtl="0">
              <a:lnSpc>
                <a:spcPct val="85000"/>
              </a:lnSpc>
              <a:spcBef>
                <a:spcPct val="30000"/>
              </a:spcBef>
            </a:pPr>
            <a:r>
              <a:rPr sz="1600" lang="es-419"/>
              <a:t>Why do you think there are so many 802.11 standards?</a:t>
            </a:r>
          </a:p>
          <a:p>
            <a:pPr marL="0" indent="0" rtl="0">
              <a:lnSpc>
                <a:spcPct val="85000"/>
              </a:lnSpc>
              <a:spcBef>
                <a:spcPct val="30000"/>
              </a:spcBef>
              <a:buNone/>
            </a:pPr>
            <a:r>
              <a:rPr sz="1600" lang="es-419"/>
              <a:t>Topic 12.2</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When would using autonomous AP and controller based AP be appropriate?</a:t>
            </a:r>
          </a:p>
          <a:p>
            <a:pPr lvl="2" rtl="0">
              <a:lnSpc>
                <a:spcPct val="85000"/>
              </a:lnSpc>
              <a:spcBef>
                <a:spcPct val="30000"/>
              </a:spcBef>
            </a:pPr>
            <a:r>
              <a:rPr sz="1600" lang="es-419"/>
              <a:t>Discuss a situation where a USB wireless adapter is needed.</a:t>
            </a:r>
          </a:p>
          <a:p>
            <a:pPr eaLnBrk="1" hangingPunct="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210931760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12: Best Practices (Cont.)</a:t>
            </a:r>
          </a:p>
        </p:txBody>
      </p:sp>
      <p:sp>
        <p:nvSpPr>
          <p:cNvPr id="11266" name="Rectangle 34"/>
          <p:cNvSpPr>
            <a:spLocks noGrp="1" noChangeArrowheads="1"/>
          </p:cNvSpPr>
          <p:nvPr>
            <p:ph idx="1"/>
          </p:nvPr>
        </p:nvSpPr>
        <p:spPr>
          <a:xfrm>
            <a:off x="145357" y="946788"/>
            <a:ext cx="8853286" cy="3278079"/>
          </a:xfrm>
        </p:spPr>
        <p:txBody>
          <a:bodyPr/>
          <a:lstStyle/>
          <a:p>
            <a:pPr marL="0" indent="0" eaLnBrk="1" hangingPunct="1" rtl="0">
              <a:lnSpc>
                <a:spcPct val="85000"/>
              </a:lnSpc>
              <a:spcBef>
                <a:spcPct val="30000"/>
              </a:spcBef>
              <a:buNone/>
            </a:pPr>
            <a:r>
              <a:rPr sz="1400" lang="es-419"/>
              <a:t> </a:t>
            </a:r>
            <a:r>
              <a:rPr sz="1600" lang="es-419"/>
              <a:t>Topic 12.3</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When would ad hoc and infrastructure modes be appropriate?</a:t>
            </a:r>
          </a:p>
          <a:p>
            <a:pPr lvl="2" rtl="0">
              <a:lnSpc>
                <a:spcPct val="85000"/>
              </a:lnSpc>
              <a:spcBef>
                <a:spcPct val="30000"/>
              </a:spcBef>
            </a:pPr>
            <a:r>
              <a:rPr sz="1600" lang="es-419"/>
              <a:t>What is the difference between a BSS and a ESS?</a:t>
            </a:r>
          </a:p>
          <a:p>
            <a:pPr lvl="2" rtl="0">
              <a:lnSpc>
                <a:spcPct val="85000"/>
              </a:lnSpc>
              <a:spcBef>
                <a:spcPct val="30000"/>
              </a:spcBef>
            </a:pPr>
            <a:r>
              <a:rPr sz="1600" lang="es-419"/>
              <a:t>Discuss the parameters that are negotiated between AP and wireless client for successful association. If possible list them on the board.</a:t>
            </a:r>
          </a:p>
          <a:p>
            <a:pPr marL="0" indent="0" rtl="0">
              <a:lnSpc>
                <a:spcPct val="85000"/>
              </a:lnSpc>
              <a:spcBef>
                <a:spcPct val="30000"/>
              </a:spcBef>
              <a:buNone/>
            </a:pPr>
            <a:r>
              <a:rPr sz="1600" lang="es-419"/>
              <a:t>Topic 12.4</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Why would an organization use CAPWAP?</a:t>
            </a:r>
          </a:p>
          <a:p>
            <a:pPr lvl="2" rtl="0">
              <a:lnSpc>
                <a:spcPct val="85000"/>
              </a:lnSpc>
              <a:spcBef>
                <a:spcPct val="30000"/>
              </a:spcBef>
            </a:pPr>
            <a:r>
              <a:rPr sz="1600" lang="es-419"/>
              <a:t>What capability is provided by FlexConnect?</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2957605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12: Best Practices (Cont.)</a:t>
            </a:r>
          </a:p>
        </p:txBody>
      </p:sp>
      <p:sp>
        <p:nvSpPr>
          <p:cNvPr id="11266" name="Rectangle 34"/>
          <p:cNvSpPr>
            <a:spLocks noGrp="1" noChangeArrowheads="1"/>
          </p:cNvSpPr>
          <p:nvPr>
            <p:ph idx="1"/>
          </p:nvPr>
        </p:nvSpPr>
        <p:spPr>
          <a:xfrm>
            <a:off x="145357" y="946788"/>
            <a:ext cx="8853286" cy="2981745"/>
          </a:xfrm>
        </p:spPr>
        <p:txBody>
          <a:bodyPr/>
          <a:lstStyle/>
          <a:p>
            <a:pPr marL="0" indent="0" eaLnBrk="1" hangingPunct="1" rtl="0">
              <a:lnSpc>
                <a:spcPct val="85000"/>
              </a:lnSpc>
              <a:spcBef>
                <a:spcPct val="30000"/>
              </a:spcBef>
              <a:buNone/>
            </a:pPr>
            <a:r>
              <a:rPr sz="1400" lang="es-419"/>
              <a:t> </a:t>
            </a:r>
            <a:r>
              <a:rPr sz="1600" lang="es-419"/>
              <a:t>Topic 12.5</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What is a solution for frequency channel saturation?</a:t>
            </a:r>
          </a:p>
          <a:p>
            <a:pPr lvl="2" rtl="0">
              <a:lnSpc>
                <a:spcPct val="85000"/>
              </a:lnSpc>
              <a:spcBef>
                <a:spcPct val="30000"/>
              </a:spcBef>
            </a:pPr>
            <a:r>
              <a:rPr sz="1600" lang="es-419"/>
              <a:t>List on the board and discuss considerations when planning the location of APs in a building.</a:t>
            </a:r>
          </a:p>
          <a:p>
            <a:pPr marL="0" indent="0" rtl="0">
              <a:lnSpc>
                <a:spcPct val="85000"/>
              </a:lnSpc>
              <a:spcBef>
                <a:spcPct val="30000"/>
              </a:spcBef>
              <a:buNone/>
            </a:pPr>
            <a:r>
              <a:rPr sz="1600" lang="es-419"/>
              <a:t>Topic 12.6</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Discuss the common attacks made against wireless networks.</a:t>
            </a:r>
          </a:p>
          <a:p>
            <a:pPr lvl="2" rtl="0">
              <a:lnSpc>
                <a:spcPct val="85000"/>
              </a:lnSpc>
              <a:spcBef>
                <a:spcPct val="30000"/>
              </a:spcBef>
            </a:pPr>
            <a:r>
              <a:rPr sz="1600" lang="es-419"/>
              <a:t>What are some ways to mitigate these attacks?</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3499892337"/>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a:r>
              <a:rPr lang="es-419"/>
              <a:t>Module 12: Best Practices (Cont.)</a:t>
            </a:r>
          </a:p>
        </p:txBody>
      </p:sp>
      <p:sp>
        <p:nvSpPr>
          <p:cNvPr id="11266" name="Rectangle 34"/>
          <p:cNvSpPr>
            <a:spLocks noGrp="1" noChangeArrowheads="1"/>
          </p:cNvSpPr>
          <p:nvPr>
            <p:ph idx="1"/>
          </p:nvPr>
        </p:nvSpPr>
        <p:spPr>
          <a:xfrm>
            <a:off x="145357" y="946788"/>
            <a:ext cx="8853286" cy="3540545"/>
          </a:xfrm>
        </p:spPr>
        <p:txBody>
          <a:bodyPr/>
          <a:lstStyle/>
          <a:p>
            <a:pPr marL="0" indent="0" eaLnBrk="1" hangingPunct="1" rtl="0">
              <a:lnSpc>
                <a:spcPct val="85000"/>
              </a:lnSpc>
              <a:spcBef>
                <a:spcPct val="30000"/>
              </a:spcBef>
              <a:buNone/>
            </a:pPr>
            <a:r>
              <a:rPr sz="1400" lang="es-419"/>
              <a:t> </a:t>
            </a:r>
            <a:r>
              <a:rPr sz="1600" lang="es-419"/>
              <a:t>Topic 12.7</a:t>
            </a:r>
          </a:p>
          <a:p>
            <a:pPr lvl="1" rtl="0">
              <a:lnSpc>
                <a:spcPct val="85000"/>
              </a:lnSpc>
              <a:spcBef>
                <a:spcPct val="30000"/>
              </a:spcBef>
            </a:pPr>
            <a:r>
              <a:rPr sz="1600" lang="es-419"/>
              <a:t>Ask the students or have a class discussion</a:t>
            </a:r>
          </a:p>
          <a:p>
            <a:pPr lvl="2" rtl="0">
              <a:lnSpc>
                <a:spcPct val="85000"/>
              </a:lnSpc>
              <a:spcBef>
                <a:spcPct val="30000"/>
              </a:spcBef>
            </a:pPr>
            <a:r>
              <a:rPr sz="1600" lang="es-419"/>
              <a:t>Discuss the strengths and weaknesses of the various shared key authentication methods.</a:t>
            </a:r>
          </a:p>
          <a:p>
            <a:pPr lvl="2" rtl="0">
              <a:lnSpc>
                <a:spcPct val="85000"/>
              </a:lnSpc>
              <a:spcBef>
                <a:spcPct val="30000"/>
              </a:spcBef>
            </a:pPr>
            <a:r>
              <a:rPr sz="1600" lang="es-419"/>
              <a:t>If possible display the wireless security settings on an AP.</a:t>
            </a:r>
          </a:p>
          <a:p>
            <a:pPr>
              <a:lnSpc>
                <a:spcPct val="85000"/>
              </a:lnSpc>
              <a:spcBef>
                <a:spcPct val="30000"/>
              </a:spcBef>
            </a:pPr>
            <a:endParaRPr lang="en-US" sz="1400" dirty="0"/>
          </a:p>
          <a:p>
            <a:pPr lvl="1">
              <a:lnSpc>
                <a:spcPct val="85000"/>
              </a:lnSpc>
              <a:spcBef>
                <a:spcPct val="30000"/>
              </a:spcBef>
            </a:pPr>
            <a:endParaRPr lang="en-US" sz="1200" dirty="0"/>
          </a:p>
          <a:p>
            <a:pPr eaLnBrk="1" hangingPunct="1">
              <a:lnSpc>
                <a:spcPct val="85000"/>
              </a:lnSpc>
              <a:spcBef>
                <a:spcPct val="30000"/>
              </a:spcBef>
            </a:pPr>
            <a:endParaRPr lang="en-US" sz="1400" dirty="0"/>
          </a:p>
          <a:p>
            <a:pPr lvl="1">
              <a:lnSpc>
                <a:spcPct val="85000"/>
              </a:lnSpc>
              <a:spcBef>
                <a:spcPct val="30000"/>
              </a:spcBef>
            </a:pPr>
            <a:endParaRPr lang="en-US" sz="1200" dirty="0"/>
          </a:p>
          <a:p>
            <a:pPr lvl="1">
              <a:lnSpc>
                <a:spcPct val="85000"/>
              </a:lnSpc>
              <a:spcBef>
                <a:spcPct val="30000"/>
              </a:spcBef>
            </a:pPr>
            <a:endParaRPr lang="en-US" sz="1200" dirty="0"/>
          </a:p>
          <a:p>
            <a:pPr lvl="1">
              <a:lnSpc>
                <a:spcPct val="85000"/>
              </a:lnSpc>
              <a:spcBef>
                <a:spcPct val="30000"/>
              </a:spcBef>
            </a:pPr>
            <a:endParaRPr lang="en-US" sz="1200" dirty="0"/>
          </a:p>
          <a:p>
            <a:pPr eaLnBrk="1" hangingPunct="1">
              <a:lnSpc>
                <a:spcPct val="85000"/>
              </a:lnSpc>
              <a:spcBef>
                <a:spcPct val="30000"/>
              </a:spcBef>
            </a:pPr>
            <a:endParaRPr lang="en-US" sz="1400" dirty="0"/>
          </a:p>
          <a:p>
            <a:pPr marL="630238" lvl="2" indent="-214313">
              <a:buFont typeface="Arial" panose="020B0604020202020204" pitchFamily="34" charset="0"/>
              <a:buChar char="•"/>
            </a:pPr>
            <a:endParaRPr lang="en-US" sz="1100" dirty="0"/>
          </a:p>
          <a:p>
            <a:pPr marL="630238" lvl="2" indent="-214313">
              <a:buFont typeface="Arial" panose="020B0604020202020204" pitchFamily="34" charset="0"/>
              <a:buChar char="•"/>
            </a:pPr>
            <a:endParaRPr lang="en-US" sz="1400" dirty="0"/>
          </a:p>
          <a:p>
            <a:pPr eaLnBrk="1" hangingPunct="1">
              <a:lnSpc>
                <a:spcPct val="85000"/>
              </a:lnSpc>
              <a:spcBef>
                <a:spcPct val="30000"/>
              </a:spcBef>
            </a:pPr>
            <a:endParaRPr lang="en-US" sz="1400" b="1" dirty="0">
              <a:solidFill>
                <a:srgbClr val="FF0000"/>
              </a:solidFill>
            </a:endParaRPr>
          </a:p>
          <a:p>
            <a:pPr eaLnBrk="1" hangingPunct="1">
              <a:lnSpc>
                <a:spcPct val="85000"/>
              </a:lnSpc>
              <a:spcBef>
                <a:spcPct val="30000"/>
              </a:spcBef>
            </a:pPr>
            <a:endParaRPr lang="en-US" sz="1400" dirty="0"/>
          </a:p>
        </p:txBody>
      </p:sp>
    </p:spTree>
    <p:custDataLst>
      <p:tags r:id="rId1"/>
    </p:custDataLst>
    <p:extLst>
      <p:ext uri="{BB962C8B-B14F-4D97-AF65-F5344CB8AC3E}">
        <p14:creationId xmlns:p14="http://schemas.microsoft.com/office/powerpoint/2010/main" val="119301753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12: Conceptos de WLAN</a:t>
            </a:r>
          </a:p>
        </p:txBody>
      </p:sp>
      <p:sp>
        <p:nvSpPr>
          <p:cNvPr id="7" name="Subtitle 6"/>
          <p:cNvSpPr>
            <a:spLocks noGrp="1"/>
          </p:cNvSpPr>
          <p:nvPr>
            <p:ph type="subTitle" idx="1"/>
          </p:nvPr>
        </p:nvSpPr>
        <p:spPr>
          <a:xfrm>
            <a:off x="469496" y="3809526"/>
            <a:ext cx="3430865" cy="902174"/>
          </a:xfrm>
        </p:spPr>
        <p:txBody>
          <a:bodyPr/>
          <a:lstStyle/>
          <a:p>
            <a:pPr lvl="0" defTabSz="457200" fontAlgn="auto" rtl="0">
              <a:lnSpc>
                <a:spcPct val="100000"/>
              </a:lnSpc>
              <a:spcBef>
                <a:spcPts val="0"/>
              </a:spcBef>
              <a:spcAft>
                <a:spcPts val="0"/>
              </a:spcAft>
              <a:buClrTx/>
              <a:buSzTx/>
              <a:defRPr/>
            </a:pPr>
            <a:r>
              <a:rPr lang="es-419">
                <a:solidFill>
                  <a:schemeClr val="accent5">
                    <a:lumMod val="40000"/>
                    <a:lumOff val="60000"/>
                  </a:schemeClr>
                </a:solidFill>
              </a:rPr>
              <a:t>Switching, Routing y Wireless Essentials v7.0 (SRWE)</a:t>
            </a:r>
          </a:p>
          <a:p>
            <a:endParaRPr lang="en-US" dirty="0">
              <a:solidFill>
                <a:srgbClr val="CCCCFF"/>
              </a:solidFill>
            </a:endParaRP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rtl="0"/>
            <a:r>
              <a:rPr lang="es-419"/>
              <a:t>Objetivos del Módulo</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false" sz="1600" b="true" i="false" u="none" strike="noStrike" cap="none" normalizeH="false" baseline="0" lang="es-419">
                <a:ln>
                  <a:noFill/>
                </a:ln>
                <a:solidFill>
                  <a:schemeClr val="tx1"/>
                </a:solidFill>
                <a:effectLst/>
                <a:latin typeface="+mn-lt"/>
                <a:ea typeface="Calibri" panose="020F0502020204030204" pitchFamily="34" charset="0"/>
                <a:cs typeface="Calibri" panose="020F0502020204030204" pitchFamily="34" charset="0"/>
              </a:rPr>
              <a:t>Título del módulo: </a:t>
            </a:r>
            <a:r>
              <a:rPr kumimoji="false" sz="1600" b="false" i="false" u="none" strike="noStrike" cap="none" normalizeH="false" baseline="0" lang="es-419">
                <a:ln>
                  <a:noFill/>
                </a:ln>
                <a:solidFill>
                  <a:schemeClr val="tx1"/>
                </a:solidFill>
                <a:effectLst/>
                <a:latin typeface="+mn-lt"/>
                <a:ea typeface="Calibri" panose="020F0502020204030204" pitchFamily="34" charset="0"/>
                <a:cs typeface="Calibri" panose="020F0502020204030204" pitchFamily="34" charset="0"/>
              </a:rPr>
              <a:t>Conceptos de WLAN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false" sz="1600" b="true" i="false" u="none" strike="noStrike" cap="none" normalizeH="false" baseline="0" lang="es-419">
                <a:ln>
                  <a:noFill/>
                </a:ln>
                <a:solidFill>
                  <a:schemeClr val="tx1"/>
                </a:solidFill>
                <a:effectLst/>
                <a:latin typeface="+mn-lt"/>
                <a:ea typeface="Calibri" panose="020F0502020204030204" pitchFamily="34" charset="0"/>
                <a:cs typeface="Calibri" panose="020F0502020204030204" pitchFamily="34" charset="0"/>
              </a:rPr>
              <a:t>Objetivo del módulo</a:t>
            </a:r>
            <a:r>
              <a:rPr kumimoji="false" sz="1600" b="false" i="false" u="none" strike="noStrike" cap="none" normalizeH="false" baseline="0" lang="es-419">
                <a:ln>
                  <a:noFill/>
                </a:ln>
                <a:solidFill>
                  <a:schemeClr val="tx1"/>
                </a:solidFill>
                <a:effectLst/>
                <a:latin typeface="+mn-lt"/>
                <a:ea typeface="Calibri" panose="020F0502020204030204" pitchFamily="34" charset="0"/>
                <a:cs typeface="Calibri" panose="020F0502020204030204" pitchFamily="34" charset="0"/>
              </a:rPr>
              <a:t>: Explivar cómo las WLAN habilitan la conectividad de red</a:t>
            </a:r>
            <a:r>
              <a:rPr kumimoji="false" sz="1200" b="false" i="false" u="none" strike="noStrike" cap="none" normalizeH="false" baseline="0" lang="es-419">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3704738332"/>
              </p:ext>
            </p:extLst>
          </p:nvPr>
        </p:nvGraphicFramePr>
        <p:xfrm>
          <a:off x="690111" y="2043315"/>
          <a:ext cx="7456362" cy="2340870"/>
        </p:xfrm>
        <a:graphic>
          <a:graphicData uri="http://schemas.openxmlformats.org/drawingml/2006/table">
            <a:tbl>
              <a:tblPr firstRow="1" firstCol="1" bandRow="1">
                <a:tableStyleId>{5C22544A-7EE6-4342-B048-85BDC9FD1C3A}</a:tableStyleId>
              </a:tblPr>
              <a:tblGrid>
                <a:gridCol w="2676176">
                  <a:extLst>
                    <a:ext uri="{9D8B030D-6E8A-4147-A177-3AD203B41FA5}">
                      <a16:colId xmlns:a16="http://schemas.microsoft.com/office/drawing/2014/main" val="1523797708"/>
                    </a:ext>
                  </a:extLst>
                </a:gridCol>
                <a:gridCol w="4780186">
                  <a:extLst>
                    <a:ext uri="{9D8B030D-6E8A-4147-A177-3AD203B41FA5}">
                      <a16:colId xmlns:a16="http://schemas.microsoft.com/office/drawing/2014/main" val="2750207184"/>
                    </a:ext>
                  </a:extLst>
                </a:gridCol>
              </a:tblGrid>
              <a:tr h="134479">
                <a:tc>
                  <a:txBody>
                    <a:bodyPr/>
                    <a:lstStyle/>
                    <a:p>
                      <a:pPr marL="0" marR="0" rtl="0">
                        <a:lnSpc>
                          <a:spcPct val="107000"/>
                        </a:lnSpc>
                        <a:spcBef>
                          <a:spcPts val="0"/>
                        </a:spcBef>
                        <a:spcAft>
                          <a:spcPts val="0"/>
                        </a:spcAft>
                      </a:pPr>
                      <a:r>
                        <a:rPr sz="1050" lang="es-419">
                          <a:effectLst/>
                        </a:rPr>
                        <a:t>Título del Tema</a:t>
                      </a:r>
                    </a:p>
                  </a:txBody>
                  <a:tcPr marL="68580" marR="68580" marT="0" marB="0"/>
                </a:tc>
                <a:tc>
                  <a:txBody>
                    <a:bodyPr/>
                    <a:lstStyle/>
                    <a:p>
                      <a:pPr marL="0" marR="0" rtl="0">
                        <a:lnSpc>
                          <a:spcPct val="107000"/>
                        </a:lnSpc>
                        <a:spcBef>
                          <a:spcPts val="0"/>
                        </a:spcBef>
                        <a:spcAft>
                          <a:spcPts val="0"/>
                        </a:spcAft>
                      </a:pPr>
                      <a:r>
                        <a:rPr sz="1050" lang="es-419">
                          <a:effectLst/>
                        </a:rPr>
                        <a:t>Objetivo del Tema</a:t>
                      </a:r>
                    </a:p>
                  </a:txBody>
                  <a:tcPr marL="68580" marR="68580" marT="0" marB="0"/>
                </a:tc>
                <a:extLst>
                  <a:ext uri="{0D108BD9-81ED-4DB2-BD59-A6C34878D82A}">
                    <a16:rowId xmlns:a16="http://schemas.microsoft.com/office/drawing/2014/main" val="1874061904"/>
                  </a:ext>
                </a:extLst>
              </a:tr>
              <a:tr h="333554">
                <a:tc>
                  <a:txBody>
                    <a:bodyPr/>
                    <a:lstStyle/>
                    <a:p>
                      <a:pPr fontAlgn="ctr" rtl="0"/>
                      <a:r>
                        <a:rPr sz="1050" b="true" lang="es-419">
                          <a:effectLst/>
                        </a:rPr>
                        <a:t>Introducción a la Tecnología Inalámbrica</a:t>
                      </a:r>
                    </a:p>
                  </a:txBody>
                  <a:tcPr marL="47625" marR="47625" marT="47625" marB="47625" anchor="ctr"/>
                </a:tc>
                <a:tc>
                  <a:txBody>
                    <a:bodyPr/>
                    <a:lstStyle/>
                    <a:p>
                      <a:pPr fontAlgn="ctr" rtl="0"/>
                      <a:r>
                        <a:rPr sz="1050" b="false" lang="es-419">
                          <a:effectLst/>
                        </a:rPr>
                        <a:t>Describir la tecnología y los estándares WLAN.</a:t>
                      </a:r>
                    </a:p>
                  </a:txBody>
                  <a:tcPr marL="47625" marR="47625" marT="47625" marB="47625" anchor="ctr"/>
                </a:tc>
                <a:extLst>
                  <a:ext uri="{0D108BD9-81ED-4DB2-BD59-A6C34878D82A}">
                    <a16:rowId xmlns:a16="http://schemas.microsoft.com/office/drawing/2014/main" val="1646858405"/>
                  </a:ext>
                </a:extLst>
              </a:tr>
              <a:tr h="333554">
                <a:tc>
                  <a:txBody>
                    <a:bodyPr/>
                    <a:lstStyle/>
                    <a:p>
                      <a:pPr fontAlgn="ctr" rtl="0"/>
                      <a:r>
                        <a:rPr sz="1050" b="true" lang="es-419">
                          <a:effectLst/>
                        </a:rPr>
                        <a:t>Componentes de las WLAN</a:t>
                      </a:r>
                    </a:p>
                  </a:txBody>
                  <a:tcPr marL="47625" marR="47625" marT="47625" marB="47625" anchor="ctr"/>
                </a:tc>
                <a:tc>
                  <a:txBody>
                    <a:bodyPr/>
                    <a:lstStyle/>
                    <a:p>
                      <a:pPr fontAlgn="ctr" rtl="0"/>
                      <a:r>
                        <a:rPr sz="1050" b="false" lang="es-419">
                          <a:effectLst/>
                        </a:rPr>
                        <a:t>Describir los componentes de una infraestructura WLAN.</a:t>
                      </a:r>
                    </a:p>
                  </a:txBody>
                  <a:tcPr marL="47625" marR="47625" marT="47625" marB="47625" anchor="ctr"/>
                </a:tc>
                <a:extLst>
                  <a:ext uri="{0D108BD9-81ED-4DB2-BD59-A6C34878D82A}">
                    <a16:rowId xmlns:a16="http://schemas.microsoft.com/office/drawing/2014/main" val="3216917477"/>
                  </a:ext>
                </a:extLst>
              </a:tr>
              <a:tr h="333554">
                <a:tc>
                  <a:txBody>
                    <a:bodyPr/>
                    <a:lstStyle/>
                    <a:p>
                      <a:pPr fontAlgn="ctr" rtl="0"/>
                      <a:r>
                        <a:rPr sz="1050" b="true" lang="es-419">
                          <a:effectLst/>
                        </a:rPr>
                        <a:t>Funcionamiento de WLAN</a:t>
                      </a:r>
                    </a:p>
                  </a:txBody>
                  <a:tcPr marL="47625" marR="47625" marT="47625" marB="47625" anchor="ctr"/>
                </a:tc>
                <a:tc>
                  <a:txBody>
                    <a:bodyPr/>
                    <a:lstStyle/>
                    <a:p>
                      <a:pPr fontAlgn="ctr" rtl="0"/>
                      <a:r>
                        <a:rPr sz="1050" b="false" lang="es-419">
                          <a:effectLst/>
                        </a:rPr>
                        <a:t>Explicar cómo la tecnología inalámbrica permite el funcionamiento de WLAN.</a:t>
                      </a:r>
                    </a:p>
                  </a:txBody>
                  <a:tcPr marL="47625" marR="47625" marT="47625" marB="47625" anchor="ctr"/>
                </a:tc>
                <a:extLst>
                  <a:ext uri="{0D108BD9-81ED-4DB2-BD59-A6C34878D82A}">
                    <a16:rowId xmlns:a16="http://schemas.microsoft.com/office/drawing/2014/main" val="223668542"/>
                  </a:ext>
                </a:extLst>
              </a:tr>
              <a:tr h="201235">
                <a:tc>
                  <a:txBody>
                    <a:bodyPr/>
                    <a:lstStyle/>
                    <a:p>
                      <a:pPr fontAlgn="ctr" rtl="0"/>
                      <a:r>
                        <a:rPr sz="1050" b="true" lang="es-419">
                          <a:effectLst/>
                        </a:rPr>
                        <a:t>Funcionamiento de CAPWAP</a:t>
                      </a:r>
                    </a:p>
                  </a:txBody>
                  <a:tcPr marL="47625" marR="47625" marT="47625" marB="47625" anchor="ctr"/>
                </a:tc>
                <a:tc>
                  <a:txBody>
                    <a:bodyPr/>
                    <a:lstStyle/>
                    <a:p>
                      <a:pPr fontAlgn="ctr" rtl="0"/>
                      <a:r>
                        <a:rPr sz="1050" b="false" lang="es-419">
                          <a:effectLst/>
                        </a:rPr>
                        <a:t>Explicar cómo un WLC utiliza CAPWAP para administrar múltiples AP.</a:t>
                      </a:r>
                    </a:p>
                  </a:txBody>
                  <a:tcPr marL="47625" marR="47625" marT="47625" marB="47625" anchor="ctr"/>
                </a:tc>
                <a:extLst>
                  <a:ext uri="{0D108BD9-81ED-4DB2-BD59-A6C34878D82A}">
                    <a16:rowId xmlns:a16="http://schemas.microsoft.com/office/drawing/2014/main" val="1435904258"/>
                  </a:ext>
                </a:extLst>
              </a:tr>
              <a:tr h="333554">
                <a:tc>
                  <a:txBody>
                    <a:bodyPr/>
                    <a:lstStyle/>
                    <a:p>
                      <a:pPr fontAlgn="ctr" rtl="0"/>
                      <a:r>
                        <a:rPr sz="1050" b="true" lang="es-419">
                          <a:effectLst/>
                        </a:rPr>
                        <a:t>Administración de Canales</a:t>
                      </a:r>
                    </a:p>
                  </a:txBody>
                  <a:tcPr marL="47625" marR="47625" marT="47625" marB="47625" anchor="ctr"/>
                </a:tc>
                <a:tc>
                  <a:txBody>
                    <a:bodyPr/>
                    <a:lstStyle/>
                    <a:p>
                      <a:pPr fontAlgn="ctr" rtl="0"/>
                      <a:r>
                        <a:rPr sz="1050" b="false" lang="es-419">
                          <a:effectLst/>
                        </a:rPr>
                        <a:t>Describir la administración de canales en una WLAN.</a:t>
                      </a:r>
                    </a:p>
                  </a:txBody>
                  <a:tcPr marL="47625" marR="47625" marT="47625" marB="47625" anchor="ctr"/>
                </a:tc>
                <a:extLst>
                  <a:ext uri="{0D108BD9-81ED-4DB2-BD59-A6C34878D82A}">
                    <a16:rowId xmlns:a16="http://schemas.microsoft.com/office/drawing/2014/main" val="131737215"/>
                  </a:ext>
                </a:extLst>
              </a:tr>
              <a:tr h="333554">
                <a:tc>
                  <a:txBody>
                    <a:bodyPr/>
                    <a:lstStyle/>
                    <a:p>
                      <a:pPr fontAlgn="ctr" rtl="0"/>
                      <a:r>
                        <a:rPr sz="1050" b="true" lang="es-419">
                          <a:effectLst/>
                        </a:rPr>
                        <a:t>Amenazas a la WLAN</a:t>
                      </a:r>
                    </a:p>
                  </a:txBody>
                  <a:tcPr marL="47625" marR="47625" marT="47625" marB="47625" anchor="ctr"/>
                </a:tc>
                <a:tc>
                  <a:txBody>
                    <a:bodyPr/>
                    <a:lstStyle/>
                    <a:p>
                      <a:pPr fontAlgn="ctr" rtl="0"/>
                      <a:r>
                        <a:rPr sz="1050" b="false" lang="es-419">
                          <a:effectLst/>
                        </a:rPr>
                        <a:t>Describir las amenazas a las WLAN.</a:t>
                      </a:r>
                    </a:p>
                  </a:txBody>
                  <a:tcPr marL="47625" marR="47625" marT="47625" marB="47625" anchor="ctr"/>
                </a:tc>
                <a:extLst>
                  <a:ext uri="{0D108BD9-81ED-4DB2-BD59-A6C34878D82A}">
                    <a16:rowId xmlns:a16="http://schemas.microsoft.com/office/drawing/2014/main" val="3818444524"/>
                  </a:ext>
                </a:extLst>
              </a:tr>
              <a:tr h="201235">
                <a:tc>
                  <a:txBody>
                    <a:bodyPr/>
                    <a:lstStyle/>
                    <a:p>
                      <a:pPr fontAlgn="ctr" rtl="0"/>
                      <a:r>
                        <a:rPr sz="1050" b="true" lang="es-419">
                          <a:effectLst/>
                        </a:rPr>
                        <a:t>WLAN Seguras</a:t>
                      </a:r>
                    </a:p>
                  </a:txBody>
                  <a:tcPr marL="47625" marR="47625" marT="47625" marB="47625" anchor="ctr"/>
                </a:tc>
                <a:tc>
                  <a:txBody>
                    <a:bodyPr/>
                    <a:lstStyle/>
                    <a:p>
                      <a:pPr fontAlgn="ctr" rtl="0"/>
                      <a:r>
                        <a:rPr sz="1050" b="false" lang="es-419">
                          <a:effectLst/>
                        </a:rPr>
                        <a:t>Describir los mecanismos de seguridad de WLAN.</a:t>
                      </a:r>
                    </a:p>
                  </a:txBody>
                  <a:tcPr marL="47625" marR="47625" marT="47625" marB="47625" anchor="ctr"/>
                </a:tc>
                <a:extLst>
                  <a:ext uri="{0D108BD9-81ED-4DB2-BD59-A6C34878D82A}">
                    <a16:rowId xmlns:a16="http://schemas.microsoft.com/office/drawing/2014/main" val="1846877670"/>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44338"/>
            <a:ext cx="7598042" cy="1473462"/>
          </a:xfrm>
        </p:spPr>
        <p:txBody>
          <a:bodyPr/>
          <a:lstStyle/>
          <a:p>
            <a:pPr rtl="0"/>
            <a:r>
              <a:rPr lang="es-419">
                <a:solidFill>
                  <a:schemeClr val="accent5">
                    <a:lumMod val="40000"/>
                    <a:lumOff val="60000"/>
                  </a:schemeClr>
                </a:solidFill>
              </a:rPr>
              <a:t>12.1 - Introducción a la Tecnología Inalámbrica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Introducción a la Tecnología Inalámbrica</a:t>
            </a:r>
            <a:br>
              <a:rPr lang="en-US" dirty="0"/>
            </a:br>
            <a:r>
              <a:rPr sz="2400" lang="es-419"/>
              <a:t>Beneficios de la Tecnología Inalámbrica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342900" indent="-342900" algn="l" rtl="0">
              <a:buFont typeface="Arial" panose="020B0604020202020204" pitchFamily="34" charset="0"/>
              <a:buChar char="•"/>
            </a:pPr>
            <a:r>
              <a:rPr sz="1600" lang="es-419">
                <a:solidFill>
                  <a:srgbClr val="000000"/>
                </a:solidFill>
              </a:rPr>
              <a:t>Una LAN Inalámbrica (WLAN) es un tipo de red inalámbrica que se usa comúnmente en hogares, oficinas y entornos de campus.</a:t>
            </a:r>
          </a:p>
          <a:p>
            <a:pPr marL="342900" indent="-342900" algn="l" rtl="0">
              <a:buFont typeface="Arial" panose="020B0604020202020204" pitchFamily="34" charset="0"/>
              <a:buChar char="•"/>
            </a:pPr>
            <a:r>
              <a:rPr sz="1600" lang="es-419">
                <a:solidFill>
                  <a:srgbClr val="000000"/>
                </a:solidFill>
              </a:rPr>
              <a:t>Las WLAN hacen posible la movilidad dentro de los entornos domésticos y comerciales.</a:t>
            </a:r>
          </a:p>
          <a:p>
            <a:pPr marL="342900" indent="-342900" algn="l" rtl="0">
              <a:buFont typeface="Arial" panose="020B0604020202020204" pitchFamily="34" charset="0"/>
              <a:buChar char="•"/>
            </a:pPr>
            <a:r>
              <a:rPr sz="1600" lang="es-419">
                <a:solidFill>
                  <a:srgbClr val="000000"/>
                </a:solidFill>
              </a:rPr>
              <a:t>Las infraestructuras inalámbricas se adaptan a las necesidades y tecnologías que cambian rápidamente.</a:t>
            </a: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8E4162D0-8A73-4576-A054-58F967E9BCB6}"/>
              </a:ext>
            </a:extLst>
          </p:cNvPr>
          <p:cNvPicPr>
            <a:picLocks noChangeAspect="1"/>
          </p:cNvPicPr>
          <p:nvPr/>
        </p:nvPicPr>
        <p:blipFill>
          <a:blip r:embed="rId3"/>
          <a:stretch>
            <a:fillRect/>
          </a:stretch>
        </p:blipFill>
        <p:spPr>
          <a:xfrm>
            <a:off x="5418068" y="855419"/>
            <a:ext cx="2927420" cy="1950394"/>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Introducción a la Tecnología Inalámbrica</a:t>
            </a:r>
            <a:br>
              <a:rPr lang="en-US" dirty="0"/>
            </a:br>
            <a:r>
              <a:rPr sz="2400" lang="es-419"/>
              <a:t>Tipos de Redes Inalámbricas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3073946"/>
          </a:xfrm>
        </p:spPr>
        <p:txBody>
          <a:bodyPr/>
          <a:lstStyle/>
          <a:p>
            <a:pPr marL="169863" lvl="1" indent="-169863" rtl="0">
              <a:lnSpc>
                <a:spcPct val="100000"/>
              </a:lnSpc>
              <a:spcAft>
                <a:spcPts val="600"/>
              </a:spcAft>
              <a:buSzPct val="90000"/>
              <a:buFont typeface="Arial" panose="020B0604020202020204" pitchFamily="34" charset="0"/>
              <a:buChar char="•"/>
            </a:pPr>
            <a:r>
              <a:rPr sz="1600" b="true" lang="es-419">
                <a:solidFill>
                  <a:srgbClr val="000000"/>
                </a:solidFill>
              </a:rPr>
              <a:t>Red Inalámbrica de Área Personal (WPAN) </a:t>
            </a:r>
            <a:r>
              <a:rPr sz="1600" lang="es-419">
                <a:solidFill>
                  <a:srgbClr val="000000"/>
                </a:solidFill>
              </a:rPr>
              <a:t>– Baja potencia y corto alcance (20-30 pies o 6-9 metros).  Basado en el estándar IEEE 802.15 y una frecuencia de 2.4 GHz. Bluetooth y Zigbee son ejemplos de WPAN.</a:t>
            </a:r>
          </a:p>
          <a:p>
            <a:pPr marL="169863" lvl="1" indent="-169863" rtl="0">
              <a:lnSpc>
                <a:spcPct val="100000"/>
              </a:lnSpc>
              <a:spcAft>
                <a:spcPts val="600"/>
              </a:spcAft>
              <a:buSzPct val="90000"/>
              <a:buFont typeface="Arial" panose="020B0604020202020204" pitchFamily="34" charset="0"/>
              <a:buChar char="•"/>
            </a:pPr>
            <a:r>
              <a:rPr sz="1600" b="true" lang="es-419">
                <a:solidFill>
                  <a:srgbClr val="000000"/>
                </a:solidFill>
              </a:rPr>
              <a:t>LAN Inalámbrica (WLAN) </a:t>
            </a:r>
            <a:r>
              <a:rPr sz="1600" lang="es-419">
                <a:solidFill>
                  <a:srgbClr val="000000"/>
                </a:solidFill>
              </a:rPr>
              <a:t>– Redes de tamaño mediano de hasta aproximadamente 300 pies. Basado en el estándar IEEE 802.15 y una frecuencia de 2.4 GHz o 5.0 GHz.</a:t>
            </a:r>
          </a:p>
          <a:p>
            <a:pPr marL="169863" lvl="1" indent="-169863" rtl="0">
              <a:lnSpc>
                <a:spcPct val="100000"/>
              </a:lnSpc>
              <a:spcAft>
                <a:spcPts val="600"/>
              </a:spcAft>
              <a:buSzPct val="90000"/>
              <a:buFont typeface="Arial" panose="020B0604020202020204" pitchFamily="34" charset="0"/>
              <a:buChar char="•"/>
            </a:pPr>
            <a:r>
              <a:rPr sz="1600" b="true" lang="es-419">
                <a:solidFill>
                  <a:srgbClr val="000000"/>
                </a:solidFill>
              </a:rPr>
              <a:t>Wireless MAN (WMAN) </a:t>
            </a:r>
            <a:r>
              <a:rPr sz="1600" lang="es-419">
                <a:solidFill>
                  <a:srgbClr val="000000"/>
                </a:solidFill>
              </a:rPr>
              <a:t>– Gran área geográfica, como ciudad o distrito. Utiliza frecuencias específicas con licencia.</a:t>
            </a:r>
          </a:p>
          <a:p>
            <a:pPr marL="169863" lvl="1" indent="-169863" rtl="0">
              <a:lnSpc>
                <a:spcPct val="100000"/>
              </a:lnSpc>
              <a:spcAft>
                <a:spcPts val="600"/>
              </a:spcAft>
              <a:buSzPct val="90000"/>
              <a:buFont typeface="Arial" panose="020B0604020202020204" pitchFamily="34" charset="0"/>
              <a:buChar char="•"/>
            </a:pPr>
            <a:r>
              <a:rPr sz="1600" b="true" lang="es-419">
                <a:solidFill>
                  <a:srgbClr val="000000"/>
                </a:solidFill>
              </a:rPr>
              <a:t>WAN inalámbrica (WWAN)</a:t>
            </a:r>
            <a:r>
              <a:rPr sz="1600" lang="es-419">
                <a:solidFill>
                  <a:srgbClr val="000000"/>
                </a:solidFill>
              </a:rPr>
              <a:t> – Área geográfica extensa para la comunicación nacional o global. Utiliza frecuencias específicas con licencia.</a:t>
            </a:r>
          </a:p>
          <a:p>
            <a:pPr marL="169863" lvl="1" indent="-169863">
              <a:lnSpc>
                <a:spcPct val="100000"/>
              </a:lnSpc>
              <a:spcAft>
                <a:spcPts val="600"/>
              </a:spcAft>
              <a:buSzPct val="90000"/>
              <a:buFont typeface="Arial" panose="020B0604020202020204" pitchFamily="34" charset="0"/>
              <a:buChar char="•"/>
            </a:pPr>
            <a:endParaRPr lang="en-US" sz="1600" b="1"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479587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Introducción a la Tecnología Inalámbrica</a:t>
            </a:r>
            <a:br>
              <a:rPr lang="en-US" dirty="0"/>
            </a:br>
            <a:r>
              <a:rPr sz="2400" lang="es-419"/>
              <a:t>Tecnologías Inalámbricas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0" lvl="1" indent="0" rtl="0">
              <a:lnSpc>
                <a:spcPct val="100000"/>
              </a:lnSpc>
              <a:spcAft>
                <a:spcPts val="600"/>
              </a:spcAft>
              <a:buSzPct val="90000"/>
              <a:buNone/>
            </a:pPr>
            <a:r>
              <a:rPr sz="1600" b="true" lang="es-419">
                <a:solidFill>
                  <a:srgbClr val="000000"/>
                </a:solidFill>
              </a:rPr>
              <a:t>Bluetooth </a:t>
            </a:r>
            <a:r>
              <a:rPr sz="1600" lang="es-419">
                <a:solidFill>
                  <a:srgbClr val="000000"/>
                </a:solidFill>
              </a:rPr>
              <a:t>– Estándar IEEE WPAN utilizado para emparejar dispositivos a una distancia de hasta 300 pies (100 m).</a:t>
            </a:r>
            <a:r>
              <a:rPr sz="1600" b="true" lang="es-419">
                <a:solidFill>
                  <a:srgbClr val="000000"/>
                </a:solidFill>
              </a:rPr>
              <a:t> </a:t>
            </a:r>
          </a:p>
          <a:p>
            <a:pPr marL="242888" lvl="2" rtl="0">
              <a:lnSpc>
                <a:spcPct val="100000"/>
              </a:lnSpc>
              <a:spcAft>
                <a:spcPts val="600"/>
              </a:spcAft>
              <a:buSzPct val="90000"/>
              <a:buFont typeface="Arial" panose="020B0604020202020204" pitchFamily="34" charset="0"/>
              <a:buChar char="•"/>
            </a:pPr>
            <a:r>
              <a:rPr sz="1400" lang="es-419">
                <a:solidFill>
                  <a:srgbClr val="000000"/>
                </a:solidFill>
              </a:rPr>
              <a:t>Bluetooth de Baja Energía (BLE) - Admite topología de malla para dispositivos de red a gran escala.</a:t>
            </a:r>
          </a:p>
          <a:p>
            <a:pPr marL="242888" lvl="2" rtl="0">
              <a:lnSpc>
                <a:spcPct val="100000"/>
              </a:lnSpc>
              <a:spcAft>
                <a:spcPts val="600"/>
              </a:spcAft>
              <a:buSzPct val="90000"/>
              <a:buFont typeface="Arial" panose="020B0604020202020204" pitchFamily="34" charset="0"/>
              <a:buChar char="•"/>
            </a:pPr>
            <a:r>
              <a:rPr sz="1400" lang="es-419">
                <a:solidFill>
                  <a:srgbClr val="000000"/>
                </a:solidFill>
              </a:rPr>
              <a:t>Bluetooth velocidad básica/mejorada (BR / EDR) - Admite topologías punto a punto y está optimizada para la transmisión de audio.</a:t>
            </a:r>
          </a:p>
          <a:p>
            <a:pPr marL="0" lvl="1" indent="0" rtl="0">
              <a:lnSpc>
                <a:spcPct val="100000"/>
              </a:lnSpc>
              <a:spcAft>
                <a:spcPts val="600"/>
              </a:spcAft>
              <a:buSzPct val="90000"/>
              <a:buNone/>
            </a:pPr>
            <a:r>
              <a:rPr sz="1600" b="true" lang="es-419">
                <a:solidFill>
                  <a:srgbClr val="000000"/>
                </a:solidFill>
              </a:rPr>
              <a:t>WiMAX (Interoperabilidad mundial para acceso por microondas) </a:t>
            </a:r>
            <a:r>
              <a:rPr sz="1600" lang="es-419">
                <a:solidFill>
                  <a:srgbClr val="000000"/>
                </a:solidFill>
              </a:rPr>
              <a:t>– Conexiones alternativas a Internet de banda ancha por cable. IEEE 802.16 WLAN estándar para hasta 30 millas (50 km).</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B53F599-DB97-4883-AB39-15615E1B9014}"/>
              </a:ext>
            </a:extLst>
          </p:cNvPr>
          <p:cNvPicPr>
            <a:picLocks noChangeAspect="1"/>
          </p:cNvPicPr>
          <p:nvPr/>
        </p:nvPicPr>
        <p:blipFill>
          <a:blip r:embed="rId3"/>
          <a:stretch>
            <a:fillRect/>
          </a:stretch>
        </p:blipFill>
        <p:spPr>
          <a:xfrm>
            <a:off x="5635171" y="948155"/>
            <a:ext cx="2679700" cy="1787518"/>
          </a:xfrm>
          <a:prstGeom prst="rect">
            <a:avLst/>
          </a:prstGeom>
        </p:spPr>
      </p:pic>
      <p:pic>
        <p:nvPicPr>
          <p:cNvPr id="2" name="Picture 1">
            <a:extLst>
              <a:ext uri="{FF2B5EF4-FFF2-40B4-BE49-F238E27FC236}">
                <a16:creationId xmlns:a16="http://schemas.microsoft.com/office/drawing/2014/main" id="{B2ADD9A5-2AC5-404F-BE81-2FC1CCD65CF5}"/>
              </a:ext>
            </a:extLst>
          </p:cNvPr>
          <p:cNvPicPr>
            <a:picLocks noChangeAspect="1"/>
          </p:cNvPicPr>
          <p:nvPr/>
        </p:nvPicPr>
        <p:blipFill>
          <a:blip r:embed="rId4"/>
          <a:stretch>
            <a:fillRect/>
          </a:stretch>
        </p:blipFill>
        <p:spPr>
          <a:xfrm>
            <a:off x="5898382" y="2951991"/>
            <a:ext cx="2153278" cy="1611792"/>
          </a:xfrm>
          <a:prstGeom prst="rect">
            <a:avLst/>
          </a:prstGeom>
        </p:spPr>
      </p:pic>
    </p:spTree>
    <p:extLst>
      <p:ext uri="{BB962C8B-B14F-4D97-AF65-F5344CB8AC3E}">
        <p14:creationId xmlns:p14="http://schemas.microsoft.com/office/powerpoint/2010/main" val="292206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 Introducción a la Tecnología Inalámbrica</a:t>
            </a:r>
            <a:br>
              <a:rPr lang="en-US" dirty="0"/>
            </a:br>
            <a:r>
              <a:rPr sz="2400" lang="es-419"/>
              <a:t>Tecnologías Inalámbricas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230463" cy="3073946"/>
          </a:xfrm>
        </p:spPr>
        <p:txBody>
          <a:bodyPr/>
          <a:lstStyle/>
          <a:p>
            <a:pPr marL="0" lvl="1" indent="0" rtl="0">
              <a:lnSpc>
                <a:spcPct val="100000"/>
              </a:lnSpc>
              <a:spcAft>
                <a:spcPts val="600"/>
              </a:spcAft>
              <a:buSzPct val="90000"/>
              <a:buNone/>
            </a:pPr>
            <a:r>
              <a:rPr sz="1600" b="true" lang="es-419">
                <a:solidFill>
                  <a:srgbClr val="000000"/>
                </a:solidFill>
              </a:rPr>
              <a:t>Banda Ancha celular </a:t>
            </a:r>
            <a:r>
              <a:rPr sz="1600" lang="es-419">
                <a:solidFill>
                  <a:srgbClr val="000000"/>
                </a:solidFill>
              </a:rPr>
              <a:t>– Transporte de voz y datos. Usado por teléfonos, automóviles, tabletas y computadoras portátiles.</a:t>
            </a:r>
          </a:p>
          <a:p>
            <a:pPr marL="242888" lvl="2" rtl="0">
              <a:lnSpc>
                <a:spcPct val="100000"/>
              </a:lnSpc>
              <a:spcAft>
                <a:spcPts val="600"/>
              </a:spcAft>
              <a:buSzPct val="90000"/>
              <a:buFont typeface="Arial" panose="020B0604020202020204" pitchFamily="34" charset="0"/>
              <a:buChar char="•"/>
            </a:pPr>
            <a:r>
              <a:rPr sz="1400" lang="es-419">
                <a:solidFill>
                  <a:srgbClr val="000000"/>
                </a:solidFill>
              </a:rPr>
              <a:t>Global System of Mobile (GSM) – Reconocido internacionalmente</a:t>
            </a:r>
          </a:p>
          <a:p>
            <a:pPr marL="242888" lvl="2" rtl="0">
              <a:lnSpc>
                <a:spcPct val="100000"/>
              </a:lnSpc>
              <a:spcAft>
                <a:spcPts val="600"/>
              </a:spcAft>
              <a:buSzPct val="90000"/>
              <a:buFont typeface="Arial" panose="020B0604020202020204" pitchFamily="34" charset="0"/>
              <a:buChar char="•"/>
            </a:pPr>
            <a:r>
              <a:rPr sz="1400" lang="es-419">
                <a:solidFill>
                  <a:srgbClr val="000000"/>
                </a:solidFill>
              </a:rPr>
              <a:t>Code Division Multiple Access (CDMA) – Principalmente utilizado en los Estados Unidos.</a:t>
            </a:r>
          </a:p>
          <a:p>
            <a:pPr marL="0" lvl="1" indent="0" rtl="0">
              <a:lnSpc>
                <a:spcPct val="100000"/>
              </a:lnSpc>
              <a:spcAft>
                <a:spcPts val="600"/>
              </a:spcAft>
              <a:buSzPct val="90000"/>
              <a:buNone/>
            </a:pPr>
            <a:r>
              <a:rPr sz="1600" b="true" lang="es-419">
                <a:solidFill>
                  <a:srgbClr val="000000"/>
                </a:solidFill>
              </a:rPr>
              <a:t>Banda ancha satelital </a:t>
            </a:r>
            <a:r>
              <a:rPr sz="1600" lang="es-419">
                <a:solidFill>
                  <a:srgbClr val="000000"/>
                </a:solidFill>
              </a:rPr>
              <a:t>– Utiliza una antena parabólica direccional alineada con el satélite en órbita geoestacionaria. Necesita una línea clara del sitio. Normalmente se usa en ubicaciones rurales donde el cable y el DSL no están disponibles.</a:t>
            </a:r>
          </a:p>
          <a:p>
            <a:pPr marL="169863" lvl="1" indent="-169863">
              <a:lnSpc>
                <a:spcPct val="100000"/>
              </a:lnSpc>
              <a:spcAft>
                <a:spcPts val="600"/>
              </a:spcAft>
              <a:buSzPct val="90000"/>
              <a:buFont typeface="Arial" panose="020B0604020202020204" pitchFamily="34" charset="0"/>
              <a:buChar char="•"/>
            </a:pPr>
            <a:endParaRPr lang="en-US" sz="1600" b="1"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42BEAC26-14B8-4E2B-8026-703C1CE4B475}"/>
              </a:ext>
            </a:extLst>
          </p:cNvPr>
          <p:cNvPicPr>
            <a:picLocks noChangeAspect="1"/>
          </p:cNvPicPr>
          <p:nvPr/>
        </p:nvPicPr>
        <p:blipFill>
          <a:blip r:embed="rId3"/>
          <a:stretch>
            <a:fillRect/>
          </a:stretch>
        </p:blipFill>
        <p:spPr>
          <a:xfrm>
            <a:off x="5824539" y="365918"/>
            <a:ext cx="1663157" cy="2500784"/>
          </a:xfrm>
          <a:prstGeom prst="rect">
            <a:avLst/>
          </a:prstGeom>
        </p:spPr>
      </p:pic>
      <p:pic>
        <p:nvPicPr>
          <p:cNvPr id="5" name="Picture 4">
            <a:extLst>
              <a:ext uri="{FF2B5EF4-FFF2-40B4-BE49-F238E27FC236}">
                <a16:creationId xmlns:a16="http://schemas.microsoft.com/office/drawing/2014/main" id="{563E78BE-4C5B-4338-8ABA-850FE58165A8}"/>
              </a:ext>
            </a:extLst>
          </p:cNvPr>
          <p:cNvPicPr>
            <a:picLocks noChangeAspect="1"/>
          </p:cNvPicPr>
          <p:nvPr/>
        </p:nvPicPr>
        <p:blipFill>
          <a:blip r:embed="rId4"/>
          <a:stretch>
            <a:fillRect/>
          </a:stretch>
        </p:blipFill>
        <p:spPr>
          <a:xfrm>
            <a:off x="5589317" y="3098544"/>
            <a:ext cx="2133600" cy="1417320"/>
          </a:xfrm>
          <a:prstGeom prst="rect">
            <a:avLst/>
          </a:prstGeom>
        </p:spPr>
      </p:pic>
    </p:spTree>
    <p:extLst>
      <p:ext uri="{BB962C8B-B14F-4D97-AF65-F5344CB8AC3E}">
        <p14:creationId xmlns:p14="http://schemas.microsoft.com/office/powerpoint/2010/main" val="74042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Introducción a la Tecnología Inalámbrica</a:t>
            </a:r>
            <a:br>
              <a:rPr lang="en-US" dirty="0"/>
            </a:br>
            <a:r>
              <a:rPr sz="2400" lang="es-419"/>
              <a:t>Estándares 802.11</a:t>
            </a:r>
            <a:r>
              <a:rPr sz="1600" lang="es-419"/>
              <a:t> </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40064" y="731837"/>
            <a:ext cx="7913516" cy="284163"/>
          </a:xfrm>
        </p:spPr>
        <p:txBody>
          <a:bodyPr/>
          <a:lstStyle/>
          <a:p>
            <a:pPr marL="0" lvl="1" indent="0" rtl="0">
              <a:lnSpc>
                <a:spcPct val="100000"/>
              </a:lnSpc>
              <a:spcAft>
                <a:spcPts val="600"/>
              </a:spcAft>
              <a:buSzPct val="90000"/>
              <a:buNone/>
            </a:pPr>
            <a:r>
              <a:rPr sz="1600" lang="es-419">
                <a:solidFill>
                  <a:srgbClr val="000000"/>
                </a:solidFill>
              </a:rPr>
              <a:t>Los estándares 802.11 WLAN definen cómo se usan las frecuencias de radio para los enlaces inalámbricos.</a:t>
            </a:r>
          </a:p>
        </p:txBody>
      </p:sp>
      <p:graphicFrame>
        <p:nvGraphicFramePr>
          <p:cNvPr id="7" name="Content Placeholder 6">
            <a:extLst>
              <a:ext uri="{FF2B5EF4-FFF2-40B4-BE49-F238E27FC236}">
                <a16:creationId xmlns:a16="http://schemas.microsoft.com/office/drawing/2014/main" id="{943EF9E4-E8EF-49D5-BCA2-E3BCF72CD015}"/>
              </a:ext>
            </a:extLst>
          </p:cNvPr>
          <p:cNvGraphicFramePr>
            <a:graphicFrameLocks/>
          </p:cNvGraphicFramePr>
          <p:nvPr>
            <p:extLst>
              <p:ext uri="{D42A27DB-BD31-4B8C-83A1-F6EECF244321}">
                <p14:modId xmlns:p14="http://schemas.microsoft.com/office/powerpoint/2010/main" val="1249493078"/>
              </p:ext>
            </p:extLst>
          </p:nvPr>
        </p:nvGraphicFramePr>
        <p:xfrm>
          <a:off x="440064" y="1097756"/>
          <a:ext cx="8237365" cy="3558545"/>
        </p:xfrm>
        <a:graphic>
          <a:graphicData uri="http://schemas.openxmlformats.org/drawingml/2006/table">
            <a:tbl>
              <a:tblPr firstRow="1" bandRow="1">
                <a:tableStyleId>{5C22544A-7EE6-4342-B048-85BDC9FD1C3A}</a:tableStyleId>
              </a:tblPr>
              <a:tblGrid>
                <a:gridCol w="1582945">
                  <a:extLst>
                    <a:ext uri="{9D8B030D-6E8A-4147-A177-3AD203B41FA5}">
                      <a16:colId xmlns:a16="http://schemas.microsoft.com/office/drawing/2014/main" val="3729139006"/>
                    </a:ext>
                  </a:extLst>
                </a:gridCol>
                <a:gridCol w="1901628">
                  <a:extLst>
                    <a:ext uri="{9D8B030D-6E8A-4147-A177-3AD203B41FA5}">
                      <a16:colId xmlns:a16="http://schemas.microsoft.com/office/drawing/2014/main" val="817269429"/>
                    </a:ext>
                  </a:extLst>
                </a:gridCol>
                <a:gridCol w="4752792">
                  <a:extLst>
                    <a:ext uri="{9D8B030D-6E8A-4147-A177-3AD203B41FA5}">
                      <a16:colId xmlns:a16="http://schemas.microsoft.com/office/drawing/2014/main" val="1988913492"/>
                    </a:ext>
                  </a:extLst>
                </a:gridCol>
              </a:tblGrid>
              <a:tr h="358145">
                <a:tc>
                  <a:txBody>
                    <a:bodyPr/>
                    <a:lstStyle/>
                    <a:p>
                      <a:pPr rtl="0"/>
                      <a:r>
                        <a:rPr sz="1200" lang="es-419"/>
                        <a:t>Estándar IEEE</a:t>
                      </a:r>
                    </a:p>
                  </a:txBody>
                  <a:tcPr/>
                </a:tc>
                <a:tc>
                  <a:txBody>
                    <a:bodyPr/>
                    <a:lstStyle/>
                    <a:p>
                      <a:pPr rtl="0"/>
                      <a:r>
                        <a:rPr sz="1200" lang="es-419"/>
                        <a:t>Frecuencias de radio</a:t>
                      </a:r>
                    </a:p>
                  </a:txBody>
                  <a:tcPr/>
                </a:tc>
                <a:tc>
                  <a:txBody>
                    <a:bodyPr/>
                    <a:lstStyle/>
                    <a:p>
                      <a:pPr rtl="0"/>
                      <a:r>
                        <a:rPr sz="1200" lang="es-419"/>
                        <a:t>Descripción</a:t>
                      </a:r>
                    </a:p>
                  </a:txBody>
                  <a:tcPr/>
                </a:tc>
                <a:extLst>
                  <a:ext uri="{0D108BD9-81ED-4DB2-BD59-A6C34878D82A}">
                    <a16:rowId xmlns:a16="http://schemas.microsoft.com/office/drawing/2014/main" val="2583676789"/>
                  </a:ext>
                </a:extLst>
              </a:tr>
              <a:tr h="238057">
                <a:tc>
                  <a:txBody>
                    <a:bodyPr/>
                    <a:lstStyle/>
                    <a:p>
                      <a:pPr rtl="0"/>
                      <a:r>
                        <a:rPr sz="1200" lang="es-419">
                          <a:solidFill>
                            <a:srgbClr val="000000"/>
                          </a:solidFill>
                        </a:rPr>
                        <a:t>802.11</a:t>
                      </a:r>
                    </a:p>
                  </a:txBody>
                  <a:tcPr/>
                </a:tc>
                <a:tc>
                  <a:txBody>
                    <a:bodyPr/>
                    <a:lstStyle/>
                    <a:p>
                      <a:pPr rtl="0"/>
                      <a:r>
                        <a:rPr sz="1200" lang="es-419">
                          <a:solidFill>
                            <a:srgbClr val="000000"/>
                          </a:solidFill>
                        </a:rPr>
                        <a:t>2,4 GHz</a:t>
                      </a:r>
                    </a:p>
                  </a:txBody>
                  <a:tcPr/>
                </a:tc>
                <a:tc>
                  <a:txBody>
                    <a:bodyPr/>
                    <a:lstStyle/>
                    <a:p>
                      <a:pPr rtl="0"/>
                      <a:r>
                        <a:rPr sz="1200" lang="es-419">
                          <a:solidFill>
                            <a:srgbClr val="000000"/>
                          </a:solidFill>
                        </a:rPr>
                        <a:t>Velocidades de datos de hasta 2 Mb/s</a:t>
                      </a:r>
                    </a:p>
                  </a:txBody>
                  <a:tcPr/>
                </a:tc>
                <a:extLst>
                  <a:ext uri="{0D108BD9-81ED-4DB2-BD59-A6C34878D82A}">
                    <a16:rowId xmlns:a16="http://schemas.microsoft.com/office/drawing/2014/main" val="3849654457"/>
                  </a:ext>
                </a:extLst>
              </a:tr>
              <a:tr h="404697">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802.11a</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5 GHz</a:t>
                      </a:r>
                    </a:p>
                  </a:txBody>
                  <a:tcPr/>
                </a:tc>
                <a:tc>
                  <a:txBody>
                    <a:bodyPr/>
                    <a:lstStyle/>
                    <a:p>
                      <a:pPr rtl="0"/>
                      <a:r>
                        <a:rPr sz="1200" lang="es-419">
                          <a:solidFill>
                            <a:srgbClr val="000000"/>
                          </a:solidFill>
                        </a:rPr>
                        <a:t>Velocidades de datos de hasta 54 Mb / s</a:t>
                      </a:r>
                    </a:p>
                    <a:p>
                      <a:pPr rtl="0"/>
                      <a:r>
                        <a:rPr sz="1200" lang="es-419">
                          <a:solidFill>
                            <a:srgbClr val="000000"/>
                          </a:solidFill>
                        </a:rPr>
                        <a:t>No interoperable con 802.11b o 802.11g</a:t>
                      </a:r>
                    </a:p>
                  </a:txBody>
                  <a:tcPr/>
                </a:tc>
                <a:extLst>
                  <a:ext uri="{0D108BD9-81ED-4DB2-BD59-A6C34878D82A}">
                    <a16:rowId xmlns:a16="http://schemas.microsoft.com/office/drawing/2014/main" val="235735172"/>
                  </a:ext>
                </a:extLst>
              </a:tr>
              <a:tr h="571337">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802.11b</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2,4 GHz</a:t>
                      </a:r>
                    </a:p>
                  </a:txBody>
                  <a:tcPr/>
                </a:tc>
                <a:tc>
                  <a:txBody>
                    <a:bodyPr/>
                    <a:lstStyle/>
                    <a:p>
                      <a:pPr rtl="0"/>
                      <a:r>
                        <a:rPr sz="1200" lang="es-419">
                          <a:solidFill>
                            <a:srgbClr val="000000"/>
                          </a:solidFill>
                        </a:rPr>
                        <a:t>Velocidades de datos de hasta 11 Mb / s</a:t>
                      </a:r>
                    </a:p>
                    <a:p>
                      <a:pPr rtl="0"/>
                      <a:r>
                        <a:rPr sz="1200" lang="es-419">
                          <a:solidFill>
                            <a:srgbClr val="000000"/>
                          </a:solidFill>
                        </a:rPr>
                        <a:t>Mayor alcance que 802.11a y mejor penetración en las estructuras de los edificios.</a:t>
                      </a:r>
                    </a:p>
                  </a:txBody>
                  <a:tcPr/>
                </a:tc>
                <a:extLst>
                  <a:ext uri="{0D108BD9-81ED-4DB2-BD59-A6C34878D82A}">
                    <a16:rowId xmlns:a16="http://schemas.microsoft.com/office/drawing/2014/main" val="1458107787"/>
                  </a:ext>
                </a:extLst>
              </a:tr>
              <a:tr h="404697">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802.11g</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2,4 GHz</a:t>
                      </a:r>
                    </a:p>
                  </a:txBody>
                  <a:tcPr/>
                </a:tc>
                <a:tc>
                  <a:txBody>
                    <a:bodyPr/>
                    <a:lstStyle/>
                    <a:p>
                      <a:pPr rtl="0"/>
                      <a:r>
                        <a:rPr sz="1200" lang="es-419">
                          <a:solidFill>
                            <a:srgbClr val="000000"/>
                          </a:solidFill>
                        </a:rPr>
                        <a:t>Velocidades de datos de hasta 54 Mb / s</a:t>
                      </a:r>
                    </a:p>
                    <a:p>
                      <a:pPr rtl="0"/>
                      <a:r>
                        <a:rPr sz="1200" lang="es-419">
                          <a:solidFill>
                            <a:srgbClr val="000000"/>
                          </a:solidFill>
                        </a:rPr>
                        <a:t>Compatible con versiones anteriores de 802.11b</a:t>
                      </a:r>
                    </a:p>
                  </a:txBody>
                  <a:tcPr/>
                </a:tc>
                <a:extLst>
                  <a:ext uri="{0D108BD9-81ED-4DB2-BD59-A6C34878D82A}">
                    <a16:rowId xmlns:a16="http://schemas.microsoft.com/office/drawing/2014/main" val="2495454272"/>
                  </a:ext>
                </a:extLst>
              </a:tr>
              <a:tr h="404697">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802.11n</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2,4 Hz y 5 GHz</a:t>
                      </a:r>
                    </a:p>
                  </a:txBody>
                  <a:tcPr/>
                </a:tc>
                <a:tc>
                  <a:txBody>
                    <a:bodyPr/>
                    <a:lstStyle/>
                    <a:p>
                      <a:pPr rtl="0"/>
                      <a:r>
                        <a:rPr sz="1200" lang="es-419">
                          <a:solidFill>
                            <a:srgbClr val="000000"/>
                          </a:solidFill>
                        </a:rPr>
                        <a:t>Velocidades de datos 150 - 600 Mb/s</a:t>
                      </a:r>
                    </a:p>
                    <a:p>
                      <a:pPr rtl="0"/>
                      <a:r>
                        <a:rPr sz="1200" lang="es-419">
                          <a:solidFill>
                            <a:srgbClr val="000000"/>
                          </a:solidFill>
                        </a:rPr>
                        <a:t>Requiere múltiples antenas con tecnología MIMO</a:t>
                      </a:r>
                    </a:p>
                  </a:txBody>
                  <a:tcPr/>
                </a:tc>
                <a:extLst>
                  <a:ext uri="{0D108BD9-81ED-4DB2-BD59-A6C34878D82A}">
                    <a16:rowId xmlns:a16="http://schemas.microsoft.com/office/drawing/2014/main" val="256317317"/>
                  </a:ext>
                </a:extLst>
              </a:tr>
              <a:tr h="404697">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802.11ac</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5 GHz</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Velocidades de datos 450 Mb/s – 1.3 Gb/s</a:t>
                      </a:r>
                    </a:p>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Admite hasta ocho antenas</a:t>
                      </a:r>
                    </a:p>
                  </a:txBody>
                  <a:tcPr/>
                </a:tc>
                <a:extLst>
                  <a:ext uri="{0D108BD9-81ED-4DB2-BD59-A6C34878D82A}">
                    <a16:rowId xmlns:a16="http://schemas.microsoft.com/office/drawing/2014/main" val="705643232"/>
                  </a:ext>
                </a:extLst>
              </a:tr>
              <a:tr h="404697">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802.11ax</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200" lang="es-419">
                          <a:solidFill>
                            <a:srgbClr val="000000"/>
                          </a:solidFill>
                        </a:rPr>
                        <a:t>2,4 GHz y 5 GHz</a:t>
                      </a:r>
                    </a:p>
                  </a:txBody>
                  <a:tcPr/>
                </a:tc>
                <a:tc>
                  <a:txBody>
                    <a:bodyPr/>
                    <a:lstStyle/>
                    <a:p>
                      <a:pPr rtl="0"/>
                      <a:r>
                        <a:rPr sz="1200" lang="es-419">
                          <a:solidFill>
                            <a:srgbClr val="000000"/>
                          </a:solidFill>
                        </a:rPr>
                        <a:t>High-Efficiency Wireless (HEW) </a:t>
                      </a:r>
                    </a:p>
                    <a:p>
                      <a:pPr rtl="0"/>
                      <a:r>
                        <a:rPr sz="1200" lang="es-419">
                          <a:solidFill>
                            <a:srgbClr val="000000"/>
                          </a:solidFill>
                        </a:rPr>
                        <a:t>Capaz de usar frecuencias de 1 GHz y 7 GHz</a:t>
                      </a:r>
                    </a:p>
                  </a:txBody>
                  <a:tcPr/>
                </a:tc>
                <a:extLst>
                  <a:ext uri="{0D108BD9-81ED-4DB2-BD59-A6C34878D82A}">
                    <a16:rowId xmlns:a16="http://schemas.microsoft.com/office/drawing/2014/main" val="798378294"/>
                  </a:ext>
                </a:extLst>
              </a:tr>
            </a:tbl>
          </a:graphicData>
        </a:graphic>
      </p:graphicFrame>
    </p:spTree>
    <p:extLst>
      <p:ext uri="{BB962C8B-B14F-4D97-AF65-F5344CB8AC3E}">
        <p14:creationId xmlns:p14="http://schemas.microsoft.com/office/powerpoint/2010/main" val="3700394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Introducción a las frecuencias de radio</a:t>
            </a:r>
            <a:br>
              <a:rPr lang="en-US" dirty="0"/>
            </a:br>
            <a:r>
              <a:rPr sz="2400" lang="es-419"/>
              <a:t>Radio Frecuencias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239059"/>
          </a:xfrm>
        </p:spPr>
        <p:txBody>
          <a:bodyPr/>
          <a:lstStyle/>
          <a:p>
            <a:pPr marL="0" lvl="1" indent="0" rtl="0">
              <a:lnSpc>
                <a:spcPct val="100000"/>
              </a:lnSpc>
              <a:spcAft>
                <a:spcPts val="600"/>
              </a:spcAft>
              <a:buSzPct val="90000"/>
              <a:buNone/>
            </a:pPr>
            <a:r>
              <a:rPr sz="1600" lang="es-419">
                <a:solidFill>
                  <a:srgbClr val="000000"/>
                </a:solidFill>
              </a:rPr>
              <a:t>Todos los dispositivos inalámbricos funcionan en el rango del espectro electromagnético. Las redes WLAN funcionan en bandas de frecuencia de 2,4 y 5 GHz.</a:t>
            </a:r>
          </a:p>
          <a:p>
            <a:pPr lvl="1" rtl="0">
              <a:lnSpc>
                <a:spcPct val="85000"/>
              </a:lnSpc>
              <a:spcBef>
                <a:spcPct val="30000"/>
              </a:spcBef>
              <a:spcAft>
                <a:spcPts val="300"/>
              </a:spcAft>
              <a:buSzPct val="90000"/>
            </a:pPr>
            <a:r>
              <a:rPr sz="1600" lang="es-419">
                <a:solidFill>
                  <a:srgbClr val="000000"/>
                </a:solidFill>
              </a:rPr>
              <a:t>2.4 GHz (UHF) - 802.11b/g/n/ax</a:t>
            </a:r>
          </a:p>
          <a:p>
            <a:pPr lvl="1" rtl="0">
              <a:lnSpc>
                <a:spcPct val="85000"/>
              </a:lnSpc>
              <a:spcBef>
                <a:spcPct val="30000"/>
              </a:spcBef>
              <a:spcAft>
                <a:spcPts val="300"/>
              </a:spcAft>
              <a:buSzPct val="90000"/>
            </a:pPr>
            <a:r>
              <a:rPr sz="1600" lang="es-419">
                <a:solidFill>
                  <a:srgbClr val="000000"/>
                </a:solidFill>
              </a:rPr>
              <a:t>5 GHz (SHF) – 802.11a/n/ac/ax </a:t>
            </a:r>
          </a:p>
        </p:txBody>
      </p:sp>
      <p:pic>
        <p:nvPicPr>
          <p:cNvPr id="2" name="Picture 1">
            <a:extLst>
              <a:ext uri="{FF2B5EF4-FFF2-40B4-BE49-F238E27FC236}">
                <a16:creationId xmlns:a16="http://schemas.microsoft.com/office/drawing/2014/main" id="{09CC3460-9779-49AD-8799-DC8EB8867E9D}"/>
              </a:ext>
            </a:extLst>
          </p:cNvPr>
          <p:cNvPicPr>
            <a:picLocks noChangeAspect="1"/>
          </p:cNvPicPr>
          <p:nvPr/>
        </p:nvPicPr>
        <p:blipFill>
          <a:blip r:embed="rId3"/>
          <a:stretch>
            <a:fillRect/>
          </a:stretch>
        </p:blipFill>
        <p:spPr>
          <a:xfrm>
            <a:off x="1316335" y="2297678"/>
            <a:ext cx="5848141" cy="2448385"/>
          </a:xfrm>
          <a:prstGeom prst="rect">
            <a:avLst/>
          </a:prstGeom>
        </p:spPr>
      </p:pic>
    </p:spTree>
    <p:extLst>
      <p:ext uri="{BB962C8B-B14F-4D97-AF65-F5344CB8AC3E}">
        <p14:creationId xmlns:p14="http://schemas.microsoft.com/office/powerpoint/2010/main" val="2161857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Introducción a la Tecnología Inalámbrica</a:t>
            </a:r>
            <a:br>
              <a:rPr lang="en-US" dirty="0"/>
            </a:br>
            <a:r>
              <a:rPr sz="2400" lang="es-419"/>
              <a:t>Organizaciones de Estándares Inalámbricos</a:t>
            </a:r>
            <a:r>
              <a:rPr sz="1600" lang="es-419"/>
              <a:t> </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946114"/>
          </a:xfrm>
        </p:spPr>
        <p:txBody>
          <a:bodyPr/>
          <a:lstStyle/>
          <a:p>
            <a:pPr marL="0" lvl="1" indent="0" rtl="0">
              <a:lnSpc>
                <a:spcPct val="100000"/>
              </a:lnSpc>
              <a:spcAft>
                <a:spcPts val="600"/>
              </a:spcAft>
              <a:buSzPct val="90000"/>
              <a:buNone/>
            </a:pPr>
            <a:r>
              <a:rPr sz="1600" lang="es-419">
                <a:solidFill>
                  <a:srgbClr val="000000"/>
                </a:solidFill>
              </a:rPr>
              <a:t>Los estándares aseguran la interoperabilidad entre dispositivos fabricados por diferentes fabricantes. A nivel internacional, las tres organizaciones que influyen en los estándares WLAN: </a:t>
            </a:r>
          </a:p>
          <a:p>
            <a:pPr lvl="1" rtl="0">
              <a:lnSpc>
                <a:spcPct val="85000"/>
              </a:lnSpc>
              <a:spcBef>
                <a:spcPct val="30000"/>
              </a:spcBef>
              <a:spcAft>
                <a:spcPts val="300"/>
              </a:spcAft>
              <a:buSzPct val="90000"/>
            </a:pPr>
            <a:r>
              <a:rPr sz="1600" b="true" lang="es-419">
                <a:solidFill>
                  <a:srgbClr val="000000"/>
                </a:solidFill>
              </a:rPr>
              <a:t>International Telecommunication Union (UIT): </a:t>
            </a:r>
            <a:r>
              <a:rPr sz="1600" lang="es-419">
                <a:solidFill>
                  <a:srgbClr val="000000"/>
                </a:solidFill>
              </a:rPr>
              <a:t>– Regula la asignación del espectro radioeléctrico y las órbitas satelitales.</a:t>
            </a:r>
          </a:p>
          <a:p>
            <a:pPr lvl="1" rtl="0">
              <a:lnSpc>
                <a:spcPct val="85000"/>
              </a:lnSpc>
              <a:spcBef>
                <a:spcPct val="30000"/>
              </a:spcBef>
              <a:spcAft>
                <a:spcPts val="300"/>
              </a:spcAft>
              <a:buSzPct val="90000"/>
            </a:pPr>
            <a:r>
              <a:rPr sz="1600" b="true" lang="es-419">
                <a:solidFill>
                  <a:srgbClr val="000000"/>
                </a:solidFill>
              </a:rPr>
              <a:t>Institute of Electrical and Electronics Engineers (IEEE) </a:t>
            </a:r>
            <a:r>
              <a:rPr sz="1600" lang="es-419">
                <a:solidFill>
                  <a:srgbClr val="000000"/>
                </a:solidFill>
              </a:rPr>
              <a:t>– Especifica cómo se modula una frecuencia de radio para transportar información. Mantiene los estándares para redes de área local y metropolitana (MAN) con la familia de estándares IEEE 802 LAN / MAN.</a:t>
            </a:r>
            <a:r>
              <a:rPr sz="1600" b="true" lang="es-419">
                <a:solidFill>
                  <a:srgbClr val="000000"/>
                </a:solidFill>
              </a:rPr>
              <a:t> </a:t>
            </a:r>
          </a:p>
          <a:p>
            <a:pPr lvl="1" rtl="0">
              <a:lnSpc>
                <a:spcPct val="85000"/>
              </a:lnSpc>
              <a:spcBef>
                <a:spcPct val="30000"/>
              </a:spcBef>
              <a:spcAft>
                <a:spcPts val="300"/>
              </a:spcAft>
              <a:buSzPct val="90000"/>
            </a:pPr>
            <a:r>
              <a:rPr sz="1600" b="true" lang="es-419">
                <a:solidFill>
                  <a:srgbClr val="000000"/>
                </a:solidFill>
              </a:rPr>
              <a:t>Alianza Wi-Fi </a:t>
            </a:r>
            <a:r>
              <a:rPr sz="1600" lang="es-419">
                <a:solidFill>
                  <a:srgbClr val="000000"/>
                </a:solidFill>
              </a:rPr>
              <a:t>– Promueve el crecimiento y la aceptación de las WLAN. Es una asociación de proveedores cuyo objetivo es mejorar la interoperabilidad de los productos que se basan en el estándar 802.1</a:t>
            </a:r>
          </a:p>
        </p:txBody>
      </p:sp>
    </p:spTree>
    <p:extLst>
      <p:ext uri="{BB962C8B-B14F-4D97-AF65-F5344CB8AC3E}">
        <p14:creationId xmlns:p14="http://schemas.microsoft.com/office/powerpoint/2010/main" val="3523817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12.2 - Componentes de la WLAN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Componentes WLAN </a:t>
            </a:r>
            <a:br>
              <a:rPr lang="en-US" dirty="0"/>
            </a:br>
            <a:r>
              <a:rPr sz="2400" lang="es-419"/>
              <a:t>Video – Componentes de WLAN</a:t>
            </a:r>
            <a:r>
              <a:rPr sz="1600" lang="es-419"/>
              <a:t> </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rtl="0">
              <a:spcBef>
                <a:spcPts val="0"/>
              </a:spcBef>
              <a:buClr>
                <a:schemeClr val="tx2"/>
              </a:buClr>
              <a:buSzPct val="90000"/>
            </a:pPr>
            <a:r>
              <a:rPr sz="1800" lang="es-419">
                <a:solidFill>
                  <a:srgbClr val="000000"/>
                </a:solidFill>
              </a:rPr>
              <a:t>Este video cubrirá lo siguiente: </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Antenas</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Router inalámbrico</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Puerto de Internet</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Punto de acceso inalámbrico</a:t>
            </a:r>
          </a:p>
          <a:p>
            <a:pPr marL="358835" lvl="1" indent="-285750" rtl="0">
              <a:spcBef>
                <a:spcPts val="0"/>
              </a:spcBef>
              <a:spcAft>
                <a:spcPts val="0"/>
              </a:spcAft>
              <a:buSzPct val="90000"/>
              <a:buFont typeface="Arial" panose="020B0604020202020204" pitchFamily="34" charset="0"/>
              <a:buChar char="•"/>
            </a:pPr>
            <a:r>
              <a:rPr sz="1800" lang="es-419">
                <a:solidFill>
                  <a:srgbClr val="000000"/>
                </a:solidFill>
              </a:rPr>
              <a:t>Puntos de acceso autónomos y basados en controlador</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56950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Componentes WLAN</a:t>
            </a:r>
            <a:br>
              <a:rPr lang="en-US" dirty="0"/>
            </a:br>
            <a:r>
              <a:rPr sz="2400" lang="es-419"/>
              <a:t>NICs inalámbrica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140200" cy="3073400"/>
          </a:xfrm>
        </p:spPr>
        <p:txBody>
          <a:bodyPr/>
          <a:lstStyle/>
          <a:p>
            <a:pPr marL="0" indent="0" algn="l" defTabSz="684213" fontAlgn="base" rtl="0">
              <a:spcBef>
                <a:spcPts val="600"/>
              </a:spcBef>
              <a:spcAft>
                <a:spcPts val="600"/>
              </a:spcAft>
              <a:buClr>
                <a:schemeClr val="tx2"/>
              </a:buClr>
              <a:buSzPct val="90000"/>
            </a:pPr>
            <a:r>
              <a:rPr sz="1600" lang="es-419">
                <a:solidFill>
                  <a:srgbClr val="000000"/>
                </a:solidFill>
              </a:rPr>
              <a:t>Para comunicarse de forma inalámbrica, las computadoras portátiles, tabletas, teléfonos inteligentes e incluso los últimos automóviles incluyen NIC inalámbricas integradas que incorporan un transmisor / receptor de radio.</a:t>
            </a:r>
          </a:p>
          <a:p>
            <a:pPr marL="0" indent="0" algn="l" defTabSz="684213" fontAlgn="base" rtl="0">
              <a:spcBef>
                <a:spcPts val="600"/>
              </a:spcBef>
              <a:spcAft>
                <a:spcPts val="600"/>
              </a:spcAft>
              <a:buClr>
                <a:schemeClr val="tx2"/>
              </a:buClr>
              <a:buSzPct val="90000"/>
            </a:pPr>
            <a:r>
              <a:rPr sz="1600" lang="es-419">
                <a:solidFill>
                  <a:srgbClr val="000000"/>
                </a:solidFill>
              </a:rPr>
              <a:t>Si un dispositivo no tiene una NIC inalámbrica integrada, se puede utilizar un adaptador inalámbrico USB.</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DD2501A0-D7A6-4CBC-8591-0D7178F2CBF6}"/>
              </a:ext>
            </a:extLst>
          </p:cNvPr>
          <p:cNvPicPr>
            <a:picLocks noChangeAspect="1"/>
          </p:cNvPicPr>
          <p:nvPr/>
        </p:nvPicPr>
        <p:blipFill>
          <a:blip r:embed="rId3"/>
          <a:stretch>
            <a:fillRect/>
          </a:stretch>
        </p:blipFill>
        <p:spPr>
          <a:xfrm>
            <a:off x="5200650" y="1035050"/>
            <a:ext cx="3511550" cy="2376149"/>
          </a:xfrm>
          <a:prstGeom prst="rect">
            <a:avLst/>
          </a:prstGeom>
        </p:spPr>
      </p:pic>
    </p:spTree>
    <p:extLst>
      <p:ext uri="{BB962C8B-B14F-4D97-AF65-F5344CB8AC3E}">
        <p14:creationId xmlns:p14="http://schemas.microsoft.com/office/powerpoint/2010/main" val="37031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Componentes WLAN</a:t>
            </a:r>
            <a:br>
              <a:rPr lang="en-US" dirty="0"/>
            </a:br>
            <a:r>
              <a:rPr sz="2400" lang="es-419"/>
              <a:t>Router de Hogar Inalámbrico</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140200" cy="3073400"/>
          </a:xfrm>
        </p:spPr>
        <p:txBody>
          <a:bodyPr/>
          <a:lstStyle/>
          <a:p>
            <a:pPr marL="0" indent="0" algn="l" defTabSz="684213" fontAlgn="base" rtl="0">
              <a:spcBef>
                <a:spcPts val="600"/>
              </a:spcBef>
              <a:spcAft>
                <a:spcPts val="600"/>
              </a:spcAft>
              <a:buClr>
                <a:schemeClr val="tx2"/>
              </a:buClr>
              <a:buSzPct val="90000"/>
            </a:pPr>
            <a:r>
              <a:rPr sz="1600" lang="es-419">
                <a:solidFill>
                  <a:srgbClr val="000000"/>
                </a:solidFill>
              </a:rPr>
              <a:t>Un usuario doméstico generalmente interconecta dispositivos inalámbricos utilizando un pequeño router inalámbrico.</a:t>
            </a:r>
          </a:p>
          <a:p>
            <a:pPr marL="0" indent="0" algn="l" defTabSz="684213" fontAlgn="base" rtl="0">
              <a:spcBef>
                <a:spcPts val="600"/>
              </a:spcBef>
              <a:spcAft>
                <a:spcPts val="600"/>
              </a:spcAft>
              <a:buClr>
                <a:schemeClr val="tx2"/>
              </a:buClr>
              <a:buSzPct val="90000"/>
            </a:pPr>
            <a:r>
              <a:rPr sz="1600" lang="es-419">
                <a:solidFill>
                  <a:srgbClr val="000000"/>
                </a:solidFill>
              </a:rPr>
              <a:t>Los routers inalámbricos sirven de la siguiente manera:</a:t>
            </a:r>
          </a:p>
          <a:p>
            <a:pPr marL="73085" lvl="1" indent="0" rtl="0">
              <a:spcAft>
                <a:spcPts val="600"/>
              </a:spcAft>
              <a:buSzPct val="90000"/>
            </a:pPr>
            <a:r>
              <a:rPr b="true" lang="es-419">
                <a:solidFill>
                  <a:srgbClr val="000000"/>
                </a:solidFill>
              </a:rPr>
              <a:t>Punto de acceso </a:t>
            </a:r>
            <a:r>
              <a:rPr lang="es-419">
                <a:solidFill>
                  <a:srgbClr val="000000"/>
                </a:solidFill>
              </a:rPr>
              <a:t>– Para proporcionar acceso por cables</a:t>
            </a:r>
          </a:p>
          <a:p>
            <a:pPr marL="73085" lvl="1" indent="0" rtl="0">
              <a:spcAft>
                <a:spcPts val="600"/>
              </a:spcAft>
              <a:buSzPct val="90000"/>
            </a:pPr>
            <a:r>
              <a:rPr b="true" lang="es-419">
                <a:solidFill>
                  <a:srgbClr val="000000"/>
                </a:solidFill>
              </a:rPr>
              <a:t>Switch </a:t>
            </a:r>
            <a:r>
              <a:rPr lang="es-419">
                <a:solidFill>
                  <a:srgbClr val="000000"/>
                </a:solidFill>
              </a:rPr>
              <a:t>– Para interconectar dispositivos cableados</a:t>
            </a:r>
          </a:p>
          <a:p>
            <a:pPr marL="73085" lvl="1" indent="0" rtl="0">
              <a:spcAft>
                <a:spcPts val="600"/>
              </a:spcAft>
              <a:buSzPct val="90000"/>
            </a:pPr>
            <a:r>
              <a:rPr b="true" lang="es-419">
                <a:solidFill>
                  <a:srgbClr val="000000"/>
                </a:solidFill>
              </a:rPr>
              <a:t>Router </a:t>
            </a:r>
            <a:r>
              <a:rPr lang="es-419">
                <a:solidFill>
                  <a:srgbClr val="000000"/>
                </a:solidFill>
              </a:rPr>
              <a:t>- Para proporcionar una puerta de enlace predeterminada a otras redes e Internet</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5A8C0D2-BFDB-4636-B2AA-80305C85BC0A}"/>
              </a:ext>
            </a:extLst>
          </p:cNvPr>
          <p:cNvPicPr>
            <a:picLocks noChangeAspect="1"/>
          </p:cNvPicPr>
          <p:nvPr/>
        </p:nvPicPr>
        <p:blipFill>
          <a:blip r:embed="rId3"/>
          <a:stretch>
            <a:fillRect/>
          </a:stretch>
        </p:blipFill>
        <p:spPr>
          <a:xfrm flipH="1">
            <a:off x="5454085" y="1624012"/>
            <a:ext cx="2891403" cy="1895475"/>
          </a:xfrm>
          <a:prstGeom prst="rect">
            <a:avLst/>
          </a:prstGeom>
        </p:spPr>
      </p:pic>
    </p:spTree>
    <p:extLst>
      <p:ext uri="{BB962C8B-B14F-4D97-AF65-F5344CB8AC3E}">
        <p14:creationId xmlns:p14="http://schemas.microsoft.com/office/powerpoint/2010/main" val="630816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Componentes WLAN</a:t>
            </a:r>
            <a:br>
              <a:rPr lang="en-US" dirty="0"/>
            </a:br>
            <a:r>
              <a:rPr sz="2400" lang="es-419"/>
              <a:t>Punto de acceso inalámbrico</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140200" cy="3073400"/>
          </a:xfrm>
        </p:spPr>
        <p:txBody>
          <a:bodyPr/>
          <a:lstStyle/>
          <a:p>
            <a:pPr marL="0" indent="0" algn="l" defTabSz="684213" fontAlgn="base" rtl="0">
              <a:spcBef>
                <a:spcPts val="600"/>
              </a:spcBef>
              <a:spcAft>
                <a:spcPts val="600"/>
              </a:spcAft>
              <a:buClr>
                <a:schemeClr val="tx2"/>
              </a:buClr>
              <a:buSzPct val="90000"/>
            </a:pPr>
            <a:r>
              <a:rPr sz="1600" lang="es-419">
                <a:solidFill>
                  <a:srgbClr val="000000"/>
                </a:solidFill>
              </a:rPr>
              <a:t>Los clientes inalámbricos usan su NIC inalámbrica para descubrir puntos de acceso cercanos (APs).</a:t>
            </a:r>
          </a:p>
          <a:p>
            <a:pPr marL="0" indent="0" algn="l" defTabSz="684213" fontAlgn="base" rtl="0">
              <a:spcBef>
                <a:spcPts val="600"/>
              </a:spcBef>
              <a:spcAft>
                <a:spcPts val="600"/>
              </a:spcAft>
              <a:buClr>
                <a:schemeClr val="tx2"/>
              </a:buClr>
              <a:buSzPct val="90000"/>
            </a:pPr>
            <a:r>
              <a:rPr sz="1600" lang="es-419">
                <a:solidFill>
                  <a:srgbClr val="000000"/>
                </a:solidFill>
              </a:rPr>
              <a:t>Los clientes luego intentan asociarse y autenticarse con un AP.</a:t>
            </a:r>
          </a:p>
          <a:p>
            <a:pPr marL="0" indent="0" algn="l" defTabSz="684213" fontAlgn="base" rtl="0">
              <a:spcBef>
                <a:spcPts val="600"/>
              </a:spcBef>
              <a:spcAft>
                <a:spcPts val="600"/>
              </a:spcAft>
              <a:buClr>
                <a:schemeClr val="tx2"/>
              </a:buClr>
              <a:buSzPct val="90000"/>
            </a:pPr>
            <a:r>
              <a:rPr sz="1600" lang="es-419">
                <a:solidFill>
                  <a:srgbClr val="000000"/>
                </a:solidFill>
              </a:rPr>
              <a:t>Después de la autenticación, los usuarios inalámbricos tienen acceso a los recursos de la red.</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729FB420-8A3E-4E9B-88B2-6BEE25FE1B95}"/>
              </a:ext>
            </a:extLst>
          </p:cNvPr>
          <p:cNvPicPr>
            <a:picLocks noChangeAspect="1"/>
          </p:cNvPicPr>
          <p:nvPr/>
        </p:nvPicPr>
        <p:blipFill>
          <a:blip r:embed="rId3"/>
          <a:stretch>
            <a:fillRect/>
          </a:stretch>
        </p:blipFill>
        <p:spPr>
          <a:xfrm>
            <a:off x="5331919" y="1035050"/>
            <a:ext cx="3259954" cy="2286000"/>
          </a:xfrm>
          <a:prstGeom prst="rect">
            <a:avLst/>
          </a:prstGeom>
        </p:spPr>
      </p:pic>
      <p:sp>
        <p:nvSpPr>
          <p:cNvPr id="7" name="Rectangle 6">
            <a:extLst>
              <a:ext uri="{FF2B5EF4-FFF2-40B4-BE49-F238E27FC236}">
                <a16:creationId xmlns:a16="http://schemas.microsoft.com/office/drawing/2014/main" id="{6894DCB4-3AD6-48A0-AF26-0058899C8C3E}"/>
              </a:ext>
            </a:extLst>
          </p:cNvPr>
          <p:cNvSpPr/>
          <p:nvPr/>
        </p:nvSpPr>
        <p:spPr>
          <a:xfrm>
            <a:off x="5766811" y="3321050"/>
            <a:ext cx="2578677" cy="307777"/>
          </a:xfrm>
          <a:prstGeom prst="rect">
            <a:avLst/>
          </a:prstGeom>
        </p:spPr>
        <p:txBody>
          <a:bodyPr wrap="square">
            <a:spAutoFit/>
          </a:bodyPr>
          <a:lstStyle/>
          <a:p>
            <a:pPr rtl="0"/>
            <a:r>
              <a:rPr sz="1400" lang="es-419">
                <a:solidFill>
                  <a:srgbClr val="000000"/>
                </a:solidFill>
                <a:latin typeface="CiscoSans"/>
              </a:rPr>
              <a:t>Puntos de acceso Cisco Meraki Go</a:t>
            </a:r>
          </a:p>
        </p:txBody>
      </p:sp>
    </p:spTree>
    <p:extLst>
      <p:ext uri="{BB962C8B-B14F-4D97-AF65-F5344CB8AC3E}">
        <p14:creationId xmlns:p14="http://schemas.microsoft.com/office/powerpoint/2010/main" val="4023165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Componentes WLAN</a:t>
            </a:r>
            <a:br>
              <a:rPr lang="en-US" dirty="0"/>
            </a:br>
            <a:r>
              <a:rPr sz="2400" lang="es-419"/>
              <a:t>Categorías 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72336" y="771735"/>
            <a:ext cx="4264024" cy="3866617"/>
          </a:xfrm>
        </p:spPr>
        <p:txBody>
          <a:bodyPr/>
          <a:lstStyle/>
          <a:p>
            <a:pPr marL="0" indent="0" algn="l" rtl="0"/>
            <a:r>
              <a:rPr sz="1600" lang="es-419">
                <a:solidFill>
                  <a:srgbClr val="000000"/>
                </a:solidFill>
              </a:rPr>
              <a:t>Los AP se pueden categorizar como AP autónomos o AP basados en controladores. </a:t>
            </a:r>
          </a:p>
          <a:p>
            <a:pPr marL="415985" lvl="1" indent="-342900" rtl="0">
              <a:buFont typeface="Arial" panose="020B0604020202020204" pitchFamily="34" charset="0"/>
              <a:buChar char="•"/>
            </a:pPr>
            <a:r>
              <a:rPr sz="1600" b="true" lang="es-419">
                <a:solidFill>
                  <a:srgbClr val="000000"/>
                </a:solidFill>
              </a:rPr>
              <a:t>AP autónomos </a:t>
            </a:r>
            <a:r>
              <a:rPr sz="1600" lang="es-419">
                <a:solidFill>
                  <a:srgbClr val="000000"/>
                </a:solidFill>
              </a:rPr>
              <a:t>– Dispositivos independientes configurados a través de una interfaz de línea de comandos o GUI. Cada AP autónomo actúa independientemente de los demás y es configurado y administrado manualmente por un administrador.</a:t>
            </a:r>
          </a:p>
          <a:p>
            <a:pPr marL="415985" lvl="1" indent="-342900" rtl="0">
              <a:buFont typeface="Arial" panose="020B0604020202020204" pitchFamily="34" charset="0"/>
              <a:buChar char="•"/>
            </a:pPr>
            <a:r>
              <a:rPr sz="1600" b="true" lang="es-419">
                <a:solidFill>
                  <a:srgbClr val="000000"/>
                </a:solidFill>
              </a:rPr>
              <a:t>APs basados en controlador </a:t>
            </a:r>
            <a:r>
              <a:rPr sz="1600" lang="es-419">
                <a:solidFill>
                  <a:srgbClr val="000000"/>
                </a:solidFill>
              </a:rPr>
              <a:t>– También conocidos como AP ligeros (LAPs). Utilice el Protocolo de punto de acceso ligero (LWAPP) para comunicarse con un controlador LWAN (WLC). Cada LAP es configurado y administrado automáticamente por el WLC.</a:t>
            </a:r>
          </a:p>
          <a:p>
            <a:pPr marL="0" indent="0" algn="l"/>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0E774174-7E9B-4BEF-ADFE-30B8BDEB171C}"/>
              </a:ext>
            </a:extLst>
          </p:cNvPr>
          <p:cNvPicPr>
            <a:picLocks noChangeAspect="1"/>
          </p:cNvPicPr>
          <p:nvPr/>
        </p:nvPicPr>
        <p:blipFill>
          <a:blip r:embed="rId3"/>
          <a:stretch>
            <a:fillRect/>
          </a:stretch>
        </p:blipFill>
        <p:spPr>
          <a:xfrm>
            <a:off x="5440255" y="731837"/>
            <a:ext cx="2435439" cy="1893890"/>
          </a:xfrm>
          <a:prstGeom prst="rect">
            <a:avLst/>
          </a:prstGeom>
          <a:ln>
            <a:solidFill>
              <a:srgbClr val="000000"/>
            </a:solidFill>
          </a:ln>
        </p:spPr>
      </p:pic>
      <p:pic>
        <p:nvPicPr>
          <p:cNvPr id="2" name="Picture 1">
            <a:extLst>
              <a:ext uri="{FF2B5EF4-FFF2-40B4-BE49-F238E27FC236}">
                <a16:creationId xmlns:a16="http://schemas.microsoft.com/office/drawing/2014/main" id="{49A5A1C4-9C15-459C-9605-9788B3C5712B}"/>
              </a:ext>
            </a:extLst>
          </p:cNvPr>
          <p:cNvPicPr>
            <a:picLocks noChangeAspect="1"/>
          </p:cNvPicPr>
          <p:nvPr/>
        </p:nvPicPr>
        <p:blipFill>
          <a:blip r:embed="rId4"/>
          <a:stretch>
            <a:fillRect/>
          </a:stretch>
        </p:blipFill>
        <p:spPr>
          <a:xfrm>
            <a:off x="5324475" y="2876815"/>
            <a:ext cx="2667000" cy="1761537"/>
          </a:xfrm>
          <a:prstGeom prst="rect">
            <a:avLst/>
          </a:prstGeom>
          <a:ln>
            <a:solidFill>
              <a:srgbClr val="000000"/>
            </a:solidFill>
          </a:ln>
        </p:spPr>
      </p:pic>
    </p:spTree>
    <p:extLst>
      <p:ext uri="{BB962C8B-B14F-4D97-AF65-F5344CB8AC3E}">
        <p14:creationId xmlns:p14="http://schemas.microsoft.com/office/powerpoint/2010/main" val="410665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Componentes WLAN</a:t>
            </a:r>
            <a:br>
              <a:rPr lang="en-US" dirty="0"/>
            </a:br>
            <a:r>
              <a:rPr sz="2400" lang="es-419"/>
              <a:t>Antenas Inalámbricas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20133" y="943507"/>
            <a:ext cx="4475693" cy="3866617"/>
          </a:xfrm>
        </p:spPr>
        <p:txBody>
          <a:bodyPr/>
          <a:lstStyle/>
          <a:p>
            <a:pPr marL="0" indent="0" algn="l" rtl="0"/>
            <a:r>
              <a:rPr sz="1800" lang="es-419">
                <a:solidFill>
                  <a:srgbClr val="000000"/>
                </a:solidFill>
              </a:rPr>
              <a:t>Tipos de antenas externas:</a:t>
            </a:r>
          </a:p>
          <a:p>
            <a:pPr marL="415985" lvl="1" indent="-342900" rtl="0">
              <a:buFont typeface="Arial" panose="020B0604020202020204" pitchFamily="34" charset="0"/>
              <a:buChar char="•"/>
            </a:pPr>
            <a:r>
              <a:rPr sz="1600" b="true" lang="es-419">
                <a:solidFill>
                  <a:srgbClr val="000000"/>
                </a:solidFill>
              </a:rPr>
              <a:t>Omnidireccional</a:t>
            </a:r>
            <a:r>
              <a:rPr sz="1600" lang="es-419">
                <a:solidFill>
                  <a:srgbClr val="000000"/>
                </a:solidFill>
              </a:rPr>
              <a:t>– Proporcionan cobertura de 360 grados. Ideal en áreas de viviendas y oficinas.</a:t>
            </a:r>
          </a:p>
          <a:p>
            <a:pPr marL="415985" lvl="1" indent="-342900" rtl="0">
              <a:buFont typeface="Arial" panose="020B0604020202020204" pitchFamily="34" charset="0"/>
              <a:buChar char="•"/>
            </a:pPr>
            <a:r>
              <a:rPr sz="1600" b="true" lang="es-419">
                <a:solidFill>
                  <a:srgbClr val="000000"/>
                </a:solidFill>
              </a:rPr>
              <a:t>Direccional</a:t>
            </a:r>
            <a:r>
              <a:rPr sz="1600" lang="es-419">
                <a:solidFill>
                  <a:srgbClr val="000000"/>
                </a:solidFill>
              </a:rPr>
              <a:t>– Enfoca la señal de radio en una dirección específica. Ejemplos son el Yagi y el plato parabólico.</a:t>
            </a:r>
          </a:p>
          <a:p>
            <a:pPr marL="415985" lvl="1" indent="-342900" rtl="0">
              <a:buFont typeface="Arial" panose="020B0604020202020204" pitchFamily="34" charset="0"/>
              <a:buChar char="•"/>
            </a:pPr>
            <a:r>
              <a:rPr sz="1600" b="true" lang="es-419">
                <a:solidFill>
                  <a:srgbClr val="000000"/>
                </a:solidFill>
              </a:rPr>
              <a:t>Multiple Input Multiple Output (MIMO)</a:t>
            </a:r>
            <a:r>
              <a:rPr sz="1600" lang="es-419">
                <a:solidFill>
                  <a:srgbClr val="000000"/>
                </a:solidFill>
              </a:rPr>
              <a:t> – Utiliza múltiples antenas (hasta ocho) para aumentar el ancho de banda.</a:t>
            </a:r>
          </a:p>
          <a:p>
            <a:pPr marL="0" indent="0" algn="l"/>
            <a:endParaRPr lang="en-US" sz="1600"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4A89DA13-F944-4C7B-A3BB-782DF48E1B50}"/>
              </a:ext>
            </a:extLst>
          </p:cNvPr>
          <p:cNvPicPr>
            <a:picLocks noChangeAspect="1"/>
          </p:cNvPicPr>
          <p:nvPr/>
        </p:nvPicPr>
        <p:blipFill>
          <a:blip r:embed="rId3"/>
          <a:stretch>
            <a:fillRect/>
          </a:stretch>
        </p:blipFill>
        <p:spPr>
          <a:xfrm>
            <a:off x="5456112" y="731837"/>
            <a:ext cx="839258" cy="1258888"/>
          </a:xfrm>
          <a:prstGeom prst="rect">
            <a:avLst/>
          </a:prstGeom>
        </p:spPr>
      </p:pic>
      <p:pic>
        <p:nvPicPr>
          <p:cNvPr id="8" name="Picture 7">
            <a:extLst>
              <a:ext uri="{FF2B5EF4-FFF2-40B4-BE49-F238E27FC236}">
                <a16:creationId xmlns:a16="http://schemas.microsoft.com/office/drawing/2014/main" id="{D7D40741-58CE-4793-8B60-9D0E0BCA0793}"/>
              </a:ext>
            </a:extLst>
          </p:cNvPr>
          <p:cNvPicPr>
            <a:picLocks noChangeAspect="1"/>
          </p:cNvPicPr>
          <p:nvPr/>
        </p:nvPicPr>
        <p:blipFill>
          <a:blip r:embed="rId4"/>
          <a:stretch>
            <a:fillRect/>
          </a:stretch>
        </p:blipFill>
        <p:spPr>
          <a:xfrm>
            <a:off x="7055657" y="2105157"/>
            <a:ext cx="1656541" cy="933185"/>
          </a:xfrm>
          <a:prstGeom prst="rect">
            <a:avLst/>
          </a:prstGeom>
        </p:spPr>
      </p:pic>
      <p:pic>
        <p:nvPicPr>
          <p:cNvPr id="9" name="Picture 8">
            <a:extLst>
              <a:ext uri="{FF2B5EF4-FFF2-40B4-BE49-F238E27FC236}">
                <a16:creationId xmlns:a16="http://schemas.microsoft.com/office/drawing/2014/main" id="{63BEDC29-4FDC-4633-974E-A9296C1D71D9}"/>
              </a:ext>
            </a:extLst>
          </p:cNvPr>
          <p:cNvPicPr>
            <a:picLocks noChangeAspect="1"/>
          </p:cNvPicPr>
          <p:nvPr/>
        </p:nvPicPr>
        <p:blipFill>
          <a:blip r:embed="rId5"/>
          <a:stretch>
            <a:fillRect/>
          </a:stretch>
        </p:blipFill>
        <p:spPr>
          <a:xfrm flipH="1">
            <a:off x="5133974" y="3287713"/>
            <a:ext cx="1685925" cy="1123950"/>
          </a:xfrm>
          <a:prstGeom prst="rect">
            <a:avLst/>
          </a:prstGeom>
        </p:spPr>
      </p:pic>
    </p:spTree>
    <p:extLst>
      <p:ext uri="{BB962C8B-B14F-4D97-AF65-F5344CB8AC3E}">
        <p14:creationId xmlns:p14="http://schemas.microsoft.com/office/powerpoint/2010/main" val="2406055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12.3 – Funcionamiento de la WLAN</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Funcionamiento de la WLAN</a:t>
            </a:r>
            <a:br>
              <a:rPr lang="en-US" dirty="0"/>
            </a:br>
            <a:r>
              <a:rPr sz="2400" lang="es-419"/>
              <a:t>Video – Funcionamiento de la WLAN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8280400" cy="3073400"/>
          </a:xfrm>
        </p:spPr>
        <p:txBody>
          <a:bodyPr/>
          <a:lstStyle/>
          <a:p>
            <a:pPr marL="0" indent="0" algn="l" defTabSz="684213" fontAlgn="base" rtl="0">
              <a:spcBef>
                <a:spcPts val="600"/>
              </a:spcBef>
              <a:spcAft>
                <a:spcPts val="600"/>
              </a:spcAft>
              <a:buClr>
                <a:schemeClr val="tx2"/>
              </a:buClr>
              <a:buSzPct val="90000"/>
            </a:pPr>
            <a:r>
              <a:rPr sz="1800" lang="es-419">
                <a:solidFill>
                  <a:srgbClr val="000000"/>
                </a:solidFill>
              </a:rPr>
              <a:t>Este video cubrirá lo siguiente: </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Modo infraestructura</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Modo ad hoc</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Anclaje a red</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Conjunto de servicios básicos (BSS)</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Conjunto de servicios extendidos (ESS)</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802.11 Estructura del Frame</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Acceso múltiple por detección de portadora con prevención de colisiones (Carrier Sense Multiple Access Collision Avoidance, CSMA/CA)</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Asociación del cliente AP inalámbrico</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Modo de Entrega Pasiva y Activa</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56796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WLAN</a:t>
            </a:r>
            <a:br>
              <a:rPr lang="en-US" dirty="0"/>
            </a:br>
            <a:r>
              <a:rPr sz="2400" lang="es-419"/>
              <a:t>802.11 Modos de topología inalámbrica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3911600" cy="3073400"/>
          </a:xfrm>
        </p:spPr>
        <p:txBody>
          <a:bodyPr/>
          <a:lstStyle/>
          <a:p>
            <a:pPr marL="73085" lvl="1" indent="0" rtl="0">
              <a:buNone/>
            </a:pPr>
            <a:r>
              <a:rPr sz="1600" b="true" lang="es-419">
                <a:solidFill>
                  <a:srgbClr val="000000"/>
                </a:solidFill>
              </a:rPr>
              <a:t>Modo ad hoc - </a:t>
            </a:r>
            <a:r>
              <a:rPr sz="1600" lang="es-419">
                <a:solidFill>
                  <a:srgbClr val="000000"/>
                </a:solidFill>
              </a:rPr>
              <a:t>Se utiliza para conectar clientes de igual a igual sin un AP.</a:t>
            </a:r>
          </a:p>
          <a:p>
            <a:pPr marL="73085" lvl="1" indent="0">
              <a:buNone/>
            </a:pPr>
            <a:endParaRPr lang="en-US" sz="1600" dirty="0">
              <a:solidFill>
                <a:srgbClr val="000000"/>
              </a:solidFill>
            </a:endParaRPr>
          </a:p>
          <a:p>
            <a:pPr marL="73085" lvl="1" indent="0" rtl="0">
              <a:buNone/>
            </a:pPr>
            <a:r>
              <a:rPr sz="1600" b="true" lang="es-419">
                <a:solidFill>
                  <a:srgbClr val="000000"/>
                </a:solidFill>
              </a:rPr>
              <a:t>Modo de infraestructura - </a:t>
            </a:r>
            <a:r>
              <a:rPr sz="1600" lang="es-419">
                <a:solidFill>
                  <a:srgbClr val="000000"/>
                </a:solidFill>
              </a:rPr>
              <a:t>Se usa para conectar clientes a la red utilizando un AP.</a:t>
            </a:r>
          </a:p>
          <a:p>
            <a:pPr marL="73085" lvl="1" indent="0">
              <a:buNone/>
            </a:pPr>
            <a:endParaRPr lang="en-US" sz="1600" dirty="0">
              <a:solidFill>
                <a:srgbClr val="000000"/>
              </a:solidFill>
            </a:endParaRPr>
          </a:p>
          <a:p>
            <a:pPr marL="73085" lvl="1" indent="0" rtl="0">
              <a:buNone/>
            </a:pPr>
            <a:r>
              <a:rPr sz="1600" b="true" lang="es-419">
                <a:solidFill>
                  <a:srgbClr val="000000"/>
                </a:solidFill>
              </a:rPr>
              <a:t>Tethering - </a:t>
            </a:r>
            <a:r>
              <a:rPr sz="1600" lang="es-419">
                <a:solidFill>
                  <a:srgbClr val="000000"/>
                </a:solidFill>
              </a:rPr>
              <a:t>La variación de la topología ad hoc es cuando un teléfono inteligente o tableta con acceso a datos móviles está habilitado para crear un punto de acceso personal.</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E9A94BD8-E440-4B1C-81A0-9FC976B296BE}"/>
              </a:ext>
            </a:extLst>
          </p:cNvPr>
          <p:cNvPicPr>
            <a:picLocks noChangeAspect="1"/>
          </p:cNvPicPr>
          <p:nvPr/>
        </p:nvPicPr>
        <p:blipFill>
          <a:blip r:embed="rId3"/>
          <a:stretch>
            <a:fillRect/>
          </a:stretch>
        </p:blipFill>
        <p:spPr>
          <a:xfrm>
            <a:off x="5338761" y="871964"/>
            <a:ext cx="1809751" cy="401629"/>
          </a:xfrm>
          <a:prstGeom prst="rect">
            <a:avLst/>
          </a:prstGeom>
        </p:spPr>
      </p:pic>
      <p:pic>
        <p:nvPicPr>
          <p:cNvPr id="5" name="Picture 4">
            <a:extLst>
              <a:ext uri="{FF2B5EF4-FFF2-40B4-BE49-F238E27FC236}">
                <a16:creationId xmlns:a16="http://schemas.microsoft.com/office/drawing/2014/main" id="{83CA18F1-28EA-4171-8BAF-7BC7ED4193E0}"/>
              </a:ext>
            </a:extLst>
          </p:cNvPr>
          <p:cNvPicPr>
            <a:picLocks noChangeAspect="1"/>
          </p:cNvPicPr>
          <p:nvPr/>
        </p:nvPicPr>
        <p:blipFill>
          <a:blip r:embed="rId4"/>
          <a:stretch>
            <a:fillRect/>
          </a:stretch>
        </p:blipFill>
        <p:spPr>
          <a:xfrm>
            <a:off x="5200650" y="1659173"/>
            <a:ext cx="1997076" cy="1486835"/>
          </a:xfrm>
          <a:prstGeom prst="rect">
            <a:avLst/>
          </a:prstGeom>
        </p:spPr>
      </p:pic>
      <p:pic>
        <p:nvPicPr>
          <p:cNvPr id="7" name="Picture 6">
            <a:extLst>
              <a:ext uri="{FF2B5EF4-FFF2-40B4-BE49-F238E27FC236}">
                <a16:creationId xmlns:a16="http://schemas.microsoft.com/office/drawing/2014/main" id="{6E53D82F-07E3-4941-9CD1-FDF6E674759F}"/>
              </a:ext>
            </a:extLst>
          </p:cNvPr>
          <p:cNvPicPr>
            <a:picLocks noChangeAspect="1"/>
          </p:cNvPicPr>
          <p:nvPr/>
        </p:nvPicPr>
        <p:blipFill>
          <a:blip r:embed="rId5"/>
          <a:stretch>
            <a:fillRect/>
          </a:stretch>
        </p:blipFill>
        <p:spPr>
          <a:xfrm>
            <a:off x="5200650" y="3275757"/>
            <a:ext cx="2176462" cy="1091029"/>
          </a:xfrm>
          <a:prstGeom prst="rect">
            <a:avLst/>
          </a:prstGeom>
        </p:spPr>
      </p:pic>
    </p:spTree>
    <p:extLst>
      <p:ext uri="{BB962C8B-B14F-4D97-AF65-F5344CB8AC3E}">
        <p14:creationId xmlns:p14="http://schemas.microsoft.com/office/powerpoint/2010/main" val="3956997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WLAN</a:t>
            </a:r>
            <a:br>
              <a:rPr lang="en-US" dirty="0"/>
            </a:br>
            <a:r>
              <a:rPr sz="2400" lang="es-419"/>
              <a:t>BSS y 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3911600" cy="3073400"/>
          </a:xfrm>
        </p:spPr>
        <p:txBody>
          <a:bodyPr/>
          <a:lstStyle/>
          <a:p>
            <a:pPr marL="73085" lvl="1" indent="0" rtl="0">
              <a:buNone/>
            </a:pPr>
            <a:r>
              <a:rPr sz="1800" lang="es-419">
                <a:solidFill>
                  <a:srgbClr val="000000"/>
                </a:solidFill>
              </a:rPr>
              <a:t>El modo de infraestructura define dos bloques de topología:</a:t>
            </a:r>
          </a:p>
          <a:p>
            <a:pPr marL="73085" lvl="1" indent="0" rtl="0">
              <a:buNone/>
            </a:pPr>
            <a:r>
              <a:rPr sz="1600" b="true" lang="es-419">
                <a:solidFill>
                  <a:srgbClr val="000000"/>
                </a:solidFill>
              </a:rPr>
              <a:t>Conjunto de Servicios Básicos (BSS)</a:t>
            </a:r>
          </a:p>
          <a:p>
            <a:pPr lvl="2" rtl="0">
              <a:lnSpc>
                <a:spcPct val="100000"/>
              </a:lnSpc>
              <a:spcBef>
                <a:spcPts val="300"/>
              </a:spcBef>
              <a:spcAft>
                <a:spcPts val="100"/>
              </a:spcAft>
            </a:pPr>
            <a:r>
              <a:rPr sz="1400" lang="es-419">
                <a:solidFill>
                  <a:srgbClr val="000000"/>
                </a:solidFill>
              </a:rPr>
              <a:t>Utiliza un AP único para interconectar todos los clientes inalámbricos asociados.</a:t>
            </a:r>
          </a:p>
          <a:p>
            <a:pPr lvl="2" rtl="0">
              <a:lnSpc>
                <a:spcPct val="100000"/>
              </a:lnSpc>
              <a:spcBef>
                <a:spcPts val="300"/>
              </a:spcBef>
              <a:spcAft>
                <a:spcPts val="100"/>
              </a:spcAft>
            </a:pPr>
            <a:r>
              <a:rPr sz="1400" lang="es-419">
                <a:solidFill>
                  <a:srgbClr val="000000"/>
                </a:solidFill>
              </a:rPr>
              <a:t>Los clientes en diferentes BSS no pueden comunicarse.</a:t>
            </a:r>
          </a:p>
          <a:p>
            <a:pPr marL="73085" lvl="1" indent="0" rtl="0">
              <a:buNone/>
            </a:pPr>
            <a:r>
              <a:rPr sz="1600" b="true" lang="es-419">
                <a:solidFill>
                  <a:srgbClr val="000000"/>
                </a:solidFill>
              </a:rPr>
              <a:t>Conjunto de Servicios Extendidos (ESS)</a:t>
            </a:r>
          </a:p>
          <a:p>
            <a:pPr lvl="2" rtl="0">
              <a:lnSpc>
                <a:spcPct val="100000"/>
              </a:lnSpc>
              <a:spcBef>
                <a:spcPts val="300"/>
              </a:spcBef>
              <a:spcAft>
                <a:spcPts val="100"/>
              </a:spcAft>
            </a:pPr>
            <a:r>
              <a:rPr sz="1400" lang="es-419">
                <a:solidFill>
                  <a:srgbClr val="000000"/>
                </a:solidFill>
              </a:rPr>
              <a:t>Una unión de dos o más BSS interconectados por un sistema de distribución por cable.</a:t>
            </a:r>
          </a:p>
          <a:p>
            <a:pPr lvl="2" rtl="0">
              <a:lnSpc>
                <a:spcPct val="100000"/>
              </a:lnSpc>
              <a:spcBef>
                <a:spcPts val="300"/>
              </a:spcBef>
              <a:spcAft>
                <a:spcPts val="100"/>
              </a:spcAft>
            </a:pPr>
            <a:r>
              <a:rPr sz="1400" lang="es-419">
                <a:solidFill>
                  <a:srgbClr val="000000"/>
                </a:solidFill>
              </a:rPr>
              <a:t>Los clientes en cada BSS pueden comunicarse a través del ESS.</a:t>
            </a: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BE3D8EED-B731-4917-9AD8-E3E1AEBCF6E5}"/>
              </a:ext>
            </a:extLst>
          </p:cNvPr>
          <p:cNvPicPr>
            <a:picLocks noChangeAspect="1"/>
          </p:cNvPicPr>
          <p:nvPr/>
        </p:nvPicPr>
        <p:blipFill>
          <a:blip r:embed="rId3"/>
          <a:stretch>
            <a:fillRect/>
          </a:stretch>
        </p:blipFill>
        <p:spPr>
          <a:xfrm>
            <a:off x="4572000" y="533400"/>
            <a:ext cx="3705225" cy="1895475"/>
          </a:xfrm>
          <a:prstGeom prst="rect">
            <a:avLst/>
          </a:prstGeom>
        </p:spPr>
      </p:pic>
      <p:pic>
        <p:nvPicPr>
          <p:cNvPr id="8" name="Picture 7">
            <a:extLst>
              <a:ext uri="{FF2B5EF4-FFF2-40B4-BE49-F238E27FC236}">
                <a16:creationId xmlns:a16="http://schemas.microsoft.com/office/drawing/2014/main" id="{5DD726AF-EC63-4AA6-A72D-6E4FBAE584EF}"/>
              </a:ext>
            </a:extLst>
          </p:cNvPr>
          <p:cNvPicPr>
            <a:picLocks noChangeAspect="1"/>
          </p:cNvPicPr>
          <p:nvPr/>
        </p:nvPicPr>
        <p:blipFill>
          <a:blip r:embed="rId4"/>
          <a:stretch>
            <a:fillRect/>
          </a:stretch>
        </p:blipFill>
        <p:spPr>
          <a:xfrm>
            <a:off x="4668838" y="2580217"/>
            <a:ext cx="3676650" cy="2038350"/>
          </a:xfrm>
          <a:prstGeom prst="rect">
            <a:avLst/>
          </a:prstGeom>
        </p:spPr>
      </p:pic>
    </p:spTree>
    <p:extLst>
      <p:ext uri="{BB962C8B-B14F-4D97-AF65-F5344CB8AC3E}">
        <p14:creationId xmlns:p14="http://schemas.microsoft.com/office/powerpoint/2010/main" val="1037557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WLAN</a:t>
            </a:r>
            <a:br>
              <a:rPr lang="en-US" dirty="0"/>
            </a:br>
            <a:r>
              <a:rPr sz="2400" lang="es-419"/>
              <a:t>802.11 Estructura de trama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7913688" cy="656159"/>
          </a:xfrm>
        </p:spPr>
        <p:txBody>
          <a:bodyPr/>
          <a:lstStyle/>
          <a:p>
            <a:pPr marL="73085" lvl="1" indent="0" rtl="0">
              <a:buNone/>
            </a:pPr>
            <a:r>
              <a:rPr sz="1800" lang="es-419">
                <a:solidFill>
                  <a:srgbClr val="000000"/>
                </a:solidFill>
              </a:rPr>
              <a:t>El formato de trama 802.11 es similar al formato de trama de Ethernet, excepto que contiene más campos.</a:t>
            </a: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6E77E2DF-CEC7-4D3D-A43A-E3E43BFE0723}"/>
              </a:ext>
            </a:extLst>
          </p:cNvPr>
          <p:cNvPicPr>
            <a:picLocks noChangeAspect="1"/>
          </p:cNvPicPr>
          <p:nvPr/>
        </p:nvPicPr>
        <p:blipFill>
          <a:blip r:embed="rId3"/>
          <a:stretch>
            <a:fillRect/>
          </a:stretch>
        </p:blipFill>
        <p:spPr>
          <a:xfrm>
            <a:off x="1800225" y="1691209"/>
            <a:ext cx="5543550" cy="2862539"/>
          </a:xfrm>
          <a:prstGeom prst="rect">
            <a:avLst/>
          </a:prstGeom>
        </p:spPr>
      </p:pic>
    </p:spTree>
    <p:extLst>
      <p:ext uri="{BB962C8B-B14F-4D97-AF65-F5344CB8AC3E}">
        <p14:creationId xmlns:p14="http://schemas.microsoft.com/office/powerpoint/2010/main" val="428263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WLAN</a:t>
            </a:r>
            <a:br>
              <a:rPr lang="en-US" dirty="0"/>
            </a:br>
            <a:r>
              <a:rPr sz="2400" lang="es-419"/>
              <a:t>CSMA/CA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7913688" cy="3849687"/>
          </a:xfrm>
        </p:spPr>
        <p:txBody>
          <a:bodyPr/>
          <a:lstStyle/>
          <a:p>
            <a:pPr marL="73085" lvl="1" indent="0" rtl="0">
              <a:buNone/>
            </a:pPr>
            <a:r>
              <a:rPr sz="1600" lang="es-419">
                <a:solidFill>
                  <a:srgbClr val="000000"/>
                </a:solidFill>
              </a:rPr>
              <a:t>Las WLAN son semidúplex y un cliente no puede "escuchar" mientras envía, por lo que es imposible detectar una colisión. </a:t>
            </a:r>
          </a:p>
          <a:p>
            <a:pPr marL="73085" lvl="1" indent="0" rtl="0">
              <a:buNone/>
            </a:pPr>
            <a:r>
              <a:rPr sz="1600" lang="es-419">
                <a:solidFill>
                  <a:srgbClr val="000000"/>
                </a:solidFill>
              </a:rPr>
              <a:t>Las WLAN utilizan el acceso múltiple con detección de operador con evitación de colisiones (CSMA / CA) para determinar cómo y cuándo enviar datos. Un cliente inalámbrico hace lo siguiente:</a:t>
            </a:r>
          </a:p>
          <a:p>
            <a:pPr marL="415985" lvl="1" indent="-342900" rtl="0">
              <a:buFont typeface="+mj-lt"/>
              <a:buAutoNum type="arabicPeriod"/>
            </a:pPr>
            <a:r>
              <a:rPr sz="1600" lang="es-419">
                <a:solidFill>
                  <a:srgbClr val="000000"/>
                </a:solidFill>
              </a:rPr>
              <a:t>Escucha el canal para ver si está inactivo, es decir, no hay otro tráfico actualmente en el canal.</a:t>
            </a:r>
          </a:p>
          <a:p>
            <a:pPr marL="415985" lvl="1" indent="-342900" rtl="0">
              <a:buFont typeface="+mj-lt"/>
              <a:buAutoNum type="arabicPeriod"/>
            </a:pPr>
            <a:r>
              <a:rPr sz="1600" lang="es-419">
                <a:solidFill>
                  <a:srgbClr val="000000"/>
                </a:solidFill>
              </a:rPr>
              <a:t>Envía un mensaje Ready to Send (RTS) al AP para solicitar acceso dedicado a la red.</a:t>
            </a:r>
          </a:p>
          <a:p>
            <a:pPr marL="415985" lvl="1" indent="-342900" rtl="0">
              <a:buFont typeface="+mj-lt"/>
              <a:buAutoNum type="arabicPeriod"/>
            </a:pPr>
            <a:r>
              <a:rPr sz="1600" lang="es-419">
                <a:solidFill>
                  <a:srgbClr val="000000"/>
                </a:solidFill>
              </a:rPr>
              <a:t>Recibe un mensaje Clear to Send (CTS) del AP que otorga acceso para enviar.</a:t>
            </a:r>
          </a:p>
          <a:p>
            <a:pPr marL="415985" lvl="1" indent="-342900" rtl="0">
              <a:buFont typeface="+mj-lt"/>
              <a:buAutoNum type="arabicPeriod"/>
            </a:pPr>
            <a:r>
              <a:rPr sz="1600" lang="es-419">
                <a:solidFill>
                  <a:srgbClr val="000000"/>
                </a:solidFill>
              </a:rPr>
              <a:t>Espera una cantidad de tiempo aleatoria antes de reiniciar el proceso si no se recibe un mensaje CTS.</a:t>
            </a:r>
          </a:p>
          <a:p>
            <a:pPr marL="415985" lvl="1" indent="-342900" rtl="0">
              <a:buFont typeface="+mj-lt"/>
              <a:buAutoNum type="arabicPeriod"/>
            </a:pPr>
            <a:r>
              <a:rPr sz="1600" lang="es-419">
                <a:solidFill>
                  <a:srgbClr val="000000"/>
                </a:solidFill>
              </a:rPr>
              <a:t>Transmite los datos.</a:t>
            </a:r>
          </a:p>
          <a:p>
            <a:pPr marL="415985" lvl="1" indent="-342900" rtl="0">
              <a:buFont typeface="+mj-lt"/>
              <a:buAutoNum type="arabicPeriod"/>
            </a:pPr>
            <a:r>
              <a:rPr sz="1600" lang="es-419">
                <a:solidFill>
                  <a:srgbClr val="000000"/>
                </a:solidFill>
              </a:rPr>
              <a:t>Reconoce todas las transmisiones. Si un cliente inalámbrico no recibe el reconocimiento, supone que ocurrió una colisión y reinicia el proceso.</a:t>
            </a:r>
          </a:p>
          <a:p>
            <a:pPr marL="73085" lvl="1" indent="0">
              <a:buNone/>
            </a:pPr>
            <a:endParaRPr lang="en-US" sz="1600" dirty="0">
              <a:solidFill>
                <a:srgbClr val="000000"/>
              </a:solidFill>
            </a:endParaRPr>
          </a:p>
          <a:p>
            <a:pPr marL="73085" lvl="1" indent="0">
              <a:buNone/>
            </a:pPr>
            <a:endParaRPr lang="en-US" sz="1600" dirty="0">
              <a:solidFill>
                <a:srgbClr val="000000"/>
              </a:solidFill>
            </a:endParaRPr>
          </a:p>
          <a:p>
            <a:pPr marL="73085" lvl="1" indent="0">
              <a:buNone/>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78100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WLAN</a:t>
            </a:r>
            <a:br>
              <a:rPr lang="en-US" dirty="0"/>
            </a:br>
            <a:r>
              <a:rPr sz="2400" lang="es-419"/>
              <a:t>Cliente Inalámbrico y Asociación 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49"/>
            <a:ext cx="3740150" cy="2603501"/>
          </a:xfrm>
        </p:spPr>
        <p:txBody>
          <a:bodyPr/>
          <a:lstStyle/>
          <a:p>
            <a:pPr marL="73085" lvl="1" indent="0" rtl="0">
              <a:buNone/>
            </a:pPr>
            <a:r>
              <a:rPr sz="1800" lang="es-419">
                <a:solidFill>
                  <a:srgbClr val="000000"/>
                </a:solidFill>
              </a:rPr>
              <a:t>Para que los dispositivos inalámbricos se comuniquen a través de una red, primero se deben asociar a un AP o un router inalámbrico.</a:t>
            </a:r>
          </a:p>
          <a:p>
            <a:pPr marL="73085" lvl="1" indent="0" rtl="0">
              <a:buNone/>
            </a:pPr>
            <a:r>
              <a:rPr sz="1800" lang="es-419">
                <a:solidFill>
                  <a:srgbClr val="000000"/>
                </a:solidFill>
              </a:rPr>
              <a:t>Los dispositivos inalámbricos completan las tres etapas del siguiente proceso:</a:t>
            </a:r>
          </a:p>
          <a:p>
            <a:pPr marL="358835" lvl="1" indent="-285750" rtl="0"/>
            <a:r>
              <a:rPr sz="1600" lang="es-419">
                <a:solidFill>
                  <a:srgbClr val="000000"/>
                </a:solidFill>
              </a:rPr>
              <a:t>Descubre un AP inalámbrico</a:t>
            </a:r>
          </a:p>
          <a:p>
            <a:pPr marL="358835" lvl="1" indent="-285750" rtl="0"/>
            <a:r>
              <a:rPr sz="1600" lang="es-419">
                <a:solidFill>
                  <a:srgbClr val="000000"/>
                </a:solidFill>
              </a:rPr>
              <a:t>Autenticar el AP</a:t>
            </a:r>
          </a:p>
          <a:p>
            <a:pPr marL="358835" lvl="1" indent="-285750" rtl="0"/>
            <a:r>
              <a:rPr sz="1600" lang="es-419">
                <a:solidFill>
                  <a:srgbClr val="000000"/>
                </a:solidFill>
              </a:rPr>
              <a:t>Asociarse con el AP</a:t>
            </a:r>
          </a:p>
          <a:p>
            <a:pPr marL="73085" lvl="1" indent="0">
              <a:buNone/>
            </a:pPr>
            <a:endParaRPr lang="en-US" sz="1800" dirty="0">
              <a:solidFill>
                <a:srgbClr val="000000"/>
              </a:solidFill>
            </a:endParaRPr>
          </a:p>
          <a:p>
            <a:pPr marL="73085" lvl="1" indent="0">
              <a:buNone/>
            </a:pPr>
            <a:endParaRPr lang="en-US" sz="1800" dirty="0">
              <a:solidFill>
                <a:srgbClr val="000000"/>
              </a:solidFill>
            </a:endParaRPr>
          </a:p>
          <a:p>
            <a:pPr marL="73085" lvl="1" indent="0">
              <a:buNone/>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5162E844-B4B3-499A-A303-0676D66D3340}"/>
              </a:ext>
            </a:extLst>
          </p:cNvPr>
          <p:cNvPicPr>
            <a:picLocks noChangeAspect="1"/>
          </p:cNvPicPr>
          <p:nvPr/>
        </p:nvPicPr>
        <p:blipFill>
          <a:blip r:embed="rId3"/>
          <a:stretch>
            <a:fillRect/>
          </a:stretch>
        </p:blipFill>
        <p:spPr>
          <a:xfrm>
            <a:off x="4286317" y="1690804"/>
            <a:ext cx="4586221" cy="2431818"/>
          </a:xfrm>
          <a:prstGeom prst="rect">
            <a:avLst/>
          </a:prstGeom>
        </p:spPr>
      </p:pic>
    </p:spTree>
    <p:extLst>
      <p:ext uri="{BB962C8B-B14F-4D97-AF65-F5344CB8AC3E}">
        <p14:creationId xmlns:p14="http://schemas.microsoft.com/office/powerpoint/2010/main" val="2705407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WLAN</a:t>
            </a:r>
            <a:br>
              <a:rPr lang="en-US" dirty="0"/>
            </a:br>
            <a:r>
              <a:rPr sz="2400" lang="es-419"/>
              <a:t>Cliente Inalámbrico y Asociación AP(Cont.)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49"/>
            <a:ext cx="7913688" cy="2603501"/>
          </a:xfrm>
        </p:spPr>
        <p:txBody>
          <a:bodyPr/>
          <a:lstStyle/>
          <a:p>
            <a:pPr marL="73085" lvl="1" indent="0" rtl="0">
              <a:buNone/>
            </a:pPr>
            <a:r>
              <a:rPr sz="1800" lang="es-419">
                <a:solidFill>
                  <a:srgbClr val="000000"/>
                </a:solidFill>
              </a:rPr>
              <a:t>Para lograr una asociación exitosa, un cliente inalámbrico y un AP deben aceptar parámetros específicos:</a:t>
            </a:r>
          </a:p>
          <a:p>
            <a:pPr marL="358835" lvl="1" indent="-285750" rtl="0"/>
            <a:r>
              <a:rPr sz="1600" b="true" lang="es-419">
                <a:solidFill>
                  <a:srgbClr val="000000"/>
                </a:solidFill>
              </a:rPr>
              <a:t>SSID</a:t>
            </a:r>
            <a:r>
              <a:rPr sz="1600" lang="es-419">
                <a:solidFill>
                  <a:srgbClr val="000000"/>
                </a:solidFill>
              </a:rPr>
              <a:t> – El cliente necesita saber el nombre de la red para conectarse.</a:t>
            </a:r>
          </a:p>
          <a:p>
            <a:pPr marL="358835" lvl="1" indent="-285750" rtl="0"/>
            <a:r>
              <a:rPr sz="1600" b="true" lang="es-419">
                <a:solidFill>
                  <a:srgbClr val="000000"/>
                </a:solidFill>
              </a:rPr>
              <a:t>Contraseña </a:t>
            </a:r>
            <a:r>
              <a:rPr sz="1600" lang="es-419">
                <a:solidFill>
                  <a:srgbClr val="000000"/>
                </a:solidFill>
              </a:rPr>
              <a:t>– Esto es necesario para que el cliente se autentique en el AP.</a:t>
            </a:r>
          </a:p>
          <a:p>
            <a:pPr marL="358835" lvl="1" indent="-285750" rtl="0"/>
            <a:r>
              <a:rPr sz="1600" b="true" lang="es-419">
                <a:solidFill>
                  <a:srgbClr val="000000"/>
                </a:solidFill>
              </a:rPr>
              <a:t>Modo de red </a:t>
            </a:r>
            <a:r>
              <a:rPr sz="1600" lang="es-419">
                <a:solidFill>
                  <a:srgbClr val="000000"/>
                </a:solidFill>
              </a:rPr>
              <a:t>– El estándar 802.11 en uso.</a:t>
            </a:r>
          </a:p>
          <a:p>
            <a:pPr marL="358835" lvl="1" indent="-285750" rtl="0"/>
            <a:r>
              <a:rPr sz="1600" b="true" lang="es-419">
                <a:solidFill>
                  <a:srgbClr val="000000"/>
                </a:solidFill>
              </a:rPr>
              <a:t>Modo de Seguridad </a:t>
            </a:r>
            <a:r>
              <a:rPr sz="1600" lang="es-419">
                <a:solidFill>
                  <a:srgbClr val="000000"/>
                </a:solidFill>
              </a:rPr>
              <a:t>– La configuración de los parámetros de seguridad, es decir, WEP, WPA o WPA2.</a:t>
            </a:r>
          </a:p>
          <a:p>
            <a:pPr marL="358835" lvl="1" indent="-285750" rtl="0"/>
            <a:r>
              <a:rPr sz="1600" b="true" lang="es-419">
                <a:solidFill>
                  <a:srgbClr val="000000"/>
                </a:solidFill>
              </a:rPr>
              <a:t>Configuraciones de canal </a:t>
            </a:r>
            <a:r>
              <a:rPr sz="1600" lang="es-419">
                <a:solidFill>
                  <a:srgbClr val="000000"/>
                </a:solidFill>
              </a:rPr>
              <a:t>– Las bandas de frecuencia en uso.</a:t>
            </a:r>
          </a:p>
          <a:p>
            <a:pPr marL="73085" lvl="1" indent="0">
              <a:buNone/>
            </a:pPr>
            <a:endParaRPr lang="en-US" sz="1800" dirty="0">
              <a:solidFill>
                <a:srgbClr val="000000"/>
              </a:solidFill>
            </a:endParaRPr>
          </a:p>
          <a:p>
            <a:pPr marL="73085" lvl="1" indent="0">
              <a:buNone/>
            </a:pPr>
            <a:endParaRPr lang="en-US" sz="1800" dirty="0">
              <a:solidFill>
                <a:srgbClr val="000000"/>
              </a:solidFill>
            </a:endParaRPr>
          </a:p>
          <a:p>
            <a:pPr marL="73085" lvl="1" indent="0">
              <a:buNone/>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45508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WLAN</a:t>
            </a:r>
            <a:br>
              <a:rPr lang="en-US" dirty="0"/>
            </a:br>
            <a:r>
              <a:rPr sz="2400" lang="es-419"/>
              <a:t>Modo de entrega Pasiva y Activa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731837"/>
            <a:ext cx="3997323" cy="4078287"/>
          </a:xfrm>
        </p:spPr>
        <p:txBody>
          <a:bodyPr/>
          <a:lstStyle/>
          <a:p>
            <a:pPr marL="0" indent="0" algn="l" rtl="0"/>
            <a:r>
              <a:rPr sz="1600" lang="es-419">
                <a:solidFill>
                  <a:srgbClr val="000000"/>
                </a:solidFill>
              </a:rPr>
              <a:t>Los clientes inalámbricos se conectan al AP mediante un proceso de escaneo (sondeo) pasivo o activo. </a:t>
            </a:r>
          </a:p>
          <a:p>
            <a:pPr marL="415985" lvl="1" indent="-342900" rtl="0">
              <a:buFont typeface="Arial" panose="020B0604020202020204" pitchFamily="34" charset="0"/>
              <a:buChar char="•"/>
            </a:pPr>
            <a:r>
              <a:rPr sz="1600" b="true" lang="es-419">
                <a:solidFill>
                  <a:srgbClr val="000000"/>
                </a:solidFill>
              </a:rPr>
              <a:t>Modo pasivo</a:t>
            </a:r>
            <a:r>
              <a:rPr sz="1600" lang="es-419">
                <a:solidFill>
                  <a:srgbClr val="000000"/>
                </a:solidFill>
              </a:rPr>
              <a:t>: el AP anuncia abiertamente su servicio enviando periódicamente tramas de señal de difusión que contienen el SSID, los estándares admitidos y la configuración de seguridad. </a:t>
            </a:r>
          </a:p>
          <a:p>
            <a:pPr marL="415985" lvl="1" indent="-342900" rtl="0">
              <a:buFont typeface="Arial" panose="020B0604020202020204" pitchFamily="34" charset="0"/>
              <a:buChar char="•"/>
            </a:pPr>
            <a:r>
              <a:rPr sz="1600" b="true" lang="es-419">
                <a:solidFill>
                  <a:srgbClr val="000000"/>
                </a:solidFill>
              </a:rPr>
              <a:t>Modo activo </a:t>
            </a:r>
            <a:r>
              <a:rPr sz="1600" lang="es-419">
                <a:solidFill>
                  <a:srgbClr val="000000"/>
                </a:solidFill>
              </a:rPr>
              <a:t>: los clientes inalámbricos deben conocer el nombre del SSID. El cliente inalámbrico inicia el proceso al transmitir por difusión una trama de solicitud de sondeo en varios canales.</a:t>
            </a:r>
            <a:r>
              <a:rPr sz="1600" b="true" lang="es-419">
                <a:solidFill>
                  <a:srgbClr val="000000"/>
                </a:solidFill>
              </a:rPr>
              <a:t> </a:t>
            </a: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90D136F8-2584-410C-9668-B6E1046C53A8}"/>
              </a:ext>
            </a:extLst>
          </p:cNvPr>
          <p:cNvPicPr>
            <a:picLocks noChangeAspect="1"/>
          </p:cNvPicPr>
          <p:nvPr/>
        </p:nvPicPr>
        <p:blipFill>
          <a:blip r:embed="rId3"/>
          <a:stretch>
            <a:fillRect/>
          </a:stretch>
        </p:blipFill>
        <p:spPr>
          <a:xfrm>
            <a:off x="4953000" y="987617"/>
            <a:ext cx="2454198" cy="1709737"/>
          </a:xfrm>
          <a:prstGeom prst="rect">
            <a:avLst/>
          </a:prstGeom>
        </p:spPr>
      </p:pic>
      <p:sp>
        <p:nvSpPr>
          <p:cNvPr id="10" name="Rectangle 9">
            <a:extLst>
              <a:ext uri="{FF2B5EF4-FFF2-40B4-BE49-F238E27FC236}">
                <a16:creationId xmlns:a16="http://schemas.microsoft.com/office/drawing/2014/main" id="{7BB98524-B210-49BE-AB9C-B15FC935C85F}"/>
              </a:ext>
            </a:extLst>
          </p:cNvPr>
          <p:cNvSpPr/>
          <p:nvPr/>
        </p:nvSpPr>
        <p:spPr>
          <a:xfrm>
            <a:off x="7610475" y="1763871"/>
            <a:ext cx="1209676" cy="307777"/>
          </a:xfrm>
          <a:prstGeom prst="rect">
            <a:avLst/>
          </a:prstGeom>
        </p:spPr>
        <p:txBody>
          <a:bodyPr wrap="square">
            <a:spAutoFit/>
          </a:bodyPr>
          <a:lstStyle/>
          <a:p>
            <a:pPr rtl="0"/>
            <a:r>
              <a:rPr sz="1400" b="true" lang="es-419">
                <a:solidFill>
                  <a:srgbClr val="000000"/>
                </a:solidFill>
                <a:latin typeface="CiscoSans"/>
              </a:rPr>
              <a:t>Modo pasivo</a:t>
            </a:r>
          </a:p>
        </p:txBody>
      </p:sp>
      <p:pic>
        <p:nvPicPr>
          <p:cNvPr id="2" name="Picture 1">
            <a:extLst>
              <a:ext uri="{FF2B5EF4-FFF2-40B4-BE49-F238E27FC236}">
                <a16:creationId xmlns:a16="http://schemas.microsoft.com/office/drawing/2014/main" id="{3412303B-0BC9-454D-8539-9B757CDF5D9F}"/>
              </a:ext>
            </a:extLst>
          </p:cNvPr>
          <p:cNvPicPr>
            <a:picLocks noChangeAspect="1"/>
          </p:cNvPicPr>
          <p:nvPr/>
        </p:nvPicPr>
        <p:blipFill>
          <a:blip r:embed="rId4"/>
          <a:stretch>
            <a:fillRect/>
          </a:stretch>
        </p:blipFill>
        <p:spPr>
          <a:xfrm>
            <a:off x="4953000" y="2953135"/>
            <a:ext cx="2762249" cy="1593079"/>
          </a:xfrm>
          <a:prstGeom prst="rect">
            <a:avLst/>
          </a:prstGeom>
        </p:spPr>
      </p:pic>
      <p:sp>
        <p:nvSpPr>
          <p:cNvPr id="11" name="Rectangle 10">
            <a:extLst>
              <a:ext uri="{FF2B5EF4-FFF2-40B4-BE49-F238E27FC236}">
                <a16:creationId xmlns:a16="http://schemas.microsoft.com/office/drawing/2014/main" id="{0E2D58DD-5F4A-411B-AB2B-32F927F08580}"/>
              </a:ext>
            </a:extLst>
          </p:cNvPr>
          <p:cNvSpPr/>
          <p:nvPr/>
        </p:nvSpPr>
        <p:spPr>
          <a:xfrm>
            <a:off x="7610475" y="3595785"/>
            <a:ext cx="1209676" cy="307777"/>
          </a:xfrm>
          <a:prstGeom prst="rect">
            <a:avLst/>
          </a:prstGeom>
        </p:spPr>
        <p:txBody>
          <a:bodyPr wrap="square">
            <a:spAutoFit/>
          </a:bodyPr>
          <a:lstStyle/>
          <a:p>
            <a:pPr rtl="0"/>
            <a:r>
              <a:rPr sz="1400" b="true" lang="es-419">
                <a:solidFill>
                  <a:srgbClr val="000000"/>
                </a:solidFill>
                <a:latin typeface="CiscoSans"/>
              </a:rPr>
              <a:t>Modo activo</a:t>
            </a:r>
          </a:p>
        </p:txBody>
      </p:sp>
    </p:spTree>
    <p:extLst>
      <p:ext uri="{BB962C8B-B14F-4D97-AF65-F5344CB8AC3E}">
        <p14:creationId xmlns:p14="http://schemas.microsoft.com/office/powerpoint/2010/main" val="3542232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12.4 - Funcionamiento de la CAPWAP</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la CAPWAP</a:t>
            </a:r>
            <a:br>
              <a:rPr lang="en-US" dirty="0"/>
            </a:br>
            <a:r>
              <a:rPr sz="2400" lang="es-419"/>
              <a:t>Video – CAPWAP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rtl="0">
              <a:spcBef>
                <a:spcPts val="0"/>
              </a:spcBef>
              <a:buClr>
                <a:schemeClr val="tx2"/>
              </a:buClr>
              <a:buSzPct val="90000"/>
            </a:pPr>
            <a:r>
              <a:rPr sz="1800" lang="es-419">
                <a:solidFill>
                  <a:srgbClr val="000000"/>
                </a:solidFill>
              </a:rPr>
              <a:t>Este video cubrirá lo siguiente: </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Función de control y aprovisionamiento de puntos de acceso inalámbrico (CAPWAP)</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Arquitectura de control de acceso a medios divididos (MAC)</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Encriptación de DTLS</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Conexión flexible a AP</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81859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la CAPWAP</a:t>
            </a:r>
            <a:br>
              <a:rPr lang="en-US" dirty="0"/>
            </a:br>
            <a:r>
              <a:rPr sz="2400" lang="es-419"/>
              <a:t>Introducción a CAPWAP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90469" y="731837"/>
            <a:ext cx="4310131" cy="3866617"/>
          </a:xfrm>
        </p:spPr>
        <p:txBody>
          <a:bodyPr/>
          <a:lstStyle/>
          <a:p>
            <a:pPr marL="169863" indent="-169863" algn="l" defTabSz="684213" fontAlgn="base" rtl="0">
              <a:spcBef>
                <a:spcPts val="600"/>
              </a:spcBef>
              <a:spcAft>
                <a:spcPts val="600"/>
              </a:spcAft>
              <a:buClr>
                <a:schemeClr val="tx2"/>
              </a:buClr>
              <a:buSzPct val="90000"/>
              <a:buFont typeface="Arial" panose="020B0604020202020204" pitchFamily="34" charset="0"/>
              <a:buChar char="•"/>
            </a:pPr>
            <a:r>
              <a:rPr sz="1500" lang="es-419">
                <a:solidFill>
                  <a:srgbClr val="000000"/>
                </a:solidFill>
              </a:rPr>
              <a:t>CAPWAP es un protocolo estándar IEEE que permite que un WLC administre múltiples AP y WLAN.</a:t>
            </a:r>
          </a:p>
          <a:p>
            <a:pPr marL="169863" indent="-169863" algn="l" defTabSz="684213" fontAlgn="base" rtl="0">
              <a:spcBef>
                <a:spcPts val="600"/>
              </a:spcBef>
              <a:spcAft>
                <a:spcPts val="600"/>
              </a:spcAft>
              <a:buClr>
                <a:schemeClr val="tx2"/>
              </a:buClr>
              <a:buSzPct val="90000"/>
              <a:buFont typeface="Arial" panose="020B0604020202020204" pitchFamily="34" charset="0"/>
              <a:buChar char="•"/>
            </a:pPr>
            <a:r>
              <a:rPr sz="1600" lang="es-419">
                <a:solidFill>
                  <a:srgbClr val="000000"/>
                </a:solidFill>
              </a:rPr>
              <a:t>Basado en LWAPP pero agrega seguridad adicional con Datagram Transport Layer Security (DLTS).</a:t>
            </a:r>
          </a:p>
          <a:p>
            <a:pPr marL="169863" indent="-169863" algn="l" defTabSz="684213" fontAlgn="base" rtl="0">
              <a:spcBef>
                <a:spcPts val="600"/>
              </a:spcBef>
              <a:spcAft>
                <a:spcPts val="600"/>
              </a:spcAft>
              <a:buClr>
                <a:schemeClr val="tx2"/>
              </a:buClr>
              <a:buSzPct val="90000"/>
              <a:buFont typeface="Arial" panose="020B0604020202020204" pitchFamily="34" charset="0"/>
              <a:buChar char="•"/>
            </a:pPr>
            <a:r>
              <a:rPr sz="1600" lang="es-419">
                <a:solidFill>
                  <a:srgbClr val="000000"/>
                </a:solidFill>
              </a:rPr>
              <a:t>Encapsula y reenvía el tráfico del cliente WLAN entre un AP y un WLC a través de túneles utilizando los puertos UDP 5246 y 5247.</a:t>
            </a:r>
          </a:p>
          <a:p>
            <a:pPr marL="169863" indent="-169863" algn="l" defTabSz="684213" fontAlgn="base" rtl="0">
              <a:spcBef>
                <a:spcPts val="600"/>
              </a:spcBef>
              <a:spcAft>
                <a:spcPts val="600"/>
              </a:spcAft>
              <a:buClr>
                <a:schemeClr val="tx2"/>
              </a:buClr>
              <a:buSzPct val="90000"/>
              <a:buFont typeface="Arial" panose="020B0604020202020204" pitchFamily="34" charset="0"/>
              <a:buChar char="•"/>
            </a:pPr>
            <a:r>
              <a:rPr sz="1600" lang="es-419">
                <a:solidFill>
                  <a:srgbClr val="000000"/>
                </a:solidFill>
              </a:rPr>
              <a:t>Opera sobre IPv4 e IPv6. IPv4 usa el protocolo IP 17 e IPv6 usa el protocolo IP 136.</a:t>
            </a: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0F48CA15-E45D-45AD-AB09-AD2CCD8D3BB3}"/>
              </a:ext>
            </a:extLst>
          </p:cNvPr>
          <p:cNvPicPr>
            <a:picLocks noChangeAspect="1"/>
          </p:cNvPicPr>
          <p:nvPr/>
        </p:nvPicPr>
        <p:blipFill>
          <a:blip r:embed="rId3"/>
          <a:stretch>
            <a:fillRect/>
          </a:stretch>
        </p:blipFill>
        <p:spPr>
          <a:xfrm>
            <a:off x="4800600" y="1276350"/>
            <a:ext cx="3810000" cy="2590800"/>
          </a:xfrm>
          <a:prstGeom prst="rect">
            <a:avLst/>
          </a:prstGeom>
        </p:spPr>
      </p:pic>
    </p:spTree>
    <p:extLst>
      <p:ext uri="{BB962C8B-B14F-4D97-AF65-F5344CB8AC3E}">
        <p14:creationId xmlns:p14="http://schemas.microsoft.com/office/powerpoint/2010/main" val="27562853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la CAPWAP</a:t>
            </a:r>
            <a:br>
              <a:rPr lang="en-US" dirty="0"/>
            </a:br>
            <a:r>
              <a:rPr sz="2400" lang="es-419"/>
              <a:t>Arquitectura MAC dividida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3997323" cy="3866617"/>
          </a:xfrm>
        </p:spPr>
        <p:txBody>
          <a:bodyPr/>
          <a:lstStyle/>
          <a:p>
            <a:pPr marL="0" indent="0" algn="l" defTabSz="684213" fontAlgn="base" rtl="0">
              <a:spcBef>
                <a:spcPts val="600"/>
              </a:spcBef>
              <a:spcAft>
                <a:spcPts val="600"/>
              </a:spcAft>
              <a:buClr>
                <a:schemeClr val="tx2"/>
              </a:buClr>
              <a:buSzPct val="90000"/>
            </a:pPr>
            <a:r>
              <a:rPr sz="1600" lang="es-419">
                <a:solidFill>
                  <a:srgbClr val="000000"/>
                </a:solidFill>
              </a:rPr>
              <a:t>El concepto CAPWAP split MAC realiza todas las funciones que normalmente realizan los AP individuales y las distribuye entre dos componentes funcionales:</a:t>
            </a:r>
          </a:p>
          <a:p>
            <a:pPr lvl="1" rtl="0">
              <a:lnSpc>
                <a:spcPct val="100000"/>
              </a:lnSpc>
              <a:spcBef>
                <a:spcPts val="300"/>
              </a:spcBef>
              <a:spcAft>
                <a:spcPts val="300"/>
              </a:spcAft>
              <a:buSzPct val="90000"/>
            </a:pPr>
            <a:r>
              <a:rPr sz="1600" lang="es-419">
                <a:solidFill>
                  <a:srgbClr val="000000"/>
                </a:solidFill>
              </a:rPr>
              <a:t>AP Funciones MAC</a:t>
            </a:r>
          </a:p>
          <a:p>
            <a:pPr lvl="1" rtl="0">
              <a:lnSpc>
                <a:spcPct val="100000"/>
              </a:lnSpc>
              <a:spcBef>
                <a:spcPts val="300"/>
              </a:spcBef>
              <a:spcAft>
                <a:spcPts val="300"/>
              </a:spcAft>
              <a:buSzPct val="90000"/>
            </a:pPr>
            <a:r>
              <a:rPr sz="1600" lang="es-419">
                <a:solidFill>
                  <a:srgbClr val="000000"/>
                </a:solidFill>
              </a:rPr>
              <a:t>Funciones WLC MAC</a:t>
            </a:r>
          </a:p>
          <a:p>
            <a:pPr marL="0" indent="0" algn="l"/>
            <a:endParaRPr lang="en-US" sz="1600" b="1" dirty="0">
              <a:solidFill>
                <a:srgbClr val="000000"/>
              </a:solidFill>
            </a:endParaRPr>
          </a:p>
          <a:p>
            <a:pPr marL="0" indent="0" algn="l"/>
            <a:endParaRPr lang="en-US" sz="1600" b="1"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graphicFrame>
        <p:nvGraphicFramePr>
          <p:cNvPr id="7" name="Content Placeholder 6">
            <a:extLst>
              <a:ext uri="{FF2B5EF4-FFF2-40B4-BE49-F238E27FC236}">
                <a16:creationId xmlns:a16="http://schemas.microsoft.com/office/drawing/2014/main" id="{D3ED25D6-8E6F-4B4D-BD45-E75897C41FAC}"/>
              </a:ext>
            </a:extLst>
          </p:cNvPr>
          <p:cNvGraphicFramePr>
            <a:graphicFrameLocks/>
          </p:cNvGraphicFramePr>
          <p:nvPr>
            <p:extLst>
              <p:ext uri="{D42A27DB-BD31-4B8C-83A1-F6EECF244321}">
                <p14:modId xmlns:p14="http://schemas.microsoft.com/office/powerpoint/2010/main" val="225717397"/>
              </p:ext>
            </p:extLst>
          </p:nvPr>
        </p:nvGraphicFramePr>
        <p:xfrm>
          <a:off x="4572000" y="1169670"/>
          <a:ext cx="3971924" cy="2804160"/>
        </p:xfrm>
        <a:graphic>
          <a:graphicData uri="http://schemas.openxmlformats.org/drawingml/2006/table">
            <a:tbl>
              <a:tblPr firstRow="1" bandRow="1">
                <a:tableStyleId>{5C22544A-7EE6-4342-B048-85BDC9FD1C3A}</a:tableStyleId>
              </a:tblPr>
              <a:tblGrid>
                <a:gridCol w="1862890">
                  <a:extLst>
                    <a:ext uri="{9D8B030D-6E8A-4147-A177-3AD203B41FA5}">
                      <a16:colId xmlns:a16="http://schemas.microsoft.com/office/drawing/2014/main" val="3729139006"/>
                    </a:ext>
                  </a:extLst>
                </a:gridCol>
                <a:gridCol w="2109034">
                  <a:extLst>
                    <a:ext uri="{9D8B030D-6E8A-4147-A177-3AD203B41FA5}">
                      <a16:colId xmlns:a16="http://schemas.microsoft.com/office/drawing/2014/main" val="817269429"/>
                    </a:ext>
                  </a:extLst>
                </a:gridCol>
              </a:tblGrid>
              <a:tr h="0">
                <a:tc>
                  <a:txBody>
                    <a:bodyPr/>
                    <a:lstStyle/>
                    <a:p>
                      <a:pPr rtl="0"/>
                      <a:r>
                        <a:rPr sz="1400" lang="es-419"/>
                        <a:t>AP Funciones MAC</a:t>
                      </a:r>
                    </a:p>
                  </a:txBody>
                  <a:tcPr/>
                </a:tc>
                <a:tc>
                  <a:txBody>
                    <a:bodyPr/>
                    <a:lstStyle/>
                    <a:p>
                      <a:pPr rtl="0"/>
                      <a:r>
                        <a:rPr sz="1400" lang="es-419"/>
                        <a:t>Funciones WLC MAC</a:t>
                      </a:r>
                    </a:p>
                  </a:txBody>
                  <a:tcPr/>
                </a:tc>
                <a:extLst>
                  <a:ext uri="{0D108BD9-81ED-4DB2-BD59-A6C34878D82A}">
                    <a16:rowId xmlns:a16="http://schemas.microsoft.com/office/drawing/2014/main" val="2583676789"/>
                  </a:ext>
                </a:extLst>
              </a:tr>
              <a:tr h="0">
                <a:tc>
                  <a:txBody>
                    <a:bodyPr/>
                    <a:lstStyle/>
                    <a:p>
                      <a:pPr rtl="0"/>
                      <a:r>
                        <a:rPr sz="1400" lang="es-419">
                          <a:solidFill>
                            <a:srgbClr val="000000"/>
                          </a:solidFill>
                        </a:rPr>
                        <a:t>Beacons y respuestas probe</a:t>
                      </a:r>
                    </a:p>
                  </a:txBody>
                  <a:tcPr/>
                </a:tc>
                <a:tc>
                  <a:txBody>
                    <a:bodyPr/>
                    <a:lstStyle/>
                    <a:p>
                      <a:pPr rtl="0"/>
                      <a:r>
                        <a:rPr sz="1400" lang="es-419">
                          <a:solidFill>
                            <a:srgbClr val="000000"/>
                          </a:solidFill>
                        </a:rPr>
                        <a:t>Autenticación.</a:t>
                      </a: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Reconocimientos de paquetes y retransmisiones</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Asociación y re-asociación de clientes itinerantes.</a:t>
                      </a:r>
                    </a:p>
                  </a:txBody>
                  <a:tcPr/>
                </a:tc>
                <a:extLst>
                  <a:ext uri="{0D108BD9-81ED-4DB2-BD59-A6C34878D82A}">
                    <a16:rowId xmlns:a16="http://schemas.microsoft.com/office/drawing/2014/main" val="235735172"/>
                  </a:ext>
                </a:extLst>
              </a:tr>
              <a:tr h="174195">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Cola de Frame y priorización de paquetes</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Traducción de Frames a otros protocolos.</a:t>
                      </a:r>
                    </a:p>
                  </a:txBody>
                  <a:tcPr/>
                </a:tc>
                <a:extLst>
                  <a:ext uri="{0D108BD9-81ED-4DB2-BD59-A6C34878D82A}">
                    <a16:rowId xmlns:a16="http://schemas.microsoft.com/office/drawing/2014/main" val="1458107787"/>
                  </a:ext>
                </a:extLst>
              </a:tr>
              <a:tr h="274011">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Cifrado y descifrado de datos de capa MAC</a:t>
                      </a:r>
                    </a:p>
                  </a:txBody>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Terminación del tráfico 802.11 en una interfaz cableada.</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396663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CAPWAP</a:t>
            </a:r>
            <a:br>
              <a:rPr lang="en-US" dirty="0"/>
            </a:br>
            <a:r>
              <a:rPr sz="2400" lang="es-419"/>
              <a:t>Cifrado DTLS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3997323" cy="3866617"/>
          </a:xfrm>
        </p:spPr>
        <p:txBody>
          <a:bodyPr/>
          <a:lstStyle/>
          <a:p>
            <a:pPr marL="169863" indent="-169863" algn="l" defTabSz="684213" fontAlgn="base" rtl="0">
              <a:spcBef>
                <a:spcPts val="600"/>
              </a:spcBef>
              <a:spcAft>
                <a:spcPts val="600"/>
              </a:spcAft>
              <a:buClr>
                <a:schemeClr val="tx2"/>
              </a:buClr>
              <a:buSzPct val="90000"/>
              <a:buFont typeface="Arial" panose="020B0604020202020204" pitchFamily="34" charset="0"/>
              <a:buChar char="•"/>
            </a:pPr>
            <a:r>
              <a:rPr sz="1600" lang="es-419">
                <a:solidFill>
                  <a:srgbClr val="000000"/>
                </a:solidFill>
              </a:rPr>
              <a:t>DTLS proporciona seguridad entre el AP y el WLC.</a:t>
            </a:r>
          </a:p>
          <a:p>
            <a:pPr marL="169863" indent="-169863" algn="l" defTabSz="684213" fontAlgn="base" rtl="0">
              <a:spcBef>
                <a:spcPts val="600"/>
              </a:spcBef>
              <a:spcAft>
                <a:spcPts val="600"/>
              </a:spcAft>
              <a:buClr>
                <a:schemeClr val="tx2"/>
              </a:buClr>
              <a:buSzPct val="90000"/>
              <a:buFont typeface="Arial" panose="020B0604020202020204" pitchFamily="34" charset="0"/>
              <a:buChar char="•"/>
            </a:pPr>
            <a:r>
              <a:rPr sz="1600" lang="es-419">
                <a:solidFill>
                  <a:srgbClr val="000000"/>
                </a:solidFill>
              </a:rPr>
              <a:t>Está habilitado de manera predeterminada para proteger el canal de control CAPWAP y cifrar todo el tráfico de administración y control entre AP y WLC.</a:t>
            </a:r>
          </a:p>
          <a:p>
            <a:pPr marL="169863" indent="-169863" algn="l" defTabSz="684213" fontAlgn="base" rtl="0">
              <a:spcBef>
                <a:spcPts val="600"/>
              </a:spcBef>
              <a:spcAft>
                <a:spcPts val="600"/>
              </a:spcAft>
              <a:buClr>
                <a:schemeClr val="tx2"/>
              </a:buClr>
              <a:buSzPct val="90000"/>
              <a:buFont typeface="Arial" panose="020B0604020202020204" pitchFamily="34" charset="0"/>
              <a:buChar char="•"/>
            </a:pPr>
            <a:r>
              <a:rPr sz="1600" lang="es-419">
                <a:solidFill>
                  <a:srgbClr val="000000"/>
                </a:solidFill>
              </a:rPr>
              <a:t>El cifrado de datos está deshabilitado de manera predeterminada y requiere que se instale una licencia DTLS en el WLC antes de que se pueda habilitar en el AP.</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F3107A68-75BE-49F0-8FBE-BB3810419C19}"/>
              </a:ext>
            </a:extLst>
          </p:cNvPr>
          <p:cNvPicPr>
            <a:picLocks noChangeAspect="1"/>
          </p:cNvPicPr>
          <p:nvPr/>
        </p:nvPicPr>
        <p:blipFill>
          <a:blip r:embed="rId3"/>
          <a:stretch>
            <a:fillRect/>
          </a:stretch>
        </p:blipFill>
        <p:spPr>
          <a:xfrm>
            <a:off x="4315837" y="1149406"/>
            <a:ext cx="4595028" cy="2435365"/>
          </a:xfrm>
          <a:prstGeom prst="rect">
            <a:avLst/>
          </a:prstGeom>
        </p:spPr>
      </p:pic>
    </p:spTree>
    <p:extLst>
      <p:ext uri="{BB962C8B-B14F-4D97-AF65-F5344CB8AC3E}">
        <p14:creationId xmlns:p14="http://schemas.microsoft.com/office/powerpoint/2010/main" val="1883792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Operación de CAPWAP</a:t>
            </a:r>
            <a:br>
              <a:rPr lang="en-US" dirty="0"/>
            </a:br>
            <a:r>
              <a:rPr sz="2400" lang="es-419"/>
              <a:t>Conexión flexible a AP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10067" y="731837"/>
            <a:ext cx="8712200" cy="1930235"/>
          </a:xfrm>
        </p:spPr>
        <p:txBody>
          <a:bodyPr/>
          <a:lstStyle/>
          <a:p>
            <a:pPr marL="0" indent="0" algn="l" defTabSz="684213" fontAlgn="base" rtl="0">
              <a:spcBef>
                <a:spcPts val="600"/>
              </a:spcBef>
              <a:spcAft>
                <a:spcPts val="600"/>
              </a:spcAft>
              <a:buClr>
                <a:schemeClr val="tx2"/>
              </a:buClr>
              <a:buSzPct val="90000"/>
            </a:pPr>
            <a:r>
              <a:rPr sz="1600" lang="es-419">
                <a:solidFill>
                  <a:srgbClr val="000000"/>
                </a:solidFill>
              </a:rPr>
              <a:t>FlexConnect permite la configuración y el control de Aps a través de un enlace WAN.</a:t>
            </a:r>
          </a:p>
          <a:p>
            <a:pPr marL="0" indent="0" algn="l" defTabSz="684213" fontAlgn="base" rtl="0">
              <a:spcBef>
                <a:spcPts val="600"/>
              </a:spcBef>
              <a:spcAft>
                <a:spcPts val="600"/>
              </a:spcAft>
              <a:buClr>
                <a:schemeClr val="tx2"/>
              </a:buClr>
              <a:buSzPct val="90000"/>
            </a:pPr>
            <a:r>
              <a:rPr sz="1600" lang="es-419">
                <a:solidFill>
                  <a:srgbClr val="000000"/>
                </a:solidFill>
              </a:rPr>
              <a:t>Hay dos modos de opción para la Conexión flexible a AP:</a:t>
            </a:r>
          </a:p>
          <a:p>
            <a:pPr lvl="2" algn="thaiDist" rtl="0">
              <a:lnSpc>
                <a:spcPct val="85000"/>
              </a:lnSpc>
              <a:spcBef>
                <a:spcPct val="30000"/>
              </a:spcBef>
              <a:spcAft>
                <a:spcPts val="300"/>
              </a:spcAft>
              <a:buSzPct val="90000"/>
            </a:pPr>
            <a:r>
              <a:rPr sz="1500" b="true" lang="es-419">
                <a:solidFill>
                  <a:srgbClr val="000000"/>
                </a:solidFill>
              </a:rPr>
              <a:t>Modo conectado </a:t>
            </a:r>
            <a:r>
              <a:rPr sz="1500" lang="es-419">
                <a:solidFill>
                  <a:srgbClr val="000000"/>
                </a:solidFill>
              </a:rPr>
              <a:t>– El WLC es accesible. La Conexión flexible a AP tiene conectividad CAPWAP con el WLC a través del túnel CAPWAP. El WLC realiza todas las funciones CAPWAP.</a:t>
            </a:r>
          </a:p>
          <a:p>
            <a:pPr lvl="2" algn="thaiDist" rtl="0">
              <a:lnSpc>
                <a:spcPct val="85000"/>
              </a:lnSpc>
              <a:spcBef>
                <a:spcPct val="30000"/>
              </a:spcBef>
              <a:spcAft>
                <a:spcPts val="300"/>
              </a:spcAft>
              <a:buSzPct val="90000"/>
            </a:pPr>
            <a:r>
              <a:rPr sz="1500" b="true" lang="es-419">
                <a:solidFill>
                  <a:srgbClr val="000000"/>
                </a:solidFill>
              </a:rPr>
              <a:t>Modo independiente </a:t>
            </a:r>
            <a:r>
              <a:rPr sz="1500" lang="es-419">
                <a:solidFill>
                  <a:srgbClr val="000000"/>
                </a:solidFill>
              </a:rPr>
              <a:t>– El WLC es inalcanzable. La Conexión flexible a AP ha perdido la conectividad CAPWAP con el WLC. La Conexión Flexible a AP puede asumir algunas de las funciones de WLC, como cambiar el tráfico de datos del cliente localmente y realizar la autenticación del cliente localmente.</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0" indent="0" algn="l"/>
            <a:endParaRPr lang="en-US" sz="1600" b="1" dirty="0">
              <a:solidFill>
                <a:srgbClr val="000000"/>
              </a:solidFill>
            </a:endParaRPr>
          </a:p>
          <a:p>
            <a:pPr marL="0" indent="0" algn="l"/>
            <a:endParaRPr lang="en-US" sz="1600" b="1"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68E27057-9975-40C1-A87D-146743F9A3F7}"/>
              </a:ext>
            </a:extLst>
          </p:cNvPr>
          <p:cNvPicPr>
            <a:picLocks noChangeAspect="1"/>
          </p:cNvPicPr>
          <p:nvPr/>
        </p:nvPicPr>
        <p:blipFill>
          <a:blip r:embed="rId3"/>
          <a:stretch>
            <a:fillRect/>
          </a:stretch>
        </p:blipFill>
        <p:spPr>
          <a:xfrm>
            <a:off x="2064545" y="2986760"/>
            <a:ext cx="4648200" cy="1718565"/>
          </a:xfrm>
          <a:prstGeom prst="rect">
            <a:avLst/>
          </a:prstGeom>
        </p:spPr>
      </p:pic>
    </p:spTree>
    <p:extLst>
      <p:ext uri="{BB962C8B-B14F-4D97-AF65-F5344CB8AC3E}">
        <p14:creationId xmlns:p14="http://schemas.microsoft.com/office/powerpoint/2010/main" val="614227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12.5 - Gestión de Canales</a:t>
            </a:r>
          </a:p>
        </p:txBody>
      </p:sp>
    </p:spTree>
    <p:custDataLst>
      <p:tags r:id="rId1"/>
    </p:custDataLst>
    <p:extLst>
      <p:ext uri="{BB962C8B-B14F-4D97-AF65-F5344CB8AC3E}">
        <p14:creationId xmlns:p14="http://schemas.microsoft.com/office/powerpoint/2010/main" val="3878077811"/>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Gestión de canales</a:t>
            </a:r>
            <a:br>
              <a:rPr lang="en-US" dirty="0"/>
            </a:br>
            <a:r>
              <a:rPr sz="2400" lang="es-419"/>
              <a:t>Canal de Frecuencia de Saturación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118533" y="731837"/>
            <a:ext cx="8500534" cy="3325813"/>
          </a:xfrm>
        </p:spPr>
        <p:txBody>
          <a:bodyPr/>
          <a:lstStyle/>
          <a:p>
            <a:pPr marL="0" indent="0" algn="l" defTabSz="684213" fontAlgn="base" rtl="0">
              <a:spcBef>
                <a:spcPct val="30000"/>
              </a:spcBef>
              <a:spcAft>
                <a:spcPts val="600"/>
              </a:spcAft>
              <a:buClr>
                <a:schemeClr val="tx2"/>
              </a:buClr>
              <a:buSzPct val="90000"/>
            </a:pPr>
            <a:r>
              <a:rPr sz="1600" lang="es-419">
                <a:solidFill>
                  <a:srgbClr val="000000"/>
                </a:solidFill>
              </a:rPr>
              <a:t>Si la demanda de un canal inalámbrico específico es demasiado alta, el canal puede sobresaturarse, degradando la calidad de la comunicación.</a:t>
            </a:r>
          </a:p>
          <a:p>
            <a:pPr marL="0" indent="0" algn="l" defTabSz="684213" fontAlgn="base" rtl="0">
              <a:spcBef>
                <a:spcPct val="30000"/>
              </a:spcBef>
              <a:spcAft>
                <a:spcPts val="600"/>
              </a:spcAft>
              <a:buClr>
                <a:schemeClr val="tx2"/>
              </a:buClr>
              <a:buSzPct val="90000"/>
            </a:pPr>
            <a:r>
              <a:rPr sz="1600" lang="es-419">
                <a:solidFill>
                  <a:srgbClr val="000000"/>
                </a:solidFill>
              </a:rPr>
              <a:t>La saturación de canales se puede mitigar utilizando técnicas que usan los canales de manera más eficiente.</a:t>
            </a:r>
          </a:p>
          <a:p>
            <a:pPr marL="169863" lvl="1" indent="-169863" rtl="0">
              <a:lnSpc>
                <a:spcPct val="85000"/>
              </a:lnSpc>
              <a:spcBef>
                <a:spcPct val="30000"/>
              </a:spcBef>
              <a:spcAft>
                <a:spcPts val="600"/>
              </a:spcAft>
              <a:buSzPct val="90000"/>
              <a:buFont typeface="Arial" panose="020B0604020202020204" pitchFamily="34" charset="0"/>
              <a:buChar char="•"/>
            </a:pPr>
            <a:r>
              <a:rPr sz="1600" b="true" lang="es-419">
                <a:solidFill>
                  <a:srgbClr val="000000"/>
                </a:solidFill>
              </a:rPr>
              <a:t>Direct-Sequence Spread Spectrum (DSSS) </a:t>
            </a:r>
            <a:r>
              <a:rPr sz="1600" lang="es-419">
                <a:solidFill>
                  <a:srgbClr val="000000"/>
                </a:solidFill>
              </a:rPr>
              <a:t>- Una técnica de modulación diseñada para extender una señal sobre una banda de frecuencia más grande. Usado por dispositivos 802.11b para evitar interferencias de otros dispositivos que usan la misma frecuencia de 2.4 GHz.</a:t>
            </a:r>
          </a:p>
          <a:p>
            <a:pPr marL="169863" lvl="1" indent="-169863" rtl="0">
              <a:lnSpc>
                <a:spcPct val="85000"/>
              </a:lnSpc>
              <a:spcBef>
                <a:spcPct val="30000"/>
              </a:spcBef>
              <a:spcAft>
                <a:spcPts val="600"/>
              </a:spcAft>
              <a:buSzPct val="90000"/>
              <a:buFont typeface="Arial" panose="020B0604020202020204" pitchFamily="34" charset="0"/>
              <a:buChar char="•"/>
            </a:pPr>
            <a:r>
              <a:rPr sz="1600" b="true" lang="es-419">
                <a:solidFill>
                  <a:srgbClr val="000000"/>
                </a:solidFill>
              </a:rPr>
              <a:t>Frequency-Hopping Spread Spectrum (FHSS) </a:t>
            </a:r>
            <a:r>
              <a:rPr sz="1600" lang="es-419">
                <a:solidFill>
                  <a:srgbClr val="000000"/>
                </a:solidFill>
              </a:rPr>
              <a:t>- Transmite señales de radio cambiando rápidamente una señal portadora entre muchos canales de frecuencia. El emisor y el receptor deben estar sincronizados para "saber" a qué canal saltar. Usado por el estándar 802.11 original.</a:t>
            </a:r>
          </a:p>
          <a:p>
            <a:pPr marL="169863" lvl="1" indent="-169863" rtl="0">
              <a:lnSpc>
                <a:spcPct val="85000"/>
              </a:lnSpc>
              <a:spcBef>
                <a:spcPct val="30000"/>
              </a:spcBef>
              <a:spcAft>
                <a:spcPts val="600"/>
              </a:spcAft>
              <a:buSzPct val="90000"/>
              <a:buFont typeface="Arial" panose="020B0604020202020204" pitchFamily="34" charset="0"/>
              <a:buChar char="•"/>
            </a:pPr>
            <a:r>
              <a:rPr sz="1600" b="true" lang="es-419">
                <a:solidFill>
                  <a:srgbClr val="000000"/>
                </a:solidFill>
              </a:rPr>
              <a:t>Orthogonal Frequency-Division Multiplexing (OFDM) </a:t>
            </a:r>
            <a:r>
              <a:rPr sz="1600" lang="es-419">
                <a:solidFill>
                  <a:srgbClr val="000000"/>
                </a:solidFill>
              </a:rPr>
              <a:t>- </a:t>
            </a:r>
            <a:r>
              <a:rPr sz="1600" lang="es-419"/>
              <a:t> </a:t>
            </a:r>
            <a:r>
              <a:rPr sz="1600" lang="es-419">
                <a:solidFill>
                  <a:srgbClr val="000000"/>
                </a:solidFill>
              </a:rPr>
              <a:t>Subconjunto de multiplexación por división de frecuencia en el que un solo canal utiliza múltiples subcanales en frecuencias adyacentes. Una serie de sistemas de comunicación, incluidos los estándares 802.11a/g/n/ac, usa OFDM. </a:t>
            </a: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1302953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Gestión de Canales (Channel Management)</a:t>
            </a:r>
            <a:br>
              <a:rPr lang="en-US" dirty="0"/>
            </a:br>
            <a:r>
              <a:rPr sz="2400" lang="es-419"/>
              <a:t>Selección del canal</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8"/>
            <a:ext cx="7913686" cy="1080026"/>
          </a:xfrm>
        </p:spPr>
        <p:txBody>
          <a:bodyPr/>
          <a:lstStyle/>
          <a:p>
            <a:pPr marL="169863" indent="-169863"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500" lang="es-419">
                <a:solidFill>
                  <a:srgbClr val="000000"/>
                </a:solidFill>
              </a:rPr>
              <a:t>La banda de 2,4 GHz se subdivide en múltiples canales, cada uno de los cuales tiene un ancho de banda de 22 MHz y se separa del siguiente canal en 5 MHz.</a:t>
            </a:r>
          </a:p>
          <a:p>
            <a:pPr marL="169863" indent="-169863"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500" lang="es-419">
                <a:solidFill>
                  <a:srgbClr val="000000"/>
                </a:solidFill>
              </a:rPr>
              <a:t>Una práctica recomendada para las WLAN 802.11b/g/n que requieren múltiples AP es utilizar canales no superpuestos, como 1, 6 y 11.</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500" dirty="0">
              <a:solidFill>
                <a:srgbClr val="000000"/>
              </a:solidFill>
            </a:endParaRP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2" name="Picture 1">
            <a:extLst>
              <a:ext uri="{FF2B5EF4-FFF2-40B4-BE49-F238E27FC236}">
                <a16:creationId xmlns:a16="http://schemas.microsoft.com/office/drawing/2014/main" id="{07C3226C-D38B-4EAD-BDD2-31F7901806DA}"/>
              </a:ext>
            </a:extLst>
          </p:cNvPr>
          <p:cNvPicPr>
            <a:picLocks noChangeAspect="1"/>
          </p:cNvPicPr>
          <p:nvPr/>
        </p:nvPicPr>
        <p:blipFill>
          <a:blip r:embed="rId3"/>
          <a:stretch>
            <a:fillRect/>
          </a:stretch>
        </p:blipFill>
        <p:spPr>
          <a:xfrm>
            <a:off x="1243454" y="1913967"/>
            <a:ext cx="5976496" cy="2667558"/>
          </a:xfrm>
          <a:prstGeom prst="rect">
            <a:avLst/>
          </a:prstGeom>
        </p:spPr>
      </p:pic>
    </p:spTree>
    <p:extLst>
      <p:ext uri="{BB962C8B-B14F-4D97-AF65-F5344CB8AC3E}">
        <p14:creationId xmlns:p14="http://schemas.microsoft.com/office/powerpoint/2010/main" val="1091733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Gestión de canales</a:t>
            </a:r>
            <a:br>
              <a:rPr lang="en-US" dirty="0"/>
            </a:br>
            <a:r>
              <a:rPr sz="2400" lang="es-419"/>
              <a:t>Selección de canales (Cont.)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8"/>
            <a:ext cx="7913686" cy="1237718"/>
          </a:xfrm>
        </p:spPr>
        <p:txBody>
          <a:bodyPr/>
          <a:lstStyle/>
          <a:p>
            <a:pPr marL="169863" indent="-169863"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Para los estándares de 5 GHz 802.11a/n/ac, hay 24 canales. Cada canal está separado del siguiente canal por 20 MHz</a:t>
            </a:r>
          </a:p>
          <a:p>
            <a:pPr marL="169863" indent="-169863"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500" lang="es-419">
                <a:solidFill>
                  <a:srgbClr val="000000"/>
                </a:solidFill>
              </a:rPr>
              <a:t>Los canales no superpuestos son 36, 48 y 60.</a:t>
            </a:r>
          </a:p>
          <a:p>
            <a:pPr marL="169863" indent="-169863"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5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500" dirty="0">
              <a:solidFill>
                <a:srgbClr val="000000"/>
              </a:solidFill>
            </a:endParaRPr>
          </a:p>
          <a:p>
            <a:pPr marL="0" indent="0" algn="l" defTabSz="684213" fontAlgn="base">
              <a:spcBef>
                <a:spcPts val="600"/>
              </a:spcBef>
              <a:spcAft>
                <a:spcPts val="600"/>
              </a:spcAft>
              <a:buClr>
                <a:schemeClr val="tx2"/>
              </a:buClr>
              <a:buSzPct val="90000"/>
            </a:pPr>
            <a:endParaRPr lang="en-US" sz="1600" b="1" dirty="0">
              <a:solidFill>
                <a:srgbClr val="000000"/>
              </a:solidFill>
            </a:endParaRPr>
          </a:p>
          <a:p>
            <a:pPr marL="0" indent="0" algn="l"/>
            <a:endParaRPr lang="en-US" sz="1800" b="1" dirty="0">
              <a:solidFill>
                <a:srgbClr val="000000"/>
              </a:solidFill>
            </a:endParaRPr>
          </a:p>
          <a:p>
            <a:pPr marL="0" indent="0" algn="l"/>
            <a:endParaRPr lang="en-US" sz="1800" b="1" dirty="0">
              <a:solidFill>
                <a:srgbClr val="000000"/>
              </a:solidFill>
            </a:endParaRP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0" indent="0" algn="l"/>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4" name="Picture 3">
            <a:extLst>
              <a:ext uri="{FF2B5EF4-FFF2-40B4-BE49-F238E27FC236}">
                <a16:creationId xmlns:a16="http://schemas.microsoft.com/office/drawing/2014/main" id="{EE67C185-3EB1-47D2-844A-E056EFF02077}"/>
              </a:ext>
            </a:extLst>
          </p:cNvPr>
          <p:cNvPicPr>
            <a:picLocks noChangeAspect="1"/>
          </p:cNvPicPr>
          <p:nvPr/>
        </p:nvPicPr>
        <p:blipFill>
          <a:blip r:embed="rId3"/>
          <a:stretch>
            <a:fillRect/>
          </a:stretch>
        </p:blipFill>
        <p:spPr>
          <a:xfrm>
            <a:off x="1390650" y="2392897"/>
            <a:ext cx="5636420" cy="1961848"/>
          </a:xfrm>
          <a:prstGeom prst="rect">
            <a:avLst/>
          </a:prstGeom>
        </p:spPr>
      </p:pic>
    </p:spTree>
    <p:extLst>
      <p:ext uri="{BB962C8B-B14F-4D97-AF65-F5344CB8AC3E}">
        <p14:creationId xmlns:p14="http://schemas.microsoft.com/office/powerpoint/2010/main" val="401940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Gestión de canales</a:t>
            </a:r>
            <a:br>
              <a:rPr lang="en-US" dirty="0"/>
            </a:br>
            <a:r>
              <a:rPr sz="2400" lang="es-419"/>
              <a:t>Planifique la Implementación de WLAN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943507"/>
            <a:ext cx="4036015" cy="3264426"/>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El número de usuarios admitidos por una WLAN depende de lo siguiente:</a:t>
            </a:r>
          </a:p>
          <a:p>
            <a:pPr lvl="2" rtl="0">
              <a:lnSpc>
                <a:spcPct val="85000"/>
              </a:lnSpc>
              <a:spcBef>
                <a:spcPct val="30000"/>
              </a:spcBef>
              <a:spcAft>
                <a:spcPts val="300"/>
              </a:spcAft>
              <a:buSzPct val="90000"/>
            </a:pPr>
            <a:r>
              <a:rPr sz="1600" lang="es-419">
                <a:solidFill>
                  <a:srgbClr val="000000"/>
                </a:solidFill>
              </a:rPr>
              <a:t>El diseño geográfico de la instalación.</a:t>
            </a:r>
          </a:p>
          <a:p>
            <a:pPr lvl="2" rtl="0">
              <a:lnSpc>
                <a:spcPct val="85000"/>
              </a:lnSpc>
              <a:spcBef>
                <a:spcPct val="30000"/>
              </a:spcBef>
              <a:spcAft>
                <a:spcPts val="300"/>
              </a:spcAft>
              <a:buSzPct val="90000"/>
            </a:pPr>
            <a:r>
              <a:rPr sz="1600" lang="es-419">
                <a:solidFill>
                  <a:srgbClr val="000000"/>
                </a:solidFill>
              </a:rPr>
              <a:t>La cantidad de cuerpos y dispositivos que pueden caber en un espacio.</a:t>
            </a:r>
          </a:p>
          <a:p>
            <a:pPr lvl="2" rtl="0">
              <a:lnSpc>
                <a:spcPct val="85000"/>
              </a:lnSpc>
              <a:spcBef>
                <a:spcPct val="30000"/>
              </a:spcBef>
              <a:spcAft>
                <a:spcPts val="300"/>
              </a:spcAft>
              <a:buSzPct val="90000"/>
            </a:pPr>
            <a:r>
              <a:rPr sz="1600" lang="es-419">
                <a:solidFill>
                  <a:srgbClr val="000000"/>
                </a:solidFill>
              </a:rPr>
              <a:t>Las tasas de datos que los usuarios esperan.</a:t>
            </a:r>
          </a:p>
          <a:p>
            <a:pPr lvl="2" rtl="0">
              <a:lnSpc>
                <a:spcPct val="85000"/>
              </a:lnSpc>
              <a:spcBef>
                <a:spcPct val="30000"/>
              </a:spcBef>
              <a:spcAft>
                <a:spcPts val="300"/>
              </a:spcAft>
              <a:buSzPct val="90000"/>
            </a:pPr>
            <a:r>
              <a:rPr sz="1600" lang="es-419">
                <a:solidFill>
                  <a:srgbClr val="000000"/>
                </a:solidFill>
              </a:rPr>
              <a:t>El uso de canales no superpuestos por múltiples AP y configuraciones de potencia de transmisión.</a:t>
            </a:r>
          </a:p>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Al planificar la ubicación de los puntos de acceso, el área de cobertura circular aproximada es importante.</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489010" lvl="2" indent="-3429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pic>
        <p:nvPicPr>
          <p:cNvPr id="2" name="Picture 1">
            <a:extLst>
              <a:ext uri="{FF2B5EF4-FFF2-40B4-BE49-F238E27FC236}">
                <a16:creationId xmlns:a16="http://schemas.microsoft.com/office/drawing/2014/main" id="{050E2E62-D377-4FDC-8C64-91BBA481B374}"/>
              </a:ext>
            </a:extLst>
          </p:cNvPr>
          <p:cNvPicPr>
            <a:picLocks noChangeAspect="1"/>
          </p:cNvPicPr>
          <p:nvPr/>
        </p:nvPicPr>
        <p:blipFill>
          <a:blip r:embed="rId3"/>
          <a:stretch>
            <a:fillRect/>
          </a:stretch>
        </p:blipFill>
        <p:spPr>
          <a:xfrm>
            <a:off x="4572000" y="1057807"/>
            <a:ext cx="4036015" cy="2881312"/>
          </a:xfrm>
          <a:prstGeom prst="rect">
            <a:avLst/>
          </a:prstGeom>
        </p:spPr>
      </p:pic>
    </p:spTree>
    <p:extLst>
      <p:ext uri="{BB962C8B-B14F-4D97-AF65-F5344CB8AC3E}">
        <p14:creationId xmlns:p14="http://schemas.microsoft.com/office/powerpoint/2010/main" val="59195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12.6 – Amenazas en la WLAN</a:t>
            </a:r>
          </a:p>
        </p:txBody>
      </p:sp>
    </p:spTree>
    <p:custDataLst>
      <p:tags r:id="rId1"/>
    </p:custDataLst>
    <p:extLst>
      <p:ext uri="{BB962C8B-B14F-4D97-AF65-F5344CB8AC3E}">
        <p14:creationId xmlns:p14="http://schemas.microsoft.com/office/powerpoint/2010/main" val="3145935831"/>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en la WLAN</a:t>
            </a:r>
            <a:br>
              <a:rPr lang="en-US" dirty="0"/>
            </a:br>
            <a:r>
              <a:rPr sz="2400" lang="es-419"/>
              <a:t>Video – Amenazas en la WLAN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rtl="0">
              <a:spcBef>
                <a:spcPts val="0"/>
              </a:spcBef>
              <a:buClr>
                <a:schemeClr val="tx2"/>
              </a:buClr>
              <a:buSzPct val="90000"/>
            </a:pPr>
            <a:r>
              <a:rPr sz="1800" lang="es-419">
                <a:solidFill>
                  <a:srgbClr val="000000"/>
                </a:solidFill>
              </a:rPr>
              <a:t>Este video cubrirá lo siguiente: </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Intercepción de datos.</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Intrusos Inalámbricos.</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Ataques de Denegación de Servicio (DoS).</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AP Dudosos.</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59431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en la WLAN</a:t>
            </a:r>
            <a:br>
              <a:rPr lang="en-US" dirty="0"/>
            </a:br>
            <a:r>
              <a:rPr sz="2400" lang="es-419"/>
              <a:t>Resumen de seguridad inalámbrica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2790293"/>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Una WLAN está abierta a cualquier persona dentro del alcance de un AP con las credenciales correspondientes para asociarse a él.</a:t>
            </a:r>
          </a:p>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Las personas ajenas a la empresa, los empleados insatisfechos e incluso otros empleados, involuntariamente, pueden generar los ataques. Las Redes Inalámbricas son específicamente susceptibles a varias amenazas, incluidas las siguientes: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Intercepción de datos.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Intrusos inalámbricos.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Ataques de denegación de servicio (DoS).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AP dudosos.</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489010" lvl="2" indent="-3429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3605053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en la WLAN</a:t>
            </a:r>
            <a:br>
              <a:rPr lang="en-US" dirty="0"/>
            </a:br>
            <a:r>
              <a:rPr sz="2400" lang="es-419"/>
              <a:t>Ataques DoS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2790293"/>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Los ataques DoS inalámbricos pueden ser el resultado de lo siguiente:</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Dispositivos mal configurados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Un usuario malintencionado que interfiere intencionalmente con la comunicación inalámbrica</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Interferencia accidental.</a:t>
            </a:r>
          </a:p>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Para minimizar el riesgo de un ataque DoS debido a dispositivos mal configurados y ataques maliciosos, fortalezca todos los dispositivos, mantenga las contraseñas seguras, cree copias de seguridad y asegúrese de que todos los cambios de configuración se incorporen fuera de horario.</a:t>
            </a:r>
          </a:p>
          <a:p>
            <a:pPr marL="285750" indent="-285750" algn="l" defTabSz="684213" fontAlgn="base">
              <a:lnSpc>
                <a:spcPct val="85000"/>
              </a:lnSpc>
              <a:spcBef>
                <a:spcPct val="30000"/>
              </a:spcBef>
              <a:spcAft>
                <a:spcPts val="600"/>
              </a:spcAft>
              <a:buClr>
                <a:schemeClr val="tx2"/>
              </a:buClr>
              <a:buSzPct val="90000"/>
              <a:buFont typeface="Arial" panose="020B0604020202020204" pitchFamily="34" charset="0"/>
              <a:buChar char="•"/>
            </a:pPr>
            <a:endParaRPr lang="en-US" sz="1600"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489010" lvl="2" indent="-342900">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52140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de la WLAN</a:t>
            </a:r>
            <a:br>
              <a:rPr lang="en-US" dirty="0"/>
            </a:br>
            <a:r>
              <a:rPr sz="2400" lang="es-419"/>
              <a:t>Puntos de acceso no autorizados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Un AP falso es un AP o un router inalámbrico que se ha conectado a una red corporativa sin autorización explícita y en contra de la política corporativa.</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Una vez conectado, el AP falso puede ser usado por el atacante para capturar direcciones MAC, capturar paquetes de datos, obtener acceso a recursos de red o lanzar un ataque intermediario.</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Un punto de acceso a la red personal también podría usarse como un AP no autorizado Por ejemplo, un usuario con acceso seguro a la red habilita su host de Windows autorizado para que se convierta en un AP Wi-Fi.</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Para evitar la instalación de puntos de acceso no autorizados, las organizaciones deben configurar WLC con políticas de puntos de acceso no autorizados y utilizar software de monitoreo para monitorear activamente el espectro de radio en busca de puntos de acceso no autorizados.</a:t>
            </a:r>
          </a:p>
          <a:p>
            <a:pPr marL="489010" lvl="2" indent="-342900">
              <a:buFont typeface="Arial" panose="020B0604020202020204" pitchFamily="34" charset="0"/>
              <a:buChar char="•"/>
            </a:pPr>
            <a:endParaRPr lang="en-US" sz="2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169004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Amenazas en la WLAN</a:t>
            </a:r>
            <a:br>
              <a:rPr lang="en-US" dirty="0"/>
            </a:br>
            <a:r>
              <a:rPr sz="2400" lang="es-419"/>
              <a:t>Ataques intermediarios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0" indent="0" algn="l" defTabSz="684213" fontAlgn="base" rtl="0">
              <a:lnSpc>
                <a:spcPct val="85000"/>
              </a:lnSpc>
              <a:spcBef>
                <a:spcPct val="30000"/>
              </a:spcBef>
              <a:spcAft>
                <a:spcPts val="600"/>
              </a:spcAft>
              <a:buClr>
                <a:schemeClr val="tx2"/>
              </a:buClr>
              <a:buSzPct val="90000"/>
            </a:pPr>
            <a:r>
              <a:rPr sz="1800" lang="es-419">
                <a:solidFill>
                  <a:srgbClr val="000000"/>
                </a:solidFill>
              </a:rPr>
              <a:t>En un ataque intermediario (MITM por su sigla en inglés), el pirata informático se coloca entre dos entidades legítimas para leer o modificar los datos que pasan entre las dos partes. Un popular ataque MITM inalámbrico se denomina “ataque con AP de red intrusa”, en el que un atacante introduce un AP no autorizado y lo configura con el mismo SSID que el de un AP legítimo.</a:t>
            </a:r>
          </a:p>
          <a:p>
            <a:pPr marL="0" indent="0" algn="l" defTabSz="684213" fontAlgn="base" rtl="0">
              <a:lnSpc>
                <a:spcPct val="85000"/>
              </a:lnSpc>
              <a:spcBef>
                <a:spcPct val="30000"/>
              </a:spcBef>
              <a:spcAft>
                <a:spcPts val="600"/>
              </a:spcAft>
              <a:buClr>
                <a:schemeClr val="tx2"/>
              </a:buClr>
              <a:buSzPct val="90000"/>
            </a:pPr>
            <a:r>
              <a:rPr sz="1800" lang="es-419">
                <a:solidFill>
                  <a:srgbClr val="000000"/>
                </a:solidFill>
              </a:rPr>
              <a:t>La derrota de un ataque MITM comienza con la identificación de dispositivos legítimos en la WLAN. Para hacer esto, se deben autenticar los usuarios. Una vez que se conocen todos los dispositivos legítimos, se puede monitorear la red para detectar los dispositivos o el tráfico anormal.</a:t>
            </a:r>
          </a:p>
          <a:p>
            <a:pPr marL="342900" indent="-342900" algn="l">
              <a:buFont typeface="Arial" panose="020B0604020202020204" pitchFamily="34" charset="0"/>
              <a:buChar char="•"/>
            </a:pPr>
            <a:endParaRPr lang="en-US" sz="1600" b="1" dirty="0">
              <a:solidFill>
                <a:srgbClr val="000000"/>
              </a:solidFill>
            </a:endParaRPr>
          </a:p>
          <a:p>
            <a:pPr marL="285750" indent="-285750" algn="l">
              <a:buFont typeface="Arial" panose="020B0604020202020204" pitchFamily="34" charset="0"/>
              <a:buChar char="•"/>
            </a:pPr>
            <a:endParaRPr lang="en-US" sz="1600" b="1" dirty="0">
              <a:solidFill>
                <a:srgbClr val="000000"/>
              </a:solidFill>
            </a:endParaRPr>
          </a:p>
          <a:p>
            <a:pPr marL="342900" indent="-342900" algn="l">
              <a:buFont typeface="Arial" panose="020B0604020202020204" pitchFamily="34" charset="0"/>
              <a:buChar char="•"/>
            </a:pPr>
            <a:endParaRPr lang="en-US" sz="1600" b="1" dirty="0">
              <a:solidFill>
                <a:srgbClr val="000000"/>
              </a:solidFill>
            </a:endParaRPr>
          </a:p>
        </p:txBody>
      </p:sp>
    </p:spTree>
    <p:extLst>
      <p:ext uri="{BB962C8B-B14F-4D97-AF65-F5344CB8AC3E}">
        <p14:creationId xmlns:p14="http://schemas.microsoft.com/office/powerpoint/2010/main" val="3590531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12.7 – WLAN seguras</a:t>
            </a:r>
          </a:p>
        </p:txBody>
      </p:sp>
    </p:spTree>
    <p:custDataLst>
      <p:tags r:id="rId1"/>
    </p:custDataLst>
    <p:extLst>
      <p:ext uri="{BB962C8B-B14F-4D97-AF65-F5344CB8AC3E}">
        <p14:creationId xmlns:p14="http://schemas.microsoft.com/office/powerpoint/2010/main" val="2103848410"/>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WLAN Seguras</a:t>
            </a:r>
            <a:br>
              <a:rPr lang="en-US" dirty="0"/>
            </a:br>
            <a:r>
              <a:rPr sz="2400" lang="es-419"/>
              <a:t>Video – WLAN Seguras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rtl="0">
              <a:spcBef>
                <a:spcPts val="0"/>
              </a:spcBef>
              <a:buClr>
                <a:schemeClr val="tx2"/>
              </a:buClr>
              <a:buSzPct val="90000"/>
            </a:pPr>
            <a:r>
              <a:rPr sz="1800" lang="es-419">
                <a:solidFill>
                  <a:srgbClr val="000000"/>
                </a:solidFill>
              </a:rPr>
              <a:t>Este video cubrirá lo siguiente: </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Encubrimiento SSID.</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Filtrado de direcciones MAC.</a:t>
            </a:r>
          </a:p>
          <a:p>
            <a:pPr marL="285750" indent="-285750" algn="l" defTabSz="684213" fontAlgn="base" rtl="0">
              <a:spcBef>
                <a:spcPts val="0"/>
              </a:spcBef>
              <a:buClr>
                <a:schemeClr val="tx2"/>
              </a:buClr>
              <a:buSzPct val="90000"/>
              <a:buFont typeface="Arial" panose="020B0604020202020204" pitchFamily="34" charset="0"/>
              <a:buChar char="•"/>
            </a:pPr>
            <a:r>
              <a:rPr sz="1800" lang="es-419">
                <a:solidFill>
                  <a:srgbClr val="000000"/>
                </a:solidFill>
              </a:rPr>
              <a:t>Sistemas de autenticación y encriptación (Autenticación abierta y autenticación de clave compartida).</a:t>
            </a:r>
          </a:p>
          <a:p>
            <a:pPr marL="342900" indent="-342900" algn="l">
              <a:buFont typeface="Arial" panose="020B0604020202020204" pitchFamily="34" charset="0"/>
              <a:buChar char="•"/>
            </a:pPr>
            <a:endParaRPr lang="en-US" sz="1600" dirty="0">
              <a:solidFill>
                <a:srgbClr val="000000"/>
              </a:solidFill>
            </a:endParaRPr>
          </a:p>
          <a:p>
            <a:pPr marL="489010" lvl="2" indent="-342900">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369936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WLAN seguras</a:t>
            </a:r>
            <a:br>
              <a:rPr lang="en-US" dirty="0"/>
            </a:br>
            <a:r>
              <a:rPr sz="2400" lang="es-419"/>
              <a:t>Encubrimiento SSID y filtrado de direcciones MAC</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Para abordar las amenazas de mantener alejados a los intrusos inalámbricos y proteger los datos, se utilizaron dos características de seguridad tempranas que aún están disponibles en la mayoría de los enrutadores y puntos de acceso:</a:t>
            </a:r>
          </a:p>
          <a:p>
            <a:pPr marL="0" indent="0" algn="l" defTabSz="684213" fontAlgn="base" rtl="0">
              <a:lnSpc>
                <a:spcPct val="85000"/>
              </a:lnSpc>
              <a:spcBef>
                <a:spcPct val="30000"/>
              </a:spcBef>
              <a:spcAft>
                <a:spcPts val="600"/>
              </a:spcAft>
              <a:buClr>
                <a:schemeClr val="tx2"/>
              </a:buClr>
              <a:buSzPct val="90000"/>
            </a:pPr>
            <a:r>
              <a:rPr sz="1600" b="true" lang="es-419">
                <a:solidFill>
                  <a:srgbClr val="000000"/>
                </a:solidFill>
              </a:rPr>
              <a:t>Encubrimiento SSID</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Los AP y algunos enrutadores inalámbricos permiten deshabilitar la trama de baliza SSID, (Beacon frame SSID). Los clientes inalámbricos deben configurarse manualmente con el SSID para conectarse a la red.</a:t>
            </a:r>
          </a:p>
          <a:p>
            <a:pPr marL="489010" lvl="2" indent="-342900">
              <a:buFont typeface="Arial" panose="020B0604020202020204" pitchFamily="34" charset="0"/>
              <a:buChar char="•"/>
            </a:pPr>
            <a:endParaRPr lang="en-US" sz="1600" b="1" dirty="0">
              <a:solidFill>
                <a:srgbClr val="000000"/>
              </a:solidFill>
            </a:endParaRPr>
          </a:p>
          <a:p>
            <a:pPr marL="0" indent="0" algn="l" defTabSz="684213" fontAlgn="base" rtl="0">
              <a:lnSpc>
                <a:spcPct val="85000"/>
              </a:lnSpc>
              <a:spcBef>
                <a:spcPct val="30000"/>
              </a:spcBef>
              <a:spcAft>
                <a:spcPts val="600"/>
              </a:spcAft>
              <a:buClr>
                <a:schemeClr val="tx2"/>
              </a:buClr>
              <a:buSzPct val="90000"/>
            </a:pPr>
            <a:r>
              <a:rPr sz="1600" b="true" lang="es-419">
                <a:solidFill>
                  <a:srgbClr val="000000"/>
                </a:solidFill>
              </a:rPr>
              <a:t>Filtrado de Direcciones MAC</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Un administrador puede permitir o denegar manualmente el acceso inalámbrico de los clientes en función de su dirección física de hardware MAC. En la figura, el router está configurado para permitir dos direcciones MAC. Los dispositivos con diferentes direcciones MAC no podrán unirse a la WLAN de 2.4GHz</a:t>
            </a:r>
            <a:r>
              <a:rPr sz="1400" lang="es-419">
                <a:solidFill>
                  <a:srgbClr val="000000"/>
                </a:solidFill>
              </a:rPr>
              <a:t>.</a:t>
            </a:r>
          </a:p>
          <a:p>
            <a:pPr marL="0" indent="0" algn="l"/>
            <a:endParaRPr lang="en-US" sz="1600" b="1" dirty="0">
              <a:solidFill>
                <a:srgbClr val="000000"/>
              </a:solidFill>
            </a:endParaRPr>
          </a:p>
        </p:txBody>
      </p:sp>
    </p:spTree>
    <p:extLst>
      <p:ext uri="{BB962C8B-B14F-4D97-AF65-F5344CB8AC3E}">
        <p14:creationId xmlns:p14="http://schemas.microsoft.com/office/powerpoint/2010/main" val="3873439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WLAN Seguras</a:t>
            </a:r>
            <a:br>
              <a:rPr lang="en-US" dirty="0"/>
            </a:br>
            <a:r>
              <a:rPr sz="2400" lang="es-419"/>
              <a:t>802.11 Métodos de Autenticación Originales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7"/>
            <a:ext cx="7913686" cy="3333218"/>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La mejor manera de proteger una red inalámbrica es utilizar sistemas de autenticación y cifrado. Se introdujeron dos tipos de autenticación con el estándar 802.11 original:</a:t>
            </a:r>
          </a:p>
          <a:p>
            <a:pPr marL="0" indent="0" algn="l" defTabSz="684213" fontAlgn="base" rtl="0">
              <a:lnSpc>
                <a:spcPct val="85000"/>
              </a:lnSpc>
              <a:spcBef>
                <a:spcPct val="30000"/>
              </a:spcBef>
              <a:spcAft>
                <a:spcPts val="600"/>
              </a:spcAft>
              <a:buClr>
                <a:schemeClr val="tx2"/>
              </a:buClr>
              <a:buSzPct val="90000"/>
            </a:pPr>
            <a:r>
              <a:rPr sz="1600" b="true" lang="es-419">
                <a:solidFill>
                  <a:srgbClr val="000000"/>
                </a:solidFill>
              </a:rPr>
              <a:t>Autenticación abierta</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No se requiere contraseña. Normalmente se usa para proporcionar acceso gratuito a Internet en áreas públicas como cafeterías, aeropuertos y hoteles.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El cliente es responsable de proporcionar seguridad, como a través de una VPN. </a:t>
            </a:r>
          </a:p>
          <a:p>
            <a:pPr marL="0" indent="0" algn="l" defTabSz="684213" fontAlgn="base" rtl="0">
              <a:lnSpc>
                <a:spcPct val="85000"/>
              </a:lnSpc>
              <a:spcBef>
                <a:spcPct val="30000"/>
              </a:spcBef>
              <a:spcAft>
                <a:spcPts val="600"/>
              </a:spcAft>
              <a:buClr>
                <a:schemeClr val="tx2"/>
              </a:buClr>
              <a:buSzPct val="90000"/>
            </a:pPr>
            <a:r>
              <a:rPr sz="1600" b="true" lang="es-419">
                <a:solidFill>
                  <a:srgbClr val="000000"/>
                </a:solidFill>
              </a:rPr>
              <a:t>Autenticación de clave compartida</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lang="es-419">
                <a:solidFill>
                  <a:srgbClr val="000000"/>
                </a:solidFill>
              </a:rPr>
              <a:t>Proporciona mecanismos, como WEP, WPA, WPA2 y WPA3 para autenticar y cifrar datos entre un cliente inalámbrico y AP. Sin embargo, la contraseña se debe compartir previamente entre las dos partes para que estas se conecten.</a:t>
            </a:r>
          </a:p>
        </p:txBody>
      </p:sp>
    </p:spTree>
    <p:extLst>
      <p:ext uri="{BB962C8B-B14F-4D97-AF65-F5344CB8AC3E}">
        <p14:creationId xmlns:p14="http://schemas.microsoft.com/office/powerpoint/2010/main" val="3235909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WLAN seguras</a:t>
            </a:r>
            <a:br>
              <a:rPr lang="en-US" dirty="0"/>
            </a:br>
            <a:r>
              <a:rPr sz="2400" lang="es-419"/>
              <a:t>Métodos de autenticación de clave compartida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731837"/>
            <a:ext cx="7913686" cy="456668"/>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Actualmente hay cuatro técnicas de autenticación de clave compartida disponibles, como se muestra en la tabla.</a:t>
            </a:r>
          </a:p>
        </p:txBody>
      </p:sp>
      <p:graphicFrame>
        <p:nvGraphicFramePr>
          <p:cNvPr id="4" name="Content Placeholder 6">
            <a:extLst>
              <a:ext uri="{FF2B5EF4-FFF2-40B4-BE49-F238E27FC236}">
                <a16:creationId xmlns:a16="http://schemas.microsoft.com/office/drawing/2014/main" id="{49C62BAC-F92D-42FA-9647-B95FE5D3F62E}"/>
              </a:ext>
            </a:extLst>
          </p:cNvPr>
          <p:cNvGraphicFramePr>
            <a:graphicFrameLocks/>
          </p:cNvGraphicFramePr>
          <p:nvPr>
            <p:extLst>
              <p:ext uri="{D42A27DB-BD31-4B8C-83A1-F6EECF244321}">
                <p14:modId xmlns:p14="http://schemas.microsoft.com/office/powerpoint/2010/main" val="104901731"/>
              </p:ext>
            </p:extLst>
          </p:nvPr>
        </p:nvGraphicFramePr>
        <p:xfrm>
          <a:off x="533401" y="1270703"/>
          <a:ext cx="7812087" cy="3444240"/>
        </p:xfrm>
        <a:graphic>
          <a:graphicData uri="http://schemas.openxmlformats.org/drawingml/2006/table">
            <a:tbl>
              <a:tblPr firstRow="1" bandRow="1">
                <a:tableStyleId>{5C22544A-7EE6-4342-B048-85BDC9FD1C3A}</a:tableStyleId>
              </a:tblPr>
              <a:tblGrid>
                <a:gridCol w="2317651">
                  <a:extLst>
                    <a:ext uri="{9D8B030D-6E8A-4147-A177-3AD203B41FA5}">
                      <a16:colId xmlns:a16="http://schemas.microsoft.com/office/drawing/2014/main" val="3729139006"/>
                    </a:ext>
                  </a:extLst>
                </a:gridCol>
                <a:gridCol w="5494436">
                  <a:extLst>
                    <a:ext uri="{9D8B030D-6E8A-4147-A177-3AD203B41FA5}">
                      <a16:colId xmlns:a16="http://schemas.microsoft.com/office/drawing/2014/main" val="1988913492"/>
                    </a:ext>
                  </a:extLst>
                </a:gridCol>
              </a:tblGrid>
              <a:tr h="0">
                <a:tc>
                  <a:txBody>
                    <a:bodyPr/>
                    <a:lstStyle/>
                    <a:p>
                      <a:pPr rtl="0"/>
                      <a:r>
                        <a:rPr sz="1400" lang="es-419"/>
                        <a:t>Método de Autenticación</a:t>
                      </a:r>
                    </a:p>
                  </a:txBody>
                  <a:tcPr/>
                </a:tc>
                <a:tc>
                  <a:txBody>
                    <a:bodyPr/>
                    <a:lstStyle/>
                    <a:p>
                      <a:pPr rtl="0"/>
                      <a:r>
                        <a:rPr sz="1400" lang="es-419"/>
                        <a:t>Descripción</a:t>
                      </a:r>
                    </a:p>
                  </a:txBody>
                  <a:tcPr/>
                </a:tc>
                <a:extLst>
                  <a:ext uri="{0D108BD9-81ED-4DB2-BD59-A6C34878D82A}">
                    <a16:rowId xmlns:a16="http://schemas.microsoft.com/office/drawing/2014/main" val="2583676789"/>
                  </a:ext>
                </a:extLst>
              </a:tr>
              <a:tr h="0">
                <a:tc>
                  <a:txBody>
                    <a:bodyPr/>
                    <a:lstStyle/>
                    <a:p>
                      <a:pPr rtl="0"/>
                      <a:r>
                        <a:rPr sz="1400" lang="es-419">
                          <a:solidFill>
                            <a:srgbClr val="000000"/>
                          </a:solidFill>
                        </a:rPr>
                        <a:t>Privacidad Equivalente al Cableado (WEP)</a:t>
                      </a:r>
                    </a:p>
                  </a:txBody>
                  <a:tcPr/>
                </a:tc>
                <a:tc>
                  <a:txBody>
                    <a:bodyPr/>
                    <a:lstStyle/>
                    <a:p>
                      <a:pPr rtl="0"/>
                      <a:r>
                        <a:rPr sz="1400" lang="es-419">
                          <a:solidFill>
                            <a:srgbClr val="000000"/>
                          </a:solidFill>
                        </a:rPr>
                        <a:t>La especificación original 802.11 diseñada para proteger los datos utilizando el método de cifrado Rivest Cipher 4 (RC4) con una clave estática. WEP ya no se recomienda y nunca debe usarse.</a:t>
                      </a: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Acceso Protegido Wi-Fi (WPA)</a:t>
                      </a:r>
                    </a:p>
                  </a:txBody>
                  <a:tcPr/>
                </a:tc>
                <a:tc>
                  <a:txBody>
                    <a:bodyPr/>
                    <a:lstStyle/>
                    <a:p>
                      <a:pPr rtl="0"/>
                      <a:r>
                        <a:rPr sz="1400" lang="es-419">
                          <a:solidFill>
                            <a:srgbClr val="000000"/>
                          </a:solidFill>
                        </a:rPr>
                        <a:t>Un estándar de Wi-Fi Alliance que usa WEP pero asegura los datos con el algoritmo de cifrado del Protocolo de integridad de clave temporal (TKIP) mucho más fuerte. El TKIP cambia la clave para cada paquete, lo que hace que sea mucho más difícil de descifrar.</a:t>
                      </a:r>
                    </a:p>
                  </a:txBody>
                  <a:tcPr/>
                </a:tc>
                <a:extLst>
                  <a:ext uri="{0D108BD9-81ED-4DB2-BD59-A6C34878D82A}">
                    <a16:rowId xmlns:a16="http://schemas.microsoft.com/office/drawing/2014/main" val="235735172"/>
                  </a:ext>
                </a:extLst>
              </a:tr>
              <a:tr h="174195">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WPA2</a:t>
                      </a:r>
                    </a:p>
                  </a:txBody>
                  <a:tcPr/>
                </a:tc>
                <a:tc>
                  <a:txBody>
                    <a:bodyPr/>
                    <a:lstStyle/>
                    <a:p>
                      <a:pPr rtl="0"/>
                      <a:r>
                        <a:rPr sz="1400" lang="es-419">
                          <a:solidFill>
                            <a:srgbClr val="000000"/>
                          </a:solidFill>
                        </a:rPr>
                        <a:t>Utiliza el Estándar de Cifrado Avanzado (AES) para el cifrado. AES actualmente se considera el protocolo de cifrado más sólido.</a:t>
                      </a:r>
                    </a:p>
                  </a:txBody>
                  <a:tcPr/>
                </a:tc>
                <a:extLst>
                  <a:ext uri="{0D108BD9-81ED-4DB2-BD59-A6C34878D82A}">
                    <a16:rowId xmlns:a16="http://schemas.microsoft.com/office/drawing/2014/main" val="1458107787"/>
                  </a:ext>
                </a:extLst>
              </a:tr>
              <a:tr h="274011">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sz="1400" lang="es-419">
                          <a:solidFill>
                            <a:srgbClr val="000000"/>
                          </a:solidFill>
                        </a:rPr>
                        <a:t>WPA3</a:t>
                      </a:r>
                    </a:p>
                  </a:txBody>
                  <a:tcPr/>
                </a:tc>
                <a:tc>
                  <a:txBody>
                    <a:bodyPr/>
                    <a:lstStyle/>
                    <a:p>
                      <a:pPr rtl="0"/>
                      <a:r>
                        <a:rPr sz="1400" lang="es-419">
                          <a:solidFill>
                            <a:srgbClr val="000000"/>
                          </a:solidFill>
                        </a:rPr>
                        <a:t>Esta es la próxima generación de seguridad Wi-Fi. Todos los dispositivos habilitados para WPA3 utilizan los últimos métodos de seguridad, no permiten protocolos heredados obsoletos y requieren el uso de marcos de administración protegidos (PMF).</a:t>
                      </a:r>
                    </a:p>
                  </a:txBody>
                  <a:tcPr/>
                </a:tc>
                <a:extLst>
                  <a:ext uri="{0D108BD9-81ED-4DB2-BD59-A6C34878D82A}">
                    <a16:rowId xmlns:a16="http://schemas.microsoft.com/office/drawing/2014/main" val="2495454272"/>
                  </a:ext>
                </a:extLst>
              </a:tr>
            </a:tbl>
          </a:graphicData>
        </a:graphic>
      </p:graphicFrame>
    </p:spTree>
    <p:extLst>
      <p:ext uri="{BB962C8B-B14F-4D97-AF65-F5344CB8AC3E}">
        <p14:creationId xmlns:p14="http://schemas.microsoft.com/office/powerpoint/2010/main" val="1971186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071"/>
            <a:ext cx="8345488" cy="731837"/>
          </a:xfrm>
        </p:spPr>
        <p:txBody>
          <a:bodyPr/>
          <a:lstStyle/>
          <a:p>
            <a:pPr rtl="0"/>
            <a:r>
              <a:rPr sz="1600" lang="es-419"/>
              <a:t>WLAN Seguras</a:t>
            </a:r>
            <a:br>
              <a:rPr lang="en-US" dirty="0"/>
            </a:br>
            <a:r>
              <a:rPr sz="2400" lang="es-419"/>
              <a:t>Autenticando a un Usuario Doméstico</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0" y="721766"/>
            <a:ext cx="4572000" cy="3254104"/>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Los routers domésticos suelen tener dos opciones de autenticación: WPA y WPA2. Con WPA 2 tenemos dos métodos de autenticación.</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Personal </a:t>
            </a:r>
            <a:r>
              <a:rPr sz="1600" lang="es-419">
                <a:solidFill>
                  <a:srgbClr val="000000"/>
                </a:solidFill>
              </a:rPr>
              <a:t>– Destinados a redes domésticas o de pequeñas oficinas, los usuarios se autentican utilizando una clave precompartida (PSK). Los clientes inalámbricos se autentican con el enrutador inalámbrico utilizando una contraseña previamente compartida. No se requiere ningún servidor de autenticación especial.</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Empresa </a:t>
            </a:r>
            <a:r>
              <a:rPr sz="1600" lang="es-419">
                <a:solidFill>
                  <a:srgbClr val="000000"/>
                </a:solidFill>
              </a:rPr>
              <a:t>– Destinado a redes empresariales. Requiere un servidor de autenticación de Servicio de usuario de acceso telefónico de autenticación remota (RADIUS). El servidor RADIUS debe autenticar el dispositivo y, a continuación, se deben autenticar los usuarios mediante el estándar 802.1X, que usa el protocolo de autenticación extensible (EAP).</a:t>
            </a:r>
          </a:p>
          <a:p>
            <a:pPr algn="l"/>
            <a:endParaRPr lang="en-US" sz="1600" dirty="0">
              <a:solidFill>
                <a:srgbClr val="000000"/>
              </a:solidFill>
            </a:endParaRPr>
          </a:p>
          <a:p>
            <a:pPr algn="l"/>
            <a:endParaRPr lang="en-US" sz="1600" dirty="0">
              <a:solidFill>
                <a:srgbClr val="000000"/>
              </a:solidFill>
            </a:endParaRPr>
          </a:p>
          <a:p>
            <a:pPr algn="l"/>
            <a:endParaRPr lang="en-US" sz="1600" dirty="0">
              <a:solidFill>
                <a:srgbClr val="000000"/>
              </a:solidFill>
            </a:endParaRPr>
          </a:p>
          <a:p>
            <a:pPr algn="l"/>
            <a:endParaRPr lang="en-US" sz="1600" dirty="0">
              <a:solidFill>
                <a:srgbClr val="000000"/>
              </a:solidFill>
            </a:endParaRPr>
          </a:p>
        </p:txBody>
      </p:sp>
      <p:pic>
        <p:nvPicPr>
          <p:cNvPr id="5" name="Picture 4">
            <a:extLst>
              <a:ext uri="{FF2B5EF4-FFF2-40B4-BE49-F238E27FC236}">
                <a16:creationId xmlns:a16="http://schemas.microsoft.com/office/drawing/2014/main" id="{8787DE50-0976-432A-BD60-1A0A815691E4}"/>
              </a:ext>
            </a:extLst>
          </p:cNvPr>
          <p:cNvPicPr>
            <a:picLocks noChangeAspect="1"/>
          </p:cNvPicPr>
          <p:nvPr/>
        </p:nvPicPr>
        <p:blipFill>
          <a:blip r:embed="rId3"/>
          <a:stretch>
            <a:fillRect/>
          </a:stretch>
        </p:blipFill>
        <p:spPr>
          <a:xfrm>
            <a:off x="4743758" y="1274466"/>
            <a:ext cx="4089341" cy="2328862"/>
          </a:xfrm>
          <a:prstGeom prst="rect">
            <a:avLst/>
          </a:prstGeom>
        </p:spPr>
      </p:pic>
    </p:spTree>
    <p:extLst>
      <p:ext uri="{BB962C8B-B14F-4D97-AF65-F5344CB8AC3E}">
        <p14:creationId xmlns:p14="http://schemas.microsoft.com/office/powerpoint/2010/main" val="3192974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WLAN seguras</a:t>
            </a:r>
            <a:br>
              <a:rPr lang="en-US" dirty="0"/>
            </a:br>
            <a:r>
              <a:rPr sz="2400" lang="es-419"/>
              <a:t>Métodos de encriptación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943506"/>
            <a:ext cx="4140198" cy="3171294"/>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WPA y WPA2 incluyen dos protocolos de encriptación:</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Protocolo de integridad de clave temporal (Temporal Key Integrity Protocol (TKIP)) </a:t>
            </a:r>
            <a:r>
              <a:rPr sz="1600" lang="es-419">
                <a:solidFill>
                  <a:srgbClr val="000000"/>
                </a:solidFill>
              </a:rPr>
              <a:t>–</a:t>
            </a:r>
            <a:r>
              <a:rPr sz="1600" b="true" lang="es-419">
                <a:solidFill>
                  <a:srgbClr val="000000"/>
                </a:solidFill>
              </a:rPr>
              <a:t> </a:t>
            </a:r>
            <a:r>
              <a:rPr sz="1600" lang="es-419">
                <a:solidFill>
                  <a:srgbClr val="000000"/>
                </a:solidFill>
              </a:rPr>
              <a:t>Utilizado por WPA y proporciona soporte para equipos WLAN heredados. Hace uso de WEP pero encripta la carga útil de Capa 2 usando TKIP.</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Estándar de cifrado avanzado (Advanced Encryption Standard (AES)) </a:t>
            </a:r>
            <a:r>
              <a:rPr sz="1600" lang="es-419">
                <a:solidFill>
                  <a:srgbClr val="000000"/>
                </a:solidFill>
              </a:rPr>
              <a:t>– Utilizado por WPA2 y utiliza el modo de cifrado de contador con el protocolo de código de autenticación de mensajes de encadenamiento de bloque (CCMP) que permite a los hosts de destino reconocer si los bits cifrados y no cifrados han sido alterados.</a:t>
            </a: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b="1" dirty="0">
              <a:solidFill>
                <a:srgbClr val="000000"/>
              </a:solidFill>
            </a:endParaRPr>
          </a:p>
        </p:txBody>
      </p:sp>
      <p:pic>
        <p:nvPicPr>
          <p:cNvPr id="2" name="Picture 1">
            <a:extLst>
              <a:ext uri="{FF2B5EF4-FFF2-40B4-BE49-F238E27FC236}">
                <a16:creationId xmlns:a16="http://schemas.microsoft.com/office/drawing/2014/main" id="{FEBAFFA0-9269-40D5-8353-BA25798E3E3E}"/>
              </a:ext>
            </a:extLst>
          </p:cNvPr>
          <p:cNvPicPr>
            <a:picLocks noChangeAspect="1"/>
          </p:cNvPicPr>
          <p:nvPr/>
        </p:nvPicPr>
        <p:blipFill>
          <a:blip r:embed="rId3"/>
          <a:stretch>
            <a:fillRect/>
          </a:stretch>
        </p:blipFill>
        <p:spPr>
          <a:xfrm>
            <a:off x="5061640" y="943506"/>
            <a:ext cx="3718521" cy="2115080"/>
          </a:xfrm>
          <a:prstGeom prst="rect">
            <a:avLst/>
          </a:prstGeom>
        </p:spPr>
      </p:pic>
    </p:spTree>
    <p:extLst>
      <p:ext uri="{BB962C8B-B14F-4D97-AF65-F5344CB8AC3E}">
        <p14:creationId xmlns:p14="http://schemas.microsoft.com/office/powerpoint/2010/main" val="3939238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WLANs seguras</a:t>
            </a:r>
            <a:br>
              <a:rPr lang="en-US" dirty="0"/>
            </a:br>
            <a:r>
              <a:rPr sz="2400" lang="es-419"/>
              <a:t>Autenticación en la empresa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270934" y="731837"/>
            <a:ext cx="3970266" cy="3561795"/>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La elección del modo de seguridad empresarial requiere un servidor RADIUS de autenticación, autorización y contabilidad (AAA).</a:t>
            </a:r>
          </a:p>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Allí se requieren piezas de información:</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Dirección IP del servidor RADIUS </a:t>
            </a:r>
            <a:r>
              <a:rPr sz="1600" lang="es-419">
                <a:solidFill>
                  <a:srgbClr val="000000"/>
                </a:solidFill>
              </a:rPr>
              <a:t>– Dirección IP del servidor.</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Números de puerto UDP</a:t>
            </a:r>
            <a:r>
              <a:rPr sz="1600" lang="es-419">
                <a:solidFill>
                  <a:srgbClr val="000000"/>
                </a:solidFill>
              </a:rPr>
              <a:t>–Los puertos UDP 1812 para la autenticación RADIUS y 1813 para la contabilidad RADIUS, pero también pueden funcionar utilizando los puertos UDP 1645 y 1646.</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Llave compartida </a:t>
            </a:r>
            <a:r>
              <a:rPr sz="1600" lang="es-419">
                <a:solidFill>
                  <a:srgbClr val="000000"/>
                </a:solidFill>
              </a:rPr>
              <a:t>– Se utiliza para autenticar el AP con el servidor RADIUS.</a:t>
            </a: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a:p>
            <a:pPr marL="0" indent="0" algn="l" defTabSz="684213" fontAlgn="base">
              <a:lnSpc>
                <a:spcPct val="85000"/>
              </a:lnSpc>
              <a:spcBef>
                <a:spcPct val="30000"/>
              </a:spcBef>
              <a:spcAft>
                <a:spcPts val="600"/>
              </a:spcAft>
              <a:buClr>
                <a:schemeClr val="tx2"/>
              </a:buClr>
              <a:buSzPct val="90000"/>
            </a:pPr>
            <a:endParaRPr lang="en-US" sz="1600" dirty="0">
              <a:solidFill>
                <a:srgbClr val="000000"/>
              </a:solidFill>
            </a:endParaRPr>
          </a:p>
        </p:txBody>
      </p:sp>
      <p:pic>
        <p:nvPicPr>
          <p:cNvPr id="4" name="Picture 3">
            <a:extLst>
              <a:ext uri="{FF2B5EF4-FFF2-40B4-BE49-F238E27FC236}">
                <a16:creationId xmlns:a16="http://schemas.microsoft.com/office/drawing/2014/main" id="{9A74B192-8A92-421E-AE3C-ECADCA378240}"/>
              </a:ext>
            </a:extLst>
          </p:cNvPr>
          <p:cNvPicPr>
            <a:picLocks noChangeAspect="1"/>
          </p:cNvPicPr>
          <p:nvPr/>
        </p:nvPicPr>
        <p:blipFill>
          <a:blip r:embed="rId3"/>
          <a:stretch>
            <a:fillRect/>
          </a:stretch>
        </p:blipFill>
        <p:spPr>
          <a:xfrm>
            <a:off x="4572000" y="943506"/>
            <a:ext cx="4161354" cy="2366962"/>
          </a:xfrm>
          <a:prstGeom prst="rect">
            <a:avLst/>
          </a:prstGeom>
        </p:spPr>
      </p:pic>
      <p:sp>
        <p:nvSpPr>
          <p:cNvPr id="7" name="TextBox 6">
            <a:extLst>
              <a:ext uri="{FF2B5EF4-FFF2-40B4-BE49-F238E27FC236}">
                <a16:creationId xmlns:a16="http://schemas.microsoft.com/office/drawing/2014/main" id="{B9095C62-8168-482D-9A40-DA3A7B0E265A}"/>
              </a:ext>
            </a:extLst>
          </p:cNvPr>
          <p:cNvSpPr txBox="1"/>
          <p:nvPr/>
        </p:nvSpPr>
        <p:spPr>
          <a:xfrm>
            <a:off x="4572000" y="3708856"/>
            <a:ext cx="3970265" cy="1169551"/>
          </a:xfrm>
          <a:prstGeom prst="rect">
            <a:avLst/>
          </a:prstGeom>
          <a:noFill/>
        </p:spPr>
        <p:txBody>
          <a:bodyPr wrap="square" rtlCol="0">
            <a:spAutoFit/>
          </a:bodyPr>
          <a:lstStyle/>
          <a:p>
            <a:pPr rtl="0"/>
            <a:r>
              <a:rPr sz="1400" b="true" lang="es-419">
                <a:solidFill>
                  <a:srgbClr val="000000"/>
                </a:solidFill>
              </a:rPr>
              <a:t>Nota</a:t>
            </a:r>
            <a:r>
              <a:rPr sz="1400" lang="es-419">
                <a:solidFill>
                  <a:srgbClr val="000000"/>
                </a:solidFill>
              </a:rPr>
              <a:t>: La autenticación y autorización del usuario se maneja mediante el estándar 802.1X, que proporciona una autenticación centralizada basada en el servidor de los usuarios finales.</a:t>
            </a:r>
          </a:p>
          <a:p>
            <a:endParaRPr lang="en-US" sz="1400" dirty="0"/>
          </a:p>
        </p:txBody>
      </p:sp>
    </p:spTree>
    <p:extLst>
      <p:ext uri="{BB962C8B-B14F-4D97-AF65-F5344CB8AC3E}">
        <p14:creationId xmlns:p14="http://schemas.microsoft.com/office/powerpoint/2010/main" val="2010317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sz="1600" lang="es-419"/>
              <a:t>WLAN seguras</a:t>
            </a:r>
            <a:br>
              <a:rPr lang="en-US" dirty="0"/>
            </a:br>
            <a:r>
              <a:rPr sz="2400" lang="es-419"/>
              <a:t>WPA 3</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2" y="731837"/>
            <a:ext cx="7913686" cy="4059237"/>
          </a:xfrm>
        </p:spPr>
        <p:txBody>
          <a:bodyPr/>
          <a:lstStyle/>
          <a:p>
            <a:pPr marL="0" indent="0" algn="l" defTabSz="684213" fontAlgn="base" rtl="0">
              <a:lnSpc>
                <a:spcPct val="85000"/>
              </a:lnSpc>
              <a:spcBef>
                <a:spcPct val="30000"/>
              </a:spcBef>
              <a:spcAft>
                <a:spcPts val="600"/>
              </a:spcAft>
              <a:buClr>
                <a:schemeClr val="tx2"/>
              </a:buClr>
              <a:buSzPct val="90000"/>
            </a:pPr>
            <a:r>
              <a:rPr sz="1600" lang="es-419">
                <a:solidFill>
                  <a:srgbClr val="000000"/>
                </a:solidFill>
              </a:rPr>
              <a:t>Debido a que WPA2 ya no se considera seguro, se recomienda WPA3 cuando esté disponible. WPA3 incluye cuatro características: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WPA3 - Personal: </a:t>
            </a:r>
            <a:r>
              <a:rPr sz="1600" lang="es-419">
                <a:solidFill>
                  <a:srgbClr val="000000"/>
                </a:solidFill>
              </a:rPr>
              <a:t>Frustra los ataques de fuerza bruta mediante el uso de la autenticación simultánea de iguales (Simultaneous Authentication of Equals, SAE).</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WPA3 - Empresa: </a:t>
            </a:r>
            <a:r>
              <a:rPr sz="1600" lang="es-419">
                <a:solidFill>
                  <a:srgbClr val="000000"/>
                </a:solidFill>
              </a:rPr>
              <a:t>Utiliza la autenticación 802.1X / EAP. Sin embargo, requiere el uso de una suite criptográfica de 192 bits y elimina la combinación de protocolos de seguridad para los estándares 802.11 anteriores.</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Redes Abiertas:</a:t>
            </a:r>
            <a:r>
              <a:rPr sz="1600" lang="es-419">
                <a:solidFill>
                  <a:srgbClr val="000000"/>
                </a:solidFill>
              </a:rPr>
              <a:t>No usa ninguna autenticación. Sin embargo, utiliza el cifrado inalámbrico oportunista (OWE) para cifrar todo el tráfico inalámbrico.</a:t>
            </a:r>
          </a:p>
          <a:p>
            <a:pPr marL="285750" indent="-285750" algn="l" defTabSz="684213" fontAlgn="base" rtl="0">
              <a:lnSpc>
                <a:spcPct val="85000"/>
              </a:lnSpc>
              <a:spcBef>
                <a:spcPct val="30000"/>
              </a:spcBef>
              <a:spcAft>
                <a:spcPts val="600"/>
              </a:spcAft>
              <a:buClr>
                <a:schemeClr val="tx2"/>
              </a:buClr>
              <a:buSzPct val="90000"/>
              <a:buFont typeface="Arial" panose="020B0604020202020204" pitchFamily="34" charset="0"/>
              <a:buChar char="•"/>
            </a:pPr>
            <a:r>
              <a:rPr sz="1600" b="true" lang="es-419">
                <a:solidFill>
                  <a:srgbClr val="000000"/>
                </a:solidFill>
              </a:rPr>
              <a:t>Incorporación de IoT : </a:t>
            </a:r>
            <a:r>
              <a:rPr sz="1600" lang="es-419">
                <a:solidFill>
                  <a:srgbClr val="000000"/>
                </a:solidFill>
              </a:rPr>
              <a:t>Utiliza el Protocolo de aprovisionamiento de dispositivos (DPP) para incorporar rápidamente dispositivos IoT.</a:t>
            </a:r>
          </a:p>
        </p:txBody>
      </p:sp>
    </p:spTree>
    <p:extLst>
      <p:ext uri="{BB962C8B-B14F-4D97-AF65-F5344CB8AC3E}">
        <p14:creationId xmlns:p14="http://schemas.microsoft.com/office/powerpoint/2010/main" val="1342902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12.8 Módulo de Práctica y Cuestionario</a:t>
            </a:r>
          </a:p>
        </p:txBody>
      </p:sp>
    </p:spTree>
    <p:custDataLst>
      <p:tags r:id="rId1"/>
    </p:custDataLst>
    <p:extLst>
      <p:ext uri="{BB962C8B-B14F-4D97-AF65-F5344CB8AC3E}">
        <p14:creationId xmlns:p14="http://schemas.microsoft.com/office/powerpoint/2010/main" val="1452704818"/>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sz="1400" lang="es-419">
                <a:latin typeface="Arial" charset="0"/>
              </a:rPr>
              <a:t>Práctica del módulo y cuestionario</a:t>
            </a:r>
            <a:br>
              <a:rPr lang="en-US" dirty="0">
                <a:latin typeface="Arial" charset="0"/>
              </a:rPr>
            </a:br>
            <a:r>
              <a:rPr lang="es-419">
                <a:latin typeface="Arial" charset="0"/>
              </a:rPr>
              <a:t>¿Qué aprendí en este módulo?</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4065" y="798945"/>
            <a:ext cx="8853286" cy="3874656"/>
          </a:xfrm>
        </p:spPr>
        <p:txBody>
          <a:bodyPr/>
          <a:lstStyle/>
          <a:p>
            <a:pPr marL="115887" indent="-285750" rtl="0">
              <a:spcBef>
                <a:spcPts val="0"/>
              </a:spcBef>
              <a:spcAft>
                <a:spcPts val="0"/>
              </a:spcAft>
              <a:buFont typeface="Arial" panose="020B0604020202020204" pitchFamily="34" charset="0"/>
              <a:buChar char="•"/>
            </a:pPr>
            <a:r>
              <a:rPr sz="1400" lang="es-419"/>
              <a:t>Las LAN inalámbricas (WLAN) se basan en los estándares IEEE y se pueden clasificar en cuatro tipos principales: WPAN, WLAN, WMAN y WWAN.</a:t>
            </a:r>
          </a:p>
          <a:p>
            <a:pPr marL="115887" indent="-285750" rtl="0">
              <a:spcBef>
                <a:spcPts val="0"/>
              </a:spcBef>
              <a:spcAft>
                <a:spcPts val="0"/>
              </a:spcAft>
              <a:buFont typeface="Arial" panose="020B0604020202020204" pitchFamily="34" charset="0"/>
              <a:buChar char="•"/>
            </a:pPr>
            <a:r>
              <a:rPr sz="1400" lang="es-419"/>
              <a:t>Para enviar y recibir datos, la tecnología inalámbrica usa el espectro de radio sin licencia. Ejemplos de esta tecnología son Bluetooth, WiMAX, Banda Ancha Celular y Banda Ancha Satelital.</a:t>
            </a:r>
          </a:p>
          <a:p>
            <a:pPr marL="115887" indent="-285750" rtl="0">
              <a:spcBef>
                <a:spcPts val="0"/>
              </a:spcBef>
              <a:spcAft>
                <a:spcPts val="0"/>
              </a:spcAft>
              <a:buFont typeface="Arial" panose="020B0604020202020204" pitchFamily="34" charset="0"/>
              <a:buChar char="•"/>
            </a:pPr>
            <a:r>
              <a:rPr sz="1400" lang="es-419"/>
              <a:t>Las redes WLAN operan en la banda de frecuencia de 2,4 GHz y la banda de 5 GHz. </a:t>
            </a:r>
          </a:p>
          <a:p>
            <a:pPr marL="115887" indent="-285750" rtl="0">
              <a:spcBef>
                <a:spcPts val="0"/>
              </a:spcBef>
              <a:spcAft>
                <a:spcPts val="0"/>
              </a:spcAft>
              <a:buFont typeface="Arial" panose="020B0604020202020204" pitchFamily="34" charset="0"/>
              <a:buChar char="•"/>
            </a:pPr>
            <a:r>
              <a:rPr sz="1400" lang="es-419"/>
              <a:t>Las tres organizaciones que influyen en los estándares de WLAN son ITU-R, IEEE y Wi-Fi Alliance.</a:t>
            </a:r>
          </a:p>
          <a:p>
            <a:pPr marL="115887" indent="-285750" rtl="0">
              <a:spcBef>
                <a:spcPts val="0"/>
              </a:spcBef>
              <a:spcAft>
                <a:spcPts val="0"/>
              </a:spcAft>
              <a:buFont typeface="Arial" panose="020B0604020202020204" pitchFamily="34" charset="0"/>
              <a:buChar char="•"/>
            </a:pPr>
            <a:r>
              <a:rPr sz="1400" lang="es-419"/>
              <a:t>CAPWAP es un protocolo estándar IEEE que permite que un WLC administre múltiples AP y WLAN.</a:t>
            </a:r>
          </a:p>
          <a:p>
            <a:pPr marL="115887" indent="-285750" rtl="0">
              <a:spcBef>
                <a:spcPts val="0"/>
              </a:spcBef>
              <a:spcAft>
                <a:spcPts val="0"/>
              </a:spcAft>
              <a:buFont typeface="Arial" panose="020B0604020202020204" pitchFamily="34" charset="0"/>
              <a:buChar char="•"/>
            </a:pPr>
            <a:r>
              <a:rPr sz="1400" lang="es-419"/>
              <a:t>DTLS es un protocolo que proporciona seguridad entre el AP y el WLC. </a:t>
            </a:r>
          </a:p>
          <a:p>
            <a:pPr marL="115887" indent="-285750" rtl="0">
              <a:spcBef>
                <a:spcPts val="0"/>
              </a:spcBef>
              <a:spcAft>
                <a:spcPts val="0"/>
              </a:spcAft>
              <a:buFont typeface="Arial" panose="020B0604020202020204" pitchFamily="34" charset="0"/>
              <a:buChar char="•"/>
            </a:pPr>
            <a:r>
              <a:rPr sz="1400" lang="es-419"/>
              <a:t>Los dispositivos de LAN inalámbricos tienen transmisores y receptores sintonizados a frecuencias específicas de ondas de radio para comunicarse. Los rangos se dividen en rangos más pequeños llamados canales: DSSS, FHSS y OFDM. </a:t>
            </a:r>
          </a:p>
          <a:p>
            <a:pPr marL="115887" indent="-285750" rtl="0">
              <a:spcBef>
                <a:spcPts val="0"/>
              </a:spcBef>
              <a:spcAft>
                <a:spcPts val="0"/>
              </a:spcAft>
              <a:buFont typeface="Arial" panose="020B0604020202020204" pitchFamily="34" charset="0"/>
              <a:buChar char="•"/>
            </a:pPr>
            <a:r>
              <a:rPr sz="1400" lang="es-419"/>
              <a:t>Los estándares 802.11b/g/n operan en el espectro de 2.4 GHz a 2.5GHz. La banda de 2,GHz se subdivide en varios canales. Cada canal tiene un ancho de banda de 22 MHz y está separado del siguiente canal por 5 MHz.</a:t>
            </a:r>
          </a:p>
          <a:p>
            <a:pPr marL="115887" indent="-285750" rtl="0">
              <a:spcBef>
                <a:spcPts val="0"/>
              </a:spcBef>
              <a:spcAft>
                <a:spcPts val="0"/>
              </a:spcAft>
              <a:buFont typeface="Arial" panose="020B0604020202020204" pitchFamily="34" charset="0"/>
              <a:buChar char="•"/>
            </a:pPr>
            <a:r>
              <a:rPr sz="1400" lang="es-419"/>
              <a:t>Las redes inalámbricas son susceptibles a amenazas, que incluyen: interceptación de datos, intrusos inalámbricos, ataques DoS y puntos de acceso no autorizados. </a:t>
            </a:r>
          </a:p>
          <a:p>
            <a:pPr marL="115887" indent="-285750" rtl="0">
              <a:spcBef>
                <a:spcPts val="0"/>
              </a:spcBef>
              <a:spcAft>
                <a:spcPts val="0"/>
              </a:spcAft>
              <a:buFont typeface="Arial" panose="020B0604020202020204" pitchFamily="34" charset="0"/>
              <a:buChar char="•"/>
            </a:pPr>
            <a:r>
              <a:rPr sz="1400" lang="es-419"/>
              <a:t>Para mantener alejados a los intrusos inalámbricos y proteger los datos, dos características de seguridad tempranas todavía están disponibles en la mayoría de los enrutadores y puntos de acceso: ocultamiento de SSID y filtrado de direcciones MAC. </a:t>
            </a:r>
          </a:p>
          <a:p>
            <a:pPr marL="115887" indent="-285750" rtl="0">
              <a:spcBef>
                <a:spcPts val="0"/>
              </a:spcBef>
              <a:spcAft>
                <a:spcPts val="0"/>
              </a:spcAft>
              <a:buFont typeface="Arial" panose="020B0604020202020204" pitchFamily="34" charset="0"/>
              <a:buChar char="•"/>
            </a:pPr>
            <a:r>
              <a:rPr sz="1400" lang="es-419"/>
              <a:t>Hay cuatro técnicas de autenticación de clave compartida disponibles: WEP, WPA, WPA2 y WPA3.</a:t>
            </a:r>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rtl="0"/>
            <a:r>
              <a:rPr sz="1400" lang="es-419">
                <a:latin typeface="Arial" charset="0"/>
              </a:rPr>
              <a:t>Module 12: WLAN Concepts</a:t>
            </a:r>
            <a:br>
              <a:rPr lang="en-US" dirty="0">
                <a:latin typeface="Arial" charset="0"/>
              </a:rPr>
            </a:br>
            <a:r>
              <a:rPr lang="es-419">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936624825"/>
              </p:ext>
            </p:extLst>
          </p:nvPr>
        </p:nvGraphicFramePr>
        <p:xfrm>
          <a:off x="99152" y="798513"/>
          <a:ext cx="8898797" cy="3749040"/>
        </p:xfrm>
        <a:graphic>
          <a:graphicData uri="http://schemas.openxmlformats.org/drawingml/2006/table">
            <a:tbl>
              <a:tblPr firstRow="1" bandRow="1">
                <a:tableStyleId>{F5AB1C69-6EDB-4FF4-983F-18BD219EF322}</a:tableStyleId>
              </a:tblPr>
              <a:tblGrid>
                <a:gridCol w="4472054">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1988644124"/>
                    </a:ext>
                  </a:extLst>
                </a:gridCol>
              </a:tblGrid>
              <a:tr h="370840">
                <a:tc>
                  <a:txBody>
                    <a:bodyPr/>
                    <a:lstStyle/>
                    <a:p>
                      <a:pPr marL="285750" indent="-285750" rtl="0">
                        <a:buFont typeface="Arial" panose="020B0604020202020204" pitchFamily="34" charset="0"/>
                        <a:buChar char="•"/>
                      </a:pPr>
                      <a:r>
                        <a:rPr sz="1200" b="false" lang="es-419">
                          <a:solidFill>
                            <a:srgbClr val="000000"/>
                          </a:solidFill>
                        </a:rPr>
                        <a:t>WPAN</a:t>
                      </a:r>
                    </a:p>
                    <a:p>
                      <a:pPr marL="285750" indent="-285750" rtl="0">
                        <a:buFont typeface="Arial" panose="020B0604020202020204" pitchFamily="34" charset="0"/>
                        <a:buChar char="•"/>
                      </a:pPr>
                      <a:r>
                        <a:rPr sz="1200" b="false" lang="es-419">
                          <a:solidFill>
                            <a:srgbClr val="000000"/>
                          </a:solidFill>
                        </a:rPr>
                        <a:t>WLAN</a:t>
                      </a:r>
                    </a:p>
                    <a:p>
                      <a:pPr marL="285750" indent="-285750" rtl="0">
                        <a:buFont typeface="Arial" panose="020B0604020202020204" pitchFamily="34" charset="0"/>
                        <a:buChar char="•"/>
                      </a:pPr>
                      <a:r>
                        <a:rPr sz="1200" b="false" lang="es-419">
                          <a:solidFill>
                            <a:srgbClr val="000000"/>
                          </a:solidFill>
                        </a:rPr>
                        <a:t>WMAN</a:t>
                      </a:r>
                    </a:p>
                    <a:p>
                      <a:pPr marL="285750" indent="-285750" rtl="0">
                        <a:buFont typeface="Arial" panose="020B0604020202020204" pitchFamily="34" charset="0"/>
                        <a:buChar char="•"/>
                      </a:pPr>
                      <a:r>
                        <a:rPr sz="1200" b="false" lang="es-419">
                          <a:solidFill>
                            <a:srgbClr val="000000"/>
                          </a:solidFill>
                        </a:rPr>
                        <a:t>WWAN</a:t>
                      </a:r>
                    </a:p>
                    <a:p>
                      <a:pPr marL="285750" indent="-285750" rtl="0">
                        <a:buFont typeface="Arial" panose="020B0604020202020204" pitchFamily="34" charset="0"/>
                        <a:buChar char="•"/>
                      </a:pPr>
                      <a:r>
                        <a:rPr sz="1200" b="false" lang="es-419">
                          <a:solidFill>
                            <a:srgbClr val="000000"/>
                          </a:solidFill>
                        </a:rPr>
                        <a:t>Bluetooth</a:t>
                      </a:r>
                    </a:p>
                    <a:p>
                      <a:pPr marL="285750" indent="-285750" rtl="0">
                        <a:buFont typeface="Arial" panose="020B0604020202020204" pitchFamily="34" charset="0"/>
                        <a:buChar char="•"/>
                      </a:pPr>
                      <a:r>
                        <a:rPr sz="1200" b="false" lang="es-419">
                          <a:solidFill>
                            <a:srgbClr val="000000"/>
                          </a:solidFill>
                        </a:rPr>
                        <a:t>802.11</a:t>
                      </a:r>
                    </a:p>
                    <a:p>
                      <a:pPr marL="285750" indent="-285750" rtl="0">
                        <a:buFont typeface="Arial" panose="020B0604020202020204" pitchFamily="34" charset="0"/>
                        <a:buChar char="•"/>
                      </a:pPr>
                      <a:r>
                        <a:rPr sz="1200" b="false" lang="es-419">
                          <a:solidFill>
                            <a:srgbClr val="000000"/>
                          </a:solidFill>
                        </a:rPr>
                        <a:t>Electromagnetic spectrum</a:t>
                      </a:r>
                    </a:p>
                    <a:p>
                      <a:pPr marL="285750" indent="-285750" rtl="0">
                        <a:buFont typeface="Arial" panose="020B0604020202020204" pitchFamily="34" charset="0"/>
                        <a:buChar char="•"/>
                      </a:pPr>
                      <a:r>
                        <a:rPr sz="1200" b="false" lang="es-419">
                          <a:solidFill>
                            <a:srgbClr val="000000"/>
                          </a:solidFill>
                        </a:rPr>
                        <a:t>ITU</a:t>
                      </a:r>
                    </a:p>
                    <a:p>
                      <a:pPr marL="285750" indent="-285750" rtl="0">
                        <a:buFont typeface="Arial" panose="020B0604020202020204" pitchFamily="34" charset="0"/>
                        <a:buChar char="•"/>
                      </a:pPr>
                      <a:r>
                        <a:rPr sz="1200" b="false" lang="es-419">
                          <a:solidFill>
                            <a:srgbClr val="000000"/>
                          </a:solidFill>
                        </a:rPr>
                        <a:t>IEEE</a:t>
                      </a:r>
                    </a:p>
                    <a:p>
                      <a:pPr marL="285750" indent="-285750" rtl="0">
                        <a:buFont typeface="Arial" panose="020B0604020202020204" pitchFamily="34" charset="0"/>
                        <a:buChar char="•"/>
                      </a:pPr>
                      <a:r>
                        <a:rPr sz="1200" b="false" lang="es-419">
                          <a:solidFill>
                            <a:srgbClr val="000000"/>
                          </a:solidFill>
                        </a:rPr>
                        <a:t>Lightweight AP (LAP)</a:t>
                      </a:r>
                    </a:p>
                    <a:p>
                      <a:pPr marL="285750" indent="-285750" rtl="0">
                        <a:buFont typeface="Arial" panose="020B0604020202020204" pitchFamily="34" charset="0"/>
                        <a:buChar char="•"/>
                      </a:pPr>
                      <a:r>
                        <a:rPr sz="1200" b="false" lang="es-419">
                          <a:solidFill>
                            <a:srgbClr val="000000"/>
                          </a:solidFill>
                        </a:rPr>
                        <a:t>Lightweight Access Point Protocol (LWAPP)</a:t>
                      </a:r>
                    </a:p>
                    <a:p>
                      <a:pPr marL="285750" indent="-285750" rtl="0">
                        <a:buFont typeface="Arial" panose="020B0604020202020204" pitchFamily="34" charset="0"/>
                        <a:buChar char="•"/>
                      </a:pPr>
                      <a:r>
                        <a:rPr sz="1200" b="false" lang="es-419">
                          <a:solidFill>
                            <a:srgbClr val="000000"/>
                          </a:solidFill>
                        </a:rPr>
                        <a:t>Wireless LAN Controller (WLAC)</a:t>
                      </a:r>
                    </a:p>
                    <a:p>
                      <a:pPr marL="285750" indent="-285750" rtl="0">
                        <a:buFont typeface="Arial" panose="020B0604020202020204" pitchFamily="34" charset="0"/>
                        <a:buChar char="•"/>
                      </a:pPr>
                      <a:r>
                        <a:rPr sz="1200" b="false" lang="es-419">
                          <a:solidFill>
                            <a:srgbClr val="000000"/>
                          </a:solidFill>
                        </a:rPr>
                        <a:t>SSID</a:t>
                      </a:r>
                    </a:p>
                    <a:p>
                      <a:pPr marL="285750" indent="-285750" rtl="0">
                        <a:buFont typeface="Arial" panose="020B0604020202020204" pitchFamily="34" charset="0"/>
                        <a:buChar char="•"/>
                      </a:pPr>
                      <a:r>
                        <a:rPr sz="1200" b="false" lang="es-419">
                          <a:solidFill>
                            <a:srgbClr val="000000"/>
                          </a:solidFill>
                        </a:rPr>
                        <a:t>Autonomous AP</a:t>
                      </a:r>
                    </a:p>
                    <a:p>
                      <a:pPr marL="285750" indent="-285750" rtl="0">
                        <a:buFont typeface="Arial" panose="020B0604020202020204" pitchFamily="34" charset="0"/>
                        <a:buChar char="•"/>
                      </a:pPr>
                      <a:r>
                        <a:rPr sz="1200" b="false" lang="es-419">
                          <a:solidFill>
                            <a:srgbClr val="000000"/>
                          </a:solidFill>
                        </a:rPr>
                        <a:t>Controller-based AP</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Omni directional antenna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Directional antenna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MIMO antenna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Ad hoc mode</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Infrastructure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Tethering</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Basic Service Set (BSS)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Extended Service Set (ESS)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Control and Provisioning of Wireless Access Points (CAPWAP) protocol</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Datagram Transport Layer Security (DTLS)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FlexConnect</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Direct-Sequence Spread Spectrum (DSSS)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Frequency-Hopping Spread Spectrum (FHSS)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Orthogonal Frequency-Division Multiplexing (OFDM)</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Wired Equivalent Privacy (WEP)</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Wi-Fi Protected Access (WPA)</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WPA2</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WPA3</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Temporal Key Integrity Protocol (TKIP)</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sz="1200" b="false" lang="es-419">
                          <a:solidFill>
                            <a:srgbClr val="000000"/>
                          </a:solidFill>
                        </a:rPr>
                        <a:t>Advanced Encryption Standard (AES)</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b="0" dirty="0">
                        <a:solidFill>
                          <a:srgbClr val="000000"/>
                        </a:solidFill>
                      </a:endParaRPr>
                    </a:p>
                    <a:p>
                      <a:endParaRPr lang="en-US" sz="1200" b="0" dirty="0">
                        <a:solidFill>
                          <a:srgbClr val="000000"/>
                        </a:solidFill>
                      </a:endParaRPr>
                    </a:p>
                    <a:p>
                      <a:endParaRPr lang="en-US" sz="1200"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xmlns:c="http://schemas.openxmlformats.org/drawingml/2006/chart" xmlns:c15="http://schemas.microsoft.com/office/drawing/2012/chart">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11043</TotalTime>
  <Words>5518</Words>
  <Application>Microsoft Office PowerPoint</Application>
  <PresentationFormat>On-screen Show (16:9)</PresentationFormat>
  <Paragraphs>871</Paragraphs>
  <Slides>67</Slides>
  <Notes>65</Notes>
  <HiddenSlides>11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Calibri</vt:lpstr>
      <vt:lpstr>CiscoSans</vt:lpstr>
      <vt:lpstr>CiscoSans ExtraLight</vt:lpstr>
      <vt:lpstr>Wingdings</vt:lpstr>
      <vt:lpstr>Default Theme</vt:lpstr>
      <vt:lpstr>Module 12: WLAN Concepts</vt:lpstr>
      <vt:lpstr>Instructor Materials – Module 6 Planning Guide</vt:lpstr>
      <vt:lpstr>What to Expect in this Module</vt:lpstr>
      <vt:lpstr>What to Expect in this Module (Cont.)</vt:lpstr>
      <vt:lpstr>Check Your Understanding</vt:lpstr>
      <vt:lpstr>Module 12: Activities</vt:lpstr>
      <vt:lpstr>Module 12: Activities (Cont.)</vt:lpstr>
      <vt:lpstr>Module 12: Best Practices</vt:lpstr>
      <vt:lpstr>Module 12: Best Practices (Cont.)</vt:lpstr>
      <vt:lpstr>Module 12: Best Practices (Cont.)</vt:lpstr>
      <vt:lpstr>Module 12: Best Practices (Cont.)</vt:lpstr>
      <vt:lpstr>Module 12: WLAN Concepts</vt:lpstr>
      <vt:lpstr>Module Objectives</vt:lpstr>
      <vt:lpstr>12.1 Introduction to Wireless</vt:lpstr>
      <vt:lpstr>Introduction to Wireless Benefits of Wireless</vt:lpstr>
      <vt:lpstr>Introduction to Wireless Types of Wireless Networks</vt:lpstr>
      <vt:lpstr>Introduction to Wireless Wireless Technologies</vt:lpstr>
      <vt:lpstr>Introduction to Wireless Wireless Technologies (Cont.)</vt:lpstr>
      <vt:lpstr>Introduction to Wireless 802.11 Standards</vt:lpstr>
      <vt:lpstr>Introduction to Wireless Radio Frequencies</vt:lpstr>
      <vt:lpstr>Introduction to Wireless Wireless Standards Organizations</vt:lpstr>
      <vt:lpstr>12.2 WLAN Components</vt:lpstr>
      <vt:lpstr>WLAN Components Video – WLAN Components</vt:lpstr>
      <vt:lpstr>WLAN Components Wireless NICs</vt:lpstr>
      <vt:lpstr>WLAN Components Wireless Home Router</vt:lpstr>
      <vt:lpstr>WLAN Components Wireless Access Point</vt:lpstr>
      <vt:lpstr>WLAN Components AP Categories</vt:lpstr>
      <vt:lpstr>WLAN Components Wireless Antennas</vt:lpstr>
      <vt:lpstr>12.3 WLAN Operation</vt:lpstr>
      <vt:lpstr>WLAN Operation Video – WLAN Operation</vt:lpstr>
      <vt:lpstr>WLAN Operation 802.11 Wireless Topology Modes</vt:lpstr>
      <vt:lpstr>WLAN Operation BSS and ESS</vt:lpstr>
      <vt:lpstr>WLAN Operation 802.11 Frame Structure</vt:lpstr>
      <vt:lpstr>WLAN Operation CSMA/CA</vt:lpstr>
      <vt:lpstr>WLAN Operation Wireless Client and AP Association</vt:lpstr>
      <vt:lpstr>WLAN Operation Wireless Client and AP Association (Cont.)</vt:lpstr>
      <vt:lpstr>WLAN Operation Passive and Active Discover Mode</vt:lpstr>
      <vt:lpstr>12.4 CAPWAP Operation</vt:lpstr>
      <vt:lpstr>CAPWAP Operation Video – CAPWAP</vt:lpstr>
      <vt:lpstr>CAPWAP Operation Introduction to CAPWAP</vt:lpstr>
      <vt:lpstr>CAPWAP Operation Split MAC Architecture</vt:lpstr>
      <vt:lpstr>CAPWAP Operation DTLS Encryption</vt:lpstr>
      <vt:lpstr>CAPWAP Operation Flex Connect APs</vt:lpstr>
      <vt:lpstr>12.5 Channel Management</vt:lpstr>
      <vt:lpstr>Channel Management Frequency Channel Saturation</vt:lpstr>
      <vt:lpstr>Channel Management Channel Selection</vt:lpstr>
      <vt:lpstr>Channel Management Channel Selection (Cont.)</vt:lpstr>
      <vt:lpstr>Channel Management Plan a WLAN Deployment</vt:lpstr>
      <vt:lpstr>12.6 WLAN Threats</vt:lpstr>
      <vt:lpstr>WLAN Threats Video – WLAN Threats</vt:lpstr>
      <vt:lpstr>WLAN Threats Wireless Security Overview</vt:lpstr>
      <vt:lpstr>WLAN Threats DoS Attacks</vt:lpstr>
      <vt:lpstr>WLAN Threats Rogue Access Points</vt:lpstr>
      <vt:lpstr>WLAN Threats Man-in-the-Middle Attack</vt:lpstr>
      <vt:lpstr>12.7 Secure WLANs</vt:lpstr>
      <vt:lpstr>Secure WLANs Video – Secure WLANs</vt:lpstr>
      <vt:lpstr>Secure WLANs SSID Cloaking and MAC Address Filtering</vt:lpstr>
      <vt:lpstr>Secure WLANs 802.11 Original Authentication Methods</vt:lpstr>
      <vt:lpstr>Secure WLANs Shared Key Authentication Methods</vt:lpstr>
      <vt:lpstr>Secure WLANs Authenticating a Home User</vt:lpstr>
      <vt:lpstr>Secure WLANs Encryption Methods</vt:lpstr>
      <vt:lpstr>Secure WLANs Authentication in the Enterprise</vt:lpstr>
      <vt:lpstr>Secure WLANs WPA 3</vt:lpstr>
      <vt:lpstr>12.8 Module Practice and Quiz</vt:lpstr>
      <vt:lpstr>Module Practice and Quiz What did I learn in this module?</vt:lpstr>
      <vt:lpstr>Module 12: WLAN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Sue Livingston -X (suliving - UNICON INC at Cisco)</cp:lastModifiedBy>
  <cp:revision>338</cp:revision>
  <dcterms:created xsi:type="dcterms:W3CDTF">2019-10-18T06:21:22Z</dcterms:created>
  <dcterms:modified xsi:type="dcterms:W3CDTF">2019-12-06T17:34:06Z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