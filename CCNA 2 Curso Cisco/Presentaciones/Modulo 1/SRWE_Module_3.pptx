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8.xml" ContentType="application/vnd.openxmlformats-officedocument.presentationml.tags+xml"/>
  <Override PartName="/ppt/notesSlides/notesSlide10.xml" ContentType="application/vnd.openxmlformats-officedocument.presentationml.notesSlide+xml"/>
  <Override PartName="/ppt/tags/tag9.xml" ContentType="application/vnd.openxmlformats-officedocument.presentationml.tags+xml"/>
  <Override PartName="/ppt/notesSlides/notesSlide11.xml" ContentType="application/vnd.openxmlformats-officedocument.presentationml.notesSlide+xml"/>
  <Override PartName="/ppt/tags/tag10.xml" ContentType="application/vnd.openxmlformats-officedocument.presentationml.tags+xml"/>
  <Override PartName="/ppt/notesSlides/notesSlide12.xml" ContentType="application/vnd.openxmlformats-officedocument.presentationml.notesSlide+xml"/>
  <Override PartName="/ppt/tags/tag11.xml" ContentType="application/vnd.openxmlformats-officedocument.presentationml.tags+xml"/>
  <Override PartName="/ppt/notesSlides/notesSlide13.xml" ContentType="application/vnd.openxmlformats-officedocument.presentationml.notesSlide+xml"/>
  <Override PartName="/ppt/tags/tag12.xml" ContentType="application/vnd.openxmlformats-officedocument.presentationml.tags+xml"/>
  <Override PartName="/ppt/notesSlides/notesSlide14.xml" ContentType="application/vnd.openxmlformats-officedocument.presentationml.notesSlide+xml"/>
  <Override PartName="/ppt/tags/tag13.xml" ContentType="application/vnd.openxmlformats-officedocument.presentationml.tags+xml"/>
  <Override PartName="/ppt/notesSlides/notesSlide15.xml" ContentType="application/vnd.openxmlformats-officedocument.presentationml.notesSlide+xml"/>
  <Override PartName="/ppt/tags/tag14.xml" ContentType="application/vnd.openxmlformats-officedocument.presentationml.tags+xml"/>
  <Override PartName="/ppt/notesSlides/notesSlide16.xml" ContentType="application/vnd.openxmlformats-officedocument.presentationml.notesSlide+xml"/>
  <Override PartName="/ppt/tags/tag15.xml" ContentType="application/vnd.openxmlformats-officedocument.presentationml.tags+xml"/>
  <Override PartName="/ppt/notesSlides/notesSlide17.xml" ContentType="application/vnd.openxmlformats-officedocument.presentationml.notesSlide+xml"/>
  <Override PartName="/ppt/tags/tag16.xml" ContentType="application/vnd.openxmlformats-officedocument.presentationml.tags+xml"/>
  <Override PartName="/ppt/notesSlides/notesSlide18.xml" ContentType="application/vnd.openxmlformats-officedocument.presentationml.notesSlide+xml"/>
  <Override PartName="/ppt/tags/tag17.xml" ContentType="application/vnd.openxmlformats-officedocument.presentationml.tags+xml"/>
  <Override PartName="/ppt/notesSlides/notesSlide19.xml" ContentType="application/vnd.openxmlformats-officedocument.presentationml.notesSlide+xml"/>
  <Override PartName="/ppt/tags/tag18.xml" ContentType="application/vnd.openxmlformats-officedocument.presentationml.tags+xml"/>
  <Override PartName="/ppt/notesSlides/notesSlide20.xml" ContentType="application/vnd.openxmlformats-officedocument.presentationml.notesSlide+xml"/>
  <Override PartName="/ppt/tags/tag19.xml" ContentType="application/vnd.openxmlformats-officedocument.presentationml.tags+xml"/>
  <Override PartName="/ppt/notesSlides/notesSlide21.xml" ContentType="application/vnd.openxmlformats-officedocument.presentationml.notesSlide+xml"/>
  <Override PartName="/ppt/tags/tag20.xml" ContentType="application/vnd.openxmlformats-officedocument.presentationml.tags+xml"/>
  <Override PartName="/ppt/notesSlides/notesSlide22.xml" ContentType="application/vnd.openxmlformats-officedocument.presentationml.notesSlide+xml"/>
  <Override PartName="/ppt/tags/tag21.xml" ContentType="application/vnd.openxmlformats-officedocument.presentationml.tags+xml"/>
  <Override PartName="/ppt/notesSlides/notesSlide23.xml" ContentType="application/vnd.openxmlformats-officedocument.presentationml.notesSlide+xml"/>
  <Override PartName="/ppt/tags/tag22.xml" ContentType="application/vnd.openxmlformats-officedocument.presentationml.tags+xml"/>
  <Override PartName="/ppt/notesSlides/notesSlide24.xml" ContentType="application/vnd.openxmlformats-officedocument.presentationml.notesSlide+xml"/>
  <Override PartName="/ppt/tags/tag23.xml" ContentType="application/vnd.openxmlformats-officedocument.presentationml.tags+xml"/>
  <Override PartName="/ppt/notesSlides/notesSlide25.xml" ContentType="application/vnd.openxmlformats-officedocument.presentationml.notesSlide+xml"/>
  <Override PartName="/ppt/tags/tag24.xml" ContentType="application/vnd.openxmlformats-officedocument.presentationml.tags+xml"/>
  <Override PartName="/ppt/notesSlides/notesSlide26.xml" ContentType="application/vnd.openxmlformats-officedocument.presentationml.notesSlide+xml"/>
  <Override PartName="/ppt/tags/tag25.xml" ContentType="application/vnd.openxmlformats-officedocument.presentationml.tags+xml"/>
  <Override PartName="/ppt/notesSlides/notesSlide27.xml" ContentType="application/vnd.openxmlformats-officedocument.presentationml.notesSlide+xml"/>
  <Override PartName="/ppt/tags/tag26.xml" ContentType="application/vnd.openxmlformats-officedocument.presentationml.tags+xml"/>
  <Override PartName="/ppt/notesSlides/notesSlide28.xml" ContentType="application/vnd.openxmlformats-officedocument.presentationml.notesSlide+xml"/>
  <Override PartName="/ppt/tags/tag27.xml" ContentType="application/vnd.openxmlformats-officedocument.presentationml.tags+xml"/>
  <Override PartName="/ppt/notesSlides/notesSlide29.xml" ContentType="application/vnd.openxmlformats-officedocument.presentationml.notesSlide+xml"/>
  <Override PartName="/ppt/tags/tag28.xml" ContentType="application/vnd.openxmlformats-officedocument.presentationml.tags+xml"/>
  <Override PartName="/ppt/notesSlides/notesSlide30.xml" ContentType="application/vnd.openxmlformats-officedocument.presentationml.notesSlide+xml"/>
  <Override PartName="/ppt/tags/tag29.xml" ContentType="application/vnd.openxmlformats-officedocument.presentationml.tags+xml"/>
  <Override PartName="/ppt/notesSlides/notesSlide31.xml" ContentType="application/vnd.openxmlformats-officedocument.presentationml.notesSlide+xml"/>
  <Override PartName="/ppt/tags/tag30.xml" ContentType="application/vnd.openxmlformats-officedocument.presentationml.tags+xml"/>
  <Override PartName="/ppt/notesSlides/notesSlide32.xml" ContentType="application/vnd.openxmlformats-officedocument.presentationml.notesSlide+xml"/>
  <Override PartName="/ppt/tags/tag31.xml" ContentType="application/vnd.openxmlformats-officedocument.presentationml.tags+xml"/>
  <Override PartName="/ppt/notesSlides/notesSlide33.xml" ContentType="application/vnd.openxmlformats-officedocument.presentationml.notesSlide+xml"/>
  <Override PartName="/ppt/tags/tag32.xml" ContentType="application/vnd.openxmlformats-officedocument.presentationml.tags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tags/tag33.xml" ContentType="application/vnd.openxmlformats-officedocument.presentationml.tags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tags/tag34.xml" ContentType="application/vnd.openxmlformats-officedocument.presentationml.tags+xml"/>
  <Override PartName="/ppt/notesSlides/notesSlide45.xml" ContentType="application/vnd.openxmlformats-officedocument.presentationml.notesSlide+xml"/>
  <Override PartName="/ppt/tags/tag35.xml" ContentType="application/vnd.openxmlformats-officedocument.presentationml.tags+xml"/>
  <Override PartName="/ppt/notesSlides/notesSlide46.xml" ContentType="application/vnd.openxmlformats-officedocument.presentationml.notesSlide+xml"/>
  <Override PartName="/ppt/tags/tag36.xml" ContentType="application/vnd.openxmlformats-officedocument.presentationml.tags+xml"/>
  <Override PartName="/ppt/notesSlides/notesSlide47.xml" ContentType="application/vnd.openxmlformats-officedocument.presentationml.notesSlide+xml"/>
  <Override PartName="/ppt/tags/tag37.xml" ContentType="application/vnd.openxmlformats-officedocument.presentationml.tags+xml"/>
  <Override PartName="/ppt/notesSlides/notesSlide48.xml" ContentType="application/vnd.openxmlformats-officedocument.presentationml.notesSlide+xml"/>
  <Override PartName="/ppt/tags/tag38.xml" ContentType="application/vnd.openxmlformats-officedocument.presentationml.tags+xml"/>
  <Override PartName="/ppt/notesSlides/notesSlide49.xml" ContentType="application/vnd.openxmlformats-officedocument.presentationml.notesSlide+xml"/>
  <Override PartName="/ppt/tags/tag39.xml" ContentType="application/vnd.openxmlformats-officedocument.presentationml.tags+xml"/>
  <Override PartName="/ppt/notesSlides/notesSlide50.xml" ContentType="application/vnd.openxmlformats-officedocument.presentationml.notesSlide+xml"/>
  <Override PartName="/ppt/tags/tag40.xml" ContentType="application/vnd.openxmlformats-officedocument.presentationml.tags+xml"/>
  <Override PartName="/ppt/notesSlides/notesSlide51.xml" ContentType="application/vnd.openxmlformats-officedocument.presentationml.notesSlide+xml"/>
  <Override PartName="/ppt/tags/tag41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54"/>
  </p:notesMasterIdLst>
  <p:sldIdLst>
    <p:sldId id="876" r:id="rId2"/>
    <p:sldId id="925" r:id="rId3"/>
    <p:sldId id="759" r:id="rId4"/>
    <p:sldId id="628" r:id="rId5"/>
    <p:sldId id="926" r:id="rId6"/>
    <p:sldId id="1059" r:id="rId7"/>
    <p:sldId id="1149" r:id="rId8"/>
    <p:sldId id="1148" r:id="rId9"/>
    <p:sldId id="1060" r:id="rId10"/>
    <p:sldId id="927" r:id="rId11"/>
    <p:sldId id="788" r:id="rId12"/>
    <p:sldId id="1070" r:id="rId13"/>
    <p:sldId id="1071" r:id="rId14"/>
    <p:sldId id="1131" r:id="rId15"/>
    <p:sldId id="1132" r:id="rId16"/>
    <p:sldId id="1133" r:id="rId17"/>
    <p:sldId id="1134" r:id="rId18"/>
    <p:sldId id="1130" r:id="rId19"/>
    <p:sldId id="886" r:id="rId20"/>
    <p:sldId id="936" r:id="rId21"/>
    <p:sldId id="1072" r:id="rId22"/>
    <p:sldId id="1074" r:id="rId23"/>
    <p:sldId id="1075" r:id="rId24"/>
    <p:sldId id="1076" r:id="rId25"/>
    <p:sldId id="1136" r:id="rId26"/>
    <p:sldId id="1137" r:id="rId27"/>
    <p:sldId id="1138" r:id="rId28"/>
    <p:sldId id="1139" r:id="rId29"/>
    <p:sldId id="1140" r:id="rId30"/>
    <p:sldId id="1135" r:id="rId31"/>
    <p:sldId id="942" r:id="rId32"/>
    <p:sldId id="957" r:id="rId33"/>
    <p:sldId id="1078" r:id="rId34"/>
    <p:sldId id="1080" r:id="rId35"/>
    <p:sldId id="1079" r:id="rId36"/>
    <p:sldId id="1150" r:id="rId37"/>
    <p:sldId id="1081" r:id="rId38"/>
    <p:sldId id="1142" r:id="rId39"/>
    <p:sldId id="952" r:id="rId40"/>
    <p:sldId id="966" r:id="rId41"/>
    <p:sldId id="1082" r:id="rId42"/>
    <p:sldId id="1083" r:id="rId43"/>
    <p:sldId id="1085" r:id="rId44"/>
    <p:sldId id="1086" r:id="rId45"/>
    <p:sldId id="980" r:id="rId46"/>
    <p:sldId id="1151" r:id="rId47"/>
    <p:sldId id="1152" r:id="rId48"/>
    <p:sldId id="1143" r:id="rId49"/>
    <p:sldId id="1144" r:id="rId50"/>
    <p:sldId id="1154" r:id="rId51"/>
    <p:sldId id="1155" r:id="rId52"/>
    <p:sldId id="1147" r:id="rId53"/>
  </p:sldIdLst>
  <p:sldSz cx="9144000" cy="5143500" type="screen16x9"/>
  <p:notesSz cx="6858000" cy="9144000"/>
  <p:custDataLst>
    <p:tags r:id="rId55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/>
  <p:cmAuthor id="2" name="Bob Vachon" initials="BV" lastIdx="24" clrIdx="2"/>
  <p:cmAuthor id="3" name="Sue Livingston -X (suliving - UNICON INC at Cisco)" initials="SL-(-UIaC" lastIdx="35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585B"/>
    <a:srgbClr val="000000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13" autoAdjust="0"/>
    <p:restoredTop sz="84965" autoAdjust="0"/>
  </p:normalViewPr>
  <p:slideViewPr>
    <p:cSldViewPr snapToGrid="0" showGuides="1">
      <p:cViewPr varScale="1">
        <p:scale>
          <a:sx n="124" d="100"/>
          <a:sy n="124" d="100"/>
        </p:scale>
        <p:origin x="1668" y="102"/>
      </p:cViewPr>
      <p:guideLst>
        <p:guide orient="horz" pos="1620"/>
        <p:guide pos="3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gs" Target="tags/tag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x Marber Padilla Santos" userId="ad61f224-958b-4aef-825b-8bf86e91b6d0" providerId="ADAL" clId="{1D6DF357-8CA9-437A-BF08-52719B7EABE2}"/>
    <pc:docChg chg="modSld">
      <pc:chgData name="Lex Marber Padilla Santos" userId="ad61f224-958b-4aef-825b-8bf86e91b6d0" providerId="ADAL" clId="{1D6DF357-8CA9-437A-BF08-52719B7EABE2}" dt="2024-07-30T23:17:39.370" v="13" actId="20577"/>
      <pc:docMkLst>
        <pc:docMk/>
      </pc:docMkLst>
      <pc:sldChg chg="modSp mod">
        <pc:chgData name="Lex Marber Padilla Santos" userId="ad61f224-958b-4aef-825b-8bf86e91b6d0" providerId="ADAL" clId="{1D6DF357-8CA9-437A-BF08-52719B7EABE2}" dt="2024-07-30T23:17:39.370" v="13" actId="20577"/>
        <pc:sldMkLst>
          <pc:docMk/>
          <pc:sldMk cId="1901013201" sldId="1156"/>
        </pc:sldMkLst>
        <pc:spChg chg="mod">
          <ac:chgData name="Lex Marber Padilla Santos" userId="ad61f224-958b-4aef-825b-8bf86e91b6d0" providerId="ADAL" clId="{1D6DF357-8CA9-437A-BF08-52719B7EABE2}" dt="2024-07-30T23:17:39.370" v="13" actId="20577"/>
          <ac:spMkLst>
            <pc:docMk/>
            <pc:sldMk cId="1901013201" sldId="1156"/>
            <ac:spMk id="1126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8/3/2024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es-419" b="0"/>
              <a:t>Programa de la Academia de Redes de Cisco</a:t>
            </a:r>
          </a:p>
          <a:p>
            <a:pPr rtl="0">
              <a:buFontTx/>
              <a:buNone/>
            </a:pPr>
            <a:r>
              <a:rPr lang="es-419" b="0"/>
              <a:t>- Conmutación, enrutamiento y Wireless Essentials v7.0 (SRWE)</a:t>
            </a:r>
          </a:p>
          <a:p>
            <a:pPr rtl="0">
              <a:buFontTx/>
              <a:buNone/>
            </a:pPr>
            <a:r>
              <a:rPr lang="es-419" sz="1200" b="0"/>
              <a:t>Módulo 3: </a:t>
            </a:r>
            <a:r>
              <a:rPr lang="es-419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VLAN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8118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0A313ED8-785B-4D16-9B17-4143385249B9}" type="slidenum">
              <a:rPr sz="800" b="0"/>
              <a:pPr algn="r" rtl="0"/>
              <a:t>2</a:t>
            </a:fld>
            <a:endParaRPr sz="800" b="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buFontTx/>
              <a:buNone/>
            </a:pPr>
            <a:r>
              <a:rPr lang="es-419" sz="1200" b="0"/>
              <a:t>3 — </a:t>
            </a:r>
            <a:r>
              <a:rPr lang="es-419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VLAN</a:t>
            </a:r>
          </a:p>
          <a:p>
            <a:pPr rtl="0">
              <a:buFontTx/>
              <a:buNone/>
            </a:pPr>
            <a:r>
              <a:rPr lang="es-419" sz="1200" b="0"/>
              <a:t>3.0 – Introducción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es-419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3.0.2 – </a:t>
            </a:r>
            <a:r>
              <a:rPr lang="es-419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¿Qué</a:t>
            </a:r>
            <a:r>
              <a:rPr lang="es-419"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aprenderé a hacer en este módulo?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79240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es-419" sz="1200" b="0"/>
              <a:t>3 — </a:t>
            </a:r>
            <a:r>
              <a:rPr lang="es-419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VLAN</a:t>
            </a:r>
          </a:p>
          <a:p>
            <a:pPr rtl="0">
              <a:buFontTx/>
              <a:buNone/>
            </a:pPr>
            <a:r>
              <a:rPr lang="es-419" sz="1200" b="0"/>
              <a:t>3.1 – </a:t>
            </a:r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Descripción general de las VLAN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/>
              <a:pPr rtl="0"/>
              <a:t>4</a:t>
            </a:fld>
            <a:endParaRPr sz="80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buFontTx/>
              <a:buNone/>
            </a:pPr>
            <a:r>
              <a:rPr lang="es-419" sz="1200" b="0"/>
              <a:t>3 — </a:t>
            </a:r>
            <a:r>
              <a:rPr lang="es-419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VLAN</a:t>
            </a:r>
          </a:p>
          <a:p>
            <a:pPr rtl="0">
              <a:buFontTx/>
              <a:buNone/>
            </a:pPr>
            <a:r>
              <a:rPr lang="es-419" sz="1200" b="0"/>
              <a:t>3.1 – Descripción</a:t>
            </a:r>
            <a:r>
              <a:rPr lang="es-419" sz="1200" b="0" baseline="0"/>
              <a:t> general de las</a:t>
            </a:r>
            <a:r>
              <a:rPr lang="es-419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VLAN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es-419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3.1.1 – </a:t>
            </a:r>
            <a:r>
              <a:rPr lang="es-419"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s-419"/>
              <a:t>Definiciones de VLAN</a:t>
            </a:r>
          </a:p>
        </p:txBody>
      </p:sp>
    </p:spTree>
    <p:extLst>
      <p:ext uri="{BB962C8B-B14F-4D97-AF65-F5344CB8AC3E}">
        <p14:creationId xmlns:p14="http://schemas.microsoft.com/office/powerpoint/2010/main" val="35251901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  <a:pPr rtl="0"/>
              <a:t>5</a:t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buFontTx/>
              <a:buNone/>
            </a:pPr>
            <a:r>
              <a:rPr lang="es-419" sz="1200" b="0"/>
              <a:t>3 — </a:t>
            </a:r>
            <a:r>
              <a:rPr lang="es-419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VLAN</a:t>
            </a:r>
          </a:p>
          <a:p>
            <a:pPr rtl="0">
              <a:buFontTx/>
              <a:buNone/>
            </a:pPr>
            <a:r>
              <a:rPr lang="es-419" sz="1200" b="0"/>
              <a:t>3.1 – Descripción</a:t>
            </a:r>
            <a:r>
              <a:rPr lang="es-419" sz="1200" b="0" baseline="0"/>
              <a:t> general de las</a:t>
            </a:r>
            <a:r>
              <a:rPr lang="es-419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VLAN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es-419">
                <a:latin typeface="Arial" charset="0"/>
              </a:rPr>
              <a:t>3.1.2</a:t>
            </a:r>
            <a:r>
              <a:rPr lang="es-419" baseline="0">
                <a:latin typeface="Arial" charset="0"/>
              </a:rPr>
              <a:t> </a:t>
            </a:r>
            <a:r>
              <a:rPr lang="es-419" sz="1200" b="0"/>
              <a:t>— </a:t>
            </a:r>
            <a:r>
              <a:rPr lang="es-419"/>
              <a:t> Ventajas de un diseño de VLAN 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  <a:pPr rtl="0"/>
              <a:t>6</a:t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buFontTx/>
              <a:buNone/>
            </a:pPr>
            <a:r>
              <a:rPr lang="es-419" sz="1200" b="0"/>
              <a:t>3 — </a:t>
            </a:r>
            <a:r>
              <a:rPr lang="es-419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VLAN</a:t>
            </a:r>
          </a:p>
          <a:p>
            <a:pPr rtl="0">
              <a:buFontTx/>
              <a:buNone/>
            </a:pPr>
            <a:r>
              <a:rPr lang="es-419" sz="1200" b="0"/>
              <a:t>3.1 – Descripción</a:t>
            </a:r>
            <a:r>
              <a:rPr lang="es-419" sz="1200" b="0" baseline="0"/>
              <a:t> general de las</a:t>
            </a:r>
            <a:r>
              <a:rPr lang="es-419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VLAN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es-419">
                <a:latin typeface="Arial" charset="0"/>
              </a:rPr>
              <a:t>3.1.3</a:t>
            </a:r>
            <a:r>
              <a:rPr lang="es-419" baseline="0">
                <a:latin typeface="Arial" charset="0"/>
              </a:rPr>
              <a:t> </a:t>
            </a:r>
            <a:r>
              <a:rPr lang="es-419" sz="1200" b="0"/>
              <a:t>– </a:t>
            </a:r>
            <a:r>
              <a:rPr lang="es-419"/>
              <a:t>Tipos de VLAN</a:t>
            </a:r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  <a:pPr rtl="0"/>
              <a:t>7</a:t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buFontTx/>
              <a:buNone/>
            </a:pPr>
            <a:r>
              <a:rPr lang="es-419" sz="1200" b="0"/>
              <a:t>3 — </a:t>
            </a:r>
            <a:r>
              <a:rPr lang="es-419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VLAN</a:t>
            </a:r>
          </a:p>
          <a:p>
            <a:pPr rtl="0">
              <a:buFontTx/>
              <a:buNone/>
            </a:pPr>
            <a:r>
              <a:rPr lang="es-419" sz="1200" b="0"/>
              <a:t>3.1 – Descripción</a:t>
            </a:r>
            <a:r>
              <a:rPr lang="es-419" sz="1200" b="0" baseline="0"/>
              <a:t> general de las</a:t>
            </a:r>
            <a:r>
              <a:rPr lang="es-419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VLAN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es-419">
                <a:latin typeface="Arial" charset="0"/>
              </a:rPr>
              <a:t>3.1.3</a:t>
            </a:r>
            <a:r>
              <a:rPr lang="es-419" baseline="0">
                <a:latin typeface="Arial" charset="0"/>
              </a:rPr>
              <a:t> </a:t>
            </a:r>
            <a:r>
              <a:rPr lang="es-419" sz="1200" b="0"/>
              <a:t>– </a:t>
            </a:r>
            <a:r>
              <a:rPr lang="es-419"/>
              <a:t>Tipos de VLAN (Cont.)</a:t>
            </a:r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  <a:pPr rtl="0"/>
              <a:t>8</a:t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buFontTx/>
              <a:buNone/>
            </a:pPr>
            <a:r>
              <a:rPr lang="es-419" sz="1200" b="0"/>
              <a:t>3 — </a:t>
            </a:r>
            <a:r>
              <a:rPr lang="es-419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VLAN</a:t>
            </a:r>
          </a:p>
          <a:p>
            <a:pPr rtl="0">
              <a:buFontTx/>
              <a:buNone/>
            </a:pPr>
            <a:r>
              <a:rPr lang="es-419" sz="1200" b="0"/>
              <a:t>3.1 – Descripción</a:t>
            </a:r>
            <a:r>
              <a:rPr lang="es-419" sz="1200" b="0" baseline="0"/>
              <a:t> general de las</a:t>
            </a:r>
            <a:r>
              <a:rPr lang="es-419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VLAN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es-419">
                <a:latin typeface="Arial" charset="0"/>
              </a:rPr>
              <a:t>3.1.3</a:t>
            </a:r>
            <a:r>
              <a:rPr lang="es-419" baseline="0">
                <a:latin typeface="Arial" charset="0"/>
              </a:rPr>
              <a:t> </a:t>
            </a:r>
            <a:r>
              <a:rPr lang="es-419" sz="1200" b="0"/>
              <a:t>– </a:t>
            </a:r>
            <a:r>
              <a:rPr lang="es-419"/>
              <a:t>Tipos de VLAN (Cont.)</a:t>
            </a:r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  <a:pPr rtl="0"/>
              <a:t>9</a:t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buFontTx/>
              <a:buNone/>
            </a:pPr>
            <a:r>
              <a:rPr lang="es-419" sz="1200" b="0"/>
              <a:t>3 — </a:t>
            </a:r>
            <a:r>
              <a:rPr lang="es-419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VLAN</a:t>
            </a:r>
          </a:p>
          <a:p>
            <a:pPr rtl="0">
              <a:buFontTx/>
              <a:buNone/>
            </a:pPr>
            <a:r>
              <a:rPr lang="es-419" sz="1200" b="0"/>
              <a:t>3.1 – Descripción</a:t>
            </a:r>
            <a:r>
              <a:rPr lang="es-419" sz="1200" b="0" baseline="0"/>
              <a:t> general de las</a:t>
            </a:r>
            <a:r>
              <a:rPr lang="es-419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VLAN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es-419">
                <a:latin typeface="Arial" charset="0"/>
              </a:rPr>
              <a:t>3.1.4</a:t>
            </a:r>
            <a:r>
              <a:rPr lang="es-419" baseline="0">
                <a:latin typeface="Arial" charset="0"/>
              </a:rPr>
              <a:t> </a:t>
            </a:r>
            <a:r>
              <a:rPr lang="es-419" sz="1200" b="0"/>
              <a:t>– </a:t>
            </a:r>
            <a:r>
              <a:rPr lang="es-419"/>
              <a:t> Packet Tracer - ¿Quién escucha la transmisión?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es-419"/>
              <a:t>3.1.5 </a:t>
            </a:r>
            <a:r>
              <a:rPr lang="es-419" sz="1200">
                <a:effectLst/>
              </a:rPr>
              <a:t>— Compruebe su comprensión — </a:t>
            </a:r>
            <a:r>
              <a:rPr lang="es-419" sz="1200"/>
              <a:t>Visión general de las VLAN </a:t>
            </a:r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es-419" sz="1200" b="0"/>
              <a:t>3 — </a:t>
            </a:r>
            <a:r>
              <a:rPr lang="es-419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VLAN</a:t>
            </a:r>
          </a:p>
          <a:p>
            <a:pPr rtl="0">
              <a:buFontTx/>
              <a:buNone/>
            </a:pPr>
            <a:r>
              <a:rPr lang="es-419" sz="1200" b="0"/>
              <a:t>3.2 – </a:t>
            </a:r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VLAN en un entorno de conmutación múltiple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  <a:pPr rtl="0"/>
              <a:t>11</a:t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buFontTx/>
              <a:buNone/>
            </a:pPr>
            <a:r>
              <a:rPr lang="es-419" sz="1200" b="0"/>
              <a:t>3 — </a:t>
            </a:r>
            <a:r>
              <a:rPr lang="es-419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VLAN</a:t>
            </a:r>
          </a:p>
          <a:p>
            <a:pPr rtl="0">
              <a:buFontTx/>
              <a:buNone/>
            </a:pPr>
            <a:r>
              <a:rPr lang="es-419" sz="1200" b="0"/>
              <a:t>3.2 – </a:t>
            </a:r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VLAN en un entorno de conmutación múltiple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es-419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3.2.1 — </a:t>
            </a:r>
            <a:r>
              <a:rPr lang="es-419"/>
              <a:t> Definición de troncos de VLAN</a:t>
            </a:r>
          </a:p>
        </p:txBody>
      </p:sp>
    </p:spTree>
    <p:extLst>
      <p:ext uri="{BB962C8B-B14F-4D97-AF65-F5344CB8AC3E}">
        <p14:creationId xmlns:p14="http://schemas.microsoft.com/office/powerpoint/2010/main" val="34275545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  <a:pPr rtl="0"/>
              <a:t>12</a:t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buFontTx/>
              <a:buNone/>
            </a:pPr>
            <a:r>
              <a:rPr lang="es-419" sz="1200" b="0"/>
              <a:t>3 — </a:t>
            </a:r>
            <a:r>
              <a:rPr lang="es-419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VLAN</a:t>
            </a:r>
          </a:p>
          <a:p>
            <a:pPr rtl="0">
              <a:buFontTx/>
              <a:buNone/>
            </a:pPr>
            <a:r>
              <a:rPr lang="es-419" sz="1200" b="0"/>
              <a:t>3.2 – </a:t>
            </a:r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VLAN en un entorno de conmutación múltiple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es-419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3.2.2</a:t>
            </a:r>
            <a:r>
              <a:rPr lang="es-419" sz="1200" kern="1200" baseline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s-419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s-419"/>
              <a:t>Redes sin VLAN</a:t>
            </a:r>
          </a:p>
        </p:txBody>
      </p:sp>
    </p:spTree>
    <p:extLst>
      <p:ext uri="{BB962C8B-B14F-4D97-AF65-F5344CB8AC3E}">
        <p14:creationId xmlns:p14="http://schemas.microsoft.com/office/powerpoint/2010/main" val="34275545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  <a:pPr rtl="0"/>
              <a:t>13</a:t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buFontTx/>
              <a:buNone/>
            </a:pPr>
            <a:r>
              <a:rPr lang="es-419" sz="1200" b="0"/>
              <a:t>3 — </a:t>
            </a:r>
            <a:r>
              <a:rPr lang="es-419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VLAN</a:t>
            </a:r>
          </a:p>
          <a:p>
            <a:pPr rtl="0">
              <a:buFontTx/>
              <a:buNone/>
            </a:pPr>
            <a:r>
              <a:rPr lang="es-419" sz="1200" b="0"/>
              <a:t>3.2 – </a:t>
            </a:r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VLAN en un entorno de conmutación múltiple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es-419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3.2.3</a:t>
            </a:r>
            <a:r>
              <a:rPr lang="es-419" sz="1200" kern="1200" baseline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s-419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— </a:t>
            </a:r>
            <a:r>
              <a:rPr lang="es-419"/>
              <a:t>Redes con VLAN 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5545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  <a:pPr rtl="0"/>
              <a:t>14</a:t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buFontTx/>
              <a:buNone/>
            </a:pPr>
            <a:r>
              <a:rPr lang="es-419" sz="1200" b="0"/>
              <a:t>3 — </a:t>
            </a:r>
            <a:r>
              <a:rPr lang="es-419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VLAN</a:t>
            </a:r>
          </a:p>
          <a:p>
            <a:pPr rtl="0">
              <a:buFontTx/>
              <a:buNone/>
            </a:pPr>
            <a:r>
              <a:rPr lang="es-419" sz="1200" b="0"/>
              <a:t>3.2 – </a:t>
            </a:r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VLAN en un entorno de conmutación múltiple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es-419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3.2.4</a:t>
            </a:r>
            <a:r>
              <a:rPr lang="es-419" sz="1200" kern="1200" baseline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s-419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— </a:t>
            </a:r>
            <a:r>
              <a:rPr lang="es-419"/>
              <a:t>Identificación de VLAN con una etiqueta 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5545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  <a:pPr rtl="0"/>
              <a:t>15</a:t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buFontTx/>
              <a:buNone/>
            </a:pPr>
            <a:r>
              <a:rPr lang="es-419" sz="1200" b="0"/>
              <a:t>3 — </a:t>
            </a:r>
            <a:r>
              <a:rPr lang="es-419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VLAN</a:t>
            </a:r>
          </a:p>
          <a:p>
            <a:pPr rtl="0">
              <a:buFontTx/>
              <a:buNone/>
            </a:pPr>
            <a:r>
              <a:rPr lang="es-419" sz="1200" b="0"/>
              <a:t>3.2 – </a:t>
            </a:r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VLAN en un entorno de conmutación múltiple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es-419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3.2.5</a:t>
            </a:r>
            <a:r>
              <a:rPr lang="es-419" sz="1200" kern="1200" baseline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s-419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s-419"/>
              <a:t>VLAN nativas y etiquetado 802.1Q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5545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  <a:pPr rtl="0"/>
              <a:t>16</a:t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buFontTx/>
              <a:buNone/>
            </a:pPr>
            <a:r>
              <a:rPr lang="es-419" sz="1200" b="0"/>
              <a:t>3 — </a:t>
            </a:r>
            <a:r>
              <a:rPr lang="es-419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VLAN</a:t>
            </a:r>
          </a:p>
          <a:p>
            <a:pPr rtl="0">
              <a:buFontTx/>
              <a:buNone/>
            </a:pPr>
            <a:r>
              <a:rPr lang="es-419" sz="1200" b="0"/>
              <a:t>3.2 – </a:t>
            </a:r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VLAN en un entorno de conmutación múltiple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es-419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3.2.6</a:t>
            </a:r>
            <a:r>
              <a:rPr lang="es-419" sz="1200" kern="1200" baseline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s-419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s-419"/>
              <a:t>Etiquetado de VLAN de voz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5545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  <a:pPr rtl="0"/>
              <a:t>17</a:t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buFontTx/>
              <a:buNone/>
            </a:pPr>
            <a:r>
              <a:rPr lang="es-419" sz="1200" b="0"/>
              <a:t>3 — </a:t>
            </a:r>
            <a:r>
              <a:rPr lang="es-419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VLAN</a:t>
            </a:r>
          </a:p>
          <a:p>
            <a:pPr rtl="0">
              <a:buFontTx/>
              <a:buNone/>
            </a:pPr>
            <a:r>
              <a:rPr lang="es-419" sz="1200" b="0"/>
              <a:t>3.2 – </a:t>
            </a:r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VLAN en un entorno de conmutación múltiple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es-419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3.2.7</a:t>
            </a:r>
            <a:r>
              <a:rPr lang="es-419" sz="1200" kern="1200" baseline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s-419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— </a:t>
            </a:r>
            <a:r>
              <a:rPr lang="es-419"/>
              <a:t>Ejemplo de verificación de VLAN de voz 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5545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  <a:pPr rtl="0"/>
              <a:t>18</a:t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buFontTx/>
              <a:buNone/>
            </a:pPr>
            <a:r>
              <a:rPr lang="es-419" sz="1200" b="0"/>
              <a:t>3 — </a:t>
            </a:r>
            <a:r>
              <a:rPr lang="es-419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VLAN</a:t>
            </a:r>
          </a:p>
          <a:p>
            <a:pPr rtl="0">
              <a:buFontTx/>
              <a:buNone/>
            </a:pPr>
            <a:r>
              <a:rPr lang="es-419" sz="1200" b="0"/>
              <a:t>3.2 – </a:t>
            </a:r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VLAN en un entorno de conmutación múltiple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es-419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3.2.8</a:t>
            </a:r>
            <a:r>
              <a:rPr lang="es-419" sz="1200" kern="1200" baseline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s-419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s-419"/>
              <a:t>Packet Tracer - Investigar una implementación de VLAN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es-419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3.2.9</a:t>
            </a:r>
            <a:r>
              <a:rPr lang="es-419" sz="1200" kern="1200" baseline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s-419" sz="1200">
                <a:effectLst/>
              </a:rPr>
              <a:t>— Compruebe su comprensión — </a:t>
            </a:r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VLAN en un entorno de multiswitch</a:t>
            </a:r>
            <a:r>
              <a:rPr lang="es-419" sz="1200">
                <a:effectLst/>
              </a:rPr>
              <a:t> 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5545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es-419" sz="1200" b="0"/>
              <a:t>3 —</a:t>
            </a:r>
            <a:r>
              <a:rPr lang="es-419" sz="1200" b="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es-419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VLAN</a:t>
            </a:r>
          </a:p>
          <a:p>
            <a:pPr rtl="0">
              <a:buFontTx/>
              <a:buNone/>
            </a:pPr>
            <a:r>
              <a:rPr lang="es-419" sz="1200" b="0"/>
              <a:t>3.3 — </a:t>
            </a:r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Configuración de VLAN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19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1813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es-419" sz="1200" b="0"/>
              <a:t>3 –</a:t>
            </a:r>
            <a:r>
              <a:rPr lang="es-419" sz="1200" b="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es-419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 rtl="0">
              <a:buFontTx/>
              <a:buNone/>
            </a:pPr>
            <a:r>
              <a:rPr lang="es-419" sz="1200" b="0"/>
              <a:t>3.3 — </a:t>
            </a:r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Configuración de VLAN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es-419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3.3.1</a:t>
            </a:r>
            <a:r>
              <a:rPr lang="es-419" sz="1200" kern="1200" baseline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s-419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s-419"/>
              <a:t>Rangos de VLAN en los switches Catalyst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20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es-419" sz="1200" b="0"/>
              <a:t>3 — VLAN</a:t>
            </a:r>
          </a:p>
          <a:p>
            <a:pPr rtl="0">
              <a:buFontTx/>
              <a:buNone/>
            </a:pPr>
            <a:r>
              <a:rPr lang="es-419" sz="1200" b="0"/>
              <a:t>3.3 — Configuración de VLAN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es-419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3.3.2</a:t>
            </a:r>
            <a:r>
              <a:rPr lang="es-419" sz="1200" kern="1200" baseline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s-419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— </a:t>
            </a:r>
            <a:r>
              <a:rPr lang="es-419"/>
              <a:t>Comandos de creación de VLAN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21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es-419" sz="1200" b="0"/>
              <a:t>3 –</a:t>
            </a:r>
            <a:r>
              <a:rPr lang="es-419" sz="1200" b="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es-419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 rtl="0">
              <a:buFontTx/>
              <a:buNone/>
            </a:pPr>
            <a:r>
              <a:rPr lang="es-419" sz="1200" b="0"/>
              <a:t>3.3 — </a:t>
            </a:r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Configuración de VLAN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es-419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3.3.3</a:t>
            </a:r>
            <a:r>
              <a:rPr lang="es-419" sz="1200" kern="1200" baseline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s-419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— </a:t>
            </a:r>
            <a:r>
              <a:rPr lang="es-419"/>
              <a:t>Ejemplo de creación de VLAN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22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es-419" sz="1200" b="0"/>
              <a:t>3 –</a:t>
            </a:r>
            <a:r>
              <a:rPr lang="es-419" sz="1200" b="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es-419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 rtl="0">
              <a:buFontTx/>
              <a:buNone/>
            </a:pPr>
            <a:r>
              <a:rPr lang="es-419" sz="1200" b="0"/>
              <a:t>3.3 — </a:t>
            </a:r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Configuración de VLAN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es-419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3.3.4</a:t>
            </a:r>
            <a:r>
              <a:rPr lang="es-419" sz="1200" kern="1200" baseline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s-419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— </a:t>
            </a:r>
            <a:r>
              <a:rPr lang="es-419"/>
              <a:t>Comandos de asignación de puertos VLAN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23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es-419" sz="1200" b="0"/>
              <a:t>3 —</a:t>
            </a:r>
            <a:r>
              <a:rPr lang="es-419" sz="1200" b="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es-419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VLAN</a:t>
            </a:r>
          </a:p>
          <a:p>
            <a:pPr rtl="0">
              <a:buFontTx/>
              <a:buNone/>
            </a:pPr>
            <a:r>
              <a:rPr lang="es-419" sz="1200" b="0"/>
              <a:t>3.3 — </a:t>
            </a:r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Configuración de VLAN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es-419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3.3.5</a:t>
            </a:r>
            <a:r>
              <a:rPr lang="es-419" sz="1200" kern="1200" baseline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s-419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— </a:t>
            </a:r>
            <a:r>
              <a:rPr lang="es-419"/>
              <a:t>Ejemplo de asignación de puerto VLAN </a:t>
            </a: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24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es-419" sz="1200" b="0"/>
              <a:t>3 —</a:t>
            </a:r>
            <a:r>
              <a:rPr lang="es-419" sz="1200" b="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es-419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VLAN</a:t>
            </a:r>
          </a:p>
          <a:p>
            <a:pPr rtl="0">
              <a:buFontTx/>
              <a:buNone/>
            </a:pPr>
            <a:r>
              <a:rPr lang="es-419" sz="1200" b="0"/>
              <a:t>3.3 — </a:t>
            </a:r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Configuración de VLAN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es-419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3.3.6</a:t>
            </a:r>
            <a:r>
              <a:rPr lang="es-419" sz="1200" kern="1200" baseline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s-419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— </a:t>
            </a:r>
            <a:r>
              <a:rPr lang="es-419"/>
              <a:t>VLAN de datos y voz </a:t>
            </a: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25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es-419" sz="1200" b="0"/>
              <a:t>3 —</a:t>
            </a:r>
            <a:r>
              <a:rPr lang="es-419" sz="1200" b="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es-419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VLAN</a:t>
            </a:r>
          </a:p>
          <a:p>
            <a:pPr rtl="0">
              <a:buFontTx/>
              <a:buNone/>
            </a:pPr>
            <a:r>
              <a:rPr lang="es-419" sz="1200" b="0"/>
              <a:t>3.3 — </a:t>
            </a:r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Configuración de VLAN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es-419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3.3.7</a:t>
            </a:r>
            <a:r>
              <a:rPr lang="es-419" sz="1200" kern="1200" baseline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s-419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— </a:t>
            </a:r>
            <a:r>
              <a:rPr lang="es-419"/>
              <a:t>Ejemplo de VLAN de voz y datos </a:t>
            </a: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26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es-419" sz="1200" b="0"/>
              <a:t>3 —</a:t>
            </a:r>
            <a:r>
              <a:rPr lang="es-419" sz="1200" b="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es-419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VLAN</a:t>
            </a:r>
          </a:p>
          <a:p>
            <a:pPr rtl="0">
              <a:buFontTx/>
              <a:buNone/>
            </a:pPr>
            <a:r>
              <a:rPr lang="es-419" sz="1200" b="0"/>
              <a:t>3.3 — </a:t>
            </a:r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Configuración de VLAN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es-419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3.3.8</a:t>
            </a:r>
            <a:r>
              <a:rPr lang="es-419" sz="1200" kern="1200" baseline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s-419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s-419"/>
              <a:t>Verifique la información de VLAN</a:t>
            </a: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27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es-419" sz="1200" b="0"/>
              <a:t>3 —</a:t>
            </a:r>
            <a:r>
              <a:rPr lang="es-419" sz="1200" b="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es-419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VLAN</a:t>
            </a:r>
          </a:p>
          <a:p>
            <a:pPr rtl="0">
              <a:buFontTx/>
              <a:buNone/>
            </a:pPr>
            <a:r>
              <a:rPr lang="es-419" sz="1200" b="0"/>
              <a:t>3.3 — </a:t>
            </a:r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Configuración de VLAN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es-419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3.3.9</a:t>
            </a:r>
            <a:r>
              <a:rPr lang="es-419" sz="1200" kern="1200" baseline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s-419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s-419"/>
              <a:t>Cambiar la membresía del puerto VLAN</a:t>
            </a: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28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es-419" sz="1200" b="0"/>
              <a:t>3 —</a:t>
            </a:r>
            <a:r>
              <a:rPr lang="es-419" sz="1200" b="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es-419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VLAN</a:t>
            </a:r>
          </a:p>
          <a:p>
            <a:pPr rtl="0">
              <a:buFontTx/>
              <a:buNone/>
            </a:pPr>
            <a:r>
              <a:rPr lang="es-419" sz="1200" b="0"/>
              <a:t>3.3 — </a:t>
            </a:r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Configuración de VLAN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es-419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3.3.10</a:t>
            </a:r>
            <a:r>
              <a:rPr lang="es-419" sz="1200" kern="1200" baseline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s-419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s-419"/>
              <a:t>Eliminar VLAN</a:t>
            </a: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419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3.3.11</a:t>
            </a:r>
            <a:r>
              <a:rPr lang="es-419" sz="1200" kern="1200" baseline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s-419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— </a:t>
            </a:r>
            <a:r>
              <a:rPr lang="es-419"/>
              <a:t>Comprobador de sintaxis — Configuración de VLAN 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dirty="0"/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29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es-419" sz="1200" b="0"/>
              <a:t>3 —</a:t>
            </a:r>
            <a:r>
              <a:rPr lang="es-419" sz="1200" b="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es-419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VLAN</a:t>
            </a:r>
          </a:p>
          <a:p>
            <a:pPr rtl="0">
              <a:buFontTx/>
              <a:buNone/>
            </a:pPr>
            <a:r>
              <a:rPr lang="es-419" sz="1200" b="0"/>
              <a:t>3.3 — </a:t>
            </a:r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Configuración de VLAN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es-419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3.3.12</a:t>
            </a:r>
            <a:r>
              <a:rPr lang="es-419" sz="1200" kern="1200" baseline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s-419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— </a:t>
            </a:r>
            <a:r>
              <a:rPr lang="es-419"/>
              <a:t>Packet Tracer — Configuración de VLAN </a:t>
            </a: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30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es-419" sz="1200" b="0"/>
              <a:t>3 — </a:t>
            </a:r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VLAN</a:t>
            </a:r>
          </a:p>
          <a:p>
            <a:pPr rtl="0">
              <a:buFontTx/>
              <a:buNone/>
            </a:pPr>
            <a:r>
              <a:rPr lang="es-419" sz="1200" b="0"/>
              <a:t>3.4 – </a:t>
            </a:r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Troncales VLAN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31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18133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es-419" sz="1200" b="0"/>
              <a:t>3 — </a:t>
            </a:r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VLAN</a:t>
            </a:r>
          </a:p>
          <a:p>
            <a:pPr rtl="0">
              <a:buFontTx/>
              <a:buNone/>
            </a:pPr>
            <a:r>
              <a:rPr lang="es-419" sz="1200" b="0"/>
              <a:t>3.4 – </a:t>
            </a:r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Troncales VLAN</a:t>
            </a:r>
          </a:p>
          <a:p>
            <a:pPr rtl="0"/>
            <a:r>
              <a:rPr lang="es-419"/>
              <a:t>3.4.1</a:t>
            </a:r>
            <a:r>
              <a:rPr lang="es-419" baseline="0"/>
              <a:t> — </a:t>
            </a:r>
            <a:r>
              <a:rPr lang="es-419"/>
              <a:t>Comandos de configuración troncal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32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es-419" sz="1200" b="0"/>
              <a:t>3 — </a:t>
            </a:r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VLAN</a:t>
            </a:r>
          </a:p>
          <a:p>
            <a:pPr rtl="0">
              <a:buFontTx/>
              <a:buNone/>
            </a:pPr>
            <a:r>
              <a:rPr lang="es-419" sz="1200" b="0"/>
              <a:t>3.4 – </a:t>
            </a:r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Troncales VLAN</a:t>
            </a:r>
          </a:p>
          <a:p>
            <a:pPr rtl="0"/>
            <a:r>
              <a:rPr lang="es-419"/>
              <a:t>3.4.2</a:t>
            </a:r>
            <a:r>
              <a:rPr lang="es-419" baseline="0"/>
              <a:t> — </a:t>
            </a:r>
            <a:r>
              <a:rPr lang="es-419"/>
              <a:t>Ejemplo de Configuración de Trunk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33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es-419" sz="1200" b="0"/>
              <a:t>3 — </a:t>
            </a:r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VLAN</a:t>
            </a:r>
          </a:p>
          <a:p>
            <a:pPr rtl="0">
              <a:buFontTx/>
              <a:buNone/>
            </a:pPr>
            <a:r>
              <a:rPr lang="es-419" sz="1200" b="0"/>
              <a:t>3.4 – </a:t>
            </a:r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Troncales VLAN</a:t>
            </a:r>
          </a:p>
          <a:p>
            <a:pPr rtl="0"/>
            <a:r>
              <a:rPr lang="es-419"/>
              <a:t>3.4.3</a:t>
            </a:r>
            <a:r>
              <a:rPr lang="es-419" baseline="0"/>
              <a:t> – </a:t>
            </a:r>
            <a:r>
              <a:rPr lang="es-419"/>
              <a:t>Verifique la configuración del tronco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34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es-419" sz="1200" b="0"/>
              <a:t>3 — </a:t>
            </a:r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VLAN</a:t>
            </a:r>
          </a:p>
          <a:p>
            <a:pPr rtl="0">
              <a:buFontTx/>
              <a:buNone/>
            </a:pPr>
            <a:r>
              <a:rPr lang="es-419" sz="1200" b="0"/>
              <a:t>3.4 – </a:t>
            </a:r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Troncales VLAN</a:t>
            </a:r>
          </a:p>
          <a:p>
            <a:pPr rtl="0"/>
            <a:r>
              <a:rPr lang="es-419"/>
              <a:t>3.4.4</a:t>
            </a:r>
            <a:r>
              <a:rPr lang="es-419" baseline="0"/>
              <a:t> — </a:t>
            </a:r>
            <a:r>
              <a:rPr lang="es-419"/>
              <a:t>Restablecer el Trunk al estado predeterminado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35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es-419" sz="1200" b="0"/>
              <a:t>3 — </a:t>
            </a:r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VLAN</a:t>
            </a:r>
          </a:p>
          <a:p>
            <a:pPr rtl="0">
              <a:buFontTx/>
              <a:buNone/>
            </a:pPr>
            <a:r>
              <a:rPr lang="es-419" sz="1200" b="0"/>
              <a:t>3.4 – </a:t>
            </a:r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Troncales VLAN</a:t>
            </a:r>
          </a:p>
          <a:p>
            <a:pPr rtl="0"/>
            <a:r>
              <a:rPr lang="es-419"/>
              <a:t>3.4.4</a:t>
            </a:r>
            <a:r>
              <a:rPr lang="es-419" baseline="0"/>
              <a:t> — </a:t>
            </a:r>
            <a:r>
              <a:rPr lang="es-419"/>
              <a:t>Restablecer el Trunk al estado predeterminado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36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es-419" sz="1200" b="0"/>
              <a:t>3 — </a:t>
            </a:r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VLAN</a:t>
            </a:r>
          </a:p>
          <a:p>
            <a:pPr rtl="0">
              <a:buFontTx/>
              <a:buNone/>
            </a:pPr>
            <a:r>
              <a:rPr lang="es-419" sz="1200" b="0"/>
              <a:t>3.4 – </a:t>
            </a:r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Troncales VLAN</a:t>
            </a:r>
          </a:p>
          <a:p>
            <a:pPr rtl="0"/>
            <a:r>
              <a:rPr lang="es-419"/>
              <a:t>3.4.5</a:t>
            </a:r>
            <a:r>
              <a:rPr lang="es-419" baseline="0"/>
              <a:t> – </a:t>
            </a:r>
            <a:r>
              <a:rPr lang="es-419"/>
              <a:t>Packet  tracer - Configurar troncales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37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es-419" sz="1200" b="0"/>
              <a:t>3 — </a:t>
            </a:r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VLAN</a:t>
            </a:r>
          </a:p>
          <a:p>
            <a:pPr rtl="0">
              <a:buFontTx/>
              <a:buNone/>
            </a:pPr>
            <a:r>
              <a:rPr lang="es-419" sz="1200" b="0"/>
              <a:t>3.4 – </a:t>
            </a:r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Troncales VLAN</a:t>
            </a:r>
          </a:p>
          <a:p>
            <a:pPr rtl="0"/>
            <a:r>
              <a:rPr lang="es-419"/>
              <a:t>3.4.6</a:t>
            </a:r>
            <a:r>
              <a:rPr lang="es-419" baseline="0"/>
              <a:t> – </a:t>
            </a:r>
            <a:r>
              <a:rPr lang="es-419"/>
              <a:t>Práctica de laboratorio: configurar VLAN y troncales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38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es-419" sz="1200" b="0"/>
              <a:t>3 — </a:t>
            </a:r>
            <a:r>
              <a:rPr lang="es-419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VLAN</a:t>
            </a:r>
          </a:p>
          <a:p>
            <a:pPr rtl="0">
              <a:buFontTx/>
              <a:buNone/>
            </a:pPr>
            <a:r>
              <a:rPr lang="es-419" sz="1200" b="0"/>
              <a:t>3.5 – </a:t>
            </a:r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Protocolo de enlace dinámico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39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18133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es-419" sz="1200" b="0"/>
              <a:t>3 — </a:t>
            </a:r>
            <a:r>
              <a:rPr lang="es-419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VLAN</a:t>
            </a:r>
          </a:p>
          <a:p>
            <a:pPr rtl="0">
              <a:buFontTx/>
              <a:buNone/>
            </a:pPr>
            <a:r>
              <a:rPr lang="es-419" sz="1200" b="0"/>
              <a:t>3.5 – </a:t>
            </a:r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Protocolo de enlace dinámico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es-419">
                <a:latin typeface="Arial" charset="0"/>
              </a:rPr>
              <a:t>3.5.1 – </a:t>
            </a:r>
            <a:r>
              <a:rPr lang="es-419"/>
              <a:t>Introducción a DTP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40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57413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es-419" sz="1200" b="0"/>
              <a:t>3 — </a:t>
            </a:r>
            <a:r>
              <a:rPr lang="es-419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VLAN</a:t>
            </a:r>
          </a:p>
          <a:p>
            <a:pPr rtl="0">
              <a:buFontTx/>
              <a:buNone/>
            </a:pPr>
            <a:r>
              <a:rPr lang="es-419" sz="1200" b="0"/>
              <a:t>3.5 – </a:t>
            </a:r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Protocolo de enlace dinámico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es-419">
                <a:latin typeface="Arial" charset="0"/>
              </a:rPr>
              <a:t>3.5.2 – </a:t>
            </a:r>
            <a:r>
              <a:rPr lang="es-419"/>
              <a:t>Modos de interfaz negociados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41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57413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es-419" sz="1200" b="0"/>
              <a:t>3 — </a:t>
            </a:r>
            <a:r>
              <a:rPr lang="es-419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VLAN</a:t>
            </a:r>
          </a:p>
          <a:p>
            <a:pPr rtl="0">
              <a:buFontTx/>
              <a:buNone/>
            </a:pPr>
            <a:r>
              <a:rPr lang="es-419" sz="1200" b="0"/>
              <a:t>3.5 – </a:t>
            </a:r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Protocolo de enlace dinámico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es-419">
                <a:latin typeface="Arial" charset="0"/>
              </a:rPr>
              <a:t>3.5.3 — </a:t>
            </a:r>
            <a:r>
              <a:rPr lang="es-419" sz="1200"/>
              <a:t>Resultados de una configuración DTP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42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57413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es-419" sz="1200" b="0"/>
              <a:t>3 — </a:t>
            </a:r>
            <a:r>
              <a:rPr lang="es-419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VLAN</a:t>
            </a:r>
          </a:p>
          <a:p>
            <a:pPr rtl="0">
              <a:buFontTx/>
              <a:buNone/>
            </a:pPr>
            <a:r>
              <a:rPr lang="es-419" sz="1200" b="0"/>
              <a:t>3.5 – </a:t>
            </a:r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Protocolo de enlace dinámico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es-419">
                <a:latin typeface="Arial" charset="0"/>
              </a:rPr>
              <a:t>3.5.4 — </a:t>
            </a:r>
            <a:r>
              <a:rPr lang="es-419" sz="1200"/>
              <a:t>Verificar el modo DTP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43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57413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es-419" sz="1200" b="0"/>
              <a:t>3 — </a:t>
            </a:r>
            <a:r>
              <a:rPr lang="es-419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VLAN</a:t>
            </a:r>
          </a:p>
          <a:p>
            <a:pPr rtl="0">
              <a:buFontTx/>
              <a:buNone/>
            </a:pPr>
            <a:r>
              <a:rPr lang="es-419" sz="1200" b="0"/>
              <a:t>3.5 – </a:t>
            </a:r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Protocolo de enlace dinámico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es-419">
                <a:latin typeface="Arial" charset="0"/>
              </a:rPr>
              <a:t>3.5.5 – </a:t>
            </a:r>
            <a:r>
              <a:rPr lang="es-419"/>
              <a:t>Packet Tracer – Configure DTP</a:t>
            </a:r>
          </a:p>
          <a:p>
            <a:pPr rtl="0">
              <a:buFontTx/>
              <a:buNone/>
            </a:pPr>
            <a:r>
              <a:rPr lang="es-419"/>
              <a:t>3.5.6 </a:t>
            </a:r>
            <a:r>
              <a:rPr lang="es-419" sz="1200">
                <a:effectLst/>
              </a:rPr>
              <a:t>— Compruebe su comprensión —</a:t>
            </a:r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Protocolo de enlace troncal dinámico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44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57413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es-419" sz="1200" b="0"/>
              <a:t>3 — </a:t>
            </a:r>
            <a:r>
              <a:rPr lang="es-419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VLAN</a:t>
            </a:r>
          </a:p>
          <a:p>
            <a:pPr rtl="0">
              <a:buFontTx/>
              <a:buNone/>
            </a:pPr>
            <a:r>
              <a:rPr lang="es-419" sz="1200" b="0"/>
              <a:t>3.6 – </a:t>
            </a:r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de práctica y cuestionario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45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301517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es-419" sz="1200" b="0"/>
              <a:t>3 — </a:t>
            </a:r>
            <a:r>
              <a:rPr lang="es-419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VLAN</a:t>
            </a:r>
          </a:p>
          <a:p>
            <a:pPr rtl="0">
              <a:buFontTx/>
              <a:buNone/>
            </a:pPr>
            <a:r>
              <a:rPr lang="es-419" sz="1200" b="0"/>
              <a:t>3.6 – </a:t>
            </a:r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de práctica y cuestionario 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es-419">
                <a:latin typeface="Arial" charset="0"/>
              </a:rPr>
              <a:t>3.6.1</a:t>
            </a:r>
            <a:r>
              <a:rPr lang="es-419" baseline="0">
                <a:latin typeface="Arial" charset="0"/>
              </a:rPr>
              <a:t> </a:t>
            </a:r>
            <a:r>
              <a:rPr lang="es-419" baseline="0"/>
              <a:t>— </a:t>
            </a:r>
            <a:r>
              <a:rPr lang="es-419"/>
              <a:t>Packet Tracer — Implementar VLAN y Troncalización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46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es-419" sz="1200" b="0"/>
              <a:t>3 — </a:t>
            </a:r>
            <a:r>
              <a:rPr lang="es-419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VLAN</a:t>
            </a:r>
          </a:p>
          <a:p>
            <a:pPr rtl="0">
              <a:buFontTx/>
              <a:buNone/>
            </a:pPr>
            <a:r>
              <a:rPr lang="es-419" sz="1200" b="0"/>
              <a:t>3.6 – </a:t>
            </a:r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de práctica y cuestionario 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es-419">
                <a:latin typeface="Arial" charset="0"/>
              </a:rPr>
              <a:t>3.6.2</a:t>
            </a:r>
            <a:r>
              <a:rPr lang="es-419" baseline="0">
                <a:latin typeface="Arial" charset="0"/>
              </a:rPr>
              <a:t> </a:t>
            </a:r>
            <a:r>
              <a:rPr lang="es-419" baseline="0"/>
              <a:t>— Laboratorio: </a:t>
            </a:r>
            <a:r>
              <a:rPr lang="es-419"/>
              <a:t>Implementación de VLAN y Troncalización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47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es-419" sz="1200" b="0"/>
              <a:t>3 — </a:t>
            </a:r>
            <a:r>
              <a:rPr lang="es-419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VLAN</a:t>
            </a:r>
          </a:p>
          <a:p>
            <a:pPr rtl="0">
              <a:buFontTx/>
              <a:buNone/>
            </a:pPr>
            <a:r>
              <a:rPr lang="es-419" sz="1200" b="0"/>
              <a:t>3.6 – </a:t>
            </a:r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de práctica y cuestionario 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es-419">
                <a:latin typeface="Arial" charset="0"/>
              </a:rPr>
              <a:t>3.6.3</a:t>
            </a:r>
            <a:r>
              <a:rPr lang="es-419" baseline="0">
                <a:latin typeface="Arial" charset="0"/>
              </a:rPr>
              <a:t> – </a:t>
            </a:r>
            <a:r>
              <a:rPr lang="es-419"/>
              <a:t>¿Qué aprendí en este módulo?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48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069413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es-419" sz="1200" b="0"/>
              <a:t>3 — </a:t>
            </a:r>
            <a:r>
              <a:rPr lang="es-419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VLAN</a:t>
            </a:r>
          </a:p>
          <a:p>
            <a:pPr rtl="0">
              <a:buFontTx/>
              <a:buNone/>
            </a:pPr>
            <a:r>
              <a:rPr lang="es-419" sz="1200" b="0"/>
              <a:t>3.6 – </a:t>
            </a:r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de práctica y cuestionario 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es-419">
                <a:latin typeface="Arial" charset="0"/>
              </a:rPr>
              <a:t>3.6.3</a:t>
            </a:r>
            <a:r>
              <a:rPr lang="es-419" baseline="0">
                <a:latin typeface="Arial" charset="0"/>
              </a:rPr>
              <a:t> – </a:t>
            </a:r>
            <a:r>
              <a:rPr lang="es-419"/>
              <a:t>¿Qué aprendí en este módulo? (continuación)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es-419"/>
              <a:t>3.6.4 — Módulo Quiz —</a:t>
            </a:r>
            <a:r>
              <a:rPr lang="es-419" baseline="0"/>
              <a:t> </a:t>
            </a:r>
            <a:r>
              <a:rPr lang="es-419"/>
              <a:t>Protocolos y Modelos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49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069413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rtl="0"/>
            <a:fld id="{6C92755B-29FD-8743-9094-C0E3A734D22E}" type="slidenum">
              <a:rPr sz="800"/>
              <a:pPr rtl="0"/>
              <a:t>50</a:t>
            </a:fld>
            <a:endParaRPr sz="800"/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es-419" dirty="0">
                <a:latin typeface="Arial" charset="0"/>
              </a:rPr>
              <a:t>Nuevos términos y comandos</a:t>
            </a:r>
          </a:p>
        </p:txBody>
      </p:sp>
    </p:spTree>
    <p:extLst>
      <p:ext uri="{BB962C8B-B14F-4D97-AF65-F5344CB8AC3E}">
        <p14:creationId xmlns:p14="http://schemas.microsoft.com/office/powerpoint/2010/main" val="427292277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rtl="0"/>
            <a:fld id="{6C92755B-29FD-8743-9094-C0E3A734D22E}" type="slidenum">
              <a:rPr sz="800"/>
              <a:pPr rtl="0"/>
              <a:t>51</a:t>
            </a:fld>
            <a:endParaRPr sz="800"/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es-419">
                <a:latin typeface="Arial" charset="0"/>
              </a:rPr>
              <a:t>Nuevos términos y comandos</a:t>
            </a:r>
            <a:endParaRPr lang="es-419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203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672555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sz="60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419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Cisco y/o sus filiales. Todos los derechos reservados.   Información confidencial de Cisco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15="http://schemas.microsoft.com/office/drawing/2012/chart" xmlns:c="http://schemas.openxmlformats.org/drawingml/2006/chart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884330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974899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154496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 dirty="0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 dirty="0">
                <a:sym typeface="Arial" pitchFamily="34" charset="0"/>
              </a:rPr>
              <a:t>Second level</a:t>
            </a:r>
          </a:p>
          <a:p>
            <a:pPr lvl="2"/>
            <a:r>
              <a:rPr lang="en-US" dirty="0">
                <a:sym typeface="Arial" pitchFamily="34" charset="0"/>
              </a:rPr>
              <a:t>Third level</a:t>
            </a:r>
          </a:p>
          <a:p>
            <a:pPr lvl="3"/>
            <a:r>
              <a:rPr lang="en-US" dirty="0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 dirty="0">
                <a:sym typeface="Arial" pitchFamily="34" charset="0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9250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sz="60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419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2016 Cisco y/o sus filiales. Todos los derechos reservados.   Información confidencial de Cisco</a:t>
            </a:r>
          </a:p>
        </p:txBody>
      </p:sp>
      <p:grpSp>
        <p:nvGrpSpPr>
          <p:cNvPr id="6" name="Group 4"/>
          <p:cNvGrpSpPr>
            <a:grpSpLocks noChangeAspect="1"/>
          </p:cNvGrpSpPr>
          <p:nvPr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15" r:id="rId10"/>
    <p:sldLayoutId id="2147483998" r:id="rId11"/>
    <p:sldLayoutId id="2147484027" r:id="rId12"/>
    <p:sldLayoutId id="2147484029" r:id="rId13"/>
    <p:sldLayoutId id="2147484031" r:id="rId14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3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4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5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8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0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2.xml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3.xml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5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6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1.xml"/><Relationship Id="rId4" Type="http://schemas.openxmlformats.org/officeDocument/2006/relationships/image" Target="../media/image2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2.xml"/><Relationship Id="rId4" Type="http://schemas.openxmlformats.org/officeDocument/2006/relationships/image" Target="../media/image2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0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8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9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0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291366" y="2125682"/>
            <a:ext cx="7237590" cy="1270941"/>
          </a:xfrm>
        </p:spPr>
        <p:txBody>
          <a:bodyPr/>
          <a:lstStyle/>
          <a:p>
            <a:pPr rtl="0"/>
            <a:r>
              <a:rPr lang="es-419" sz="4600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3: </a:t>
            </a:r>
            <a:r>
              <a:rPr lang="es-419" sz="4800">
                <a:solidFill>
                  <a:schemeClr val="accent5">
                    <a:lumMod val="40000"/>
                    <a:lumOff val="60000"/>
                  </a:schemeClr>
                </a:solidFill>
              </a:rPr>
              <a:t>VLAN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pPr rtl="0"/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- Conmutación, enrutamiento y Wireless Essentials v7.0 (SRWE)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38986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3"/>
          <p:cNvSpPr>
            <a:spLocks noGrp="1" noChangeArrowheads="1"/>
          </p:cNvSpPr>
          <p:nvPr>
            <p:ph type="title"/>
          </p:nvPr>
        </p:nvSpPr>
        <p:spPr>
          <a:xfrm>
            <a:off x="1" y="41394"/>
            <a:ext cx="9144000" cy="612812"/>
          </a:xfrm>
        </p:spPr>
        <p:txBody>
          <a:bodyPr/>
          <a:lstStyle/>
          <a:p>
            <a:pPr rtl="0" eaLnBrk="1" hangingPunct="1"/>
            <a:r>
              <a:rPr lang="es-419"/>
              <a:t>Objetivos del módulo</a:t>
            </a:r>
          </a:p>
        </p:txBody>
      </p:sp>
      <p:sp>
        <p:nvSpPr>
          <p:cNvPr id="6147" name="Rectangle 34"/>
          <p:cNvSpPr>
            <a:spLocks noGrp="1" noChangeArrowheads="1"/>
          </p:cNvSpPr>
          <p:nvPr>
            <p:ph idx="1"/>
          </p:nvPr>
        </p:nvSpPr>
        <p:spPr>
          <a:xfrm>
            <a:off x="146304" y="705374"/>
            <a:ext cx="8769026" cy="889134"/>
          </a:xfrm>
        </p:spPr>
        <p:txBody>
          <a:bodyPr/>
          <a:lstStyle/>
          <a:p>
            <a:pPr marL="0" indent="0" rtl="0">
              <a:spcBef>
                <a:spcPct val="30000"/>
              </a:spcBef>
              <a:buNone/>
            </a:pPr>
            <a:r>
              <a:rPr lang="es-419" b="1"/>
              <a:t>Título del módulo: </a:t>
            </a:r>
            <a:r>
              <a:rPr lang="es-419"/>
              <a:t>Protocolos y modelos</a:t>
            </a:r>
          </a:p>
          <a:p>
            <a:pPr marL="0" indent="0" rtl="0">
              <a:spcBef>
                <a:spcPct val="30000"/>
              </a:spcBef>
              <a:buNone/>
            </a:pPr>
            <a:r>
              <a:rPr lang="es-419" b="1"/>
              <a:t>Objetivo del módulo: </a:t>
            </a:r>
            <a:r>
              <a:rPr lang="es-419"/>
              <a:t>Explicar cómo los protocolos de red permiten que los dispositivos accedan a recursos de red locales y remotos.</a:t>
            </a:r>
          </a:p>
          <a:p>
            <a:pPr marL="0" indent="0">
              <a:spcBef>
                <a:spcPct val="30000"/>
              </a:spcBef>
              <a:buNone/>
            </a:pPr>
            <a:endParaRPr lang="en-US" dirty="0"/>
          </a:p>
          <a:p>
            <a:pPr marL="89297" indent="0">
              <a:spcBef>
                <a:spcPct val="30000"/>
              </a:spcBef>
              <a:buNone/>
            </a:pPr>
            <a:endParaRPr lang="en-US" dirty="0"/>
          </a:p>
          <a:p>
            <a:pPr marL="89297" indent="0">
              <a:spcBef>
                <a:spcPct val="30000"/>
              </a:spcBef>
              <a:buNone/>
            </a:pP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79241"/>
              </p:ext>
            </p:extLst>
          </p:nvPr>
        </p:nvGraphicFramePr>
        <p:xfrm>
          <a:off x="442213" y="1686792"/>
          <a:ext cx="8168134" cy="28576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565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16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6166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1200">
                          <a:effectLst/>
                        </a:rPr>
                        <a:t>Título del tema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1200">
                          <a:effectLst/>
                        </a:rPr>
                        <a:t>Objetivo del tema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332">
                <a:tc>
                  <a:txBody>
                    <a:bodyPr/>
                    <a:lstStyle/>
                    <a:p>
                      <a:pPr rtl="0"/>
                      <a:r>
                        <a:rPr lang="es-419" b="1" dirty="0"/>
                        <a:t>Descripción general de las VLAN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dirty="0"/>
                        <a:t>Explique la finalidad de las VLAN en una red conmutada.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332">
                <a:tc>
                  <a:txBody>
                    <a:bodyPr/>
                    <a:lstStyle/>
                    <a:p>
                      <a:pPr rtl="0"/>
                      <a:r>
                        <a:rPr lang="es-419" b="1" dirty="0"/>
                        <a:t>Redes VLAN en un entorno conmutado múltiple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dirty="0"/>
                        <a:t>Explique cómo un switch reenvía tramas según la configuración de VLAN en un entorno conmutado múltiple.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332">
                <a:tc>
                  <a:txBody>
                    <a:bodyPr/>
                    <a:lstStyle/>
                    <a:p>
                      <a:pPr rtl="0"/>
                      <a:r>
                        <a:rPr lang="es-419" b="1"/>
                        <a:t>Configuración de VLAN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dirty="0"/>
                        <a:t>Configure un puerto para switch que se asignará a una VLAN según los requisitos.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498">
                <a:tc>
                  <a:txBody>
                    <a:bodyPr/>
                    <a:lstStyle/>
                    <a:p>
                      <a:pPr rtl="0"/>
                      <a:r>
                        <a:rPr lang="es-419" b="1"/>
                        <a:t>Enlaces troncales de la VLAN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/>
                        <a:t>Configure un puerto de enlace troncal en un switch LAN.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498">
                <a:tc>
                  <a:txBody>
                    <a:bodyPr/>
                    <a:lstStyle/>
                    <a:p>
                      <a:pPr rtl="0"/>
                      <a:r>
                        <a:rPr lang="es-419" b="1"/>
                        <a:t>Protocolo de enlace troncal dinámico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dirty="0"/>
                        <a:t>Configure el protocolo de enlace troncal dinámico (DTP).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381894665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1802391"/>
          </a:xfrm>
        </p:spPr>
        <p:txBody>
          <a:bodyPr/>
          <a:lstStyle/>
          <a:p>
            <a:pPr rtl="0"/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3.1 Descripción general de las VLAN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099643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3"/>
            <a:ext cx="4210545" cy="789880"/>
          </a:xfrm>
        </p:spPr>
        <p:txBody>
          <a:bodyPr/>
          <a:lstStyle/>
          <a:p>
            <a:pPr rtl="0"/>
            <a:r>
              <a:rPr lang="es-419" sz="1600"/>
              <a:t>Descripción general de las VLAN</a:t>
            </a:r>
            <a:br>
              <a:rPr lang="en-US" altLang="en-US" dirty="0"/>
            </a:br>
            <a:r>
              <a:rPr lang="es-419"/>
              <a:t>Definiciones de VLAN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10546" y="605969"/>
            <a:ext cx="4767079" cy="4112335"/>
          </a:xfrm>
        </p:spPr>
        <p:txBody>
          <a:bodyPr/>
          <a:lstStyle/>
          <a:p>
            <a:pPr marL="0" indent="0" rtl="0">
              <a:buNone/>
            </a:pPr>
            <a:r>
              <a:rPr lang="es-419" sz="1600"/>
              <a:t>Las VLAN son conexiones lógicas con otros dispositivos similares.</a:t>
            </a:r>
          </a:p>
          <a:p>
            <a:pPr marL="0" indent="0" rtl="0">
              <a:buNone/>
            </a:pPr>
            <a:r>
              <a:rPr lang="es-419" sz="1600"/>
              <a:t>La colocación de dispositivos en varias VLAN tiene las siguientes características: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es-419" sz="1600"/>
              <a:t>Proporciona segmentación de los diversos grupos de dispositivos en los mismos conmutadores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es-419" sz="1600"/>
              <a:t>Proporcionar una organización más manejable</a:t>
            </a:r>
          </a:p>
          <a:p>
            <a:pPr lvl="3" rtl="0">
              <a:buFont typeface="Arial" panose="020B0604020202020204" pitchFamily="34" charset="0"/>
              <a:buChar char="•"/>
            </a:pPr>
            <a:r>
              <a:rPr lang="es-419" sz="1600"/>
              <a:t>Difusiones, multidifusión y unidifusión se aíslan en la VLAN individual</a:t>
            </a:r>
          </a:p>
          <a:p>
            <a:pPr lvl="3" rtl="0">
              <a:buFont typeface="Arial" panose="020B0604020202020204" pitchFamily="34" charset="0"/>
              <a:buChar char="•"/>
            </a:pPr>
            <a:r>
              <a:rPr lang="es-419" sz="1600"/>
              <a:t>Cada VLAN tendrá su propia gama única de direcciones IP</a:t>
            </a:r>
          </a:p>
          <a:p>
            <a:pPr lvl="3" rtl="0">
              <a:buFont typeface="Arial" panose="020B0604020202020204" pitchFamily="34" charset="0"/>
              <a:buChar char="•"/>
            </a:pPr>
            <a:r>
              <a:rPr lang="es-419" sz="1600"/>
              <a:t>Dominios de difusión más pequeños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671" y="1326642"/>
            <a:ext cx="4033875" cy="2504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42478232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92567"/>
            <a:ext cx="4030162" cy="690127"/>
          </a:xfrm>
        </p:spPr>
        <p:txBody>
          <a:bodyPr/>
          <a:lstStyle/>
          <a:p>
            <a:pPr rtl="0"/>
            <a:r>
              <a:rPr lang="es-419" sz="1600" dirty="0"/>
              <a:t>Descripción general de las VLAN</a:t>
            </a:r>
            <a:br>
              <a:rPr lang="en-US" altLang="en-US" dirty="0"/>
            </a:br>
            <a:r>
              <a:rPr lang="es-419" dirty="0"/>
              <a:t>Beneficios de un diseño de VLAN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0" y="1273183"/>
            <a:ext cx="3761591" cy="458613"/>
          </a:xfrm>
        </p:spPr>
        <p:txBody>
          <a:bodyPr/>
          <a:lstStyle/>
          <a:p>
            <a:pPr marL="0" indent="0" rtl="0">
              <a:buNone/>
            </a:pPr>
            <a:r>
              <a:rPr lang="es-419" sz="1800"/>
              <a:t>Los beneficios de usar VLAN son los siguientes: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3737953"/>
              </p:ext>
            </p:extLst>
          </p:nvPr>
        </p:nvGraphicFramePr>
        <p:xfrm>
          <a:off x="448056" y="2029967"/>
          <a:ext cx="8046720" cy="3005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0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25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590">
                <a:tc>
                  <a:txBody>
                    <a:bodyPr/>
                    <a:lstStyle/>
                    <a:p>
                      <a:pPr rtl="0"/>
                      <a:r>
                        <a:rPr lang="es-419"/>
                        <a:t>Beneficios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/>
                        <a:t>Descripción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569">
                <a:tc>
                  <a:txBody>
                    <a:bodyPr/>
                    <a:lstStyle/>
                    <a:p>
                      <a:pPr rtl="0"/>
                      <a:r>
                        <a:rPr lang="es-419" baseline="0"/>
                        <a:t>Dominios de difusión más pequeños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/>
                        <a:t>Dividir</a:t>
                      </a:r>
                      <a:r>
                        <a:rPr lang="es-419" baseline="0"/>
                        <a:t> la LAN reduce el número de dominios de difusión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rtl="0"/>
                      <a:r>
                        <a:rPr lang="es-419" baseline="0"/>
                        <a:t>Seguridad</a:t>
                      </a:r>
                      <a:r>
                        <a:rPr lang="es-419"/>
                        <a:t> mejorada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/>
                        <a:t>Solo los usuarios</a:t>
                      </a:r>
                      <a:r>
                        <a:rPr lang="es-419" baseline="0"/>
                        <a:t> de la misma VLAN pueden comunicarse juntos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rtl="0"/>
                      <a:r>
                        <a:rPr lang="es-419"/>
                        <a:t>Eficiencia de TI mejorada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/>
                        <a:t>Las VLAN pueden agrupar dispositivos con requisitos similares, por ejemplo, profesores frente a estudiantes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590">
                <a:tc>
                  <a:txBody>
                    <a:bodyPr/>
                    <a:lstStyle/>
                    <a:p>
                      <a:pPr rtl="0"/>
                      <a:r>
                        <a:rPr lang="es-419"/>
                        <a:t>Reducción de costos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/>
                        <a:t>Un</a:t>
                      </a:r>
                      <a:r>
                        <a:rPr lang="es-419" baseline="0"/>
                        <a:t> switch puede admitir varios grupos o VLAN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pPr rtl="0"/>
                      <a:r>
                        <a:rPr lang="es-419"/>
                        <a:t>Mejor rendimiento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/>
                        <a:t>Los pequeños dominios de difusión</a:t>
                      </a:r>
                      <a:r>
                        <a:rPr lang="es-419" baseline="0"/>
                        <a:t> reducen el tráfico y mejoran el ancho de banda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7604">
                <a:tc>
                  <a:txBody>
                    <a:bodyPr/>
                    <a:lstStyle/>
                    <a:p>
                      <a:pPr rtl="0"/>
                      <a:r>
                        <a:rPr lang="es-419"/>
                        <a:t>Simpler</a:t>
                      </a:r>
                      <a:r>
                        <a:rPr lang="es-419" baseline="0"/>
                        <a:t>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/>
                        <a:t>Grupos similares necesitarán aplicaciones similares</a:t>
                      </a:r>
                      <a:r>
                        <a:rPr lang="es-419" baseline="0"/>
                        <a:t> y otros recursos de 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311" y="73152"/>
            <a:ext cx="4030162" cy="1819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29212767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3"/>
            <a:ext cx="9144000" cy="726703"/>
          </a:xfrm>
        </p:spPr>
        <p:txBody>
          <a:bodyPr/>
          <a:lstStyle/>
          <a:p>
            <a:pPr rtl="0"/>
            <a:r>
              <a:rPr lang="es-419" sz="1600"/>
              <a:t>Descripción general de las VLAN</a:t>
            </a:r>
            <a:br>
              <a:rPr lang="en-US" altLang="en-US" dirty="0"/>
            </a:br>
            <a:r>
              <a:rPr lang="es-419"/>
              <a:t>Tipos de VLAN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33753" y="820921"/>
            <a:ext cx="3213687" cy="3869951"/>
          </a:xfrm>
        </p:spPr>
        <p:txBody>
          <a:bodyPr/>
          <a:lstStyle/>
          <a:p>
            <a:pPr marL="0" indent="0" rtl="0">
              <a:buNone/>
            </a:pPr>
            <a:r>
              <a:rPr lang="es-419" sz="1600" dirty="0"/>
              <a:t>VLAN predeterminada</a:t>
            </a:r>
          </a:p>
          <a:p>
            <a:pPr marL="0" indent="0" rtl="0">
              <a:buNone/>
            </a:pPr>
            <a:r>
              <a:rPr lang="es-419" sz="1600" dirty="0"/>
              <a:t>   La VLAN 1 es la siguiente: 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es-419" sz="1600" dirty="0"/>
              <a:t>La VLAN predeterminada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es-419" sz="1600" dirty="0"/>
              <a:t>La VLAN nativa predeterminada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es-419" sz="1600" dirty="0"/>
              <a:t>La VLAN de administración predeterminada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es-419" sz="1600" dirty="0"/>
              <a:t>No se puede eliminar ni cambiar el nombre</a:t>
            </a:r>
          </a:p>
          <a:p>
            <a:pPr marL="142875" lvl="1" indent="0">
              <a:buNone/>
            </a:pPr>
            <a:endParaRPr lang="en-US" sz="1600" dirty="0"/>
          </a:p>
          <a:p>
            <a:pPr marL="142875" lvl="1" indent="0" rtl="0">
              <a:buNone/>
            </a:pPr>
            <a:r>
              <a:rPr lang="es-419" sz="1600" b="1" dirty="0"/>
              <a:t>Nota</a:t>
            </a:r>
            <a:r>
              <a:rPr lang="es-419" sz="1600" dirty="0"/>
              <a:t>: Aunque no podemos eliminar VLAN1, Cisco recomendará que asignemos estas características predeterminadas a otras VLAN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1176" y="1204150"/>
            <a:ext cx="5471948" cy="2380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20549253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3"/>
            <a:ext cx="9144000" cy="635263"/>
          </a:xfrm>
        </p:spPr>
        <p:txBody>
          <a:bodyPr/>
          <a:lstStyle/>
          <a:p>
            <a:pPr rtl="0"/>
            <a:r>
              <a:rPr lang="es-419" sz="1600"/>
              <a:t>Descripción general de las VLAN</a:t>
            </a:r>
            <a:br>
              <a:rPr lang="en-US" altLang="en-US" dirty="0"/>
            </a:br>
            <a:r>
              <a:rPr lang="es-419"/>
              <a:t>Tipos de VLAN (Cont.)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24609" y="683761"/>
            <a:ext cx="8873087" cy="3997967"/>
          </a:xfrm>
        </p:spPr>
        <p:txBody>
          <a:bodyPr/>
          <a:lstStyle/>
          <a:p>
            <a:pPr marL="0" indent="0" rtl="0">
              <a:buNone/>
            </a:pPr>
            <a:r>
              <a:rPr lang="es-419" sz="1600" b="1"/>
              <a:t>VLAN de datos 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419" sz="1600"/>
              <a:t>Dedicado al tráfico generado por el usuario (correo electrónico y tráfico web). 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419" sz="1600"/>
              <a:t>VLAN 1 es la VLAN de datos predeterminada porque todas las interfaces están asignadas a esta VLAN.</a:t>
            </a:r>
          </a:p>
          <a:p>
            <a:pPr marL="0" indent="0" rtl="0">
              <a:buNone/>
            </a:pPr>
            <a:r>
              <a:rPr lang="es-419" sz="1600" b="1"/>
              <a:t>VLAN nativa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419" sz="1600"/>
              <a:t>Esto se utiliza sólo para enlaces troncales. 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419" sz="1600"/>
              <a:t>Todas las tramas están etiquetadas en un enlace troncal 802.1Q excepto las de la VLAN nativa. </a:t>
            </a:r>
          </a:p>
          <a:p>
            <a:pPr marL="0" indent="0" rtl="0">
              <a:buNone/>
            </a:pPr>
            <a:r>
              <a:rPr lang="es-419" sz="1600" b="1"/>
              <a:t>VLAN de administración 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419" sz="1600"/>
              <a:t>Esto se utiliza para el tráfico SSH/Telnet VTY y no debe ser llevado con el tráfico de usuario final.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419" sz="1600"/>
              <a:t>Normalmente, la VLAN que es el SVI para el conmutador de capa 2.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indent="0" rtl="0">
              <a:buNone/>
            </a:pPr>
            <a:r>
              <a:rPr lang="es-419" sz="160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792502786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es-419" sz="1600"/>
              <a:t>Descripción general de las VLAN</a:t>
            </a:r>
            <a:br>
              <a:rPr lang="en-US" altLang="en-US" dirty="0"/>
            </a:br>
            <a:r>
              <a:rPr lang="es-419"/>
              <a:t>Tipos de VLAN (Cont.)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24609" y="894073"/>
            <a:ext cx="4657703" cy="3723647"/>
          </a:xfrm>
        </p:spPr>
        <p:txBody>
          <a:bodyPr/>
          <a:lstStyle/>
          <a:p>
            <a:pPr marL="0" indent="0" rtl="0">
              <a:buNone/>
            </a:pPr>
            <a:r>
              <a:rPr lang="es-419" sz="1600" b="1"/>
              <a:t>VLAN de voz  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es-419" sz="1600"/>
              <a:t>Se requiere una VLAN separada porque el tráfico de voz requiere:</a:t>
            </a:r>
          </a:p>
          <a:p>
            <a:pPr lvl="3" rtl="0">
              <a:buFont typeface="Arial" panose="020B0604020202020204" pitchFamily="34" charset="0"/>
              <a:buChar char="•"/>
            </a:pPr>
            <a:r>
              <a:rPr lang="es-419" sz="1600"/>
              <a:t>Ancho de banda asegurado</a:t>
            </a:r>
          </a:p>
          <a:p>
            <a:pPr lvl="3" rtl="0">
              <a:buFont typeface="Arial" panose="020B0604020202020204" pitchFamily="34" charset="0"/>
              <a:buChar char="•"/>
            </a:pPr>
            <a:r>
              <a:rPr lang="es-419" sz="1600"/>
              <a:t>Alta prioridad de QoS</a:t>
            </a:r>
          </a:p>
          <a:p>
            <a:pPr lvl="3" rtl="0">
              <a:buFont typeface="Arial" panose="020B0604020202020204" pitchFamily="34" charset="0"/>
              <a:buChar char="•"/>
            </a:pPr>
            <a:r>
              <a:rPr lang="es-419" sz="1600"/>
              <a:t>Capacidad para evitar la congestión</a:t>
            </a:r>
          </a:p>
          <a:p>
            <a:pPr lvl="3" rtl="0">
              <a:buFont typeface="Arial" panose="020B0604020202020204" pitchFamily="34" charset="0"/>
              <a:buChar char="•"/>
            </a:pPr>
            <a:r>
              <a:rPr lang="es-419" sz="1600"/>
              <a:t>Retraso menos de 150 ms desde el origen hasta el destino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es-419" sz="1600"/>
              <a:t>Toda la red debe estar diseñada para admitir la voz.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8876" y="923544"/>
            <a:ext cx="3777162" cy="3059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4348669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es-419" sz="1600"/>
              <a:t>Descripción general de VLAN </a:t>
            </a:r>
            <a:br>
              <a:rPr lang="en-US" altLang="en-US" dirty="0"/>
            </a:br>
            <a:r>
              <a:rPr lang="es-419"/>
              <a:t>Packet Tracer: ¿quién escucha la transmisión?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00858" y="858445"/>
            <a:ext cx="8853286" cy="2390081"/>
          </a:xfrm>
        </p:spPr>
        <p:txBody>
          <a:bodyPr/>
          <a:lstStyle/>
          <a:p>
            <a:pPr mar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/>
              <a:t>En esta actividad de Packet Tracer, hará lo siguiente: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/>
          </a:p>
          <a:p>
            <a:pPr marL="285750" lvl="1" indent="-285750" rtl="0">
              <a:spcBef>
                <a:spcPts val="600"/>
              </a:spcBef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</a:pPr>
            <a:r>
              <a:rPr lang="es-419" sz="1800"/>
              <a:t>Observar el tráfico de broadcast en la implementación de una VLAN</a:t>
            </a:r>
          </a:p>
          <a:p>
            <a:pPr marL="285750" lvl="1" indent="-285750" rtl="0">
              <a:spcBef>
                <a:spcPts val="600"/>
              </a:spcBef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</a:pPr>
            <a:r>
              <a:rPr lang="es-419" sz="1800"/>
              <a:t>completar las preguntas de repaso</a:t>
            </a:r>
          </a:p>
        </p:txBody>
      </p:sp>
    </p:spTree>
    <p:extLst>
      <p:ext uri="{BB962C8B-B14F-4D97-AF65-F5344CB8AC3E}">
        <p14:creationId xmlns:p14="http://schemas.microsoft.com/office/powerpoint/2010/main" val="3587744275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1802391"/>
          </a:xfrm>
        </p:spPr>
        <p:txBody>
          <a:bodyPr/>
          <a:lstStyle/>
          <a:p>
            <a:pPr rtl="0"/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3.2 VLAN en un entorno de </a:t>
            </a:r>
            <a:b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</a:br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conmutación múltiple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8337446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es-419" sz="1600"/>
              <a:t>VLAN en un entorno de conmutación múltiple</a:t>
            </a:r>
            <a:br>
              <a:rPr lang="en-US" altLang="en-US" dirty="0"/>
            </a:br>
            <a:r>
              <a:rPr lang="es-419"/>
              <a:t>Definición de troncales de VLAN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246742" y="798945"/>
            <a:ext cx="3785762" cy="3827919"/>
          </a:xfrm>
        </p:spPr>
        <p:txBody>
          <a:bodyPr/>
          <a:lstStyle/>
          <a:p>
            <a:pPr marL="0" indent="0" rtl="0">
              <a:buNone/>
            </a:pPr>
            <a:r>
              <a:rPr lang="es-419" sz="1600"/>
              <a:t>Un enlace troncal es un enlace punto a punto entre dos dispositivos de red.</a:t>
            </a:r>
          </a:p>
          <a:p>
            <a:pPr marL="0" indent="0" rtl="0">
              <a:buNone/>
            </a:pPr>
            <a:r>
              <a:rPr lang="es-419" sz="1600"/>
              <a:t>Funciones troncal de Cisco: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419" sz="1600"/>
              <a:t>Permitir más de una VLAN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419" sz="1600"/>
              <a:t>Extender la VLAN a través de toda la red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419" sz="1600"/>
              <a:t>De forma predeterminada, admite todas las VLAN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419" sz="1600"/>
              <a:t>Soporta enlace troncal 802.1Q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504" y="1327641"/>
            <a:ext cx="4718800" cy="2488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9223303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3"/>
            <a:ext cx="9011652" cy="757551"/>
          </a:xfrm>
        </p:spPr>
        <p:txBody>
          <a:bodyPr/>
          <a:lstStyle/>
          <a:p>
            <a:pPr rtl="0"/>
            <a:r>
              <a:rPr lang="es-419" sz="1600"/>
              <a:t>VLAN en un entorno de conmutación </a:t>
            </a:r>
            <a:br>
              <a:rPr lang="en-US" altLang="en-US" dirty="0"/>
            </a:br>
            <a:r>
              <a:rPr lang="es-419"/>
              <a:t>múltiple Redes sin VLAN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261256" y="856343"/>
            <a:ext cx="8526128" cy="755889"/>
          </a:xfrm>
        </p:spPr>
        <p:txBody>
          <a:bodyPr/>
          <a:lstStyle/>
          <a:p>
            <a:pPr marL="0" indent="0" rtl="0">
              <a:buNone/>
            </a:pPr>
            <a:r>
              <a:rPr lang="es-419" sz="1600"/>
              <a:t>Sin VLAN, todos los dispositivos conectados a los switches recibirán todo el tráfico de unidifusión, multidifusión y difusión.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0985" y="1923401"/>
            <a:ext cx="4637831" cy="2785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03112685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1393"/>
            <a:ext cx="4688113" cy="829464"/>
          </a:xfrm>
        </p:spPr>
        <p:txBody>
          <a:bodyPr/>
          <a:lstStyle/>
          <a:p>
            <a:pPr rtl="0"/>
            <a:r>
              <a:rPr lang="es-419" sz="1600"/>
              <a:t>VLAN en un entorno de conmutación múltiple</a:t>
            </a:r>
            <a:br>
              <a:rPr lang="en-US" altLang="en-US" dirty="0"/>
            </a:br>
            <a:r>
              <a:rPr lang="es-419"/>
              <a:t>Redes con VLAN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203200" y="986971"/>
            <a:ext cx="8712199" cy="768677"/>
          </a:xfrm>
        </p:spPr>
        <p:txBody>
          <a:bodyPr/>
          <a:lstStyle/>
          <a:p>
            <a:pPr marL="0" indent="0" rtl="0">
              <a:buNone/>
            </a:pPr>
            <a:r>
              <a:rPr lang="es-419" sz="1600"/>
              <a:t>Con las VLAN, el tráfico de unidifusión, multidifusión y difusión se limita a una VLAN. Sin un dispositivo de capa 3 para conectar las VLAN, los dispositivos de diferentes VLAN no pueden comunicarse. 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689" y="1709928"/>
            <a:ext cx="5231599" cy="2932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74144685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1393"/>
            <a:ext cx="5330952" cy="781567"/>
          </a:xfrm>
        </p:spPr>
        <p:txBody>
          <a:bodyPr/>
          <a:lstStyle/>
          <a:p>
            <a:pPr rtl="0"/>
            <a:r>
              <a:rPr lang="es-419" sz="1600"/>
              <a:t>VLAN en un entorno de conmutación múltiple </a:t>
            </a:r>
            <a:br>
              <a:rPr lang="en-US" altLang="en-US" dirty="0"/>
            </a:br>
            <a:r>
              <a:rPr lang="es-419"/>
              <a:t>Identificación de VLAN con una etiqueta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75768" y="804090"/>
            <a:ext cx="5307394" cy="1811093"/>
          </a:xfrm>
        </p:spPr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es-419" sz="1600"/>
              <a:t>El encabezado IEEE 802.1Q es de 4 Bytes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419" sz="1600"/>
              <a:t>Cuando se crea la etiqueta, se debe volver a calcular el FCS.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419" sz="1600"/>
              <a:t>Cuando se envía a los dispositivos finales, esta etiqueta debe eliminarse y el FCS vuelve a calcular su número original.</a:t>
            </a:r>
          </a:p>
          <a:p>
            <a:pPr marL="0" indent="0">
              <a:buNone/>
            </a:pPr>
            <a:endParaRPr lang="en-US" altLang="ja-JP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4360972"/>
              </p:ext>
            </p:extLst>
          </p:nvPr>
        </p:nvGraphicFramePr>
        <p:xfrm>
          <a:off x="265177" y="2702307"/>
          <a:ext cx="8686800" cy="21931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45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22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2463">
                <a:tc>
                  <a:txBody>
                    <a:bodyPr/>
                    <a:lstStyle/>
                    <a:p>
                      <a:pPr rtl="0"/>
                      <a:r>
                        <a:rPr lang="es-419" sz="1400"/>
                        <a:t>Campo de etiqueta VLAN 802.1Q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400"/>
                        <a:t>Función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562">
                <a:tc>
                  <a:txBody>
                    <a:bodyPr/>
                    <a:lstStyle/>
                    <a:p>
                      <a:pPr rtl="0"/>
                      <a:r>
                        <a:rPr lang="es-419" sz="1400" b="1"/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s-419" sz="1400"/>
                        <a:t>Campo de 2 bytes</a:t>
                      </a:r>
                      <a:r>
                        <a:rPr lang="es-419" sz="1400" baseline="0"/>
                        <a:t> con hexadecimal 0x8100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s-419" sz="1400"/>
                        <a:t>Esto se conoce como ID de protocolo de etiqueta (TPID)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828">
                <a:tc>
                  <a:txBody>
                    <a:bodyPr/>
                    <a:lstStyle/>
                    <a:p>
                      <a:pPr rtl="0"/>
                      <a:r>
                        <a:rPr lang="es-419" sz="1400" b="1" baseline="0"/>
                        <a:t>Prioridad</a:t>
                      </a:r>
                      <a:r>
                        <a:rPr lang="es-419" sz="1400" b="1"/>
                        <a:t> de usuario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s-419" sz="1400"/>
                        <a:t>Valor de 3 bits</a:t>
                      </a:r>
                      <a:r>
                        <a:rPr lang="es-419" sz="1400" baseline="0"/>
                        <a:t> que admite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0">
                <a:tc>
                  <a:txBody>
                    <a:bodyPr/>
                    <a:lstStyle/>
                    <a:p>
                      <a:pPr rtl="0"/>
                      <a:r>
                        <a:rPr lang="es-419" sz="1400" b="1"/>
                        <a:t>Identificador de</a:t>
                      </a:r>
                      <a:r>
                        <a:rPr lang="es-419" sz="1400" b="1" baseline="0"/>
                        <a:t> formato canónico (CFI)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s-419" sz="1400" baseline="0"/>
                        <a:t> Valor de 1 bit que puede admitir marcos de anillo de tokens en Ethernet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314">
                <a:tc>
                  <a:txBody>
                    <a:bodyPr/>
                    <a:lstStyle/>
                    <a:p>
                      <a:pPr rtl="0"/>
                      <a:r>
                        <a:rPr lang="es-419" sz="1400" b="1"/>
                        <a:t>VLAN ID (VID)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s-419" sz="1400" baseline="0"/>
                        <a:t> Identificador de VLAN de 12 bits que puede admitir hasta 4096 VLAN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3162" y="149893"/>
            <a:ext cx="3660838" cy="24029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25327395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1393"/>
            <a:ext cx="9006840" cy="829464"/>
          </a:xfrm>
        </p:spPr>
        <p:txBody>
          <a:bodyPr/>
          <a:lstStyle/>
          <a:p>
            <a:pPr rtl="0"/>
            <a:r>
              <a:rPr lang="es-419" sz="1600"/>
              <a:t>VLAN en un entorno de conmutación múltiple</a:t>
            </a:r>
            <a:br>
              <a:rPr lang="en-US" altLang="en-US" dirty="0"/>
            </a:br>
            <a:r>
              <a:rPr lang="es-419"/>
              <a:t>VLAN nativas y etiquetado 802.1Q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203201" y="986970"/>
            <a:ext cx="4572000" cy="3414045"/>
          </a:xfrm>
        </p:spPr>
        <p:txBody>
          <a:bodyPr/>
          <a:lstStyle/>
          <a:p>
            <a:pPr marL="0" indent="0" rtl="0">
              <a:buNone/>
            </a:pPr>
            <a:r>
              <a:rPr lang="es-419" sz="1600"/>
              <a:t>Conceptos básicos del tronco 802.1Q: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419" sz="1600"/>
              <a:t>El etiquetado se realiza normalmente en todas las VLAN.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419" sz="1600"/>
              <a:t>El uso de una VLAN nativa se diseñó para uso heredado, como el concentrador en el ejemplo.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419" sz="1600"/>
              <a:t>A menos que se modifique, VLAN1 es la VLAN nativa.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419" sz="1600"/>
              <a:t>Ambos extremos de un enlace troncal deben configurarse con la misma VLAN nativa.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419" sz="1600"/>
              <a:t>Cada troncal se configura por separado, por lo que es posible tener una VLAN nativa diferente en troncos separados.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2789" y="1317324"/>
            <a:ext cx="3962848" cy="279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08740746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1393"/>
            <a:ext cx="5197642" cy="829464"/>
          </a:xfrm>
        </p:spPr>
        <p:txBody>
          <a:bodyPr/>
          <a:lstStyle/>
          <a:p>
            <a:pPr rtl="0"/>
            <a:r>
              <a:rPr lang="es-419" sz="1600"/>
              <a:t>VLAN en un entorno de conmutación múltiple</a:t>
            </a:r>
            <a:br>
              <a:rPr lang="en-US" altLang="en-US" dirty="0"/>
            </a:br>
            <a:r>
              <a:rPr lang="es-419"/>
              <a:t>Etiquetado de VLAN de voz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203199" y="986970"/>
            <a:ext cx="5054601" cy="2044988"/>
          </a:xfrm>
        </p:spPr>
        <p:txBody>
          <a:bodyPr/>
          <a:lstStyle/>
          <a:p>
            <a:pPr marL="0" indent="0" rtl="0">
              <a:buNone/>
            </a:pPr>
            <a:r>
              <a:rPr lang="es-419" sz="1600"/>
              <a:t>El teléfono VoIP es un conmutador de tres puertos: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419" sz="1400"/>
              <a:t>El conmutador utilizará CDP para informar al teléfono de la VLAN de voz.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419" sz="1400"/>
              <a:t>El teléfono etiquetará su propio tráfico (Voz) y puede establecer el coste de servicio (CoS). CoS es QoS para la capa 2.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419" sz="1400"/>
              <a:t>El teléfono puede o no etiquetar marcos de la PC.</a:t>
            </a:r>
          </a:p>
          <a:p>
            <a:pPr marL="0" indent="0">
              <a:buNone/>
            </a:pPr>
            <a:endParaRPr lang="en-US" altLang="ja-JP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4510986"/>
              </p:ext>
            </p:extLst>
          </p:nvPr>
        </p:nvGraphicFramePr>
        <p:xfrm>
          <a:off x="449717" y="3061443"/>
          <a:ext cx="8316911" cy="15225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25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4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2463"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saliente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Función de etiquetado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562">
                <a:tc>
                  <a:txBody>
                    <a:bodyPr/>
                    <a:lstStyle/>
                    <a:p>
                      <a:pPr rtl="0"/>
                      <a:r>
                        <a:rPr lang="es-419" sz="1400"/>
                        <a:t>VLAN de voz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rtl="0">
                        <a:buFont typeface="Arial" panose="020B0604020202020204" pitchFamily="34" charset="0"/>
                        <a:buNone/>
                      </a:pPr>
                      <a:r>
                        <a:rPr lang="es-419" sz="1400"/>
                        <a:t>etiquetado con un valor de prioridad de clase de servicio (CoS) de capa 2 apropiado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828">
                <a:tc>
                  <a:txBody>
                    <a:bodyPr/>
                    <a:lstStyle/>
                    <a:p>
                      <a:pPr rtl="0"/>
                      <a:r>
                        <a:rPr lang="es-419" sz="1400"/>
                        <a:t>VLAN de acceso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rtl="0">
                        <a:buFont typeface="Arial" panose="020B0604020202020204" pitchFamily="34" charset="0"/>
                        <a:buNone/>
                      </a:pPr>
                      <a:r>
                        <a:rPr lang="es-419" sz="1400"/>
                        <a:t>también se puede etiquetar con un valor de prioridad CoS de capa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0">
                <a:tc>
                  <a:txBody>
                    <a:bodyPr/>
                    <a:lstStyle/>
                    <a:p>
                      <a:pPr rtl="0"/>
                      <a:r>
                        <a:rPr lang="es-419" sz="1400"/>
                        <a:t>VLAN de acceso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400"/>
                        <a:t>no está etiquetado (sin valor de prioridad CoS de capa 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8274" y="503544"/>
            <a:ext cx="3578571" cy="23173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26246536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29464"/>
          </a:xfrm>
        </p:spPr>
        <p:txBody>
          <a:bodyPr/>
          <a:lstStyle/>
          <a:p>
            <a:pPr rtl="0"/>
            <a:r>
              <a:rPr lang="es-419" sz="1600"/>
              <a:t>VLAN en un entorno de conmutación múltiple</a:t>
            </a:r>
            <a:br>
              <a:rPr lang="en-US" altLang="en-US" dirty="0"/>
            </a:br>
            <a:r>
              <a:rPr lang="es-419"/>
              <a:t>Ejemplo de verificación de VLAN de voz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203200" y="986971"/>
            <a:ext cx="8212253" cy="990512"/>
          </a:xfrm>
        </p:spPr>
        <p:txBody>
          <a:bodyPr/>
          <a:lstStyle/>
          <a:p>
            <a:pPr marL="0" indent="0" rtl="0">
              <a:buNone/>
            </a:pPr>
            <a:r>
              <a:rPr lang="es-419" sz="1600"/>
              <a:t>El comando </a:t>
            </a:r>
            <a:r>
              <a:rPr lang="es-419" sz="1600" b="1"/>
              <a:t>show interfaces fa0/18 switchport </a:t>
            </a:r>
            <a:r>
              <a:rPr lang="es-419" sz="1600"/>
              <a:t>puede mostrarnos las VLAN de datos y voz asignadas a la interfaz.</a:t>
            </a:r>
          </a:p>
          <a:p>
            <a:pPr marL="0" indent="0">
              <a:buNone/>
            </a:pPr>
            <a:endParaRPr lang="en-US" altLang="ja-JP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003" y="1977483"/>
            <a:ext cx="5898730" cy="2416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36082141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1393"/>
            <a:ext cx="9025128" cy="829464"/>
          </a:xfrm>
        </p:spPr>
        <p:txBody>
          <a:bodyPr/>
          <a:lstStyle/>
          <a:p>
            <a:pPr rtl="0"/>
            <a:r>
              <a:rPr lang="es-419" sz="1600"/>
              <a:t>VLAN en un entorno de conmutadores múltiples</a:t>
            </a:r>
            <a:br>
              <a:rPr lang="en-US" altLang="en-US" dirty="0"/>
            </a:br>
            <a:r>
              <a:rPr lang="es-419"/>
              <a:t>Packet Tracer: investigue una implementación de VLAN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203201" y="986970"/>
            <a:ext cx="8673170" cy="3057206"/>
          </a:xfrm>
        </p:spPr>
        <p:txBody>
          <a:bodyPr/>
          <a:lstStyle/>
          <a:p>
            <a:pPr marL="0" indent="0" rtl="0">
              <a:buNone/>
            </a:pPr>
            <a:r>
              <a:rPr lang="es-419" sz="1800"/>
              <a:t>En esta actividad de Packet Tracer, usted puede: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419" sz="1800"/>
              <a:t>Parte 1: observar el tráfico de difusión en una implementación de VLAN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419" sz="1800"/>
              <a:t>Parte 2: observar el tráfico de difusión sin VLAN</a:t>
            </a:r>
          </a:p>
          <a:p>
            <a:pPr marL="0" indent="0">
              <a:buNone/>
            </a:pPr>
            <a:endParaRPr lang="en-US" altLang="ja-JP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7863029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pPr rtl="0"/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3.3 Configuración de VLAN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88985433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0" y="118872"/>
            <a:ext cx="5198533" cy="757551"/>
          </a:xfrm>
        </p:spPr>
        <p:txBody>
          <a:bodyPr/>
          <a:lstStyle/>
          <a:p>
            <a:pPr rtl="0"/>
            <a:r>
              <a:rPr lang="es-419" sz="1600"/>
              <a:t>Configuración de VLAN</a:t>
            </a:r>
            <a:br>
              <a:rPr lang="en-US" altLang="en-US" dirty="0"/>
            </a:br>
            <a:r>
              <a:rPr lang="es-419"/>
              <a:t>Rangos de VLAN en switches Catalyst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16633" y="1200665"/>
            <a:ext cx="4738831" cy="627520"/>
          </a:xfrm>
        </p:spPr>
        <p:txBody>
          <a:bodyPr/>
          <a:lstStyle/>
          <a:p>
            <a:pPr marL="142875" lvl="1" indent="0" rtl="0">
              <a:buNone/>
            </a:pPr>
            <a:r>
              <a:rPr lang="es-419" sz="1600"/>
              <a:t>Los switches Catalyst 2960 y 3650 admiten más de 4000 VLAN.</a:t>
            </a:r>
          </a:p>
          <a:p>
            <a:pPr marL="142875" lvl="1" indent="0">
              <a:buNone/>
            </a:pPr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6399969"/>
              </p:ext>
            </p:extLst>
          </p:nvPr>
        </p:nvGraphicFramePr>
        <p:xfrm>
          <a:off x="365760" y="2192590"/>
          <a:ext cx="8595360" cy="264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73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0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 baseline="0"/>
                        <a:t>Rango normal VLAN 1 - 1005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/>
                        <a:t>Rango extendido VLAN</a:t>
                      </a:r>
                      <a:r>
                        <a:rPr lang="es-419" baseline="0"/>
                        <a:t> 1006 - 4095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Utilizado en pequeñas y medianas empresas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Usado por los proveedores de servicios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1002 — 1005 están reservados para VLAN heredadas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Están en </a:t>
                      </a:r>
                      <a:r>
                        <a:rPr lang="es-419" sz="1600" baseline="0"/>
                        <a:t>Running-Config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1, 1002 — 1005 se crean automáticamente</a:t>
                      </a:r>
                      <a:r>
                        <a:rPr lang="es-419" sz="1600" baseline="0"/>
                        <a:t> y no se pueden eliminar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Admite menos</a:t>
                      </a:r>
                      <a:r>
                        <a:rPr lang="es-419" sz="1600" baseline="0"/>
                        <a:t> funciones de VLAN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Almacenado en el</a:t>
                      </a:r>
                      <a:r>
                        <a:rPr lang="es-419" sz="1600" baseline="0"/>
                        <a:t> archivo vlan.dat en flash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Requiere configuraciones de VTP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VTP puede sincronizar entre conmutadores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9784" y="118872"/>
            <a:ext cx="3831336" cy="2033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47103102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es-419"/>
              <a:t>Comandos de creación deVLAN</a:t>
            </a:r>
            <a:r>
              <a:rPr lang="es-419" sz="1600"/>
              <a:t>de configuración de VLAN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4426" y="791746"/>
            <a:ext cx="8178325" cy="688137"/>
          </a:xfrm>
        </p:spPr>
        <p:txBody>
          <a:bodyPr/>
          <a:lstStyle/>
          <a:p>
            <a:pPr marL="142875" lvl="1" indent="0" rtl="0">
              <a:buNone/>
            </a:pPr>
            <a:r>
              <a:rPr lang="es-419" sz="1600"/>
              <a:t>Los detalles de la VLAN se almacenan en el archivo vlan.dat. Crea VLAN en el modo de configuración global.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911033"/>
              </p:ext>
            </p:extLst>
          </p:nvPr>
        </p:nvGraphicFramePr>
        <p:xfrm>
          <a:off x="658368" y="1847342"/>
          <a:ext cx="7644384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2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2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Tarea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Comando de IOS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Ingresa al modo de configuración global.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Switch# </a:t>
                      </a:r>
                      <a:r>
                        <a:rPr lang="es-419" sz="1600" b="1"/>
                        <a:t>configure terminal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Cree una VLAN con un número de identificación válido.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Switch(config)# </a:t>
                      </a:r>
                      <a:r>
                        <a:rPr lang="es-419" sz="1600" b="1"/>
                        <a:t>vlan</a:t>
                      </a:r>
                      <a:r>
                        <a:rPr lang="es-419" sz="1600"/>
                        <a:t> </a:t>
                      </a:r>
                      <a:r>
                        <a:rPr lang="es-419" sz="1600" i="1"/>
                        <a:t>vlan-id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Especificar un nombre único para identificar la VLAN.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Switch(config-vlan)# </a:t>
                      </a:r>
                      <a:r>
                        <a:rPr lang="es-419" sz="1600" b="1"/>
                        <a:t>name</a:t>
                      </a:r>
                      <a:r>
                        <a:rPr lang="es-419" sz="1600"/>
                        <a:t> </a:t>
                      </a:r>
                      <a:r>
                        <a:rPr lang="es-419" sz="1600" i="1"/>
                        <a:t>vlan-name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Vuelva al modo EXEC con privilegios.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Conmutador (config-vlan) # </a:t>
                      </a:r>
                      <a:r>
                        <a:rPr lang="es-419" sz="1600" b="1"/>
                        <a:t>final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Ingresa al modo de configuración global.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Switch# </a:t>
                      </a:r>
                      <a:r>
                        <a:rPr lang="es-419" sz="1600" b="1"/>
                        <a:t>configure terminal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161630264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" y="41393"/>
            <a:ext cx="4553711" cy="757551"/>
          </a:xfrm>
        </p:spPr>
        <p:txBody>
          <a:bodyPr/>
          <a:lstStyle/>
          <a:p>
            <a:pPr rtl="0"/>
            <a:r>
              <a:rPr lang="es-419" sz="1600"/>
              <a:t>Configuración de VLAN</a:t>
            </a:r>
            <a:br>
              <a:rPr lang="en-US" altLang="en-US" dirty="0"/>
            </a:br>
            <a:r>
              <a:rPr lang="es-419"/>
              <a:t>Ejemplo de creación de VLAN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61788" y="1401347"/>
            <a:ext cx="4416684" cy="1939261"/>
          </a:xfrm>
        </p:spPr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es-419" sz="1800"/>
              <a:t>Si el Student PC va a estar en VLAN 20, primero crearemos la VLAN y luego la nombraremos.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419" sz="1800"/>
              <a:t>Si no lo nombra, Cisco IOS le dará un nombre predeterminado de vlan y el número de cuatro dígitos de la VLAN. Por ejemplo, vlan0020 para VLAN 20.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4636462"/>
              </p:ext>
            </p:extLst>
          </p:nvPr>
        </p:nvGraphicFramePr>
        <p:xfrm>
          <a:off x="4791360" y="2667380"/>
          <a:ext cx="389543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9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Indicador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Comando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S1#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Configure terminal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S1(config)#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vlan 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S1(config-vlan)#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name student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S1(config-vlan)#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finalizar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258" y="109727"/>
            <a:ext cx="4533448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22725155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es-419"/>
              <a:t>Comandos de asignación de puertos deVLAN</a:t>
            </a:r>
            <a:r>
              <a:rPr lang="es-419" sz="1600"/>
              <a:t>de configuración de VLAN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76260" y="896522"/>
            <a:ext cx="8583692" cy="596998"/>
          </a:xfrm>
        </p:spPr>
        <p:txBody>
          <a:bodyPr/>
          <a:lstStyle/>
          <a:p>
            <a:pPr marL="0" indent="0" rtl="0">
              <a:buNone/>
            </a:pPr>
            <a:r>
              <a:rPr lang="es-419" sz="1800"/>
              <a:t>Una vez creada la VLAN, podemos asignarla a las interfaces correctas.</a:t>
            </a:r>
          </a:p>
          <a:p>
            <a:pPr lvl="1"/>
            <a:endParaRPr lang="en-CA" alt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6011380"/>
              </p:ext>
            </p:extLst>
          </p:nvPr>
        </p:nvGraphicFramePr>
        <p:xfrm>
          <a:off x="283464" y="1838198"/>
          <a:ext cx="8476488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82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8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Tarea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Comando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/>
                        <a:t>Ingresa al modo de configuración global.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/>
                        <a:t>Switch# </a:t>
                      </a:r>
                      <a:r>
                        <a:rPr lang="es-419" b="1"/>
                        <a:t>configure terminal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/>
                        <a:t>Ingrese el modo de configuración de interfaz.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/>
                        <a:t>Switch(config)# </a:t>
                      </a:r>
                      <a:r>
                        <a:rPr lang="es-419" b="1"/>
                        <a:t>interface </a:t>
                      </a:r>
                      <a:r>
                        <a:rPr lang="es-419" i="1"/>
                        <a:t>interface-id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/>
                        <a:t>Establezca el puerto en modo de acceso.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/>
                        <a:t>Switch(config-if)# </a:t>
                      </a:r>
                      <a:r>
                        <a:rPr lang="es-419" b="1"/>
                        <a:t>switchport mode access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/>
                        <a:t>Asigne el puerto a una VLAN.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/>
                        <a:t>Switch(config-if)# </a:t>
                      </a:r>
                      <a:r>
                        <a:rPr lang="es-419" b="1"/>
                        <a:t>switchport access vlan</a:t>
                      </a:r>
                      <a:r>
                        <a:rPr lang="es-419"/>
                        <a:t> </a:t>
                      </a:r>
                      <a:r>
                        <a:rPr lang="es-419" i="1"/>
                        <a:t>vlan-id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/>
                        <a:t>Vuelva al modo EXEC con privilegios.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/>
                        <a:t>Switch(config-if)# </a:t>
                      </a:r>
                      <a:r>
                        <a:rPr lang="es-419" b="1"/>
                        <a:t>end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660041384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es-419" sz="1600"/>
              <a:t>Configuración de VLAN</a:t>
            </a:r>
            <a:br>
              <a:rPr lang="en-US" altLang="en-US" dirty="0"/>
            </a:br>
            <a:r>
              <a:rPr lang="es-419"/>
              <a:t>Ejemplo de asignación de puerto VLAN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3574" y="867946"/>
            <a:ext cx="4361340" cy="2942054"/>
          </a:xfrm>
        </p:spPr>
        <p:txBody>
          <a:bodyPr/>
          <a:lstStyle/>
          <a:p>
            <a:pPr marL="0" indent="0" rtl="0">
              <a:buNone/>
            </a:pPr>
            <a:r>
              <a:rPr lang="es-419" sz="1800"/>
              <a:t>Podemos asignar la VLAN a la interfaz del puerto.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419" sz="1800"/>
              <a:t>Una vez que el dispositivo se asigna la VLAN, el dispositivo final necesitará la información de dirección IP para esa VLAN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419" sz="1800"/>
              <a:t>Aquí, Student PC recibe 172.17.20.22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8620947"/>
              </p:ext>
            </p:extLst>
          </p:nvPr>
        </p:nvGraphicFramePr>
        <p:xfrm>
          <a:off x="4572000" y="2546550"/>
          <a:ext cx="4275773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Indicador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Comando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S1#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Configure terminal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S1(config)#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Interfaz</a:t>
                      </a:r>
                      <a:r>
                        <a:rPr lang="es-419" sz="1600" baseline="0"/>
                        <a:t> fa0/18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S1(config-if)#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Switchport mode</a:t>
                      </a:r>
                      <a:r>
                        <a:rPr lang="es-419" sz="1600" baseline="0"/>
                        <a:t> access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S1(config-if)#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Switchport</a:t>
                      </a:r>
                      <a:r>
                        <a:rPr lang="es-419" sz="1600" baseline="0"/>
                        <a:t> access vlan 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S1(config-if)#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finalizar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5858" y="146304"/>
            <a:ext cx="3914211" cy="2295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32752531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br>
              <a:rPr lang="en-US" altLang="en-US" dirty="0"/>
            </a:br>
            <a:r>
              <a:rPr lang="es-419"/>
              <a:t>Datos de configuración de VLAN y VLAN de voz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3574" y="867946"/>
            <a:ext cx="3965826" cy="2891254"/>
          </a:xfrm>
        </p:spPr>
        <p:txBody>
          <a:bodyPr/>
          <a:lstStyle/>
          <a:p>
            <a:pPr marL="0" indent="0" rtl="0">
              <a:buNone/>
            </a:pPr>
            <a:r>
              <a:rPr lang="es-419" sz="1800"/>
              <a:t>Un puerto de acceso solo se puede asignar a una VLAN de datos. Sin embargo, también se puede asignar a una VLAN de voz para cuando un teléfono y un dispositivo final estén fuera del mismo puerto de conmutación.</a:t>
            </a:r>
          </a:p>
          <a:p>
            <a:pPr marL="0" indent="0">
              <a:buNone/>
            </a:pPr>
            <a:endParaRPr lang="en-CA" altLang="en-US" sz="160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8265" y="1152144"/>
            <a:ext cx="4222849" cy="268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90953693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es-419"/>
              <a:t>Ejemplo de VLAN de voz ydatos de configuración de VLAN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3574" y="867946"/>
            <a:ext cx="4558916" cy="3512030"/>
          </a:xfrm>
        </p:spPr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es-419" sz="1600"/>
              <a:t>Queremos crear y nombrar VLAN de voz y datos.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419" sz="1600"/>
              <a:t>Además de asignar la VLAN de datos, también asignaremos la VLAN de voz y activaremos QoS para el tráfico de voz a la interfaz.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419" sz="1600"/>
              <a:t>El switch catalizador más reciente creará automáticamente la VLAN, si aún no existe, cuando se asigne a una interfaz.</a:t>
            </a:r>
          </a:p>
          <a:p>
            <a:pPr marL="0" indent="0" rtl="0">
              <a:buNone/>
            </a:pPr>
            <a:r>
              <a:rPr lang="es-419" sz="1600" b="1"/>
              <a:t>Nota: QoS está más allá del alcance de este curso. Aquí mostramos el uso del </a:t>
            </a:r>
            <a:r>
              <a:rPr lang="es-419" sz="1600"/>
              <a:t>comando mls qos trust [cos | device cisco-phone | dscp | ip-precedence]. 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2802" y="996315"/>
            <a:ext cx="4076700" cy="196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2802" y="3367278"/>
            <a:ext cx="407670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03858304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" y="41393"/>
            <a:ext cx="3447287" cy="757551"/>
          </a:xfrm>
        </p:spPr>
        <p:txBody>
          <a:bodyPr/>
          <a:lstStyle/>
          <a:p>
            <a:pPr rtl="0"/>
            <a:r>
              <a:rPr lang="es-419" sz="1600"/>
              <a:t>Configuración de VLAN</a:t>
            </a:r>
            <a:br>
              <a:rPr lang="en-US" altLang="en-US" dirty="0"/>
            </a:br>
            <a:r>
              <a:rPr lang="es-419"/>
              <a:t>Verifique la información de VLAN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3574" y="867946"/>
            <a:ext cx="3552314" cy="1518638"/>
          </a:xfrm>
        </p:spPr>
        <p:txBody>
          <a:bodyPr/>
          <a:lstStyle/>
          <a:p>
            <a:pPr marL="0" indent="0" rtl="0">
              <a:buNone/>
            </a:pPr>
            <a:r>
              <a:rPr lang="es-419" sz="1600"/>
              <a:t>Use el comando </a:t>
            </a:r>
            <a:r>
              <a:rPr lang="es-419" sz="1600" b="1"/>
              <a:t>show vlan </a:t>
            </a:r>
            <a:r>
              <a:rPr lang="es-419" sz="1600"/>
              <a:t>. La sintaxis completa es: </a:t>
            </a:r>
          </a:p>
          <a:p>
            <a:pPr marL="0" indent="0" rtl="0">
              <a:buNone/>
            </a:pPr>
            <a:r>
              <a:rPr lang="es-419" sz="1600" b="1"/>
              <a:t>show vlan [brief</a:t>
            </a:r>
            <a:r>
              <a:rPr lang="es-419" sz="1600"/>
              <a:t> | </a:t>
            </a:r>
            <a:r>
              <a:rPr lang="es-419" sz="1600" b="1"/>
              <a:t>id</a:t>
            </a:r>
            <a:r>
              <a:rPr lang="es-419" sz="1600"/>
              <a:t> </a:t>
            </a:r>
            <a:r>
              <a:rPr lang="es-419" sz="1600" i="1"/>
              <a:t>vlan-id</a:t>
            </a:r>
            <a:r>
              <a:rPr lang="es-419" sz="1600"/>
              <a:t> | </a:t>
            </a:r>
            <a:r>
              <a:rPr lang="es-419" sz="1600" b="1"/>
              <a:t>name</a:t>
            </a:r>
            <a:r>
              <a:rPr lang="es-419" sz="1600"/>
              <a:t> </a:t>
            </a:r>
            <a:r>
              <a:rPr lang="es-419" sz="1600" i="1"/>
              <a:t>vlan-name</a:t>
            </a:r>
            <a:r>
              <a:rPr lang="es-419" sz="1600"/>
              <a:t> | </a:t>
            </a:r>
            <a:r>
              <a:rPr lang="es-419" sz="1600" b="1"/>
              <a:t>summary</a:t>
            </a:r>
            <a:r>
              <a:rPr lang="es-419" sz="1600"/>
              <a:t>]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451748"/>
              </p:ext>
            </p:extLst>
          </p:nvPr>
        </p:nvGraphicFramePr>
        <p:xfrm>
          <a:off x="246888" y="2533142"/>
          <a:ext cx="8657274" cy="2270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73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3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 sz="1600">
                          <a:effectLst/>
                        </a:rPr>
                        <a:t>Tarea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Opción de comando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Muestra el nombre, el estado y sus puertos de la VLAN, una VLAN por línea.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 b="1"/>
                        <a:t>breve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Muestra información sobre el número de ID de VLAN identificado.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 b="1"/>
                        <a:t>id</a:t>
                      </a:r>
                      <a:r>
                        <a:rPr lang="es-419" sz="1600"/>
                        <a:t> </a:t>
                      </a:r>
                      <a:r>
                        <a:rPr lang="es-419" sz="1600" i="1"/>
                        <a:t>vlan-id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Muestra información sobre el número de ID de VLAN identificado. El </a:t>
                      </a:r>
                      <a:r>
                        <a:rPr lang="es-419" sz="1600" i="1"/>
                        <a:t>nombre de vlane</a:t>
                      </a:r>
                      <a:r>
                        <a:rPr lang="es-419" sz="1600"/>
                        <a:t> es una cadena ASCII de 1 a 32 caracteres.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 b="1"/>
                        <a:t>name</a:t>
                      </a:r>
                      <a:r>
                        <a:rPr lang="es-419" sz="1600"/>
                        <a:t> </a:t>
                      </a:r>
                      <a:r>
                        <a:rPr lang="es-419" sz="1600" i="1"/>
                        <a:t>vlan-name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Mostrar el resumen de información de la VLAN.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 b="1"/>
                        <a:t>resumen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8769" y="164592"/>
            <a:ext cx="5045393" cy="742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8769" y="1082744"/>
            <a:ext cx="5045393" cy="1331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38389466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" y="41393"/>
            <a:ext cx="4604517" cy="757551"/>
          </a:xfrm>
        </p:spPr>
        <p:txBody>
          <a:bodyPr/>
          <a:lstStyle/>
          <a:p>
            <a:pPr rtl="0"/>
            <a:r>
              <a:rPr lang="es-419" sz="1600"/>
              <a:t>Configuración de VLAN</a:t>
            </a:r>
            <a:br>
              <a:rPr lang="en-US" altLang="en-US" dirty="0"/>
            </a:br>
            <a:r>
              <a:rPr lang="es-419"/>
              <a:t>Cambiar pertenencia al puerto VLAN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1589" y="1062680"/>
            <a:ext cx="4361340" cy="2890238"/>
          </a:xfrm>
        </p:spPr>
        <p:txBody>
          <a:bodyPr/>
          <a:lstStyle/>
          <a:p>
            <a:pPr marL="0" indent="0" rtl="0">
              <a:buNone/>
            </a:pPr>
            <a:r>
              <a:rPr lang="es-419" sz="1600"/>
              <a:t>Hay varias formas de cambiar la membresía de VLAN: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419" sz="1600"/>
              <a:t>Vuelva a ingresar el comando </a:t>
            </a:r>
            <a:r>
              <a:rPr lang="es-419" sz="1600" b="1"/>
              <a:t>switchport access vlan</a:t>
            </a:r>
            <a:r>
              <a:rPr lang="es-419" sz="1600"/>
              <a:t> </a:t>
            </a:r>
            <a:r>
              <a:rPr lang="es-419" sz="1600" i="1"/>
              <a:t>vlan-id 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419" sz="1600"/>
              <a:t>use la </a:t>
            </a:r>
            <a:r>
              <a:rPr lang="es-419" sz="1600" b="1"/>
              <a:t>vlan de acceso sin puerto de conmutación </a:t>
            </a:r>
            <a:r>
              <a:rPr lang="es-419" sz="1600"/>
              <a:t>para volver a colocar la interfaz en la VLAN 1</a:t>
            </a:r>
          </a:p>
          <a:p>
            <a:pPr marL="0" indent="0" rtl="0">
              <a:buNone/>
            </a:pPr>
            <a:r>
              <a:rPr lang="es-419" sz="1600"/>
              <a:t>Utilice los comandos </a:t>
            </a:r>
            <a:r>
              <a:rPr lang="es-419" sz="1600" b="1"/>
              <a:t>show vlan brief </a:t>
            </a:r>
            <a:r>
              <a:rPr lang="es-419" sz="1600"/>
              <a:t>o </a:t>
            </a:r>
            <a:r>
              <a:rPr lang="es-419" sz="1600" b="1"/>
              <a:t>show interface fa0/18 switchport </a:t>
            </a:r>
            <a:r>
              <a:rPr lang="es-419" sz="1600"/>
              <a:t>para verificar la asociación correcta de VLAN.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8526" y="188595"/>
            <a:ext cx="4370509" cy="266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6392" y="2962529"/>
            <a:ext cx="3914775" cy="18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83855648"/>
      </p:ext>
    </p:extLst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es-419" sz="1600"/>
              <a:t>Configuración de VLAN</a:t>
            </a:r>
            <a:br>
              <a:rPr lang="en-US" altLang="en-US" dirty="0"/>
            </a:br>
            <a:r>
              <a:rPr lang="es-419"/>
              <a:t>Eliminar VLAN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3574" y="867946"/>
            <a:ext cx="8672954" cy="2588485"/>
          </a:xfrm>
        </p:spPr>
        <p:txBody>
          <a:bodyPr/>
          <a:lstStyle/>
          <a:p>
            <a:pPr marL="0" indent="0" rtl="0">
              <a:buNone/>
            </a:pPr>
            <a:r>
              <a:rPr lang="es-419" sz="1600"/>
              <a:t>Elimine las VLAN con el</a:t>
            </a:r>
            <a:r>
              <a:rPr lang="es-419" sz="1600" u="sng"/>
              <a:t> </a:t>
            </a:r>
            <a:r>
              <a:rPr lang="es-419" sz="1600"/>
              <a:t>comando </a:t>
            </a:r>
            <a:r>
              <a:rPr lang="es-419" sz="1600" b="1"/>
              <a:t>no vlan </a:t>
            </a:r>
            <a:r>
              <a:rPr lang="es-419" sz="1600" i="1"/>
              <a:t>vlan-id </a:t>
            </a:r>
            <a:r>
              <a:rPr lang="es-419" sz="1600"/>
              <a:t>.</a:t>
            </a:r>
          </a:p>
          <a:p>
            <a:pPr marL="0" indent="0" rtl="0">
              <a:buNone/>
            </a:pPr>
            <a:r>
              <a:rPr lang="es-419" sz="1600" b="1"/>
              <a:t>Precaución:</a:t>
            </a:r>
            <a:r>
              <a:rPr lang="es-419" sz="1600"/>
              <a:t> antes de eliminar una VLAN, reasigne todos los puertos miembros a una VLAN diferente..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419" sz="1600"/>
              <a:t>Elimine todas las VLAN con los comandos </a:t>
            </a:r>
            <a:r>
              <a:rPr lang="es-419" sz="1600" b="1"/>
              <a:t>delete flash:vlan.dat </a:t>
            </a:r>
            <a:r>
              <a:rPr lang="es-419" sz="1600"/>
              <a:t>o </a:t>
            </a:r>
            <a:r>
              <a:rPr lang="es-419" sz="1600" b="1"/>
              <a:t>delete vlan.dat </a:t>
            </a:r>
            <a:r>
              <a:rPr lang="es-419" sz="1600"/>
              <a:t>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419" sz="1600"/>
              <a:t>Vuelva a cargar el switch al eliminar todas las VLAN.</a:t>
            </a:r>
          </a:p>
          <a:p>
            <a:pPr marL="0" indent="0" rtl="0">
              <a:buNone/>
            </a:pPr>
            <a:r>
              <a:rPr lang="es-419" sz="1600" b="1"/>
              <a:t>Nota</a:t>
            </a:r>
            <a:r>
              <a:rPr lang="es-419" sz="1600"/>
              <a:t>: Para restaurar el valor predeterminado de fábrica, desconecte todos los cables de datos, borre la configuración de inicio y elimine el archivo vlan.dat y, a continuación, vuelva a cargar el dispositivo.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71149739"/>
      </p:ext>
    </p:extLst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es-419"/>
              <a:t>Rastreador depaquetes de configuración de VLAN — Configuración de VLAN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3574" y="867946"/>
            <a:ext cx="7950578" cy="1765525"/>
          </a:xfrm>
        </p:spPr>
        <p:txBody>
          <a:bodyPr/>
          <a:lstStyle/>
          <a:p>
            <a:pPr marL="0" indent="0" rtl="0">
              <a:buNone/>
            </a:pPr>
            <a:r>
              <a:rPr lang="es-419" sz="1600"/>
              <a:t>En esta actividad de Packet Tracer, completará los siguientes objetivos:</a:t>
            </a:r>
          </a:p>
          <a:p>
            <a:pPr lvl="1" rtl="0"/>
            <a:r>
              <a:rPr lang="es-419" sz="1600"/>
              <a:t>Verificar la configuración de VLAN predeterminada</a:t>
            </a:r>
          </a:p>
          <a:p>
            <a:pPr lvl="1" rtl="0"/>
            <a:r>
              <a:rPr lang="es-419" sz="1600"/>
              <a:t>Configurar las redes VLAN</a:t>
            </a:r>
          </a:p>
          <a:p>
            <a:pPr lvl="1" rtl="0"/>
            <a:r>
              <a:rPr lang="es-419" sz="1600"/>
              <a:t>Asignar VLAN a los puertos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92124376"/>
      </p:ext>
    </p:extLst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pPr rtl="0"/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3.4 Troncales VLAN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9772822"/>
      </p:ext>
    </p:extLst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9144000" cy="676656"/>
          </a:xfrm>
        </p:spPr>
        <p:txBody>
          <a:bodyPr/>
          <a:lstStyle/>
          <a:p>
            <a:pPr rtl="0"/>
            <a:r>
              <a:rPr lang="es-419"/>
              <a:t>Comandos de configuracióntroncal de</a:t>
            </a:r>
            <a:r>
              <a:rPr lang="es-419" sz="1600"/>
              <a:t>VLAN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1168" y="872067"/>
            <a:ext cx="8805672" cy="563541"/>
          </a:xfrm>
        </p:spPr>
        <p:txBody>
          <a:bodyPr/>
          <a:lstStyle/>
          <a:p>
            <a:pPr marL="0" indent="0" rtl="0">
              <a:buNone/>
            </a:pPr>
            <a:r>
              <a:rPr lang="es-419" sz="1600"/>
              <a:t>Configure y verifique las troncales VLAN. Los troncos son capa 2 y transportan tráfico para todas las VLAN.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497885"/>
              </p:ext>
            </p:extLst>
          </p:nvPr>
        </p:nvGraphicFramePr>
        <p:xfrm>
          <a:off x="182880" y="1573022"/>
          <a:ext cx="8759952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3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36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 sz="1600" b="1">
                          <a:effectLst/>
                        </a:rPr>
                        <a:t>Tarea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 b="1"/>
                        <a:t>Comando de IOS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Ingresa al modo de configuración global.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Switch# </a:t>
                      </a:r>
                      <a:r>
                        <a:rPr lang="es-419" sz="1600" b="1"/>
                        <a:t>configure terminal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Ingrese el modo de configuración de interfaz.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Switch(config)# </a:t>
                      </a:r>
                      <a:r>
                        <a:rPr lang="es-419" sz="1600" b="1"/>
                        <a:t>interface </a:t>
                      </a:r>
                      <a:r>
                        <a:rPr lang="es-419" sz="1600" i="1"/>
                        <a:t>interface-id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Establezca el puerto en modo de enlace permanente.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Conmutador(config-if) # </a:t>
                      </a:r>
                      <a:r>
                        <a:rPr lang="es-419" sz="1600" b="1"/>
                        <a:t>troncaldemodo de puerto de conmutación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Cambie la configuración de la VLAN nativa a otra opción que no sea VLAN 1.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Switch(config-if)# </a:t>
                      </a:r>
                      <a:r>
                        <a:rPr lang="es-419" sz="1600" b="1"/>
                        <a:t>switchport trunk native vlan </a:t>
                      </a:r>
                      <a:r>
                        <a:rPr lang="es-419" sz="1600" i="1"/>
                        <a:t>vlan-id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Especificar la lista de VLAN que se permitirán en el enlace troncal.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Switch(config-if)# </a:t>
                      </a:r>
                      <a:r>
                        <a:rPr lang="es-419" sz="1600" b="1"/>
                        <a:t>switchport trunk allowed vlan </a:t>
                      </a:r>
                      <a:r>
                        <a:rPr lang="es-419" sz="1600" i="1"/>
                        <a:t>vlan-list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Vuelva al modo EXEC con privilegios.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Switch(config-if)# </a:t>
                      </a:r>
                      <a:r>
                        <a:rPr lang="es-419" sz="1600" b="1"/>
                        <a:t>end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700830764"/>
      </p:ext>
    </p:extLst>
  </p:cSld>
  <p:clrMapOvr>
    <a:masterClrMapping/>
  </p:clrMapOvr>
  <p:transition spd="slow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0"/>
            <a:ext cx="4873751" cy="757551"/>
          </a:xfrm>
        </p:spPr>
        <p:txBody>
          <a:bodyPr/>
          <a:lstStyle/>
          <a:p>
            <a:pPr rtl="0"/>
            <a:r>
              <a:rPr lang="es-419" sz="1600" dirty="0"/>
              <a:t>Ejemplo de Configuración de Troncales </a:t>
            </a:r>
            <a:br>
              <a:rPr lang="es-419" dirty="0"/>
            </a:br>
            <a:r>
              <a:rPr lang="es-419" dirty="0" err="1"/>
              <a:t>Troncales</a:t>
            </a:r>
            <a:r>
              <a:rPr lang="es-419" dirty="0"/>
              <a:t> de VLAN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796595"/>
            <a:ext cx="4398264" cy="1672285"/>
          </a:xfrm>
        </p:spPr>
        <p:txBody>
          <a:bodyPr/>
          <a:lstStyle/>
          <a:p>
            <a:pPr marL="0" indent="0" rtl="0">
              <a:buNone/>
            </a:pPr>
            <a:r>
              <a:rPr lang="es-419" sz="1600"/>
              <a:t>Las subredes asociadas a cada VLAN son:</a:t>
            </a:r>
          </a:p>
          <a:p>
            <a:pPr lvl="1" rtl="0"/>
            <a:r>
              <a:rPr lang="es-419" sz="1600"/>
              <a:t>VLAN 10 - Faculty/Staff - 172.17.10.0/24</a:t>
            </a:r>
          </a:p>
          <a:p>
            <a:pPr lvl="1" rtl="0"/>
            <a:r>
              <a:rPr lang="es-419" sz="1600"/>
              <a:t>VLAN 20 - Students - 172.17.20.0/24</a:t>
            </a:r>
          </a:p>
          <a:p>
            <a:pPr lvl="1" rtl="0"/>
            <a:r>
              <a:rPr lang="es-419" sz="1600"/>
              <a:t>VLAN 30 - Guests - 172.17.30.0/24</a:t>
            </a:r>
          </a:p>
          <a:p>
            <a:pPr lvl="1" rtl="0"/>
            <a:r>
              <a:rPr lang="es-419" sz="1600"/>
              <a:t>VLAN 99 - Native - 172.17.99.0/24</a:t>
            </a:r>
          </a:p>
        </p:txBody>
      </p:sp>
      <p:sp>
        <p:nvSpPr>
          <p:cNvPr id="3" name="Rectangle 4"/>
          <p:cNvSpPr txBox="1"/>
          <p:nvPr/>
        </p:nvSpPr>
        <p:spPr>
          <a:xfrm>
            <a:off x="109728" y="2569464"/>
            <a:ext cx="313639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es-419" sz="1600">
                <a:solidFill>
                  <a:srgbClr val="000000"/>
                </a:solidFill>
              </a:rPr>
              <a:t>F0/1 port on S1 is configured as a trunk port.</a:t>
            </a:r>
          </a:p>
          <a:p>
            <a:endParaRPr lang="en-US" sz="1600" dirty="0">
              <a:solidFill>
                <a:srgbClr val="000000"/>
              </a:solidFill>
            </a:endParaRPr>
          </a:p>
          <a:p>
            <a:pPr rtl="0"/>
            <a:r>
              <a:rPr lang="es-419" sz="1600" b="1">
                <a:solidFill>
                  <a:srgbClr val="000000"/>
                </a:solidFill>
              </a:rPr>
              <a:t>Nota</a:t>
            </a:r>
            <a:r>
              <a:rPr lang="es-419" sz="1600">
                <a:solidFill>
                  <a:srgbClr val="000000"/>
                </a:solidFill>
              </a:rPr>
              <a:t>: Esto supone un conmutador 2960 que utiliza el etiquetado 802.1q. Los switches de capa 3 requieren que la encapsulación se configure antes del modo troncal. </a:t>
            </a:r>
            <a:r>
              <a:rPr lang="es-419" sz="1600" b="1">
                <a:solidFill>
                  <a:srgbClr val="000000"/>
                </a:solidFill>
              </a:rPr>
              <a:t> 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4695307"/>
              </p:ext>
            </p:extLst>
          </p:nvPr>
        </p:nvGraphicFramePr>
        <p:xfrm>
          <a:off x="3305442" y="2558606"/>
          <a:ext cx="562965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7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Indicador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Comando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S1(config)#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Interfaz</a:t>
                      </a:r>
                      <a:r>
                        <a:rPr lang="es-419" sz="1600" baseline="0"/>
                        <a:t> fa0/1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S1(config-if)#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Switchport mode</a:t>
                      </a:r>
                      <a:r>
                        <a:rPr lang="es-419" sz="1600" baseline="0"/>
                        <a:t> trunk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S1(config-if)#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Switchport </a:t>
                      </a:r>
                      <a:r>
                        <a:rPr lang="es-419" sz="1600" baseline="0"/>
                        <a:t>trunk native vlan 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S1(config-if)#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Switchport</a:t>
                      </a:r>
                      <a:r>
                        <a:rPr lang="es-419" sz="1600" baseline="0"/>
                        <a:t> trunk allowed vlan 10,20,30,99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S1(config-if)#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finalizar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752" y="81154"/>
            <a:ext cx="4061346" cy="2321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21643246"/>
      </p:ext>
    </p:extLst>
  </p:cSld>
  <p:clrMapOvr>
    <a:masterClrMapping/>
  </p:clrMapOvr>
  <p:transition spd="slow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4398264" cy="757551"/>
          </a:xfrm>
        </p:spPr>
        <p:txBody>
          <a:bodyPr/>
          <a:lstStyle/>
          <a:p>
            <a:pPr rtl="0"/>
            <a:r>
              <a:rPr lang="es-419" sz="1600"/>
              <a:t>Troncales de VLAN</a:t>
            </a:r>
            <a:br>
              <a:rPr lang="en-US" altLang="en-US" sz="1600" dirty="0"/>
            </a:br>
            <a:r>
              <a:rPr lang="es-419"/>
              <a:t>Verifique la configuración de troncales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3464" y="828130"/>
            <a:ext cx="4401766" cy="3672114"/>
          </a:xfrm>
        </p:spPr>
        <p:txBody>
          <a:bodyPr/>
          <a:lstStyle/>
          <a:p>
            <a:pPr marL="0" indent="0" rtl="0">
              <a:buNone/>
            </a:pPr>
            <a:r>
              <a:rPr lang="es-419" sz="1600"/>
              <a:t>Establezca el modo troncal y la vlan nativa.</a:t>
            </a:r>
          </a:p>
          <a:p>
            <a:pPr marL="0" indent="0" rtl="0">
              <a:buNone/>
            </a:pPr>
            <a:r>
              <a:rPr lang="es-419" sz="1600"/>
              <a:t>Observe el comando </a:t>
            </a:r>
            <a:r>
              <a:rPr lang="es-419" sz="1600" b="1"/>
              <a:t>sh int fa0/1 switchport </a:t>
            </a:r>
            <a:r>
              <a:rPr lang="es-419" sz="1600"/>
              <a:t>: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419" sz="1600"/>
              <a:t>Se establece en troncal administrativamente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419" sz="1600"/>
              <a:t>Se establece como troncal operacionalmente (en funcionamiento)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419" sz="1600"/>
              <a:t>La encapsulación es dot1q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419" sz="1600"/>
              <a:t>VLAN nativa establecida en VLAN 99 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419" sz="1600"/>
              <a:t>Todas las VLAN creadas en el switch pasarán tráfico en este tronco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5230" y="504016"/>
            <a:ext cx="4445889" cy="418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51211513"/>
      </p:ext>
    </p:extLst>
  </p:cSld>
  <p:clrMapOvr>
    <a:masterClrMapping/>
  </p:clrMapOvr>
  <p:transition spd="slow"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57551"/>
          </a:xfrm>
        </p:spPr>
        <p:txBody>
          <a:bodyPr/>
          <a:lstStyle/>
          <a:p>
            <a:pPr rtl="0"/>
            <a:r>
              <a:rPr lang="es-419" sz="1600"/>
              <a:t>Troncales de VLAN</a:t>
            </a:r>
            <a:br>
              <a:rPr lang="en-US" altLang="en-US" sz="1600" dirty="0"/>
            </a:br>
            <a:r>
              <a:rPr lang="es-419"/>
              <a:t>Restablezca el tronco al estado predeterminado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6115" y="821051"/>
            <a:ext cx="4236429" cy="2260477"/>
          </a:xfrm>
        </p:spPr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es-419" sz="1800"/>
              <a:t>Restablezca la configuración predeterminada del tronco con el comando no.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es-419" sz="1700"/>
              <a:t>Todas las VLAN permitidas para pasar tráfico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es-419" sz="1700"/>
              <a:t>VLAN nativa = VLAN 1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419" sz="1800"/>
              <a:t>Verifique la configuración predeterminada con un comando </a:t>
            </a:r>
            <a:r>
              <a:rPr lang="es-419" sz="1800" b="1"/>
              <a:t>sh int fa0/1 switchport </a:t>
            </a:r>
            <a:r>
              <a:rPr lang="es-419" sz="180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10" y="3225927"/>
            <a:ext cx="4196334" cy="1126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3034" y="853630"/>
            <a:ext cx="4587210" cy="3789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5191498"/>
      </p:ext>
    </p:extLst>
  </p:cSld>
  <p:clrMapOvr>
    <a:masterClrMapping/>
  </p:clrMapOvr>
  <p:transition spd="slow">
    <p:wip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57551"/>
          </a:xfrm>
        </p:spPr>
        <p:txBody>
          <a:bodyPr/>
          <a:lstStyle/>
          <a:p>
            <a:pPr rtl="0"/>
            <a:r>
              <a:rPr lang="es-419" sz="1600"/>
              <a:t>Troncales de VLAN</a:t>
            </a:r>
            <a:br>
              <a:rPr lang="en-US" altLang="en-US" sz="1600" dirty="0"/>
            </a:br>
            <a:r>
              <a:rPr lang="es-419"/>
              <a:t>Restablezca el tronco al estado predeterminado (Cont.)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" y="821051"/>
            <a:ext cx="4663440" cy="3794491"/>
          </a:xfrm>
        </p:spPr>
        <p:txBody>
          <a:bodyPr/>
          <a:lstStyle/>
          <a:p>
            <a:pPr marL="0" indent="0" rtl="0">
              <a:buNone/>
            </a:pPr>
            <a:r>
              <a:rPr lang="es-419" sz="1600"/>
              <a:t>Restablezca el tronco a un modo de acceso con el comando </a:t>
            </a:r>
            <a:r>
              <a:rPr lang="es-419" sz="1600" b="1"/>
              <a:t>switchport mode access </a:t>
            </a:r>
            <a:r>
              <a:rPr lang="es-419" sz="1600"/>
              <a:t>: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es-419" sz="1600"/>
              <a:t>Se establece en una interfaz de acceso administrativamente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es-419" sz="1600"/>
              <a:t>Se establece como una interfaz de acceso operacionalmente (en funcionamiento)</a:t>
            </a:r>
          </a:p>
          <a:p>
            <a:pPr marL="0" indent="0">
              <a:buNone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0872" y="953262"/>
            <a:ext cx="4335018" cy="2823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7905251"/>
      </p:ext>
    </p:extLst>
  </p:cSld>
  <p:clrMapOvr>
    <a:masterClrMapping/>
  </p:clrMapOvr>
  <p:transition spd="slow">
    <p:wip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57551"/>
          </a:xfrm>
        </p:spPr>
        <p:txBody>
          <a:bodyPr/>
          <a:lstStyle/>
          <a:p>
            <a:pPr rtl="0"/>
            <a:r>
              <a:rPr lang="es-419" sz="1600"/>
              <a:t>VLAN Trunks</a:t>
            </a:r>
            <a:br>
              <a:rPr lang="en-US" altLang="en-US" sz="1600" dirty="0"/>
            </a:br>
            <a:r>
              <a:rPr lang="es-419"/>
              <a:t>Packet Tracer - Configurar Trunks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6114" y="821051"/>
            <a:ext cx="8785081" cy="3794491"/>
          </a:xfrm>
        </p:spPr>
        <p:txBody>
          <a:bodyPr/>
          <a:lstStyle/>
          <a:p>
            <a:pPr marL="0" indent="0" rtl="0">
              <a:buNone/>
            </a:pPr>
            <a:r>
              <a:rPr lang="es-419" sz="1800"/>
              <a:t>En esta actividad de Packet Tracer, completará los siguientes objetivos:</a:t>
            </a:r>
          </a:p>
          <a:p>
            <a:pPr lvl="1" rtl="0"/>
            <a:r>
              <a:rPr lang="es-419" sz="1800"/>
              <a:t>verificar las VLAN</a:t>
            </a:r>
          </a:p>
          <a:p>
            <a:pPr lvl="1" rtl="0"/>
            <a:r>
              <a:rPr lang="es-419" sz="1800"/>
              <a:t>configurar los enlaces troncales</a:t>
            </a:r>
          </a:p>
        </p:txBody>
      </p:sp>
    </p:spTree>
    <p:extLst>
      <p:ext uri="{BB962C8B-B14F-4D97-AF65-F5344CB8AC3E}">
        <p14:creationId xmlns:p14="http://schemas.microsoft.com/office/powerpoint/2010/main" val="3558614824"/>
      </p:ext>
    </p:extLst>
  </p:cSld>
  <p:clrMapOvr>
    <a:masterClrMapping/>
  </p:clrMapOvr>
  <p:transition spd="slow">
    <p:wip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57551"/>
          </a:xfrm>
        </p:spPr>
        <p:txBody>
          <a:bodyPr/>
          <a:lstStyle/>
          <a:p>
            <a:pPr rtl="0"/>
            <a:r>
              <a:rPr lang="es-419" sz="1600"/>
              <a:t>Troncales VLAN</a:t>
            </a:r>
            <a:br>
              <a:rPr lang="en-US" altLang="en-US" sz="1600" dirty="0"/>
            </a:br>
            <a:r>
              <a:rPr lang="es-419"/>
              <a:t>Laboratorio: configurar VLAN y troncales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6114" y="821051"/>
            <a:ext cx="8785081" cy="3794491"/>
          </a:xfrm>
        </p:spPr>
        <p:txBody>
          <a:bodyPr/>
          <a:lstStyle/>
          <a:p>
            <a:pPr marL="0" indent="0" rtl="0">
              <a:buNone/>
            </a:pPr>
            <a:r>
              <a:rPr lang="es-419" sz="1800"/>
              <a:t>En este laboratorio, realizará lo siguiente: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es-419" sz="1800"/>
              <a:t>Armar la red y configurar los ajustes básicos de los dispositivos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es-419" sz="1800"/>
              <a:t>Crear redes VLAN y asignar puertos de switch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es-419" sz="1800"/>
              <a:t>Mantener las asignaciones de puertos de VLAN y la base de datos de VLAN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es-419" sz="1800"/>
              <a:t>Configurar un enlace troncal 802.1Q entre los switches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es-419" sz="1800"/>
              <a:t>Eliminar la base de datos de VLAN</a:t>
            </a:r>
          </a:p>
        </p:txBody>
      </p:sp>
    </p:spTree>
    <p:extLst>
      <p:ext uri="{BB962C8B-B14F-4D97-AF65-F5344CB8AC3E}">
        <p14:creationId xmlns:p14="http://schemas.microsoft.com/office/powerpoint/2010/main" val="1467073546"/>
      </p:ext>
    </p:extLst>
  </p:cSld>
  <p:clrMapOvr>
    <a:masterClrMapping/>
  </p:clrMapOvr>
  <p:transition spd="slow">
    <p:wip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pPr rtl="0"/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3.5 Dynamic Trunking ProtocolProtocolo de enlace dinámico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20016951"/>
      </p:ext>
    </p:extLst>
  </p:cSld>
  <p:clrMapOvr>
    <a:masterClrMapping/>
  </p:clrMapOvr>
  <p:transition spd="slow">
    <p:wip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es-419" sz="1600"/>
              <a:t>Protocolo de enlace dinámico</a:t>
            </a:r>
            <a:br>
              <a:rPr lang="en-US" altLang="en-US" dirty="0"/>
            </a:br>
            <a:r>
              <a:rPr lang="es-419"/>
              <a:t>Introduction to DTP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265176" y="832105"/>
            <a:ext cx="8787385" cy="2651760"/>
          </a:xfrm>
        </p:spPr>
        <p:txBody>
          <a:bodyPr/>
          <a:lstStyle/>
          <a:p>
            <a:pPr marL="0" indent="0" rtl="0">
              <a:buNone/>
            </a:pPr>
            <a:r>
              <a:rPr lang="es-419" sz="1600"/>
              <a:t>El Protocolo de enlace troncal dinámico (DTP) es un protocolo propietario de Cisco.</a:t>
            </a:r>
          </a:p>
          <a:p>
            <a:pPr marL="0" indent="0" rtl="0">
              <a:buNone/>
            </a:pPr>
            <a:r>
              <a:rPr lang="es-419" sz="1600"/>
              <a:t>Las características de DTP son las siguientes: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es-419" sz="1600"/>
              <a:t>Activado de forma predeterminada en switches Catalyst 2960 y 2950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es-419" sz="1600"/>
              <a:t>Dynamic-Auto es el valor predeterminado en los conmutadores 2960 y 2950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es-419" sz="1600"/>
              <a:t>Puede desactivarse con el comando nonegotiate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es-419" sz="1600"/>
              <a:t>Puede volver a activarse configurando la interfaz en dinámico automático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es-419" sz="1600"/>
              <a:t>Establecer un conmutador en un tronco estático o acceso estático evitará problemas de negociación con los comandos </a:t>
            </a:r>
            <a:r>
              <a:rPr lang="es-419" sz="1600" b="1"/>
              <a:t>switchport mode trunk </a:t>
            </a:r>
            <a:r>
              <a:rPr lang="es-419" sz="1600"/>
              <a:t>o </a:t>
            </a:r>
            <a:r>
              <a:rPr lang="es-419" sz="1600" b="1"/>
              <a:t>switchport mode access </a:t>
            </a:r>
            <a:r>
              <a:rPr lang="es-419" sz="1600"/>
              <a:t>.</a:t>
            </a:r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7059" y="3566160"/>
            <a:ext cx="391477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7059" y="4223385"/>
            <a:ext cx="391477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8408560"/>
      </p:ext>
    </p:extLst>
  </p:cSld>
  <p:clrMapOvr>
    <a:masterClrMapping/>
  </p:clrMapOvr>
  <p:transition spd="slow">
    <p:wip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es-419" sz="1600"/>
              <a:t>Protocolo de enlace dinámico</a:t>
            </a:r>
            <a:br>
              <a:rPr lang="en-US" altLang="en-US" dirty="0"/>
            </a:br>
            <a:r>
              <a:rPr lang="es-419"/>
              <a:t>Modos de interfaz negociados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8016" y="866834"/>
            <a:ext cx="8853715" cy="801256"/>
          </a:xfrm>
        </p:spPr>
        <p:txBody>
          <a:bodyPr/>
          <a:lstStyle/>
          <a:p>
            <a:pPr marL="0" indent="0" rtl="0">
              <a:buNone/>
            </a:pPr>
            <a:r>
              <a:rPr lang="es-419" sz="1600"/>
              <a:t>El comando </a:t>
            </a:r>
            <a:r>
              <a:rPr lang="es-419" sz="1600" b="1"/>
              <a:t>switchport mode</a:t>
            </a:r>
            <a:r>
              <a:rPr lang="es-419" sz="1600"/>
              <a:t> tiene opciones adicionales.</a:t>
            </a:r>
          </a:p>
          <a:p>
            <a:pPr marL="0" indent="0" rtl="0">
              <a:buNone/>
            </a:pPr>
            <a:r>
              <a:rPr lang="es-419" sz="1600"/>
              <a:t>Utilice el comando </a:t>
            </a:r>
            <a:r>
              <a:rPr lang="es-419" sz="1600" b="1"/>
              <a:t>switchport nonegotiate</a:t>
            </a:r>
            <a:r>
              <a:rPr lang="es-419" sz="1600"/>
              <a:t> interface configuration para detener la negociación DTP.</a:t>
            </a:r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4752828"/>
              </p:ext>
            </p:extLst>
          </p:nvPr>
        </p:nvGraphicFramePr>
        <p:xfrm>
          <a:off x="128016" y="1746758"/>
          <a:ext cx="8732520" cy="268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0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1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 b="1"/>
                        <a:t>Opción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b="1"/>
                        <a:t>Descripción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 sz="1600" b="1"/>
                        <a:t>Acceso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>
                        <a:buFont typeface="Arial"/>
                        <a:buNone/>
                      </a:pPr>
                      <a:r>
                        <a:rPr lang="es-419" sz="1600"/>
                        <a:t>Modo de acceso permanente y negocia para convertir el vínculo vecino en un vínculo de</a:t>
                      </a:r>
                      <a:r>
                        <a:rPr lang="es-419" sz="1600" baseline="0"/>
                        <a:t> acceso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 sz="1600" b="1"/>
                        <a:t>Dinámico automático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>
                        <a:buFont typeface="Arial"/>
                        <a:buNone/>
                      </a:pPr>
                      <a:r>
                        <a:rPr lang="es-419" sz="1600"/>
                        <a:t>Will se convierte en una interfaz troncal si la interfaz vecina se configura en modo troncal o deseable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 sz="1600" b="1"/>
                        <a:t>Dinámico deseable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>
                        <a:buFont typeface="Arial"/>
                        <a:buNone/>
                      </a:pPr>
                      <a:r>
                        <a:rPr lang="es-419" sz="1600"/>
                        <a:t>Busca activamente</a:t>
                      </a:r>
                      <a:r>
                        <a:rPr lang="es-419" sz="1600" baseline="0"/>
                        <a:t> convertirse en un tronco negociando con otras interfaces automáticas o deseables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 sz="1600" b="1"/>
                        <a:t>Enlace troncal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>
                        <a:buFont typeface="Arial"/>
                        <a:buNone/>
                      </a:pPr>
                      <a:r>
                        <a:rPr lang="es-419" sz="1600"/>
                        <a:t>Modo de enlace permanente y negocia para convertir el enlace vecino en un enlace troncal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1866069"/>
      </p:ext>
    </p:extLst>
  </p:cSld>
  <p:clrMapOvr>
    <a:masterClrMapping/>
  </p:clrMapOvr>
  <p:transition spd="slow">
    <p:wip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br>
              <a:rPr lang="en-US" altLang="en-US" dirty="0"/>
            </a:br>
            <a:r>
              <a:rPr lang="es-419" sz="2400"/>
              <a:t>Resultados del protocolo de enlace troncal dinámico de una configuración DTP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5357" y="1042752"/>
            <a:ext cx="8853286" cy="515115"/>
          </a:xfrm>
        </p:spPr>
        <p:txBody>
          <a:bodyPr/>
          <a:lstStyle/>
          <a:p>
            <a:pPr marL="0" indent="0" rtl="0">
              <a:buNone/>
            </a:pPr>
            <a:r>
              <a:rPr lang="es-419" sz="1600"/>
              <a:t>Las opciones de configuración de DTP son las siguientes:</a:t>
            </a:r>
          </a:p>
        </p:txBody>
      </p:sp>
      <p:graphicFrame>
        <p:nvGraphicFramePr>
          <p:cNvPr id="11" name="Content Placeholder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4831063"/>
              </p:ext>
            </p:extLst>
          </p:nvPr>
        </p:nvGraphicFramePr>
        <p:xfrm>
          <a:off x="145158" y="1743424"/>
          <a:ext cx="8853485" cy="268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06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06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06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06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06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 b="1">
                          <a:effectLst/>
                        </a:rPr>
                        <a:t>Dinámico automático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 b="1">
                          <a:effectLst/>
                        </a:rPr>
                        <a:t>Dinámico deseado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 b="1">
                          <a:effectLst/>
                        </a:rPr>
                        <a:t>Troncal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 b="1">
                          <a:effectLst/>
                        </a:rPr>
                        <a:t>Acceso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 sz="1600" b="1"/>
                        <a:t>Dinámico automático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Acceso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Troncal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Troncal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Acceso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 sz="1600" b="1"/>
                        <a:t>Dinámico deseado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Troncal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Troncal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Troncal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Acceso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 sz="1600" b="1"/>
                        <a:t>Troncal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Troncal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Troncal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Troncal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Conectividad limitada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419" sz="1600" b="1"/>
                        <a:t>Acceso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Acceso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Acceso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Conectividad limitada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419" sz="1600"/>
                        <a:t>Acceso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5251992"/>
      </p:ext>
    </p:extLst>
  </p:cSld>
  <p:clrMapOvr>
    <a:masterClrMapping/>
  </p:clrMapOvr>
  <p:transition spd="slow">
    <p:wip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es-419" sz="1600"/>
              <a:t>Protocolo de enlace dinámico </a:t>
            </a:r>
            <a:br>
              <a:rPr lang="en-US" altLang="en-US" dirty="0"/>
            </a:br>
            <a:r>
              <a:rPr lang="es-419" sz="2400"/>
              <a:t>Verifique el modo DTP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1356" y="985647"/>
            <a:ext cx="3896059" cy="2942877"/>
          </a:xfrm>
        </p:spPr>
        <p:txBody>
          <a:bodyPr/>
          <a:lstStyle/>
          <a:p>
            <a:pPr marL="0" indent="0" rtl="0">
              <a:buNone/>
            </a:pPr>
            <a:r>
              <a:rPr lang="es-419"/>
              <a:t>La configuración predeterminada de DTP depende de la versión y plataforma del IOS de Cisco.</a:t>
            </a:r>
          </a:p>
          <a:p>
            <a:pPr rtl="0"/>
            <a:r>
              <a:rPr lang="es-419"/>
              <a:t>Utilice el comando </a:t>
            </a:r>
            <a:r>
              <a:rPr lang="es-419" b="1"/>
              <a:t>show dtp interface </a:t>
            </a:r>
            <a:r>
              <a:rPr lang="es-419"/>
              <a:t>para determinar el modo DTP actual.</a:t>
            </a:r>
          </a:p>
          <a:p>
            <a:pPr rtl="0"/>
            <a:r>
              <a:rPr lang="es-419"/>
              <a:t>La práctica recomendada recomienda que las interfaces se configuren para acceder o troncal y para desconectarse DTP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4444" y="985647"/>
            <a:ext cx="4648200" cy="249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8511304"/>
      </p:ext>
    </p:extLst>
  </p:cSld>
  <p:clrMapOvr>
    <a:masterClrMapping/>
  </p:clrMapOvr>
  <p:transition spd="slow">
    <p:wip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es-419" sz="1600"/>
              <a:t>Protocolo de enlace dinámico</a:t>
            </a:r>
            <a:br>
              <a:rPr lang="en-US" altLang="en-US" dirty="0"/>
            </a:br>
            <a:r>
              <a:rPr lang="es-419"/>
              <a:t>Packet Tracer - Configurar DTP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329184" y="875526"/>
            <a:ext cx="8814816" cy="3323113"/>
          </a:xfrm>
        </p:spPr>
        <p:txBody>
          <a:bodyPr/>
          <a:lstStyle/>
          <a:p>
            <a:pPr marL="0" indent="0" rtl="0">
              <a:buNone/>
            </a:pPr>
            <a:r>
              <a:rPr lang="es-419" sz="1800"/>
              <a:t>En esta actividad de Packet Tracer, completará los siguientes objetivos: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419" sz="1800"/>
              <a:t>Configurar la conexión troncal estática 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419" sz="1800"/>
              <a:t>Configure and verify DTP </a:t>
            </a:r>
          </a:p>
          <a:p>
            <a:pPr marL="0" indent="0">
              <a:buNone/>
            </a:pPr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3462195043"/>
      </p:ext>
    </p:extLst>
  </p:cSld>
  <p:clrMapOvr>
    <a:masterClrMapping/>
  </p:clrMapOvr>
  <p:transition spd="slow">
    <p:wip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pPr rtl="0"/>
            <a:r>
              <a:rPr lang="es-419">
                <a:solidFill>
                  <a:schemeClr val="accent5">
                    <a:lumMod val="40000"/>
                    <a:lumOff val="60000"/>
                  </a:schemeClr>
                </a:solidFill>
              </a:rPr>
              <a:t>3.6 - Módulo de práctica y cuestionario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22653524"/>
      </p:ext>
    </p:extLst>
  </p:cSld>
  <p:clrMapOvr>
    <a:masterClrMapping/>
  </p:clrMapOvr>
  <p:transition spd="slow">
    <p:wip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57551"/>
          </a:xfrm>
        </p:spPr>
        <p:txBody>
          <a:bodyPr/>
          <a:lstStyle/>
          <a:p>
            <a:pPr rtl="0"/>
            <a:r>
              <a:rPr lang="es-419" sz="1600" dirty="0"/>
              <a:t>Módulo Práctica y Rastreador de Paquetes de Cuestionario:</a:t>
            </a:r>
            <a:br>
              <a:rPr lang="es-419" sz="1600" dirty="0"/>
            </a:br>
            <a:r>
              <a:rPr lang="es-419" dirty="0"/>
              <a:t>Implementación de VLAN y </a:t>
            </a:r>
            <a:r>
              <a:rPr lang="es-419" dirty="0" err="1"/>
              <a:t>Troncalización</a:t>
            </a:r>
            <a:endParaRPr lang="es-419" dirty="0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6114" y="821051"/>
            <a:ext cx="8785081" cy="3794491"/>
          </a:xfrm>
        </p:spPr>
        <p:txBody>
          <a:bodyPr/>
          <a:lstStyle/>
          <a:p>
            <a:pPr marL="0" indent="0" rtl="0">
              <a:buNone/>
            </a:pPr>
            <a:r>
              <a:rPr lang="es-419" sz="1800" dirty="0"/>
              <a:t>En esta actividad de </a:t>
            </a:r>
            <a:r>
              <a:rPr lang="es-419" sz="1800" dirty="0" err="1"/>
              <a:t>Packet</a:t>
            </a:r>
            <a:r>
              <a:rPr lang="es-419" sz="1800" dirty="0"/>
              <a:t> </a:t>
            </a:r>
            <a:r>
              <a:rPr lang="es-419" sz="1800" dirty="0" err="1"/>
              <a:t>Tracer</a:t>
            </a:r>
            <a:r>
              <a:rPr lang="es-419" sz="1800" dirty="0"/>
              <a:t>, completará los siguientes objetivos: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es-419" sz="1800" dirty="0"/>
              <a:t>Configurar las redes VLAN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es-419" sz="1800" dirty="0"/>
              <a:t>Asignar puertos a las VLAN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es-419" sz="1800" dirty="0"/>
              <a:t>Configurar troncales estáticos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es-419" sz="1800" dirty="0"/>
              <a:t>Configurar troncales </a:t>
            </a:r>
            <a:r>
              <a:rPr lang="es-419" sz="1800" dirty="0" err="1"/>
              <a:t>dinamicos</a:t>
            </a:r>
            <a:r>
              <a:rPr lang="es-419" sz="1800" dirty="0"/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66166025"/>
      </p:ext>
    </p:extLst>
  </p:cSld>
  <p:clrMapOvr>
    <a:masterClrMapping/>
  </p:clrMapOvr>
  <p:transition spd="slow">
    <p:wip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57551"/>
          </a:xfrm>
        </p:spPr>
        <p:txBody>
          <a:bodyPr/>
          <a:lstStyle/>
          <a:p>
            <a:pPr rtl="0"/>
            <a:r>
              <a:rPr lang="es-419" sz="1600" dirty="0"/>
              <a:t>Módulo Práctica y Laboratorio de Quiz</a:t>
            </a:r>
            <a:br>
              <a:rPr lang="es-419" sz="1600" dirty="0"/>
            </a:br>
            <a:r>
              <a:rPr lang="es-419" dirty="0"/>
              <a:t>Implementación de VLAN y </a:t>
            </a:r>
            <a:r>
              <a:rPr lang="es-419" dirty="0" err="1"/>
              <a:t>Troncalización</a:t>
            </a:r>
            <a:endParaRPr lang="es-419" dirty="0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6114" y="821051"/>
            <a:ext cx="8785081" cy="3794491"/>
          </a:xfrm>
        </p:spPr>
        <p:txBody>
          <a:bodyPr/>
          <a:lstStyle/>
          <a:p>
            <a:pPr marL="0" indent="0" rtl="0">
              <a:buNone/>
            </a:pPr>
            <a:r>
              <a:rPr lang="es-419" sz="1800" dirty="0"/>
              <a:t>En este laboratorio, realizará lo siguiente:</a:t>
            </a:r>
          </a:p>
          <a:p>
            <a:pPr lvl="1" rtl="0"/>
            <a:r>
              <a:rPr lang="es-419" sz="1800" dirty="0"/>
              <a:t>Armar la red y configurar los ajustes básicos de los dispositivos</a:t>
            </a:r>
          </a:p>
          <a:p>
            <a:pPr lvl="1" rtl="0"/>
            <a:r>
              <a:rPr lang="es-419" sz="1800" dirty="0"/>
              <a:t>Crear redes VLAN y asignar puertos de </a:t>
            </a:r>
            <a:r>
              <a:rPr lang="es-419" sz="1800" dirty="0" err="1"/>
              <a:t>switch</a:t>
            </a:r>
            <a:endParaRPr lang="es-419" sz="1800" dirty="0"/>
          </a:p>
          <a:p>
            <a:pPr lvl="1" rtl="0"/>
            <a:r>
              <a:rPr lang="es-419" sz="1800" dirty="0"/>
              <a:t>Configurar un enlace troncal 802.1Q entre los </a:t>
            </a:r>
            <a:r>
              <a:rPr lang="es-419" sz="1800" dirty="0" err="1"/>
              <a:t>switches</a:t>
            </a:r>
            <a:endParaRPr lang="es-419" sz="1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9443048"/>
      </p:ext>
    </p:extLst>
  </p:cSld>
  <p:clrMapOvr>
    <a:masterClrMapping/>
  </p:clrMapOvr>
  <p:transition spd="slow">
    <p:wip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" y="41393"/>
            <a:ext cx="9144000" cy="757551"/>
          </a:xfrm>
        </p:spPr>
        <p:txBody>
          <a:bodyPr/>
          <a:lstStyle/>
          <a:p>
            <a:pPr rtl="0"/>
            <a:r>
              <a:rPr lang="es-419" sz="1600"/>
              <a:t>Práctica del módulo y cuestionario</a:t>
            </a:r>
            <a:br>
              <a:rPr lang="en-US" altLang="en-US" dirty="0"/>
            </a:br>
            <a:r>
              <a:rPr lang="es-419"/>
              <a:t>¿Qué aprendí en este módulo?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0" y="801475"/>
            <a:ext cx="8878824" cy="3780050"/>
          </a:xfrm>
        </p:spPr>
        <p:txBody>
          <a:bodyPr/>
          <a:lstStyle/>
          <a:p>
            <a:pPr lvl="2" rtl="0"/>
            <a:r>
              <a:rPr lang="es-419" sz="1800"/>
              <a:t>Las VLAN se basan en conexiones lógicas, en lugar de conexiones físicas.</a:t>
            </a:r>
          </a:p>
          <a:p>
            <a:pPr lvl="2" rtl="0"/>
            <a:r>
              <a:rPr lang="es-419" sz="1800"/>
              <a:t>Las VLAN pueden segmentar redes según la función, el equipo o la aplicación.</a:t>
            </a:r>
          </a:p>
          <a:p>
            <a:pPr lvl="2" rtl="0"/>
            <a:r>
              <a:rPr lang="es-419" sz="1800"/>
              <a:t>Cada VLAN se considera una red lógica diferente.</a:t>
            </a:r>
          </a:p>
          <a:p>
            <a:pPr lvl="2" rtl="0"/>
            <a:r>
              <a:rPr lang="es-419" sz="1800"/>
              <a:t>Un enlace troncal es un enlace punto a punto que lleva más de una VLAN. </a:t>
            </a:r>
          </a:p>
          <a:p>
            <a:pPr lvl="2" rtl="0"/>
            <a:r>
              <a:rPr lang="es-419" sz="1800"/>
              <a:t>Los campos de etiqueta de VLAN incluyen el tipo, prioridad de usuario, CFI y VID.</a:t>
            </a:r>
          </a:p>
          <a:p>
            <a:pPr lvl="2" rtl="0"/>
            <a:r>
              <a:rPr lang="es-419" sz="1800"/>
              <a:t>Se necesita una red VLAN de voz separada para admitir VoIP.</a:t>
            </a:r>
          </a:p>
          <a:p>
            <a:pPr lvl="2" rtl="0"/>
            <a:r>
              <a:rPr lang="es-419" sz="1800"/>
              <a:t>Normal range VLAN configurations are stored in the vlan.dat file in flash.</a:t>
            </a:r>
          </a:p>
          <a:p>
            <a:pPr lvl="2" rtl="0"/>
            <a:r>
              <a:rPr lang="es-419" sz="1800"/>
              <a:t>Un puerto de acceso puede pertenecer a una VLAN de datos a la vez, pero también puede tener una VLAN de voz.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10489231"/>
      </p:ext>
    </p:extLst>
  </p:cSld>
  <p:clrMapOvr>
    <a:masterClrMapping/>
  </p:clrMapOvr>
  <p:transition spd="slow">
    <p:wip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" y="41393"/>
            <a:ext cx="9144000" cy="757551"/>
          </a:xfrm>
        </p:spPr>
        <p:txBody>
          <a:bodyPr/>
          <a:lstStyle/>
          <a:p>
            <a:pPr rtl="0"/>
            <a:r>
              <a:rPr lang="es-419" sz="1600"/>
              <a:t>Práctica del módulo y cuestionario</a:t>
            </a:r>
            <a:br>
              <a:rPr lang="en-US" altLang="en-US" dirty="0"/>
            </a:br>
            <a:r>
              <a:rPr lang="es-419"/>
              <a:t>¿Qué aprendí en este módulo? (continuación)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0" y="801475"/>
            <a:ext cx="8840141" cy="3722900"/>
          </a:xfrm>
        </p:spPr>
        <p:txBody>
          <a:bodyPr/>
          <a:lstStyle/>
          <a:p>
            <a:pPr lvl="2" rtl="0"/>
            <a:r>
              <a:rPr lang="es-419" sz="1800"/>
              <a:t>Un tronco es un vínculo de capa 2 entre dos conmutadores que transporta tráfico para todas las VLAN.</a:t>
            </a:r>
          </a:p>
          <a:p>
            <a:pPr lvl="2" rtl="0"/>
            <a:r>
              <a:rPr lang="es-419" sz="1800"/>
              <a:t>Los troncos necesitarán etiquetado para las distintas VLAN, normalmente 802.1q.</a:t>
            </a:r>
          </a:p>
          <a:p>
            <a:pPr lvl="2" rtl="0"/>
            <a:r>
              <a:rPr lang="es-419" sz="1800"/>
              <a:t>El etiquetado IEEE 802.1q proporciona una VLAN nativa que permanecerá sin etiquetar.</a:t>
            </a:r>
          </a:p>
          <a:p>
            <a:pPr lvl="2" rtl="0"/>
            <a:r>
              <a:rPr lang="es-419" sz="1800"/>
              <a:t>Una interfaz se puede establecer en trunking o no trunking.</a:t>
            </a:r>
          </a:p>
          <a:p>
            <a:pPr lvl="2" rtl="0"/>
            <a:r>
              <a:rPr lang="es-419" sz="1800"/>
              <a:t>La negociación de enlaces troncales se gestiona mediante el Protocolo de enlace dinámico (DTP).</a:t>
            </a:r>
          </a:p>
          <a:p>
            <a:pPr lvl="2" rtl="0"/>
            <a:r>
              <a:rPr lang="es-419" sz="1800"/>
              <a:t>DTP es un protocolo de propiedad de Cisco que gestiona las negociaciones troncales.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17343036"/>
      </p:ext>
    </p:extLst>
  </p:cSld>
  <p:clrMapOvr>
    <a:masterClrMapping/>
  </p:clrMapOvr>
  <p:transition spd="slow">
    <p:wip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3"/>
            <a:ext cx="9144000" cy="632375"/>
          </a:xfrm>
        </p:spPr>
        <p:txBody>
          <a:bodyPr/>
          <a:lstStyle/>
          <a:p>
            <a:r>
              <a:rPr lang="es-419" sz="1400" dirty="0"/>
              <a:t>VLAN</a:t>
            </a:r>
            <a:br>
              <a:rPr lang="en-US" dirty="0">
                <a:latin typeface="Arial" charset="0"/>
              </a:rPr>
            </a:br>
            <a:r>
              <a:rPr lang="es-419" dirty="0">
                <a:latin typeface="Arial" charset="0"/>
              </a:rPr>
              <a:t>Nuevos términos y comandos</a:t>
            </a:r>
          </a:p>
        </p:txBody>
      </p:sp>
      <p:graphicFrame>
        <p:nvGraphicFramePr>
          <p:cNvPr id="5" name="Content Placeholder 2"/>
          <p:cNvGraphicFramePr>
            <a:graphicFrameLocks/>
          </p:cNvGraphicFramePr>
          <p:nvPr/>
        </p:nvGraphicFramePr>
        <p:xfrm>
          <a:off x="144461" y="798513"/>
          <a:ext cx="8472890" cy="38709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236445">
                  <a:extLst>
                    <a:ext uri="{9D8B030D-6E8A-4147-A177-3AD203B41FA5}">
                      <a16:colId xmlns:a16="http://schemas.microsoft.com/office/drawing/2014/main" val="2731093094"/>
                    </a:ext>
                  </a:extLst>
                </a:gridCol>
                <a:gridCol w="4236445">
                  <a:extLst>
                    <a:ext uri="{9D8B030D-6E8A-4147-A177-3AD203B41FA5}">
                      <a16:colId xmlns:a16="http://schemas.microsoft.com/office/drawing/2014/main" val="23534962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173038" indent="-173038" rtl="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419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VLAN</a:t>
                      </a:r>
                    </a:p>
                    <a:p>
                      <a:pPr marL="173038" indent="-173038" rtl="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419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Logical broadcast domain</a:t>
                      </a:r>
                    </a:p>
                    <a:p>
                      <a:pPr marL="173038" indent="-173038" rtl="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419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Data VLAN</a:t>
                      </a:r>
                    </a:p>
                    <a:p>
                      <a:pPr marL="173038" indent="-173038" rtl="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419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Default VLAN</a:t>
                      </a:r>
                    </a:p>
                    <a:p>
                      <a:pPr marL="173038" indent="-173038" rtl="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419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Native VLAN</a:t>
                      </a:r>
                    </a:p>
                    <a:p>
                      <a:pPr marL="173038" indent="-173038" rtl="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419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Management VLAN</a:t>
                      </a:r>
                    </a:p>
                    <a:p>
                      <a:pPr marL="173038" indent="-173038" rtl="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419" sz="1600" b="1" dirty="0">
                          <a:solidFill>
                            <a:schemeClr val="tx1"/>
                          </a:solidFill>
                          <a:latin typeface="+mn-lt"/>
                        </a:rPr>
                        <a:t>show vlan brief</a:t>
                      </a:r>
                    </a:p>
                    <a:p>
                      <a:pPr marL="173038" indent="-173038" rtl="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419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Voice VLAN</a:t>
                      </a:r>
                    </a:p>
                    <a:p>
                      <a:pPr marL="173038" indent="-173038" rtl="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419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VLAN Trunk</a:t>
                      </a:r>
                    </a:p>
                    <a:p>
                      <a:pPr marL="173038" indent="-173038" rtl="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419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VLAN Segmentation</a:t>
                      </a:r>
                    </a:p>
                    <a:p>
                      <a:pPr marL="173038" indent="-173038" rtl="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419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IEEE 802.1Q</a:t>
                      </a:r>
                    </a:p>
                    <a:p>
                      <a:pPr marL="173038" indent="-173038" rtl="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419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VLAN Tagging</a:t>
                      </a:r>
                    </a:p>
                    <a:p>
                      <a:pPr marL="173038" indent="-173038" rtl="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419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Canonical Format Identifier (CFI)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419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User Priority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419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VLAN ID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419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Type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419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show interfaces </a:t>
                      </a:r>
                      <a:r>
                        <a:rPr lang="es-419" sz="1600" b="0" i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r>
                        <a:rPr lang="es-419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switchport</a:t>
                      </a:r>
                    </a:p>
                    <a:p>
                      <a:pPr marL="285750" indent="-285750" algn="l" defTabSz="685777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0795013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052626069"/>
      </p:ext>
    </p:extLst>
  </p:cSld>
  <p:clrMapOvr>
    <a:masterClrMapping/>
  </p:clrMapOvr>
  <p:transition spd="slow">
    <p:wip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419" sz="1400" dirty="0"/>
              <a:t>VLAN</a:t>
            </a:r>
            <a:br>
              <a:rPr lang="en-US" dirty="0">
                <a:latin typeface="Arial" charset="0"/>
              </a:rPr>
            </a:br>
            <a:r>
              <a:rPr lang="es-419" dirty="0">
                <a:latin typeface="Arial" charset="0"/>
              </a:rPr>
              <a:t>Nuevos términos y comandos</a:t>
            </a:r>
          </a:p>
        </p:txBody>
      </p:sp>
      <p:graphicFrame>
        <p:nvGraphicFramePr>
          <p:cNvPr id="5" name="Content Placeholder 2"/>
          <p:cNvGraphicFramePr>
            <a:graphicFrameLocks/>
          </p:cNvGraphicFramePr>
          <p:nvPr/>
        </p:nvGraphicFramePr>
        <p:xfrm>
          <a:off x="144463" y="798513"/>
          <a:ext cx="8853486" cy="3773487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951162">
                  <a:extLst>
                    <a:ext uri="{9D8B030D-6E8A-4147-A177-3AD203B41FA5}">
                      <a16:colId xmlns:a16="http://schemas.microsoft.com/office/drawing/2014/main" val="2731093094"/>
                    </a:ext>
                  </a:extLst>
                </a:gridCol>
                <a:gridCol w="2951162">
                  <a:extLst>
                    <a:ext uri="{9D8B030D-6E8A-4147-A177-3AD203B41FA5}">
                      <a16:colId xmlns:a16="http://schemas.microsoft.com/office/drawing/2014/main" val="2353496225"/>
                    </a:ext>
                  </a:extLst>
                </a:gridCol>
                <a:gridCol w="2951162">
                  <a:extLst>
                    <a:ext uri="{9D8B030D-6E8A-4147-A177-3AD203B41FA5}">
                      <a16:colId xmlns:a16="http://schemas.microsoft.com/office/drawing/2014/main" val="281959122"/>
                    </a:ext>
                  </a:extLst>
                </a:gridCol>
              </a:tblGrid>
              <a:tr h="3773487">
                <a:tc>
                  <a:txBody>
                    <a:bodyPr/>
                    <a:lstStyle/>
                    <a:p>
                      <a:pPr marL="173038" indent="-173038" rtl="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419" sz="1600" b="0">
                          <a:solidFill>
                            <a:schemeClr val="tx1"/>
                          </a:solidFill>
                          <a:latin typeface="+mn-lt"/>
                        </a:rPr>
                        <a:t>Normal Range VLANs</a:t>
                      </a:r>
                    </a:p>
                    <a:p>
                      <a:pPr marL="173038" indent="-173038" rtl="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419" sz="1600" b="0">
                          <a:solidFill>
                            <a:schemeClr val="tx1"/>
                          </a:solidFill>
                          <a:latin typeface="+mn-lt"/>
                        </a:rPr>
                        <a:t>Extended Range VLANs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419" sz="1600" b="1">
                          <a:solidFill>
                            <a:schemeClr val="tx1"/>
                          </a:solidFill>
                          <a:latin typeface="+mn-lt"/>
                        </a:rPr>
                        <a:t>vlan </a:t>
                      </a:r>
                      <a:r>
                        <a:rPr lang="es-419" sz="16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vlan-id</a:t>
                      </a:r>
                    </a:p>
                    <a:p>
                      <a:pPr marL="173038" indent="-173038" rtl="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419"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name </a:t>
                      </a:r>
                      <a:r>
                        <a:rPr lang="es-419" sz="16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vlan-name</a:t>
                      </a:r>
                    </a:p>
                    <a:p>
                      <a:pPr marL="173038" indent="-173038" rtl="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419"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switchport mode access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419"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switchport access vlan </a:t>
                      </a:r>
                      <a:r>
                        <a:rPr lang="es-419" sz="16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vlan-id</a:t>
                      </a:r>
                    </a:p>
                    <a:p>
                      <a:pPr marL="173038" indent="-173038" rtl="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419"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interface range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419"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 switchport access vlan </a:t>
                      </a:r>
                      <a:r>
                        <a:rPr lang="es-419" sz="16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vlan-id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419"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 vlan </a:t>
                      </a:r>
                      <a:r>
                        <a:rPr lang="es-419" sz="16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vlan-id</a:t>
                      </a:r>
                    </a:p>
                    <a:p>
                      <a:pPr marL="173038" indent="-173038" rtl="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419"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delete flash:vlan.dat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3038" marR="0" indent="-173038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419"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delete vlan.dat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419"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show vlan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419"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show interfaces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419"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show vlan summary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419"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show interfaces vlan </a:t>
                      </a:r>
                      <a:r>
                        <a:rPr lang="es-419" sz="16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vlan_id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419"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switchport mode trunk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419"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switchport trunk allowed vlan </a:t>
                      </a:r>
                      <a:r>
                        <a:rPr lang="es-419" sz="16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vlan_list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419"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switchport trunk native vlan </a:t>
                      </a:r>
                      <a:r>
                        <a:rPr lang="es-419" sz="16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vlan_id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419"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 switchport trunk allowed vlan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3038" marR="0" indent="-173038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419"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 switchport trunk native vlan</a:t>
                      </a:r>
                    </a:p>
                    <a:p>
                      <a:pPr marL="173038" marR="0" indent="-173038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419"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show interfaces switchport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419"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 switchport access vlan </a:t>
                      </a:r>
                      <a:r>
                        <a:rPr lang="es-419" sz="16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vlan_id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419"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show interfaces trunk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419"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show interfaces </a:t>
                      </a:r>
                      <a:r>
                        <a:rPr lang="es-419" sz="16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int_id </a:t>
                      </a:r>
                      <a:r>
                        <a:rPr lang="es-419"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trunk</a:t>
                      </a:r>
                    </a:p>
                    <a:p>
                      <a:pPr marL="0" indent="0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None/>
                      </a:pPr>
                      <a:endParaRPr 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0795013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254925983"/>
      </p:ext>
    </p:extLst>
  </p:cSld>
  <p:clrMapOvr>
    <a:masterClrMapping/>
  </p:clrMapOvr>
  <p:transition spd="slow">
    <p:wip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3067395794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6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Default Theme" id="{A3178FD6-045E-43BB-9FF9-79BDC55288A1}" vid="{B3635A64-254C-4D4D-B1C2-6197525273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21068</TotalTime>
  <Words>4327</Words>
  <Application>Microsoft Office PowerPoint</Application>
  <PresentationFormat>On-screen Show (16:9)</PresentationFormat>
  <Paragraphs>634</Paragraphs>
  <Slides>52</Slides>
  <Notes>51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7" baseType="lpstr">
      <vt:lpstr>Arial</vt:lpstr>
      <vt:lpstr>Calibri</vt:lpstr>
      <vt:lpstr>CiscoSans ExtraLight</vt:lpstr>
      <vt:lpstr>Wingdings</vt:lpstr>
      <vt:lpstr>Default Theme</vt:lpstr>
      <vt:lpstr>Módulo 3: VLAN</vt:lpstr>
      <vt:lpstr>Objetivos del módulo</vt:lpstr>
      <vt:lpstr>3.1 Descripción general de las VLAN</vt:lpstr>
      <vt:lpstr>Descripción general de las VLAN Definiciones de VLAN</vt:lpstr>
      <vt:lpstr>Descripción general de las VLAN Beneficios de un diseño de VLAN</vt:lpstr>
      <vt:lpstr>Descripción general de las VLAN Tipos de VLAN</vt:lpstr>
      <vt:lpstr>Descripción general de las VLAN Tipos de VLAN (Cont.)</vt:lpstr>
      <vt:lpstr>Descripción general de las VLAN Tipos de VLAN (Cont.)</vt:lpstr>
      <vt:lpstr>Descripción general de VLAN  Packet Tracer: ¿quién escucha la transmisión?</vt:lpstr>
      <vt:lpstr>3.2 VLAN en un entorno de  conmutación múltiple</vt:lpstr>
      <vt:lpstr>VLAN en un entorno de conmutación múltiple Definición de troncales de VLAN</vt:lpstr>
      <vt:lpstr>VLAN en un entorno de conmutación  múltiple Redes sin VLAN</vt:lpstr>
      <vt:lpstr>VLAN en un entorno de conmutación múltiple Redes con VLAN</vt:lpstr>
      <vt:lpstr>VLAN en un entorno de conmutación múltiple  Identificación de VLAN con una etiqueta</vt:lpstr>
      <vt:lpstr>VLAN en un entorno de conmutación múltiple VLAN nativas y etiquetado 802.1Q</vt:lpstr>
      <vt:lpstr>VLAN en un entorno de conmutación múltiple Etiquetado de VLAN de voz</vt:lpstr>
      <vt:lpstr>VLAN en un entorno de conmutación múltiple Ejemplo de verificación de VLAN de voz</vt:lpstr>
      <vt:lpstr>VLAN en un entorno de conmutadores múltiples Packet Tracer: investigue una implementación de VLAN</vt:lpstr>
      <vt:lpstr>3.3 Configuración de VLAN</vt:lpstr>
      <vt:lpstr>Configuración de VLAN Rangos de VLAN en switches Catalyst</vt:lpstr>
      <vt:lpstr>Comandos de creación deVLANde configuración de VLAN</vt:lpstr>
      <vt:lpstr>Configuración de VLAN Ejemplo de creación de VLAN</vt:lpstr>
      <vt:lpstr>Comandos de asignación de puertos deVLANde configuración de VLAN</vt:lpstr>
      <vt:lpstr>Configuración de VLAN Ejemplo de asignación de puerto VLAN</vt:lpstr>
      <vt:lpstr> Datos de configuración de VLAN y VLAN de voz</vt:lpstr>
      <vt:lpstr>Ejemplo de VLAN de voz ydatos de configuración de VLAN</vt:lpstr>
      <vt:lpstr>Configuración de VLAN Verifique la información de VLAN</vt:lpstr>
      <vt:lpstr>Configuración de VLAN Cambiar pertenencia al puerto VLAN</vt:lpstr>
      <vt:lpstr>Configuración de VLAN Eliminar VLAN</vt:lpstr>
      <vt:lpstr>Rastreador depaquetes de configuración de VLAN — Configuración de VLAN</vt:lpstr>
      <vt:lpstr>3.4 Troncales VLAN</vt:lpstr>
      <vt:lpstr>Comandos de configuracióntroncal deVLAN</vt:lpstr>
      <vt:lpstr>Ejemplo de Configuración de Troncales  Troncales de VLAN</vt:lpstr>
      <vt:lpstr>Troncales de VLAN Verifique la configuración de troncales</vt:lpstr>
      <vt:lpstr>Troncales de VLAN Restablezca el tronco al estado predeterminado</vt:lpstr>
      <vt:lpstr>Troncales de VLAN Restablezca el tronco al estado predeterminado (Cont.)</vt:lpstr>
      <vt:lpstr>VLAN Trunks Packet Tracer - Configurar Trunks</vt:lpstr>
      <vt:lpstr>Troncales VLAN Laboratorio: configurar VLAN y troncales</vt:lpstr>
      <vt:lpstr>3.5 Dynamic Trunking ProtocolProtocolo de enlace dinámico</vt:lpstr>
      <vt:lpstr>Protocolo de enlace dinámico Introduction to DTP</vt:lpstr>
      <vt:lpstr>Protocolo de enlace dinámico Modos de interfaz negociados</vt:lpstr>
      <vt:lpstr> Resultados del protocolo de enlace troncal dinámico de una configuración DTP</vt:lpstr>
      <vt:lpstr>Protocolo de enlace dinámico  Verifique el modo DTP</vt:lpstr>
      <vt:lpstr>Protocolo de enlace dinámico Packet Tracer - Configurar DTP</vt:lpstr>
      <vt:lpstr>3.6 - Módulo de práctica y cuestionario </vt:lpstr>
      <vt:lpstr>Módulo Práctica y Rastreador de Paquetes de Cuestionario: Implementación de VLAN y Troncalización</vt:lpstr>
      <vt:lpstr>Módulo Práctica y Laboratorio de Quiz Implementación de VLAN y Troncalización</vt:lpstr>
      <vt:lpstr>Práctica del módulo y cuestionario ¿Qué aprendí en este módulo?</vt:lpstr>
      <vt:lpstr>Práctica del módulo y cuestionario ¿Qué aprendí en este módulo? (continuación)</vt:lpstr>
      <vt:lpstr>VLAN Nuevos términos y comandos</vt:lpstr>
      <vt:lpstr>VLAN Nuevos términos y comandos</vt:lpstr>
      <vt:lpstr>PowerPoint Presentation</vt:lpstr>
    </vt:vector>
  </TitlesOfParts>
  <Company>Cisco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bvachon@cisco.com</dc:creator>
  <cp:lastModifiedBy>Bonao Permanente</cp:lastModifiedBy>
  <cp:revision>1065</cp:revision>
  <dcterms:created xsi:type="dcterms:W3CDTF">2016-08-22T22:27:36Z</dcterms:created>
  <dcterms:modified xsi:type="dcterms:W3CDTF">2024-08-03T18:20:31Z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